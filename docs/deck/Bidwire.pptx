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this is Bidwire: the ad exchange for AI agents. Here's the thing. When an agent shops, nobody sees an ad. No banner, no sponsored slot, no clever copy. So the only way a merchant can win an agent's purchase is with an offer that's actually true. Bidwire is the marketplace that makes that happen, live, over MCP.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can already shop for us. But the commerce stack they land on was built to manipulate humans: sponsored slots, SEO games, drip pricing where $34.99 on the page becomes $63.99 at checkout, and specs nobody checks. Agents read those pages and get gamed. Merchants have the opposite problem: there is no ad slot inside a tool call, so they can't reach agents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insight: for an agent, the ad IS the offer. So instead of buying attention, merchants bid with claims a machine can check: delivered price, delivery time, features. We verify every claim, rank on merit with public weights, and fees can't buy rank. The YC prompt was to rebuild a tool built for humans. Google became Exa for search; this is Google Ads, rebuilt for agents.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flow. The agent calls one tool, find_offers, with its need, budget and deadline. That opens a twelve-second live auction where bots, people in this room and merchant agents bid. We fetch each merchant's real product page and checkout, run five checks, exclude liars, and rank on merit. buy_offer pays from a prepaid wallet; over the limit, the human gets a text and replies YES. Everything settles in a double-entry ledger.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live today. One auction: seven bids, five verified, two excluded for lying. One hid a service fee at checkout, one claimed noise cancelling on headphones that don't have it. A merchant offered thirty-five dollars a sale and stayed at number five. A nine-day shipper got ranked down for missing a five-day deadline, and the $319.99 pick went to the human's phone for a YES. If a merchant sells out mid-purchase, the agent gets the next best offer and recovers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Bidwire as an MCP server on mcp-use from Manufact: twelve tools, three resources, two prompts. The happy path is two calls: find_offers, then buy_offer. Errors come back structured, with a hint that tells the agent what to call next. Buys take idempotency keys. The first call needs zero config: no key makes you a guest agent. And the same server works in Claude Code, Claude Desktop, ChatGPT, Codex and Cursor.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the product, so it's enforced in code. Every bid gets five checks against the merchant's own page and checkout; a liar is excluded and loses trust for every agent. The ranking weights are public: price forty, must-haves twenty-five, delivery fifteen, trust fifteen, returns five, fees zero. Spending limits come from the human, every transaction in the ledger sums to zero, and every tool call is logged on the Agent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model: merchants pay a fee only when a verified sale happens. Pay-per-sale, no impressions, no clicks, and that fee is our take. The wedge is DTC merchants and agent shopping apps; the long game is the trust layer for agent commerce. Why now: eighteen months ago there was no MCP, no ACP, and no agent had a card. This year agents got wallets and protocols. Search ads are a two-hundred-billion-dollar-plus business built on human attention, and agents don't look at 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was built in twenty-four hours and it's running right now: an MCP server on mcp-use and Hono, SQLite, a live board over server-sent events, real storefront pages with schema.org JSON-LD that the verifier fetches over HTTP, eight merchant bots with honest and dishonest strategies, and Inkbox for approval texts and receipts. Every number on the right is counted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that's Bidwire. When agents do the shopping, attention stops being for sale, and the truth becomes the only thing worth bidding on. You can't bribe an agent. The code is on GitHub at vnmoorthy slash bidwire. The exchange is live right now: connect your agent and buy something, or join from your phone and try to bribe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731520" y="603504"/>
            <a:ext cx="4160520" cy="329184"/>
            <a:chOff x="731520" y="603504"/>
            <a:chExt cx="4160520" cy="329184"/>
          </a:xfrm>
        </p:grpSpPr>
        <p:sp>
          <p:nvSpPr>
            <p:cNvPr id="3" name="Rounded Rectangle 2"/>
            <p:cNvSpPr/>
            <p:nvPr/>
          </p:nvSpPr>
          <p:spPr>
            <a:xfrm>
              <a:off x="731520" y="603504"/>
              <a:ext cx="4160520" cy="329184"/>
            </a:xfrm>
            <a:prstGeom prst="roundRect">
              <a:avLst>
                <a:gd name="adj" fmla="val 50000"/>
              </a:avLst>
            </a:prstGeom>
            <a:solidFill>
              <a:srgbClr val="FFFFFF"/>
            </a:solidFill>
            <a:ln w="9525">
              <a:solidFill>
                <a:srgbClr val="E9E8E3"/>
              </a:solidFill>
            </a:ln>
          </p:spPr>
          <p:txBody>
            <a:bodyPr rtlCol="0" anchor="ctr"/>
            <a:lstStyle/>
            <a:p>
              <a:pPr algn="ctr"/>
            </a:p>
          </p:txBody>
        </p:sp>
        <p:sp>
          <p:nvSpPr>
            <p:cNvPr id="4" name="Oval 3"/>
            <p:cNvSpPr/>
            <p:nvPr/>
          </p:nvSpPr>
          <p:spPr>
            <a:xfrm>
              <a:off x="886968" y="726948"/>
              <a:ext cx="82296" cy="82296"/>
            </a:xfrm>
            <a:prstGeom prst="ellipse">
              <a:avLst/>
            </a:prstGeom>
            <a:solidFill>
              <a:srgbClr val="F2561D"/>
            </a:solidFill>
            <a:ln>
              <a:noFill/>
            </a:ln>
          </p:spPr>
          <p:txBody>
            <a:bodyPr rtlCol="0" anchor="ctr"/>
            <a:lstStyle/>
            <a:p>
              <a:pPr algn="ctr"/>
            </a:p>
          </p:txBody>
        </p:sp>
        <p:sp>
          <p:nvSpPr>
            <p:cNvPr id="5" name="TextBox 4"/>
            <p:cNvSpPr txBox="1"/>
            <p:nvPr/>
          </p:nvSpPr>
          <p:spPr>
            <a:xfrm>
              <a:off x="1042416" y="603504"/>
              <a:ext cx="3840480" cy="329184"/>
            </a:xfrm>
            <a:prstGeom prst="rect">
              <a:avLst/>
            </a:prstGeom>
            <a:noFill/>
          </p:spPr>
          <p:txBody>
            <a:bodyPr wrap="square" lIns="0" rIns="0" tIns="0" bIns="0" anchor="ctr">
              <a:noAutofit/>
            </a:bodyPr>
            <a:lstStyle/>
            <a:p>
              <a:pPr algn="l"/>
              <a:r>
                <a:rPr sz="950" b="0" i="0">
                  <a:solidFill>
                    <a:srgbClr val="5D5D66"/>
                  </a:solidFill>
                  <a:latin typeface="Inter" panose="020B0502030000000004" pitchFamily="34" charset="0"/>
                </a:rPr>
                <a:t>Live  ·  YC Make Something Agents Want  ·  Oct 18, 2026</a:t>
              </a:r>
            </a:p>
          </p:txBody>
        </p:sp>
      </p:grpSp>
      <p:grpSp>
        <p:nvGrpSpPr>
          <p:cNvPr id="6" name="Group 5"/>
          <p:cNvGrpSpPr/>
          <p:nvPr/>
        </p:nvGrpSpPr>
        <p:grpSpPr>
          <a:xfrm>
            <a:off x="776097" y="1443609"/>
            <a:ext cx="788670" cy="788670"/>
            <a:chOff x="776097" y="1443609"/>
            <a:chExt cx="788670" cy="788670"/>
          </a:xfrm>
        </p:grpSpPr>
        <p:sp>
          <p:nvSpPr>
            <p:cNvPr id="7" name="Rounded Rectangle 6"/>
            <p:cNvSpPr/>
            <p:nvPr/>
          </p:nvSpPr>
          <p:spPr>
            <a:xfrm>
              <a:off x="776097" y="1443609"/>
              <a:ext cx="788670" cy="788670"/>
            </a:xfrm>
            <a:prstGeom prst="roundRect">
              <a:avLst>
                <a:gd name="adj" fmla="val 26666"/>
              </a:avLst>
            </a:prstGeom>
            <a:solidFill>
              <a:srgbClr val="0E0E10"/>
            </a:solidFill>
            <a:ln>
              <a:noFill/>
            </a:ln>
          </p:spPr>
          <p:txBody>
            <a:bodyPr rtlCol="0" anchor="ctr"/>
            <a:lstStyle/>
            <a:p>
              <a:pPr algn="ctr"/>
            </a:p>
          </p:txBody>
        </p:sp>
        <p:sp>
          <p:nvSpPr>
            <p:cNvPr id="8" name="Freeform 7"/>
            <p:cNvSpPr/>
            <p:nvPr/>
          </p:nvSpPr>
          <p:spPr>
            <a:xfrm>
              <a:off x="933831" y="1706499"/>
              <a:ext cx="473202" cy="289179"/>
            </a:xfrm>
            <a:custGeom>
              <a:avLst/>
              <a:gdLst/>
              <a:ahLst/>
              <a:cxnLst/>
              <a:rect l="l" t="t" r="r" b="b"/>
              <a:pathLst>
                <a:path w="18" h="11">
                  <a:moveTo>
                    <a:pt x="0" y="11"/>
                  </a:moveTo>
                  <a:lnTo>
                    <a:pt x="5" y="4"/>
                  </a:lnTo>
                  <a:lnTo>
                    <a:pt x="9" y="7"/>
                  </a:lnTo>
                  <a:lnTo>
                    <a:pt x="13" y="0"/>
                  </a:lnTo>
                  <a:lnTo>
                    <a:pt x="18" y="0"/>
                  </a:lnTo>
                </a:path>
              </a:pathLst>
            </a:custGeom>
            <a:noFill/>
            <a:ln w="68351" cap="rnd">
              <a:solidFill>
                <a:srgbClr val="FFFFFF"/>
              </a:solidFill>
              <a:round/>
            </a:ln>
          </p:spPr>
          <p:txBody>
            <a:bodyPr rtlCol="0" anchor="ctr"/>
            <a:lstStyle/>
            <a:p>
              <a:pPr algn="ctr"/>
            </a:p>
          </p:txBody>
        </p:sp>
        <p:sp>
          <p:nvSpPr>
            <p:cNvPr id="9" name="Oval 8"/>
            <p:cNvSpPr/>
            <p:nvPr/>
          </p:nvSpPr>
          <p:spPr>
            <a:xfrm>
              <a:off x="1320279" y="1619745"/>
              <a:ext cx="173507" cy="173507"/>
            </a:xfrm>
            <a:prstGeom prst="ellipse">
              <a:avLst/>
            </a:prstGeom>
            <a:solidFill>
              <a:srgbClr val="F2561D"/>
            </a:solidFill>
            <a:ln>
              <a:noFill/>
            </a:ln>
          </p:spPr>
          <p:txBody>
            <a:bodyPr rtlCol="0" anchor="ctr"/>
            <a:lstStyle/>
            <a:p>
              <a:pPr algn="ctr"/>
            </a:p>
          </p:txBody>
        </p:sp>
      </p:grpSp>
      <p:sp>
        <p:nvSpPr>
          <p:cNvPr id="10" name="TextBox 9"/>
          <p:cNvSpPr txBox="1"/>
          <p:nvPr/>
        </p:nvSpPr>
        <p:spPr>
          <a:xfrm>
            <a:off x="1783080" y="1243584"/>
            <a:ext cx="4937760" cy="1188720"/>
          </a:xfrm>
          <a:prstGeom prst="rect">
            <a:avLst/>
          </a:prstGeom>
          <a:noFill/>
        </p:spPr>
        <p:txBody>
          <a:bodyPr wrap="square" lIns="0" rIns="0" tIns="0" bIns="0" anchor="ctr">
            <a:noAutofit/>
          </a:bodyPr>
          <a:lstStyle/>
          <a:p>
            <a:pPr algn="l"/>
            <a:r>
              <a:rPr sz="8000" b="1" i="0" spc="-240">
                <a:solidFill>
                  <a:srgbClr val="0E0E10"/>
                </a:solidFill>
                <a:latin typeface="Inter" panose="020B0502030000000004" pitchFamily="34" charset="0"/>
              </a:rPr>
              <a:t>Bidwire</a:t>
            </a:r>
          </a:p>
        </p:txBody>
      </p:sp>
      <p:sp>
        <p:nvSpPr>
          <p:cNvPr id="11" name="TextBox 10"/>
          <p:cNvSpPr txBox="1"/>
          <p:nvPr/>
        </p:nvSpPr>
        <p:spPr>
          <a:xfrm>
            <a:off x="731520" y="2670048"/>
            <a:ext cx="5760720" cy="566928"/>
          </a:xfrm>
          <a:prstGeom prst="rect">
            <a:avLst/>
          </a:prstGeom>
          <a:noFill/>
        </p:spPr>
        <p:txBody>
          <a:bodyPr wrap="square" lIns="0" rIns="0" tIns="0" bIns="0" anchor="t">
            <a:noAutofit/>
          </a:bodyPr>
          <a:lstStyle/>
          <a:p>
            <a:pPr algn="l"/>
            <a:r>
              <a:rPr sz="3000" b="1" i="0" spc="-60">
                <a:solidFill>
                  <a:srgbClr val="0E0E10"/>
                </a:solidFill>
                <a:latin typeface="Inter" panose="020B0502030000000004" pitchFamily="34" charset="0"/>
              </a:rPr>
              <a:t>The ad exchange for AI agents.</a:t>
            </a:r>
          </a:p>
        </p:txBody>
      </p:sp>
      <p:sp>
        <p:nvSpPr>
          <p:cNvPr id="12" name="TextBox 11"/>
          <p:cNvSpPr txBox="1"/>
          <p:nvPr/>
        </p:nvSpPr>
        <p:spPr>
          <a:xfrm>
            <a:off x="731520" y="3401568"/>
            <a:ext cx="5577840" cy="914400"/>
          </a:xfrm>
          <a:prstGeom prst="rect">
            <a:avLst/>
          </a:prstGeom>
          <a:noFill/>
        </p:spPr>
        <p:txBody>
          <a:bodyPr wrap="square" lIns="0" rIns="0" tIns="0" bIns="0" anchor="t">
            <a:noAutofit/>
          </a:bodyPr>
          <a:lstStyle/>
          <a:p>
            <a:pPr algn="l">
              <a:lnSpc>
                <a:spcPct val="115000"/>
              </a:lnSpc>
            </a:pPr>
            <a:r>
              <a:rPr sz="2000" b="0" i="0">
                <a:solidFill>
                  <a:srgbClr val="5D5D66"/>
                </a:solidFill>
                <a:latin typeface="Inter" panose="020B0502030000000004" pitchFamily="34" charset="0"/>
              </a:rPr>
              <a:t>When agents shop, nobody sees an ad.</a:t>
            </a:r>
          </a:p>
          <a:p>
            <a:pPr algn="l">
              <a:lnSpc>
                <a:spcPct val="115000"/>
              </a:lnSpc>
            </a:pPr>
            <a:r>
              <a:rPr sz="2000" b="0" i="0">
                <a:solidFill>
                  <a:srgbClr val="0E0E10"/>
                </a:solidFill>
                <a:latin typeface="Inter" panose="020B0502030000000004" pitchFamily="34" charset="0"/>
              </a:rPr>
              <a:t>So merchants have to tell the truth.</a:t>
            </a:r>
          </a:p>
        </p:txBody>
      </p:sp>
      <p:grpSp>
        <p:nvGrpSpPr>
          <p:cNvPr id="13" name="Group 12"/>
          <p:cNvGrpSpPr/>
          <p:nvPr/>
        </p:nvGrpSpPr>
        <p:grpSpPr>
          <a:xfrm>
            <a:off x="731520" y="4572000"/>
            <a:ext cx="2008632" cy="292608"/>
            <a:chOff x="731520" y="4572000"/>
            <a:chExt cx="2008632" cy="292608"/>
          </a:xfrm>
        </p:grpSpPr>
        <p:sp>
          <p:nvSpPr>
            <p:cNvPr id="14" name="Rounded Rectangle 13"/>
            <p:cNvSpPr/>
            <p:nvPr/>
          </p:nvSpPr>
          <p:spPr>
            <a:xfrm>
              <a:off x="731520" y="4572000"/>
              <a:ext cx="2008632" cy="292608"/>
            </a:xfrm>
            <a:prstGeom prst="roundRect">
              <a:avLst>
                <a:gd name="adj" fmla="val 50000"/>
              </a:avLst>
            </a:prstGeom>
            <a:solidFill>
              <a:srgbClr val="EDF2FF"/>
            </a:solidFill>
            <a:ln>
              <a:noFill/>
            </a:ln>
          </p:spPr>
          <p:txBody>
            <a:bodyPr rtlCol="0" anchor="ctr"/>
            <a:lstStyle/>
            <a:p>
              <a:pPr algn="ctr"/>
            </a:p>
          </p:txBody>
        </p:sp>
        <p:sp>
          <p:nvSpPr>
            <p:cNvPr id="15" name="TextBox 14"/>
            <p:cNvSpPr txBox="1"/>
            <p:nvPr/>
          </p:nvSpPr>
          <p:spPr>
            <a:xfrm>
              <a:off x="731520" y="4572000"/>
              <a:ext cx="2008632" cy="292608"/>
            </a:xfrm>
            <a:prstGeom prst="rect">
              <a:avLst/>
            </a:prstGeom>
            <a:noFill/>
          </p:spPr>
          <p:txBody>
            <a:bodyPr wrap="square" lIns="0" rIns="0" tIns="0" bIns="0" anchor="ctr">
              <a:noAutofit/>
            </a:bodyPr>
            <a:lstStyle/>
            <a:p>
              <a:pPr algn="ctr"/>
              <a:r>
                <a:rPr sz="1000" b="1" i="0">
                  <a:solidFill>
                    <a:srgbClr val="2F5BEA"/>
                  </a:solidFill>
                  <a:latin typeface="JetBrains Mono" panose="02000009000000000000" pitchFamily="49" charset="0"/>
                </a:rPr>
                <a:t>find_offers → buy_offer</a:t>
              </a:r>
            </a:p>
          </p:txBody>
        </p:sp>
      </p:grpSp>
      <p:grpSp>
        <p:nvGrpSpPr>
          <p:cNvPr id="16" name="Group 15"/>
          <p:cNvGrpSpPr/>
          <p:nvPr/>
        </p:nvGrpSpPr>
        <p:grpSpPr>
          <a:xfrm>
            <a:off x="2831592" y="4572000"/>
            <a:ext cx="1536192" cy="292608"/>
            <a:chOff x="2831592" y="4572000"/>
            <a:chExt cx="1536192" cy="292608"/>
          </a:xfrm>
        </p:grpSpPr>
        <p:sp>
          <p:nvSpPr>
            <p:cNvPr id="17" name="Rounded Rectangle 16"/>
            <p:cNvSpPr/>
            <p:nvPr/>
          </p:nvSpPr>
          <p:spPr>
            <a:xfrm>
              <a:off x="2831592" y="4572000"/>
              <a:ext cx="1536192" cy="292608"/>
            </a:xfrm>
            <a:prstGeom prst="roundRect">
              <a:avLst>
                <a:gd name="adj" fmla="val 50000"/>
              </a:avLst>
            </a:prstGeom>
            <a:solidFill>
              <a:srgbClr val="E7F6EF"/>
            </a:solidFill>
            <a:ln>
              <a:noFill/>
            </a:ln>
          </p:spPr>
          <p:txBody>
            <a:bodyPr rtlCol="0" anchor="ctr"/>
            <a:lstStyle/>
            <a:p>
              <a:pPr algn="ctr"/>
            </a:p>
          </p:txBody>
        </p:sp>
        <p:sp>
          <p:nvSpPr>
            <p:cNvPr id="18" name="TextBox 17"/>
            <p:cNvSpPr txBox="1"/>
            <p:nvPr/>
          </p:nvSpPr>
          <p:spPr>
            <a:xfrm>
              <a:off x="2831592" y="4572000"/>
              <a:ext cx="1536192" cy="292608"/>
            </a:xfrm>
            <a:prstGeom prst="rect">
              <a:avLst/>
            </a:prstGeom>
            <a:noFill/>
          </p:spPr>
          <p:txBody>
            <a:bodyPr wrap="square" lIns="0" rIns="0" tIns="0" bIns="0" anchor="ctr">
              <a:noAutofit/>
            </a:bodyPr>
            <a:lstStyle/>
            <a:p>
              <a:pPr algn="ctr"/>
              <a:r>
                <a:rPr sz="1000" b="1" i="0">
                  <a:solidFill>
                    <a:srgbClr val="12805C"/>
                  </a:solidFill>
                  <a:latin typeface="Inter" panose="020B0502030000000004" pitchFamily="34" charset="0"/>
                </a:rPr>
                <a:t>Every bid verified</a:t>
              </a:r>
            </a:p>
          </p:txBody>
        </p:sp>
      </p:grpSp>
      <p:grpSp>
        <p:nvGrpSpPr>
          <p:cNvPr id="19" name="Group 18"/>
          <p:cNvGrpSpPr/>
          <p:nvPr/>
        </p:nvGrpSpPr>
        <p:grpSpPr>
          <a:xfrm>
            <a:off x="731520" y="4956048"/>
            <a:ext cx="1607312" cy="292608"/>
            <a:chOff x="731520" y="4956048"/>
            <a:chExt cx="1607312" cy="292608"/>
          </a:xfrm>
        </p:grpSpPr>
        <p:sp>
          <p:nvSpPr>
            <p:cNvPr id="20" name="Rounded Rectangle 19"/>
            <p:cNvSpPr/>
            <p:nvPr/>
          </p:nvSpPr>
          <p:spPr>
            <a:xfrm>
              <a:off x="731520" y="4956048"/>
              <a:ext cx="1607312" cy="292608"/>
            </a:xfrm>
            <a:prstGeom prst="roundRect">
              <a:avLst>
                <a:gd name="adj" fmla="val 50000"/>
              </a:avLst>
            </a:prstGeom>
            <a:solidFill>
              <a:srgbClr val="FFF4E2"/>
            </a:solidFill>
            <a:ln>
              <a:noFill/>
            </a:ln>
          </p:spPr>
          <p:txBody>
            <a:bodyPr rtlCol="0" anchor="ctr"/>
            <a:lstStyle/>
            <a:p>
              <a:pPr algn="ctr"/>
            </a:p>
          </p:txBody>
        </p:sp>
        <p:sp>
          <p:nvSpPr>
            <p:cNvPr id="21" name="TextBox 20"/>
            <p:cNvSpPr txBox="1"/>
            <p:nvPr/>
          </p:nvSpPr>
          <p:spPr>
            <a:xfrm>
              <a:off x="731520" y="4956048"/>
              <a:ext cx="1607312" cy="292608"/>
            </a:xfrm>
            <a:prstGeom prst="rect">
              <a:avLst/>
            </a:prstGeom>
            <a:noFill/>
          </p:spPr>
          <p:txBody>
            <a:bodyPr wrap="square" lIns="0" rIns="0" tIns="0" bIns="0" anchor="ctr">
              <a:noAutofit/>
            </a:bodyPr>
            <a:lstStyle/>
            <a:p>
              <a:pPr algn="ctr"/>
              <a:r>
                <a:rPr sz="1000" b="1" i="0">
                  <a:solidFill>
                    <a:srgbClr val="A15C07"/>
                  </a:solidFill>
                  <a:latin typeface="Inter" panose="020B0502030000000004" pitchFamily="34" charset="0"/>
                </a:rPr>
                <a:t>Fees never buy rank</a:t>
              </a:r>
            </a:p>
          </p:txBody>
        </p:sp>
      </p:grpSp>
      <p:grpSp>
        <p:nvGrpSpPr>
          <p:cNvPr id="22" name="Group 21"/>
          <p:cNvGrpSpPr/>
          <p:nvPr/>
        </p:nvGrpSpPr>
        <p:grpSpPr>
          <a:xfrm>
            <a:off x="2430272" y="4956048"/>
            <a:ext cx="1891792" cy="292608"/>
            <a:chOff x="2430272" y="4956048"/>
            <a:chExt cx="1891792" cy="292608"/>
          </a:xfrm>
        </p:grpSpPr>
        <p:sp>
          <p:nvSpPr>
            <p:cNvPr id="23" name="Rounded Rectangle 22"/>
            <p:cNvSpPr/>
            <p:nvPr/>
          </p:nvSpPr>
          <p:spPr>
            <a:xfrm>
              <a:off x="2430272" y="4956048"/>
              <a:ext cx="1891792" cy="292608"/>
            </a:xfrm>
            <a:prstGeom prst="roundRect">
              <a:avLst>
                <a:gd name="adj" fmla="val 50000"/>
              </a:avLst>
            </a:prstGeom>
            <a:solidFill>
              <a:srgbClr val="FFF0EA"/>
            </a:solidFill>
            <a:ln>
              <a:noFill/>
            </a:ln>
          </p:spPr>
          <p:txBody>
            <a:bodyPr rtlCol="0" anchor="ctr"/>
            <a:lstStyle/>
            <a:p>
              <a:pPr algn="ctr"/>
            </a:p>
          </p:txBody>
        </p:sp>
        <p:sp>
          <p:nvSpPr>
            <p:cNvPr id="24" name="TextBox 23"/>
            <p:cNvSpPr txBox="1"/>
            <p:nvPr/>
          </p:nvSpPr>
          <p:spPr>
            <a:xfrm>
              <a:off x="2430272" y="4956048"/>
              <a:ext cx="1891792" cy="292608"/>
            </a:xfrm>
            <a:prstGeom prst="rect">
              <a:avLst/>
            </a:prstGeom>
            <a:noFill/>
          </p:spPr>
          <p:txBody>
            <a:bodyPr wrap="square" lIns="0" rIns="0" tIns="0" bIns="0" anchor="ctr">
              <a:noAutofit/>
            </a:bodyPr>
            <a:lstStyle/>
            <a:p>
              <a:pPr algn="ctr"/>
              <a:r>
                <a:rPr sz="1000" b="1" i="0">
                  <a:solidFill>
                    <a:srgbClr val="F2561D"/>
                  </a:solidFill>
                  <a:latin typeface="Inter" panose="020B0502030000000004" pitchFamily="34" charset="0"/>
                </a:rPr>
                <a:t>Live 12-second auctions</a:t>
              </a:r>
            </a:p>
          </p:txBody>
        </p:sp>
      </p:grpSp>
      <p:sp>
        <p:nvSpPr>
          <p:cNvPr id="25" name="TextBox 24"/>
          <p:cNvSpPr txBox="1"/>
          <p:nvPr/>
        </p:nvSpPr>
        <p:spPr>
          <a:xfrm>
            <a:off x="731520" y="5760720"/>
            <a:ext cx="5760720" cy="274320"/>
          </a:xfrm>
          <a:prstGeom prst="rect">
            <a:avLst/>
          </a:prstGeom>
          <a:noFill/>
        </p:spPr>
        <p:txBody>
          <a:bodyPr wrap="square" lIns="0" rIns="0" tIns="0" bIns="0" anchor="t">
            <a:noAutofit/>
          </a:bodyPr>
          <a:lstStyle/>
          <a:p>
            <a:pPr algn="l"/>
            <a:r>
              <a:rPr sz="950" b="0" i="0">
                <a:solidFill>
                  <a:srgbClr val="9A9AA3"/>
                </a:solidFill>
                <a:latin typeface="Inter" panose="020B0502030000000004" pitchFamily="34" charset="0"/>
              </a:rPr>
              <a:t>Built with mcp-use (Manufact) · Inkbox · MCP over streamable HTTP</a:t>
            </a:r>
          </a:p>
        </p:txBody>
      </p:sp>
      <p:grpSp>
        <p:nvGrpSpPr>
          <p:cNvPr id="26" name="Group 25"/>
          <p:cNvGrpSpPr/>
          <p:nvPr/>
        </p:nvGrpSpPr>
        <p:grpSpPr>
          <a:xfrm>
            <a:off x="6720840" y="1143000"/>
            <a:ext cx="5989320" cy="3642170"/>
            <a:chOff x="6720840" y="1143000"/>
            <a:chExt cx="5989320" cy="3642170"/>
          </a:xfrm>
        </p:grpSpPr>
        <p:sp>
          <p:nvSpPr>
            <p:cNvPr id="27" name="Rounded Rectangle 26"/>
            <p:cNvSpPr/>
            <p:nvPr/>
          </p:nvSpPr>
          <p:spPr>
            <a:xfrm>
              <a:off x="6720840" y="1143000"/>
              <a:ext cx="5989320" cy="3642170"/>
            </a:xfrm>
            <a:prstGeom prst="roundRect">
              <a:avLst>
                <a:gd name="adj" fmla="val 3012"/>
              </a:avLst>
            </a:prstGeom>
            <a:solidFill>
              <a:srgbClr val="FFFFFF"/>
            </a:solidFill>
            <a:ln w="9525">
              <a:solidFill>
                <a:srgbClr val="E9E8E3"/>
              </a:solidFill>
            </a:ln>
            <a:effectLst>
              <a:outerShdw blurRad="384048" dist="109728" dir="5400000" algn="t" rotWithShape="0">
                <a:srgbClr val="0E0E10">
                  <a:alpha val="13000"/>
                </a:srgbClr>
              </a:outerShdw>
            </a:effectLst>
          </p:spPr>
          <p:txBody>
            <a:bodyPr rtlCol="0" anchor="ctr"/>
            <a:lstStyle/>
            <a:p>
              <a:pPr algn="ctr"/>
            </a:p>
          </p:txBody>
        </p:sp>
        <p:sp>
          <p:nvSpPr>
            <p:cNvPr id="28" name="Oval 27"/>
            <p:cNvSpPr/>
            <p:nvPr/>
          </p:nvSpPr>
          <p:spPr>
            <a:xfrm>
              <a:off x="6867144" y="1243584"/>
              <a:ext cx="73152" cy="73152"/>
            </a:xfrm>
            <a:prstGeom prst="ellipse">
              <a:avLst/>
            </a:prstGeom>
            <a:solidFill>
              <a:srgbClr val="D9D8D1"/>
            </a:solidFill>
            <a:ln>
              <a:noFill/>
            </a:ln>
          </p:spPr>
          <p:txBody>
            <a:bodyPr rtlCol="0" anchor="ctr"/>
            <a:lstStyle/>
            <a:p>
              <a:pPr algn="ctr"/>
            </a:p>
          </p:txBody>
        </p:sp>
        <p:sp>
          <p:nvSpPr>
            <p:cNvPr id="29" name="Oval 28"/>
            <p:cNvSpPr/>
            <p:nvPr/>
          </p:nvSpPr>
          <p:spPr>
            <a:xfrm>
              <a:off x="7004304" y="1243584"/>
              <a:ext cx="73152" cy="73152"/>
            </a:xfrm>
            <a:prstGeom prst="ellipse">
              <a:avLst/>
            </a:prstGeom>
            <a:solidFill>
              <a:srgbClr val="D9D8D1"/>
            </a:solidFill>
            <a:ln>
              <a:noFill/>
            </a:ln>
          </p:spPr>
          <p:txBody>
            <a:bodyPr rtlCol="0" anchor="ctr"/>
            <a:lstStyle/>
            <a:p>
              <a:pPr algn="ctr"/>
            </a:p>
          </p:txBody>
        </p:sp>
        <p:sp>
          <p:nvSpPr>
            <p:cNvPr id="30" name="Oval 29"/>
            <p:cNvSpPr/>
            <p:nvPr/>
          </p:nvSpPr>
          <p:spPr>
            <a:xfrm>
              <a:off x="7141464" y="1243584"/>
              <a:ext cx="73152" cy="73152"/>
            </a:xfrm>
            <a:prstGeom prst="ellipse">
              <a:avLst/>
            </a:prstGeom>
            <a:solidFill>
              <a:srgbClr val="D9D8D1"/>
            </a:solidFill>
            <a:ln>
              <a:noFill/>
            </a:ln>
          </p:spPr>
          <p:txBody>
            <a:bodyPr rtlCol="0" anchor="ctr"/>
            <a:lstStyle/>
            <a:p>
              <a:pPr algn="ctr"/>
            </a:p>
          </p:txBody>
        </p:sp>
        <p:sp>
          <p:nvSpPr>
            <p:cNvPr id="31" name="Rounded Rectangle 30"/>
            <p:cNvSpPr/>
            <p:nvPr/>
          </p:nvSpPr>
          <p:spPr>
            <a:xfrm>
              <a:off x="8517636" y="1202436"/>
              <a:ext cx="2395728" cy="155448"/>
            </a:xfrm>
            <a:prstGeom prst="roundRect">
              <a:avLst>
                <a:gd name="adj" fmla="val 50000"/>
              </a:avLst>
            </a:prstGeom>
            <a:solidFill>
              <a:srgbClr val="F4F4F1"/>
            </a:solidFill>
            <a:ln>
              <a:noFill/>
            </a:ln>
          </p:spPr>
          <p:txBody>
            <a:bodyPr rtlCol="0" anchor="ctr"/>
            <a:lstStyle/>
            <a:p>
              <a:pPr algn="ctr"/>
            </a:p>
          </p:txBody>
        </p:sp>
        <p:sp>
          <p:nvSpPr>
            <p:cNvPr id="32" name="TextBox 31"/>
            <p:cNvSpPr txBox="1"/>
            <p:nvPr/>
          </p:nvSpPr>
          <p:spPr>
            <a:xfrm>
              <a:off x="8517636" y="1202436"/>
              <a:ext cx="2395728" cy="155448"/>
            </a:xfrm>
            <a:prstGeom prst="rect">
              <a:avLst/>
            </a:prstGeom>
            <a:noFill/>
          </p:spPr>
          <p:txBody>
            <a:bodyPr wrap="square" lIns="0" rIns="0" tIns="0" bIns="0" anchor="ctr">
              <a:noAutofit/>
            </a:bodyPr>
            <a:lstStyle/>
            <a:p>
              <a:pPr algn="ctr"/>
              <a:r>
                <a:rPr sz="750" b="0" i="0">
                  <a:solidFill>
                    <a:srgbClr val="5D5D66"/>
                  </a:solidFill>
                  <a:latin typeface="Inter" panose="020B0502030000000004" pitchFamily="34" charset="0"/>
                </a:rPr>
                <a:t>localhost:8787/exchange</a:t>
              </a:r>
            </a:p>
          </p:txBody>
        </p:sp>
        <p:sp>
          <p:nvSpPr>
            <p:cNvPr id="33" name="Rectangle 32"/>
            <p:cNvSpPr/>
            <p:nvPr/>
          </p:nvSpPr>
          <p:spPr>
            <a:xfrm>
              <a:off x="6729984" y="1408176"/>
              <a:ext cx="5971032" cy="9144"/>
            </a:xfrm>
            <a:prstGeom prst="rect">
              <a:avLst/>
            </a:prstGeom>
            <a:solidFill>
              <a:srgbClr val="E9E8E3"/>
            </a:solidFill>
            <a:ln>
              <a:noFill/>
            </a:ln>
          </p:spPr>
          <p:txBody>
            <a:bodyPr rtlCol="0" anchor="ctr"/>
            <a:lstStyle/>
            <a:p>
              <a:pPr algn="ctr"/>
            </a:p>
          </p:txBody>
        </p:sp>
        <p:sp>
          <p:nvSpPr>
            <p:cNvPr id="34" name="Rounded Rectangle 33"/>
            <p:cNvSpPr/>
            <p:nvPr/>
          </p:nvSpPr>
          <p:spPr>
            <a:xfrm>
              <a:off x="6729984" y="1417320"/>
              <a:ext cx="5971032" cy="3358706"/>
            </a:xfrm>
            <a:prstGeom prst="roundRect">
              <a:avLst>
                <a:gd name="adj" fmla="val 1088"/>
              </a:avLst>
            </a:prstGeom>
            <a:solidFill>
              <a:srgbClr val="FAFAF8"/>
            </a:solidFill>
            <a:ln>
              <a:noFill/>
            </a:ln>
          </p:spPr>
          <p:txBody>
            <a:bodyPr rtlCol="0" anchor="ctr"/>
            <a:lstStyle/>
            <a:p>
              <a:pPr algn="ctr"/>
            </a:p>
          </p:txBody>
        </p:sp>
        <p:sp>
          <p:nvSpPr>
            <p:cNvPr id="35" name="Rectangle 34"/>
            <p:cNvSpPr/>
            <p:nvPr/>
          </p:nvSpPr>
          <p:spPr>
            <a:xfrm>
              <a:off x="6729984" y="1417320"/>
              <a:ext cx="5971032" cy="310896"/>
            </a:xfrm>
            <a:prstGeom prst="rect">
              <a:avLst/>
            </a:prstGeom>
            <a:solidFill>
              <a:srgbClr val="FFFFFF"/>
            </a:solidFill>
            <a:ln>
              <a:noFill/>
            </a:ln>
          </p:spPr>
          <p:txBody>
            <a:bodyPr rtlCol="0" anchor="ctr"/>
            <a:lstStyle/>
            <a:p>
              <a:pPr algn="ctr"/>
            </a:p>
          </p:txBody>
        </p:sp>
        <p:sp>
          <p:nvSpPr>
            <p:cNvPr id="36" name="Rectangle 35"/>
            <p:cNvSpPr/>
            <p:nvPr/>
          </p:nvSpPr>
          <p:spPr>
            <a:xfrm>
              <a:off x="6729984" y="1728216"/>
              <a:ext cx="5971032" cy="9144"/>
            </a:xfrm>
            <a:prstGeom prst="rect">
              <a:avLst/>
            </a:prstGeom>
            <a:solidFill>
              <a:srgbClr val="E9E8E3"/>
            </a:solidFill>
            <a:ln>
              <a:noFill/>
            </a:ln>
          </p:spPr>
          <p:txBody>
            <a:bodyPr rtlCol="0" anchor="ctr"/>
            <a:lstStyle/>
            <a:p>
              <a:pPr algn="ctr"/>
            </a:p>
          </p:txBody>
        </p:sp>
        <p:sp>
          <p:nvSpPr>
            <p:cNvPr id="37" name="TextBox 36"/>
            <p:cNvSpPr txBox="1"/>
            <p:nvPr/>
          </p:nvSpPr>
          <p:spPr>
            <a:xfrm>
              <a:off x="6894576" y="1417320"/>
              <a:ext cx="2743200" cy="310896"/>
            </a:xfrm>
            <a:prstGeom prst="rect">
              <a:avLst/>
            </a:prstGeom>
            <a:noFill/>
          </p:spPr>
          <p:txBody>
            <a:bodyPr wrap="square" lIns="0" rIns="0" tIns="0" bIns="0" anchor="ctr">
              <a:noAutofit/>
            </a:bodyPr>
            <a:lstStyle/>
            <a:p>
              <a:pPr algn="l"/>
              <a:r>
                <a:rPr sz="850" b="1" i="0">
                  <a:solidFill>
                    <a:srgbClr val="0E0E10"/>
                  </a:solidFill>
                  <a:latin typeface="Inter" panose="020B0502030000000004" pitchFamily="34" charset="0"/>
                </a:rPr>
                <a:t>Bidwire  </a:t>
              </a:r>
              <a:r>
                <a:rPr sz="850" b="0" i="0">
                  <a:solidFill>
                    <a:srgbClr val="9A9AA3"/>
                  </a:solidFill>
                  <a:latin typeface="Inter" panose="020B0502030000000004" pitchFamily="34" charset="0"/>
                </a:rPr>
                <a:t>Exchange</a:t>
              </a:r>
            </a:p>
          </p:txBody>
        </p:sp>
        <p:sp>
          <p:nvSpPr>
            <p:cNvPr id="38" name="Rounded Rectangle 37"/>
            <p:cNvSpPr/>
            <p:nvPr/>
          </p:nvSpPr>
          <p:spPr>
            <a:xfrm>
              <a:off x="6867144" y="1874520"/>
              <a:ext cx="5696712" cy="502920"/>
            </a:xfrm>
            <a:prstGeom prst="roundRect">
              <a:avLst>
                <a:gd name="adj" fmla="val 10909"/>
              </a:avLst>
            </a:prstGeom>
            <a:solidFill>
              <a:srgbClr val="FDECEC"/>
            </a:solidFill>
            <a:ln>
              <a:noFill/>
            </a:ln>
          </p:spPr>
          <p:txBody>
            <a:bodyPr rtlCol="0" anchor="ctr"/>
            <a:lstStyle/>
            <a:p>
              <a:pPr algn="ctr"/>
            </a:p>
          </p:txBody>
        </p:sp>
        <p:sp>
          <p:nvSpPr>
            <p:cNvPr id="39" name="Rectangle 38"/>
            <p:cNvSpPr/>
            <p:nvPr/>
          </p:nvSpPr>
          <p:spPr>
            <a:xfrm>
              <a:off x="6867144" y="1965960"/>
              <a:ext cx="32004" cy="320040"/>
            </a:xfrm>
            <a:prstGeom prst="rect">
              <a:avLst/>
            </a:prstGeom>
            <a:solidFill>
              <a:srgbClr val="D93036"/>
            </a:solidFill>
            <a:ln>
              <a:noFill/>
            </a:ln>
          </p:spPr>
          <p:txBody>
            <a:bodyPr rtlCol="0" anchor="ctr"/>
            <a:lstStyle/>
            <a:p>
              <a:pPr algn="ctr"/>
            </a:p>
          </p:txBody>
        </p:sp>
        <p:sp>
          <p:nvSpPr>
            <p:cNvPr id="40" name="TextBox 39"/>
            <p:cNvSpPr txBox="1"/>
            <p:nvPr/>
          </p:nvSpPr>
          <p:spPr>
            <a:xfrm>
              <a:off x="7004304" y="1911096"/>
              <a:ext cx="5422392" cy="219456"/>
            </a:xfrm>
            <a:prstGeom prst="rect">
              <a:avLst/>
            </a:prstGeom>
            <a:noFill/>
          </p:spPr>
          <p:txBody>
            <a:bodyPr wrap="square" lIns="0" rIns="0" tIns="0" bIns="0" anchor="ctr">
              <a:noAutofit/>
            </a:bodyPr>
            <a:lstStyle/>
            <a:p>
              <a:pPr algn="l"/>
              <a:r>
                <a:rPr sz="900" b="1" i="0">
                  <a:solidFill>
                    <a:srgbClr val="0E0E10"/>
                  </a:solidFill>
                  <a:latin typeface="Inter" panose="020B0502030000000004" pitchFamily="34" charset="0"/>
                </a:rPr>
                <a:t>Caught lying · DealDrop Direct</a:t>
              </a:r>
            </a:p>
          </p:txBody>
        </p:sp>
        <p:sp>
          <p:nvSpPr>
            <p:cNvPr id="41" name="TextBox 40"/>
            <p:cNvSpPr txBox="1"/>
            <p:nvPr/>
          </p:nvSpPr>
          <p:spPr>
            <a:xfrm>
              <a:off x="7004304" y="2121408"/>
              <a:ext cx="5422392" cy="201168"/>
            </a:xfrm>
            <a:prstGeom prst="rect">
              <a:avLst/>
            </a:prstGeom>
            <a:noFill/>
          </p:spPr>
          <p:txBody>
            <a:bodyPr wrap="square" lIns="0" rIns="0" tIns="0" bIns="0" anchor="ctr">
              <a:noAutofit/>
            </a:bodyPr>
            <a:lstStyle/>
            <a:p>
              <a:pPr algn="l"/>
              <a:r>
                <a:rPr sz="700" b="0" i="0">
                  <a:solidFill>
                    <a:srgbClr val="5D5D66"/>
                  </a:solidFill>
                  <a:latin typeface="Inter" panose="020B0502030000000004" pitchFamily="34" charset="0"/>
                </a:rPr>
                <a:t>Claimed $34.99 delivered · checkout says $63.99 (+$29.00 “Service &amp; handling fee”)</a:t>
              </a:r>
            </a:p>
          </p:txBody>
        </p:sp>
        <p:sp>
          <p:nvSpPr>
            <p:cNvPr id="42" name="Rounded Rectangle 41"/>
            <p:cNvSpPr/>
            <p:nvPr/>
          </p:nvSpPr>
          <p:spPr>
            <a:xfrm>
              <a:off x="6867144" y="2514600"/>
              <a:ext cx="5696712" cy="2151698"/>
            </a:xfrm>
            <a:prstGeom prst="roundRect">
              <a:avLst>
                <a:gd name="adj" fmla="val 2549"/>
              </a:avLst>
            </a:prstGeom>
            <a:solidFill>
              <a:srgbClr val="FFFFFF"/>
            </a:solidFill>
            <a:ln w="9525">
              <a:solidFill>
                <a:srgbClr val="E9E8E3"/>
              </a:solidFill>
            </a:ln>
          </p:spPr>
          <p:txBody>
            <a:bodyPr rtlCol="0" anchor="ctr"/>
            <a:lstStyle/>
            <a:p>
              <a:pPr algn="ctr"/>
            </a:p>
          </p:txBody>
        </p:sp>
        <p:sp>
          <p:nvSpPr>
            <p:cNvPr id="43" name="TextBox 42"/>
            <p:cNvSpPr txBox="1"/>
            <p:nvPr/>
          </p:nvSpPr>
          <p:spPr>
            <a:xfrm>
              <a:off x="6986016" y="2551176"/>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#1</a:t>
              </a:r>
            </a:p>
          </p:txBody>
        </p:sp>
        <p:sp>
          <p:nvSpPr>
            <p:cNvPr id="44" name="TextBox 43"/>
            <p:cNvSpPr txBox="1"/>
            <p:nvPr/>
          </p:nvSpPr>
          <p:spPr>
            <a:xfrm>
              <a:off x="7370064" y="2551176"/>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Last Unit Labs</a:t>
              </a:r>
            </a:p>
          </p:txBody>
        </p:sp>
        <p:sp>
          <p:nvSpPr>
            <p:cNvPr id="45" name="Rounded Rectangle 44"/>
            <p:cNvSpPr/>
            <p:nvPr/>
          </p:nvSpPr>
          <p:spPr>
            <a:xfrm>
              <a:off x="11913616" y="2617348"/>
              <a:ext cx="513080" cy="164592"/>
            </a:xfrm>
            <a:prstGeom prst="roundRect">
              <a:avLst>
                <a:gd name="adj" fmla="val 50000"/>
              </a:avLst>
            </a:prstGeom>
            <a:solidFill>
              <a:srgbClr val="FFF0EA"/>
            </a:solidFill>
            <a:ln>
              <a:noFill/>
            </a:ln>
          </p:spPr>
          <p:txBody>
            <a:bodyPr rtlCol="0" anchor="ctr"/>
            <a:lstStyle/>
            <a:p>
              <a:pPr algn="ctr"/>
            </a:p>
          </p:txBody>
        </p:sp>
        <p:sp>
          <p:nvSpPr>
            <p:cNvPr id="46" name="TextBox 45"/>
            <p:cNvSpPr txBox="1"/>
            <p:nvPr/>
          </p:nvSpPr>
          <p:spPr>
            <a:xfrm>
              <a:off x="11913616" y="2617348"/>
              <a:ext cx="513080" cy="164592"/>
            </a:xfrm>
            <a:prstGeom prst="rect">
              <a:avLst/>
            </a:prstGeom>
            <a:noFill/>
          </p:spPr>
          <p:txBody>
            <a:bodyPr wrap="square" lIns="0" rIns="0" tIns="0" bIns="0" anchor="ctr">
              <a:noAutofit/>
            </a:bodyPr>
            <a:lstStyle/>
            <a:p>
              <a:pPr algn="ctr"/>
              <a:r>
                <a:rPr sz="700" b="1" i="0">
                  <a:solidFill>
                    <a:srgbClr val="F2561D"/>
                  </a:solidFill>
                  <a:latin typeface="Inter" panose="020B0502030000000004" pitchFamily="34" charset="0"/>
                </a:rPr>
                <a:t>#1 pick</a:t>
              </a:r>
            </a:p>
          </p:txBody>
        </p:sp>
        <p:sp>
          <p:nvSpPr>
            <p:cNvPr id="47" name="Rectangle 46"/>
            <p:cNvSpPr/>
            <p:nvPr/>
          </p:nvSpPr>
          <p:spPr>
            <a:xfrm>
              <a:off x="6912864" y="2848111"/>
              <a:ext cx="5605272" cy="7315"/>
            </a:xfrm>
            <a:prstGeom prst="rect">
              <a:avLst/>
            </a:prstGeom>
            <a:solidFill>
              <a:srgbClr val="E9E8E3"/>
            </a:solidFill>
            <a:ln>
              <a:noFill/>
            </a:ln>
          </p:spPr>
          <p:txBody>
            <a:bodyPr rtlCol="0" anchor="ctr"/>
            <a:lstStyle/>
            <a:p>
              <a:pPr algn="ctr"/>
            </a:p>
          </p:txBody>
        </p:sp>
        <p:sp>
          <p:nvSpPr>
            <p:cNvPr id="48" name="TextBox 47"/>
            <p:cNvSpPr txBox="1"/>
            <p:nvPr/>
          </p:nvSpPr>
          <p:spPr>
            <a:xfrm>
              <a:off x="6986016" y="2848111"/>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#2</a:t>
              </a:r>
            </a:p>
          </p:txBody>
        </p:sp>
        <p:sp>
          <p:nvSpPr>
            <p:cNvPr id="49" name="TextBox 48"/>
            <p:cNvSpPr txBox="1"/>
            <p:nvPr/>
          </p:nvSpPr>
          <p:spPr>
            <a:xfrm>
              <a:off x="7370064" y="2848111"/>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Parcel &amp; Pine</a:t>
              </a:r>
            </a:p>
          </p:txBody>
        </p:sp>
        <p:sp>
          <p:nvSpPr>
            <p:cNvPr id="50" name="Rounded Rectangle 49"/>
            <p:cNvSpPr/>
            <p:nvPr/>
          </p:nvSpPr>
          <p:spPr>
            <a:xfrm>
              <a:off x="11863832" y="2914283"/>
              <a:ext cx="562864" cy="164592"/>
            </a:xfrm>
            <a:prstGeom prst="roundRect">
              <a:avLst>
                <a:gd name="adj" fmla="val 50000"/>
              </a:avLst>
            </a:prstGeom>
            <a:solidFill>
              <a:srgbClr val="E7F6EF"/>
            </a:solidFill>
            <a:ln>
              <a:noFill/>
            </a:ln>
          </p:spPr>
          <p:txBody>
            <a:bodyPr rtlCol="0" anchor="ctr"/>
            <a:lstStyle/>
            <a:p>
              <a:pPr algn="ctr"/>
            </a:p>
          </p:txBody>
        </p:sp>
        <p:sp>
          <p:nvSpPr>
            <p:cNvPr id="51" name="TextBox 50"/>
            <p:cNvSpPr txBox="1"/>
            <p:nvPr/>
          </p:nvSpPr>
          <p:spPr>
            <a:xfrm>
              <a:off x="11863832" y="2914283"/>
              <a:ext cx="562864" cy="164592"/>
            </a:xfrm>
            <a:prstGeom prst="rect">
              <a:avLst/>
            </a:prstGeom>
            <a:noFill/>
          </p:spPr>
          <p:txBody>
            <a:bodyPr wrap="square" lIns="0" rIns="0" tIns="0" bIns="0" anchor="ctr">
              <a:noAutofit/>
            </a:bodyPr>
            <a:lstStyle/>
            <a:p>
              <a:pPr algn="ctr"/>
              <a:r>
                <a:rPr sz="700" b="1" i="0">
                  <a:solidFill>
                    <a:srgbClr val="12805C"/>
                  </a:solidFill>
                  <a:latin typeface="Inter" panose="020B0502030000000004" pitchFamily="34" charset="0"/>
                </a:rPr>
                <a:t>Verified</a:t>
              </a:r>
            </a:p>
          </p:txBody>
        </p:sp>
        <p:sp>
          <p:nvSpPr>
            <p:cNvPr id="52" name="Rectangle 51"/>
            <p:cNvSpPr/>
            <p:nvPr/>
          </p:nvSpPr>
          <p:spPr>
            <a:xfrm>
              <a:off x="6912864" y="3145046"/>
              <a:ext cx="5605272" cy="7315"/>
            </a:xfrm>
            <a:prstGeom prst="rect">
              <a:avLst/>
            </a:prstGeom>
            <a:solidFill>
              <a:srgbClr val="E9E8E3"/>
            </a:solidFill>
            <a:ln>
              <a:noFill/>
            </a:ln>
          </p:spPr>
          <p:txBody>
            <a:bodyPr rtlCol="0" anchor="ctr"/>
            <a:lstStyle/>
            <a:p>
              <a:pPr algn="ctr"/>
            </a:p>
          </p:txBody>
        </p:sp>
        <p:sp>
          <p:nvSpPr>
            <p:cNvPr id="53" name="TextBox 52"/>
            <p:cNvSpPr txBox="1"/>
            <p:nvPr/>
          </p:nvSpPr>
          <p:spPr>
            <a:xfrm>
              <a:off x="6986016" y="3145046"/>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#3</a:t>
              </a:r>
            </a:p>
          </p:txBody>
        </p:sp>
        <p:sp>
          <p:nvSpPr>
            <p:cNvPr id="54" name="TextBox 53"/>
            <p:cNvSpPr txBox="1"/>
            <p:nvPr/>
          </p:nvSpPr>
          <p:spPr>
            <a:xfrm>
              <a:off x="7370064" y="3145046"/>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Northwind Electronics</a:t>
              </a:r>
            </a:p>
          </p:txBody>
        </p:sp>
        <p:sp>
          <p:nvSpPr>
            <p:cNvPr id="55" name="Rounded Rectangle 54"/>
            <p:cNvSpPr/>
            <p:nvPr/>
          </p:nvSpPr>
          <p:spPr>
            <a:xfrm>
              <a:off x="11863832" y="3211218"/>
              <a:ext cx="562864" cy="164592"/>
            </a:xfrm>
            <a:prstGeom prst="roundRect">
              <a:avLst>
                <a:gd name="adj" fmla="val 50000"/>
              </a:avLst>
            </a:prstGeom>
            <a:solidFill>
              <a:srgbClr val="E7F6EF"/>
            </a:solidFill>
            <a:ln>
              <a:noFill/>
            </a:ln>
          </p:spPr>
          <p:txBody>
            <a:bodyPr rtlCol="0" anchor="ctr"/>
            <a:lstStyle/>
            <a:p>
              <a:pPr algn="ctr"/>
            </a:p>
          </p:txBody>
        </p:sp>
        <p:sp>
          <p:nvSpPr>
            <p:cNvPr id="56" name="TextBox 55"/>
            <p:cNvSpPr txBox="1"/>
            <p:nvPr/>
          </p:nvSpPr>
          <p:spPr>
            <a:xfrm>
              <a:off x="11863832" y="3211218"/>
              <a:ext cx="562864" cy="164592"/>
            </a:xfrm>
            <a:prstGeom prst="rect">
              <a:avLst/>
            </a:prstGeom>
            <a:noFill/>
          </p:spPr>
          <p:txBody>
            <a:bodyPr wrap="square" lIns="0" rIns="0" tIns="0" bIns="0" anchor="ctr">
              <a:noAutofit/>
            </a:bodyPr>
            <a:lstStyle/>
            <a:p>
              <a:pPr algn="ctr"/>
              <a:r>
                <a:rPr sz="700" b="1" i="0">
                  <a:solidFill>
                    <a:srgbClr val="12805C"/>
                  </a:solidFill>
                  <a:latin typeface="Inter" panose="020B0502030000000004" pitchFamily="34" charset="0"/>
                </a:rPr>
                <a:t>Verified</a:t>
              </a:r>
            </a:p>
          </p:txBody>
        </p:sp>
        <p:sp>
          <p:nvSpPr>
            <p:cNvPr id="57" name="Rectangle 56"/>
            <p:cNvSpPr/>
            <p:nvPr/>
          </p:nvSpPr>
          <p:spPr>
            <a:xfrm>
              <a:off x="6912864" y="3441981"/>
              <a:ext cx="5605272" cy="7315"/>
            </a:xfrm>
            <a:prstGeom prst="rect">
              <a:avLst/>
            </a:prstGeom>
            <a:solidFill>
              <a:srgbClr val="E9E8E3"/>
            </a:solidFill>
            <a:ln>
              <a:noFill/>
            </a:ln>
          </p:spPr>
          <p:txBody>
            <a:bodyPr rtlCol="0" anchor="ctr"/>
            <a:lstStyle/>
            <a:p>
              <a:pPr algn="ctr"/>
            </a:p>
          </p:txBody>
        </p:sp>
        <p:sp>
          <p:nvSpPr>
            <p:cNvPr id="58" name="TextBox 57"/>
            <p:cNvSpPr txBox="1"/>
            <p:nvPr/>
          </p:nvSpPr>
          <p:spPr>
            <a:xfrm>
              <a:off x="6986016" y="3441981"/>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#4</a:t>
              </a:r>
            </a:p>
          </p:txBody>
        </p:sp>
        <p:sp>
          <p:nvSpPr>
            <p:cNvPr id="59" name="TextBox 58"/>
            <p:cNvSpPr txBox="1"/>
            <p:nvPr/>
          </p:nvSpPr>
          <p:spPr>
            <a:xfrm>
              <a:off x="7370064" y="3441981"/>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Sundial Supply</a:t>
              </a:r>
            </a:p>
          </p:txBody>
        </p:sp>
        <p:sp>
          <p:nvSpPr>
            <p:cNvPr id="60" name="Rounded Rectangle 59"/>
            <p:cNvSpPr/>
            <p:nvPr/>
          </p:nvSpPr>
          <p:spPr>
            <a:xfrm>
              <a:off x="11863832" y="3508153"/>
              <a:ext cx="562864" cy="164592"/>
            </a:xfrm>
            <a:prstGeom prst="roundRect">
              <a:avLst>
                <a:gd name="adj" fmla="val 50000"/>
              </a:avLst>
            </a:prstGeom>
            <a:solidFill>
              <a:srgbClr val="E7F6EF"/>
            </a:solidFill>
            <a:ln>
              <a:noFill/>
            </a:ln>
          </p:spPr>
          <p:txBody>
            <a:bodyPr rtlCol="0" anchor="ctr"/>
            <a:lstStyle/>
            <a:p>
              <a:pPr algn="ctr"/>
            </a:p>
          </p:txBody>
        </p:sp>
        <p:sp>
          <p:nvSpPr>
            <p:cNvPr id="61" name="TextBox 60"/>
            <p:cNvSpPr txBox="1"/>
            <p:nvPr/>
          </p:nvSpPr>
          <p:spPr>
            <a:xfrm>
              <a:off x="11863832" y="3508153"/>
              <a:ext cx="562864" cy="164592"/>
            </a:xfrm>
            <a:prstGeom prst="rect">
              <a:avLst/>
            </a:prstGeom>
            <a:noFill/>
          </p:spPr>
          <p:txBody>
            <a:bodyPr wrap="square" lIns="0" rIns="0" tIns="0" bIns="0" anchor="ctr">
              <a:noAutofit/>
            </a:bodyPr>
            <a:lstStyle/>
            <a:p>
              <a:pPr algn="ctr"/>
              <a:r>
                <a:rPr sz="700" b="1" i="0">
                  <a:solidFill>
                    <a:srgbClr val="12805C"/>
                  </a:solidFill>
                  <a:latin typeface="Inter" panose="020B0502030000000004" pitchFamily="34" charset="0"/>
                </a:rPr>
                <a:t>Verified</a:t>
              </a:r>
            </a:p>
          </p:txBody>
        </p:sp>
        <p:sp>
          <p:nvSpPr>
            <p:cNvPr id="62" name="Rectangle 61"/>
            <p:cNvSpPr/>
            <p:nvPr/>
          </p:nvSpPr>
          <p:spPr>
            <a:xfrm>
              <a:off x="6912864" y="3738916"/>
              <a:ext cx="5605272" cy="7315"/>
            </a:xfrm>
            <a:prstGeom prst="rect">
              <a:avLst/>
            </a:prstGeom>
            <a:solidFill>
              <a:srgbClr val="E9E8E3"/>
            </a:solidFill>
            <a:ln>
              <a:noFill/>
            </a:ln>
          </p:spPr>
          <p:txBody>
            <a:bodyPr rtlCol="0" anchor="ctr"/>
            <a:lstStyle/>
            <a:p>
              <a:pPr algn="ctr"/>
            </a:p>
          </p:txBody>
        </p:sp>
        <p:sp>
          <p:nvSpPr>
            <p:cNvPr id="63" name="TextBox 62"/>
            <p:cNvSpPr txBox="1"/>
            <p:nvPr/>
          </p:nvSpPr>
          <p:spPr>
            <a:xfrm>
              <a:off x="6986016" y="3738916"/>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#5</a:t>
              </a:r>
            </a:p>
          </p:txBody>
        </p:sp>
        <p:sp>
          <p:nvSpPr>
            <p:cNvPr id="64" name="TextBox 63"/>
            <p:cNvSpPr txBox="1"/>
            <p:nvPr/>
          </p:nvSpPr>
          <p:spPr>
            <a:xfrm>
              <a:off x="7370064" y="3738916"/>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MegaMart Ads Co.</a:t>
              </a:r>
            </a:p>
          </p:txBody>
        </p:sp>
        <p:sp>
          <p:nvSpPr>
            <p:cNvPr id="65" name="Rounded Rectangle 64"/>
            <p:cNvSpPr/>
            <p:nvPr/>
          </p:nvSpPr>
          <p:spPr>
            <a:xfrm>
              <a:off x="11614912" y="3805088"/>
              <a:ext cx="811784" cy="164592"/>
            </a:xfrm>
            <a:prstGeom prst="roundRect">
              <a:avLst>
                <a:gd name="adj" fmla="val 50000"/>
              </a:avLst>
            </a:prstGeom>
            <a:solidFill>
              <a:srgbClr val="FFF4E2"/>
            </a:solidFill>
            <a:ln>
              <a:noFill/>
            </a:ln>
          </p:spPr>
          <p:txBody>
            <a:bodyPr rtlCol="0" anchor="ctr"/>
            <a:lstStyle/>
            <a:p>
              <a:pPr algn="ctr"/>
            </a:p>
          </p:txBody>
        </p:sp>
        <p:sp>
          <p:nvSpPr>
            <p:cNvPr id="66" name="TextBox 65"/>
            <p:cNvSpPr txBox="1"/>
            <p:nvPr/>
          </p:nvSpPr>
          <p:spPr>
            <a:xfrm>
              <a:off x="11614912" y="3805088"/>
              <a:ext cx="811784" cy="164592"/>
            </a:xfrm>
            <a:prstGeom prst="rect">
              <a:avLst/>
            </a:prstGeom>
            <a:noFill/>
          </p:spPr>
          <p:txBody>
            <a:bodyPr wrap="square" lIns="0" rIns="0" tIns="0" bIns="0" anchor="ctr">
              <a:noAutofit/>
            </a:bodyPr>
            <a:lstStyle/>
            <a:p>
              <a:pPr algn="ctr"/>
              <a:r>
                <a:rPr sz="700" b="1" i="0">
                  <a:solidFill>
                    <a:srgbClr val="A15C07"/>
                  </a:solidFill>
                  <a:latin typeface="Inter" panose="020B0502030000000004" pitchFamily="34" charset="0"/>
                </a:rPr>
                <a:t>Bribe ignored</a:t>
              </a:r>
            </a:p>
          </p:txBody>
        </p:sp>
        <p:sp>
          <p:nvSpPr>
            <p:cNvPr id="67" name="Rectangle 66"/>
            <p:cNvSpPr/>
            <p:nvPr/>
          </p:nvSpPr>
          <p:spPr>
            <a:xfrm>
              <a:off x="6912864" y="4035851"/>
              <a:ext cx="5605272" cy="7315"/>
            </a:xfrm>
            <a:prstGeom prst="rect">
              <a:avLst/>
            </a:prstGeom>
            <a:solidFill>
              <a:srgbClr val="E9E8E3"/>
            </a:solidFill>
            <a:ln>
              <a:noFill/>
            </a:ln>
          </p:spPr>
          <p:txBody>
            <a:bodyPr rtlCol="0" anchor="ctr"/>
            <a:lstStyle/>
            <a:p>
              <a:pPr algn="ctr"/>
            </a:p>
          </p:txBody>
        </p:sp>
        <p:sp>
          <p:nvSpPr>
            <p:cNvPr id="68" name="TextBox 67"/>
            <p:cNvSpPr txBox="1"/>
            <p:nvPr/>
          </p:nvSpPr>
          <p:spPr>
            <a:xfrm>
              <a:off x="6986016" y="4035851"/>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a:t>
              </a:r>
            </a:p>
          </p:txBody>
        </p:sp>
        <p:sp>
          <p:nvSpPr>
            <p:cNvPr id="69" name="TextBox 68"/>
            <p:cNvSpPr txBox="1"/>
            <p:nvPr/>
          </p:nvSpPr>
          <p:spPr>
            <a:xfrm>
              <a:off x="7370064" y="4035851"/>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DealDrop Direct</a:t>
              </a:r>
            </a:p>
          </p:txBody>
        </p:sp>
        <p:sp>
          <p:nvSpPr>
            <p:cNvPr id="70" name="Rounded Rectangle 69"/>
            <p:cNvSpPr/>
            <p:nvPr/>
          </p:nvSpPr>
          <p:spPr>
            <a:xfrm>
              <a:off x="12062968" y="4102023"/>
              <a:ext cx="363728" cy="164592"/>
            </a:xfrm>
            <a:prstGeom prst="roundRect">
              <a:avLst>
                <a:gd name="adj" fmla="val 50000"/>
              </a:avLst>
            </a:prstGeom>
            <a:solidFill>
              <a:srgbClr val="FDECEC"/>
            </a:solidFill>
            <a:ln>
              <a:noFill/>
            </a:ln>
          </p:spPr>
          <p:txBody>
            <a:bodyPr rtlCol="0" anchor="ctr"/>
            <a:lstStyle/>
            <a:p>
              <a:pPr algn="ctr"/>
            </a:p>
          </p:txBody>
        </p:sp>
        <p:sp>
          <p:nvSpPr>
            <p:cNvPr id="71" name="TextBox 70"/>
            <p:cNvSpPr txBox="1"/>
            <p:nvPr/>
          </p:nvSpPr>
          <p:spPr>
            <a:xfrm>
              <a:off x="12062968" y="4102023"/>
              <a:ext cx="363728" cy="164592"/>
            </a:xfrm>
            <a:prstGeom prst="rect">
              <a:avLst/>
            </a:prstGeom>
            <a:noFill/>
          </p:spPr>
          <p:txBody>
            <a:bodyPr wrap="square" lIns="0" rIns="0" tIns="0" bIns="0" anchor="ctr">
              <a:noAutofit/>
            </a:bodyPr>
            <a:lstStyle/>
            <a:p>
              <a:pPr algn="ctr"/>
              <a:r>
                <a:rPr sz="700" b="1" i="0">
                  <a:solidFill>
                    <a:srgbClr val="D93036"/>
                  </a:solidFill>
                  <a:latin typeface="Inter" panose="020B0502030000000004" pitchFamily="34" charset="0"/>
                </a:rPr>
                <a:t>Lied</a:t>
              </a:r>
            </a:p>
          </p:txBody>
        </p:sp>
        <p:sp>
          <p:nvSpPr>
            <p:cNvPr id="72" name="Rectangle 71"/>
            <p:cNvSpPr/>
            <p:nvPr/>
          </p:nvSpPr>
          <p:spPr>
            <a:xfrm>
              <a:off x="6912864" y="4332786"/>
              <a:ext cx="5605272" cy="7315"/>
            </a:xfrm>
            <a:prstGeom prst="rect">
              <a:avLst/>
            </a:prstGeom>
            <a:solidFill>
              <a:srgbClr val="E9E8E3"/>
            </a:solidFill>
            <a:ln>
              <a:noFill/>
            </a:ln>
          </p:spPr>
          <p:txBody>
            <a:bodyPr rtlCol="0" anchor="ctr"/>
            <a:lstStyle/>
            <a:p>
              <a:pPr algn="ctr"/>
            </a:p>
          </p:txBody>
        </p:sp>
        <p:sp>
          <p:nvSpPr>
            <p:cNvPr id="73" name="TextBox 72"/>
            <p:cNvSpPr txBox="1"/>
            <p:nvPr/>
          </p:nvSpPr>
          <p:spPr>
            <a:xfrm>
              <a:off x="6986016" y="4332786"/>
              <a:ext cx="457200" cy="296935"/>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a:t>
              </a:r>
            </a:p>
          </p:txBody>
        </p:sp>
        <p:sp>
          <p:nvSpPr>
            <p:cNvPr id="74" name="TextBox 73"/>
            <p:cNvSpPr txBox="1"/>
            <p:nvPr/>
          </p:nvSpPr>
          <p:spPr>
            <a:xfrm>
              <a:off x="7370064" y="4332786"/>
              <a:ext cx="2985516" cy="296935"/>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Specsmith</a:t>
              </a:r>
            </a:p>
          </p:txBody>
        </p:sp>
        <p:sp>
          <p:nvSpPr>
            <p:cNvPr id="75" name="Rounded Rectangle 74"/>
            <p:cNvSpPr/>
            <p:nvPr/>
          </p:nvSpPr>
          <p:spPr>
            <a:xfrm>
              <a:off x="12062968" y="4398958"/>
              <a:ext cx="363728" cy="164592"/>
            </a:xfrm>
            <a:prstGeom prst="roundRect">
              <a:avLst>
                <a:gd name="adj" fmla="val 50000"/>
              </a:avLst>
            </a:prstGeom>
            <a:solidFill>
              <a:srgbClr val="FDECEC"/>
            </a:solidFill>
            <a:ln>
              <a:noFill/>
            </a:ln>
          </p:spPr>
          <p:txBody>
            <a:bodyPr rtlCol="0" anchor="ctr"/>
            <a:lstStyle/>
            <a:p>
              <a:pPr algn="ctr"/>
            </a:p>
          </p:txBody>
        </p:sp>
        <p:sp>
          <p:nvSpPr>
            <p:cNvPr id="76" name="TextBox 75"/>
            <p:cNvSpPr txBox="1"/>
            <p:nvPr/>
          </p:nvSpPr>
          <p:spPr>
            <a:xfrm>
              <a:off x="12062968" y="4398958"/>
              <a:ext cx="363728" cy="164592"/>
            </a:xfrm>
            <a:prstGeom prst="rect">
              <a:avLst/>
            </a:prstGeom>
            <a:noFill/>
          </p:spPr>
          <p:txBody>
            <a:bodyPr wrap="square" lIns="0" rIns="0" tIns="0" bIns="0" anchor="ctr">
              <a:noAutofit/>
            </a:bodyPr>
            <a:lstStyle/>
            <a:p>
              <a:pPr algn="ctr"/>
              <a:r>
                <a:rPr sz="700" b="1" i="0">
                  <a:solidFill>
                    <a:srgbClr val="D93036"/>
                  </a:solidFill>
                  <a:latin typeface="Inter" panose="020B0502030000000004" pitchFamily="34" charset="0"/>
                </a:rPr>
                <a:t>Lied</a:t>
              </a:r>
            </a:p>
          </p:txBody>
        </p:sp>
        <p:sp>
          <p:nvSpPr>
            <p:cNvPr id="77" name="TextBox 76"/>
            <p:cNvSpPr txBox="1"/>
            <p:nvPr/>
          </p:nvSpPr>
          <p:spPr>
            <a:xfrm>
              <a:off x="6812280" y="4556570"/>
              <a:ext cx="5806440" cy="182880"/>
            </a:xfrm>
            <a:prstGeom prst="rect">
              <a:avLst/>
            </a:prstGeom>
            <a:noFill/>
          </p:spPr>
          <p:txBody>
            <a:bodyPr wrap="square" lIns="0" rIns="0" tIns="0" bIns="0" anchor="ctr">
              <a:noAutofit/>
            </a:bodyPr>
            <a:lstStyle/>
            <a:p>
              <a:pPr algn="r"/>
              <a:r>
                <a:rPr sz="700" b="0" i="0">
                  <a:solidFill>
                    <a:srgbClr val="9A9AA3"/>
                  </a:solidFill>
                  <a:latin typeface="JetBrains Mono" panose="02000009000000000000" pitchFamily="49" charset="0"/>
                </a:rPr>
                <a:t>Placeholder: screenshots/exchange-liar.png</a:t>
              </a:r>
            </a:p>
          </p:txBody>
        </p:sp>
      </p:grpSp>
      <p:grpSp>
        <p:nvGrpSpPr>
          <p:cNvPr id="78" name="Group 77"/>
          <p:cNvGrpSpPr/>
          <p:nvPr/>
        </p:nvGrpSpPr>
        <p:grpSpPr>
          <a:xfrm>
            <a:off x="6172200" y="4370832"/>
            <a:ext cx="4663440" cy="1371600"/>
            <a:chOff x="6172200" y="4370832"/>
            <a:chExt cx="4663440" cy="1371600"/>
          </a:xfrm>
        </p:grpSpPr>
        <p:sp>
          <p:nvSpPr>
            <p:cNvPr id="79" name="Rounded Rectangle 78"/>
            <p:cNvSpPr/>
            <p:nvPr/>
          </p:nvSpPr>
          <p:spPr>
            <a:xfrm>
              <a:off x="6172200" y="4370832"/>
              <a:ext cx="4663440" cy="1371600"/>
            </a:xfrm>
            <a:prstGeom prst="roundRect">
              <a:avLst>
                <a:gd name="adj" fmla="val 9333"/>
              </a:avLst>
            </a:prstGeom>
            <a:solidFill>
              <a:srgbClr val="FFFFFF"/>
            </a:solidFill>
            <a:ln w="9525">
              <a:solidFill>
                <a:srgbClr val="E9E8E3"/>
              </a:solidFill>
            </a:ln>
            <a:effectLst>
              <a:outerShdw blurRad="384048" dist="109728" dir="5400000" algn="t" rotWithShape="0">
                <a:srgbClr val="0E0E10">
                  <a:alpha val="13000"/>
                </a:srgbClr>
              </a:outerShdw>
            </a:effectLst>
          </p:spPr>
          <p:txBody>
            <a:bodyPr rtlCol="0" anchor="ctr"/>
            <a:lstStyle/>
            <a:p>
              <a:pPr algn="ctr"/>
            </a:p>
          </p:txBody>
        </p:sp>
        <p:sp>
          <p:nvSpPr>
            <p:cNvPr id="80" name="Oval 79"/>
            <p:cNvSpPr/>
            <p:nvPr/>
          </p:nvSpPr>
          <p:spPr>
            <a:xfrm>
              <a:off x="6373368" y="4572000"/>
              <a:ext cx="384048" cy="384048"/>
            </a:xfrm>
            <a:prstGeom prst="ellipse">
              <a:avLst/>
            </a:prstGeom>
            <a:solidFill>
              <a:srgbClr val="FDECEC"/>
            </a:solidFill>
            <a:ln>
              <a:noFill/>
            </a:ln>
          </p:spPr>
          <p:txBody>
            <a:bodyPr rtlCol="0" anchor="ctr"/>
            <a:lstStyle/>
            <a:p>
              <a:pPr algn="ctr"/>
            </a:p>
          </p:txBody>
        </p:sp>
        <p:sp>
          <p:nvSpPr>
            <p:cNvPr id="81" name="TextBox 80"/>
            <p:cNvSpPr txBox="1"/>
            <p:nvPr/>
          </p:nvSpPr>
          <p:spPr>
            <a:xfrm>
              <a:off x="6373368" y="4572000"/>
              <a:ext cx="384048" cy="384048"/>
            </a:xfrm>
            <a:prstGeom prst="rect">
              <a:avLst/>
            </a:prstGeom>
            <a:noFill/>
          </p:spPr>
          <p:txBody>
            <a:bodyPr wrap="square" lIns="0" rIns="0" tIns="0" bIns="0" anchor="ctr">
              <a:noAutofit/>
            </a:bodyPr>
            <a:lstStyle/>
            <a:p>
              <a:pPr algn="ctr"/>
              <a:r>
                <a:rPr sz="1300" b="1" i="0">
                  <a:solidFill>
                    <a:srgbClr val="D93036"/>
                  </a:solidFill>
                  <a:latin typeface="Inter" panose="020B0502030000000004" pitchFamily="34" charset="0"/>
                </a:rPr>
                <a:t>✗</a:t>
              </a:r>
            </a:p>
          </p:txBody>
        </p:sp>
        <p:sp>
          <p:nvSpPr>
            <p:cNvPr id="82" name="TextBox 81"/>
            <p:cNvSpPr txBox="1"/>
            <p:nvPr/>
          </p:nvSpPr>
          <p:spPr>
            <a:xfrm>
              <a:off x="6903720" y="4526280"/>
              <a:ext cx="3017520" cy="274320"/>
            </a:xfrm>
            <a:prstGeom prst="rect">
              <a:avLst/>
            </a:prstGeom>
            <a:noFill/>
          </p:spPr>
          <p:txBody>
            <a:bodyPr wrap="square" lIns="0" rIns="0" tIns="0" bIns="0" anchor="ctr">
              <a:noAutofit/>
            </a:bodyPr>
            <a:lstStyle/>
            <a:p>
              <a:pPr algn="l"/>
              <a:r>
                <a:rPr sz="1350" b="1" i="0">
                  <a:solidFill>
                    <a:srgbClr val="0E0E10"/>
                  </a:solidFill>
                  <a:latin typeface="Inter" panose="020B0502030000000004" pitchFamily="34" charset="0"/>
                </a:rPr>
                <a:t>Caught lying · DealDrop Direct</a:t>
              </a:r>
            </a:p>
          </p:txBody>
        </p:sp>
        <p:sp>
          <p:nvSpPr>
            <p:cNvPr id="83" name="TextBox 82"/>
            <p:cNvSpPr txBox="1"/>
            <p:nvPr/>
          </p:nvSpPr>
          <p:spPr>
            <a:xfrm>
              <a:off x="6903720" y="4818888"/>
              <a:ext cx="3794760" cy="438912"/>
            </a:xfrm>
            <a:prstGeom prst="rect">
              <a:avLst/>
            </a:prstGeom>
            <a:noFill/>
          </p:spPr>
          <p:txBody>
            <a:bodyPr wrap="square" lIns="0" rIns="0" tIns="0" bIns="0" anchor="t">
              <a:noAutofit/>
            </a:bodyPr>
            <a:lstStyle/>
            <a:p>
              <a:pPr algn="l">
                <a:lnSpc>
                  <a:spcPct val="105000"/>
                </a:lnSpc>
              </a:pPr>
              <a:r>
                <a:rPr sz="1050" b="0" i="0">
                  <a:solidFill>
                    <a:srgbClr val="5D5D66"/>
                  </a:solidFill>
                  <a:latin typeface="Inter" panose="020B0502030000000004" pitchFamily="34" charset="0"/>
                </a:rPr>
                <a:t>Claimed $34.99 delivered · checkout says $63.99 (+$29.00 “Service &amp; handling fee”)</a:t>
              </a:r>
            </a:p>
          </p:txBody>
        </p:sp>
        <p:sp>
          <p:nvSpPr>
            <p:cNvPr id="84" name="TextBox 83"/>
            <p:cNvSpPr txBox="1"/>
            <p:nvPr/>
          </p:nvSpPr>
          <p:spPr>
            <a:xfrm>
              <a:off x="6903720" y="5358384"/>
              <a:ext cx="3794760" cy="256032"/>
            </a:xfrm>
            <a:prstGeom prst="rect">
              <a:avLst/>
            </a:prstGeom>
            <a:noFill/>
          </p:spPr>
          <p:txBody>
            <a:bodyPr wrap="square" lIns="0" rIns="0" tIns="0" bIns="0" anchor="t">
              <a:noAutofit/>
            </a:bodyPr>
            <a:lstStyle/>
            <a:p>
              <a:pPr algn="l"/>
              <a:r>
                <a:rPr sz="850" b="0" i="0">
                  <a:solidFill>
                    <a:srgbClr val="9A9AA3"/>
                  </a:solidFill>
                  <a:latin typeface="Inter" panose="020B0502030000000004" pitchFamily="34" charset="0"/>
                </a:rPr>
                <a:t>Live run: a headless Claude Code agent over MCP saw it and bought the #1 verified offer.</a:t>
              </a:r>
            </a:p>
          </p:txBody>
        </p:sp>
        <p:sp>
          <p:nvSpPr>
            <p:cNvPr id="85" name="Rounded Rectangle 84"/>
            <p:cNvSpPr/>
            <p:nvPr/>
          </p:nvSpPr>
          <p:spPr>
            <a:xfrm>
              <a:off x="9921240" y="4553712"/>
              <a:ext cx="713232" cy="274320"/>
            </a:xfrm>
            <a:prstGeom prst="roundRect">
              <a:avLst>
                <a:gd name="adj" fmla="val 50000"/>
              </a:avLst>
            </a:prstGeom>
            <a:solidFill>
              <a:srgbClr val="FDECEC"/>
            </a:solidFill>
            <a:ln>
              <a:noFill/>
            </a:ln>
          </p:spPr>
          <p:txBody>
            <a:bodyPr rtlCol="0" anchor="ctr"/>
            <a:lstStyle/>
            <a:p>
              <a:pPr algn="ctr"/>
            </a:p>
          </p:txBody>
        </p:sp>
        <p:sp>
          <p:nvSpPr>
            <p:cNvPr id="86" name="TextBox 85"/>
            <p:cNvSpPr txBox="1"/>
            <p:nvPr/>
          </p:nvSpPr>
          <p:spPr>
            <a:xfrm>
              <a:off x="9921240" y="4553712"/>
              <a:ext cx="713232" cy="274320"/>
            </a:xfrm>
            <a:prstGeom prst="rect">
              <a:avLst/>
            </a:prstGeom>
            <a:noFill/>
          </p:spPr>
          <p:txBody>
            <a:bodyPr wrap="square" lIns="0" rIns="0" tIns="0" bIns="0" anchor="ctr">
              <a:noAutofit/>
            </a:bodyPr>
            <a:lstStyle/>
            <a:p>
              <a:pPr algn="ctr"/>
              <a:r>
                <a:rPr sz="1000" b="1" i="0">
                  <a:solidFill>
                    <a:srgbClr val="D93036"/>
                  </a:solidFill>
                  <a:latin typeface="Inter" panose="020B0502030000000004" pitchFamily="34" charset="0"/>
                </a:rPr>
                <a:t>Lied ✗</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50"/>
                                        <p:tgtEl>
                                          <p:spTgt spid="2"/>
                                        </p:tgtEl>
                                      </p:cBhvr>
                                    </p:animEffect>
                                  </p:childTnLst>
                                </p:cTn>
                              </p:par>
                              <p:par>
                                <p:cTn id="8" presetID="53" presetClass="entr" presetSubtype="16" fill="hold" grpId="0" nodeType="withEffect">
                                  <p:stCondLst>
                                    <p:cond delay="1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00"/>
                                        <p:tgtEl>
                                          <p:spTgt spid="6"/>
                                        </p:tgtEl>
                                      </p:cBhvr>
                                    </p:animEffect>
                                    <p:anim calcmode="lin" valueType="num">
                                      <p:cBhvr additive="base">
                                        <p:cTn id="11" dur="500" fill="hold" decel="100000"/>
                                        <p:tgtEl>
                                          <p:spTgt spid="6"/>
                                        </p:tgtEl>
                                        <p:attrNameLst>
                                          <p:attrName>ppt_w</p:attrName>
                                        </p:attrNameLst>
                                      </p:cBhvr>
                                      <p:tavLst>
                                        <p:tav tm="0">
                                          <p:val>
                                            <p:strVal val="#ppt_w*0.85"/>
                                          </p:val>
                                        </p:tav>
                                        <p:tav tm="100000">
                                          <p:val>
                                            <p:strVal val="#ppt_w"/>
                                          </p:val>
                                        </p:tav>
                                      </p:tavLst>
                                    </p:anim>
                                    <p:anim calcmode="lin" valueType="num">
                                      <p:cBhvr additive="base">
                                        <p:cTn id="12" dur="500" fill="hold" decel="100000"/>
                                        <p:tgtEl>
                                          <p:spTgt spid="6"/>
                                        </p:tgtEl>
                                        <p:attrNameLst>
                                          <p:attrName>ppt_h</p:attrName>
                                        </p:attrNameLst>
                                      </p:cBhvr>
                                      <p:tavLst>
                                        <p:tav tm="0">
                                          <p:val>
                                            <p:strVal val="#ppt_h*0.85"/>
                                          </p:val>
                                        </p:tav>
                                        <p:tav tm="100000">
                                          <p:val>
                                            <p:strVal val="#ppt_h"/>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650"/>
                                        <p:tgtEl>
                                          <p:spTgt spid="10"/>
                                        </p:tgtEl>
                                      </p:cBhvr>
                                    </p:animEffect>
                                    <p:anim calcmode="lin" valueType="num">
                                      <p:cBhvr additive="base">
                                        <p:cTn id="16" dur="650" fill="hold" decel="100000"/>
                                        <p:tgtEl>
                                          <p:spTgt spid="10"/>
                                        </p:tgtEl>
                                        <p:attrNameLst>
                                          <p:attrName>ppt_x</p:attrName>
                                        </p:attrNameLst>
                                      </p:cBhvr>
                                      <p:tavLst>
                                        <p:tav tm="0">
                                          <p:val>
                                            <p:strVal val="#ppt_x"/>
                                          </p:val>
                                        </p:tav>
                                        <p:tav tm="100000">
                                          <p:val>
                                            <p:strVal val="#ppt_x"/>
                                          </p:val>
                                        </p:tav>
                                      </p:tavLst>
                                    </p:anim>
                                    <p:anim calcmode="lin" valueType="num">
                                      <p:cBhvr additive="base">
                                        <p:cTn id="17" dur="650" fill="hold" decel="100000"/>
                                        <p:tgtEl>
                                          <p:spTgt spid="10"/>
                                        </p:tgtEl>
                                        <p:attrNameLst>
                                          <p:attrName>ppt_y</p:attrName>
                                        </p:attrNameLst>
                                      </p:cBhvr>
                                      <p:tavLst>
                                        <p:tav tm="0">
                                          <p:val>
                                            <p:strVal val="#ppt_y+0.025"/>
                                          </p:val>
                                        </p:tav>
                                        <p:tav tm="100000">
                                          <p:val>
                                            <p:strVal val="#ppt_y"/>
                                          </p:val>
                                        </p:tav>
                                      </p:tavLst>
                                    </p:anim>
                                  </p:childTnLst>
                                </p:cTn>
                              </p:par>
                              <p:par>
                                <p:cTn id="18" presetID="42" presetClass="entr" presetSubtype="0" fill="hold" grpId="0" nodeType="withEffect">
                                  <p:stCondLst>
                                    <p:cond delay="38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600"/>
                                        <p:tgtEl>
                                          <p:spTgt spid="11"/>
                                        </p:tgtEl>
                                      </p:cBhvr>
                                    </p:animEffect>
                                    <p:anim calcmode="lin" valueType="num">
                                      <p:cBhvr additive="base">
                                        <p:cTn id="21"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22" dur="600" fill="hold" decel="100000"/>
                                        <p:tgtEl>
                                          <p:spTgt spid="11"/>
                                        </p:tgtEl>
                                        <p:attrNameLst>
                                          <p:attrName>ppt_y</p:attrName>
                                        </p:attrNameLst>
                                      </p:cBhvr>
                                      <p:tavLst>
                                        <p:tav tm="0">
                                          <p:val>
                                            <p:strVal val="#ppt_y+0.025"/>
                                          </p:val>
                                        </p:tav>
                                        <p:tav tm="100000">
                                          <p:val>
                                            <p:strVal val="#ppt_y"/>
                                          </p:val>
                                        </p:tav>
                                      </p:tavLst>
                                    </p:anim>
                                  </p:childTnLst>
                                </p:cTn>
                              </p:par>
                              <p:par>
                                <p:cTn id="23" presetID="42" presetClass="entr" presetSubtype="0" fill="hold" grpId="0" nodeType="withEffect">
                                  <p:stCondLst>
                                    <p:cond delay="56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anim calcmode="lin" valueType="num">
                                      <p:cBhvr additive="base">
                                        <p:cTn id="26"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2"/>
                                        </p:tgtEl>
                                        <p:attrNameLst>
                                          <p:attrName>ppt_y</p:attrName>
                                        </p:attrNameLst>
                                      </p:cBhvr>
                                      <p:tavLst>
                                        <p:tav tm="0">
                                          <p:val>
                                            <p:strVal val="#ppt_y+0.025"/>
                                          </p:val>
                                        </p:tav>
                                        <p:tav tm="100000">
                                          <p:val>
                                            <p:strVal val="#ppt_y"/>
                                          </p:val>
                                        </p:tav>
                                      </p:tavLst>
                                    </p:anim>
                                  </p:childTnLst>
                                </p:cTn>
                              </p:par>
                              <p:par>
                                <p:cTn id="28" presetID="42" presetClass="entr" presetSubtype="0" fill="hold" grpId="0" nodeType="withEffect">
                                  <p:stCondLst>
                                    <p:cond delay="80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50"/>
                                        <p:tgtEl>
                                          <p:spTgt spid="13"/>
                                        </p:tgtEl>
                                      </p:cBhvr>
                                    </p:animEffect>
                                    <p:anim calcmode="lin" valueType="num">
                                      <p:cBhvr additive="base">
                                        <p:cTn id="31" dur="450" fill="hold" decel="100000"/>
                                        <p:tgtEl>
                                          <p:spTgt spid="13"/>
                                        </p:tgtEl>
                                        <p:attrNameLst>
                                          <p:attrName>ppt_x</p:attrName>
                                        </p:attrNameLst>
                                      </p:cBhvr>
                                      <p:tavLst>
                                        <p:tav tm="0">
                                          <p:val>
                                            <p:strVal val="#ppt_x"/>
                                          </p:val>
                                        </p:tav>
                                        <p:tav tm="100000">
                                          <p:val>
                                            <p:strVal val="#ppt_x"/>
                                          </p:val>
                                        </p:tav>
                                      </p:tavLst>
                                    </p:anim>
                                    <p:anim calcmode="lin" valueType="num">
                                      <p:cBhvr additive="base">
                                        <p:cTn id="32" dur="450" fill="hold" decel="100000"/>
                                        <p:tgtEl>
                                          <p:spTgt spid="13"/>
                                        </p:tgtEl>
                                        <p:attrNameLst>
                                          <p:attrName>ppt_y</p:attrName>
                                        </p:attrNameLst>
                                      </p:cBhvr>
                                      <p:tavLst>
                                        <p:tav tm="0">
                                          <p:val>
                                            <p:strVal val="#ppt_y+0.025"/>
                                          </p:val>
                                        </p:tav>
                                        <p:tav tm="100000">
                                          <p:val>
                                            <p:strVal val="#ppt_y"/>
                                          </p:val>
                                        </p:tav>
                                      </p:tavLst>
                                    </p:anim>
                                  </p:childTnLst>
                                </p:cTn>
                              </p:par>
                              <p:par>
                                <p:cTn id="33" presetID="42" presetClass="entr" presetSubtype="0" fill="hold" grpId="0" nodeType="withEffect">
                                  <p:stCondLst>
                                    <p:cond delay="89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50"/>
                                        <p:tgtEl>
                                          <p:spTgt spid="16"/>
                                        </p:tgtEl>
                                      </p:cBhvr>
                                    </p:animEffect>
                                    <p:anim calcmode="lin" valueType="num">
                                      <p:cBhvr additive="base">
                                        <p:cTn id="36"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37" dur="450" fill="hold" decel="100000"/>
                                        <p:tgtEl>
                                          <p:spTgt spid="16"/>
                                        </p:tgtEl>
                                        <p:attrNameLst>
                                          <p:attrName>ppt_y</p:attrName>
                                        </p:attrNameLst>
                                      </p:cBhvr>
                                      <p:tavLst>
                                        <p:tav tm="0">
                                          <p:val>
                                            <p:strVal val="#ppt_y+0.025"/>
                                          </p:val>
                                        </p:tav>
                                        <p:tav tm="100000">
                                          <p:val>
                                            <p:strVal val="#ppt_y"/>
                                          </p:val>
                                        </p:tav>
                                      </p:tavLst>
                                    </p:anim>
                                  </p:childTnLst>
                                </p:cTn>
                              </p:par>
                              <p:par>
                                <p:cTn id="38" presetID="42" presetClass="entr" presetSubtype="0" fill="hold" grpId="0" nodeType="withEffect">
                                  <p:stCondLst>
                                    <p:cond delay="98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anim calcmode="lin" valueType="num">
                                      <p:cBhvr additive="base">
                                        <p:cTn id="41"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19"/>
                                        </p:tgtEl>
                                        <p:attrNameLst>
                                          <p:attrName>ppt_y</p:attrName>
                                        </p:attrNameLst>
                                      </p:cBhvr>
                                      <p:tavLst>
                                        <p:tav tm="0">
                                          <p:val>
                                            <p:strVal val="#ppt_y+0.025"/>
                                          </p:val>
                                        </p:tav>
                                        <p:tav tm="100000">
                                          <p:val>
                                            <p:strVal val="#ppt_y"/>
                                          </p:val>
                                        </p:tav>
                                      </p:tavLst>
                                    </p:anim>
                                  </p:childTnLst>
                                </p:cTn>
                              </p:par>
                              <p:par>
                                <p:cTn id="43" presetID="42" presetClass="entr" presetSubtype="0" fill="hold" grpId="0" nodeType="withEffect">
                                  <p:stCondLst>
                                    <p:cond delay="107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450"/>
                                        <p:tgtEl>
                                          <p:spTgt spid="22"/>
                                        </p:tgtEl>
                                      </p:cBhvr>
                                    </p:animEffect>
                                    <p:anim calcmode="lin" valueType="num">
                                      <p:cBhvr additive="base">
                                        <p:cTn id="46"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47" dur="450" fill="hold" decel="100000"/>
                                        <p:tgtEl>
                                          <p:spTgt spid="22"/>
                                        </p:tgtEl>
                                        <p:attrNameLst>
                                          <p:attrName>ppt_y</p:attrName>
                                        </p:attrNameLst>
                                      </p:cBhvr>
                                      <p:tavLst>
                                        <p:tav tm="0">
                                          <p:val>
                                            <p:strVal val="#ppt_y+0.025"/>
                                          </p:val>
                                        </p:tav>
                                        <p:tav tm="100000">
                                          <p:val>
                                            <p:strVal val="#ppt_y"/>
                                          </p:val>
                                        </p:tav>
                                      </p:tavLst>
                                    </p:anim>
                                  </p:childTnLst>
                                </p:cTn>
                              </p:par>
                              <p:par>
                                <p:cTn id="48" presetID="10" presetClass="entr" presetSubtype="0" fill="hold" grpId="0" nodeType="withEffect">
                                  <p:stCondLst>
                                    <p:cond delay="125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500"/>
                                        <p:tgtEl>
                                          <p:spTgt spid="25"/>
                                        </p:tgtEl>
                                      </p:cBhvr>
                                    </p:animEffect>
                                  </p:childTnLst>
                                </p:cTn>
                              </p:par>
                              <p:par>
                                <p:cTn id="51" presetID="42" presetClass="entr" presetSubtype="0" fill="hold" grpId="0" nodeType="withEffect">
                                  <p:stCondLst>
                                    <p:cond delay="42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800"/>
                                        <p:tgtEl>
                                          <p:spTgt spid="26"/>
                                        </p:tgtEl>
                                      </p:cBhvr>
                                    </p:animEffect>
                                    <p:anim calcmode="lin" valueType="num">
                                      <p:cBhvr additive="base">
                                        <p:cTn id="54" dur="800" fill="hold" decel="100000"/>
                                        <p:tgtEl>
                                          <p:spTgt spid="26"/>
                                        </p:tgtEl>
                                        <p:attrNameLst>
                                          <p:attrName>ppt_x</p:attrName>
                                        </p:attrNameLst>
                                      </p:cBhvr>
                                      <p:tavLst>
                                        <p:tav tm="0">
                                          <p:val>
                                            <p:strVal val="#ppt_x"/>
                                          </p:val>
                                        </p:tav>
                                        <p:tav tm="100000">
                                          <p:val>
                                            <p:strVal val="#ppt_x"/>
                                          </p:val>
                                        </p:tav>
                                      </p:tavLst>
                                    </p:anim>
                                    <p:anim calcmode="lin" valueType="num">
                                      <p:cBhvr additive="base">
                                        <p:cTn id="55" dur="800" fill="hold" decel="100000"/>
                                        <p:tgtEl>
                                          <p:spTgt spid="26"/>
                                        </p:tgtEl>
                                        <p:attrNameLst>
                                          <p:attrName>ppt_y</p:attrName>
                                        </p:attrNameLst>
                                      </p:cBhvr>
                                      <p:tavLst>
                                        <p:tav tm="0">
                                          <p:val>
                                            <p:strVal val="#ppt_y+0.025"/>
                                          </p:val>
                                        </p:tav>
                                        <p:tav tm="100000">
                                          <p:val>
                                            <p:strVal val="#ppt_y"/>
                                          </p:val>
                                        </p:tav>
                                      </p:tavLst>
                                    </p:anim>
                                  </p:childTnLst>
                                </p:cTn>
                              </p:par>
                              <p:par>
                                <p:cTn id="56" presetID="53" presetClass="entr" presetSubtype="16" fill="hold" grpId="0" nodeType="withEffect">
                                  <p:stCondLst>
                                    <p:cond delay="1500"/>
                                  </p:stCondLst>
                                  <p:childTnLst>
                                    <p:set>
                                      <p:cBhvr>
                                        <p:cTn id="57" dur="1" fill="hold">
                                          <p:stCondLst>
                                            <p:cond delay="0"/>
                                          </p:stCondLst>
                                        </p:cTn>
                                        <p:tgtEl>
                                          <p:spTgt spid="78"/>
                                        </p:tgtEl>
                                        <p:attrNameLst>
                                          <p:attrName>style.visibility</p:attrName>
                                        </p:attrNameLst>
                                      </p:cBhvr>
                                      <p:to>
                                        <p:strVal val="visible"/>
                                      </p:to>
                                    </p:set>
                                    <p:animEffect transition="in" filter="fade">
                                      <p:cBhvr>
                                        <p:cTn id="58" dur="210"/>
                                        <p:tgtEl>
                                          <p:spTgt spid="78"/>
                                        </p:tgtEl>
                                      </p:cBhvr>
                                    </p:animEffect>
                                    <p:anim calcmode="lin" valueType="num">
                                      <p:cBhvr additive="base">
                                        <p:cTn id="59" dur="350" fill="hold" decel="100000"/>
                                        <p:tgtEl>
                                          <p:spTgt spid="78"/>
                                        </p:tgtEl>
                                        <p:attrNameLst>
                                          <p:attrName>ppt_w</p:attrName>
                                        </p:attrNameLst>
                                      </p:cBhvr>
                                      <p:tavLst>
                                        <p:tav tm="0">
                                          <p:val>
                                            <p:strVal val="#ppt_w*1.35"/>
                                          </p:val>
                                        </p:tav>
                                        <p:tav tm="100000">
                                          <p:val>
                                            <p:strVal val="#ppt_w"/>
                                          </p:val>
                                        </p:tav>
                                      </p:tavLst>
                                    </p:anim>
                                    <p:anim calcmode="lin" valueType="num">
                                      <p:cBhvr additive="base">
                                        <p:cTn id="60" dur="350" fill="hold" decel="100000"/>
                                        <p:tgtEl>
                                          <p:spTgt spid="78"/>
                                        </p:tgtEl>
                                        <p:attrNameLst>
                                          <p:attrName>ppt_h</p:attrName>
                                        </p:attrNameLst>
                                      </p:cBhvr>
                                      <p:tavLst>
                                        <p:tav tm="0">
                                          <p:val>
                                            <p:strVal val="#ppt_h*1.3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25"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THE PROBLEM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2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2438339"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960120"/>
          </a:xfrm>
          <a:prstGeom prst="rect">
            <a:avLst/>
          </a:prstGeom>
          <a:noFill/>
        </p:spPr>
        <p:txBody>
          <a:bodyPr wrap="square" lIns="0" rIns="0" tIns="0" bIns="0" anchor="t">
            <a:noAutofit/>
          </a:bodyPr>
          <a:lstStyle/>
          <a:p>
            <a:pPr algn="l">
              <a:lnSpc>
                <a:spcPct val="98000"/>
              </a:lnSpc>
            </a:pPr>
            <a:r>
              <a:rPr sz="3800" b="1" i="0" spc="-80">
                <a:solidFill>
                  <a:srgbClr val="0E0E10"/>
                </a:solidFill>
                <a:latin typeface="Inter" panose="020B0502030000000004" pitchFamily="34" charset="0"/>
              </a:rPr>
              <a:t>Agents can shop now. </a:t>
            </a:r>
            <a:r>
              <a:rPr sz="3800" b="1" i="0" spc="-80">
                <a:solidFill>
                  <a:srgbClr val="5D5D66"/>
                </a:solidFill>
                <a:latin typeface="Inter" panose="020B0502030000000004" pitchFamily="34" charset="0"/>
              </a:rPr>
              <a:t>The web was built to manipulate humans.</a:t>
            </a:r>
          </a:p>
        </p:txBody>
      </p:sp>
      <p:sp>
        <p:nvSpPr>
          <p:cNvPr id="13" name="TextBox 12"/>
          <p:cNvSpPr txBox="1"/>
          <p:nvPr/>
        </p:nvSpPr>
        <p:spPr>
          <a:xfrm>
            <a:off x="685800" y="2011680"/>
            <a:ext cx="6400800" cy="237744"/>
          </a:xfrm>
          <a:prstGeom prst="rect">
            <a:avLst/>
          </a:prstGeom>
          <a:noFill/>
        </p:spPr>
        <p:txBody>
          <a:bodyPr wrap="square" lIns="0" rIns="0" tIns="0" bIns="0" anchor="ctr">
            <a:noAutofit/>
          </a:bodyPr>
          <a:lstStyle/>
          <a:p>
            <a:pPr algn="l"/>
            <a:r>
              <a:rPr sz="1100" b="1" i="0">
                <a:solidFill>
                  <a:srgbClr val="5D5D66"/>
                </a:solidFill>
                <a:latin typeface="Inter" panose="020B0502030000000004" pitchFamily="34" charset="0"/>
              </a:rPr>
              <a:t>What the web does to shoppers</a:t>
            </a:r>
          </a:p>
        </p:txBody>
      </p:sp>
      <p:grpSp>
        <p:nvGrpSpPr>
          <p:cNvPr id="14" name="Group 13"/>
          <p:cNvGrpSpPr/>
          <p:nvPr/>
        </p:nvGrpSpPr>
        <p:grpSpPr>
          <a:xfrm>
            <a:off x="685800" y="2359152"/>
            <a:ext cx="3218688" cy="1536192"/>
            <a:chOff x="685800" y="2359152"/>
            <a:chExt cx="3218688" cy="1536192"/>
          </a:xfrm>
        </p:grpSpPr>
        <p:sp>
          <p:nvSpPr>
            <p:cNvPr id="15" name="Rounded Rectangle 14"/>
            <p:cNvSpPr/>
            <p:nvPr/>
          </p:nvSpPr>
          <p:spPr>
            <a:xfrm>
              <a:off x="685800" y="2359152"/>
              <a:ext cx="3218688" cy="1536192"/>
            </a:xfrm>
            <a:prstGeom prst="roundRect">
              <a:avLst>
                <a:gd name="adj" fmla="val 714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6" name="Rounded Rectangle 15"/>
            <p:cNvSpPr/>
            <p:nvPr/>
          </p:nvSpPr>
          <p:spPr>
            <a:xfrm>
              <a:off x="914400" y="2587752"/>
              <a:ext cx="530352" cy="384048"/>
            </a:xfrm>
            <a:prstGeom prst="roundRect">
              <a:avLst>
                <a:gd name="adj" fmla="val 23809"/>
              </a:avLst>
            </a:prstGeom>
            <a:solidFill>
              <a:srgbClr val="FDECEC"/>
            </a:solidFill>
            <a:ln>
              <a:noFill/>
            </a:ln>
          </p:spPr>
          <p:txBody>
            <a:bodyPr rtlCol="0" anchor="ctr"/>
            <a:lstStyle/>
            <a:p>
              <a:pPr algn="ctr"/>
            </a:p>
          </p:txBody>
        </p:sp>
        <p:sp>
          <p:nvSpPr>
            <p:cNvPr id="17" name="TextBox 16"/>
            <p:cNvSpPr txBox="1"/>
            <p:nvPr/>
          </p:nvSpPr>
          <p:spPr>
            <a:xfrm>
              <a:off x="914400" y="2587752"/>
              <a:ext cx="530352" cy="384048"/>
            </a:xfrm>
            <a:prstGeom prst="rect">
              <a:avLst/>
            </a:prstGeom>
            <a:noFill/>
          </p:spPr>
          <p:txBody>
            <a:bodyPr wrap="square" lIns="0" rIns="0" tIns="0" bIns="0" anchor="ctr">
              <a:noAutofit/>
            </a:bodyPr>
            <a:lstStyle/>
            <a:p>
              <a:pPr algn="ctr"/>
              <a:r>
                <a:rPr sz="1100" b="1" i="0">
                  <a:solidFill>
                    <a:srgbClr val="D93036"/>
                  </a:solidFill>
                  <a:latin typeface="Inter" panose="020B0502030000000004" pitchFamily="34" charset="0"/>
                </a:rPr>
                <a:t>Ad</a:t>
              </a:r>
            </a:p>
          </p:txBody>
        </p:sp>
        <p:sp>
          <p:nvSpPr>
            <p:cNvPr id="18" name="TextBox 17"/>
            <p:cNvSpPr txBox="1"/>
            <p:nvPr/>
          </p:nvSpPr>
          <p:spPr>
            <a:xfrm>
              <a:off x="914400" y="3108960"/>
              <a:ext cx="2834640" cy="310896"/>
            </a:xfrm>
            <a:prstGeom prst="rect">
              <a:avLst/>
            </a:prstGeom>
            <a:noFill/>
          </p:spPr>
          <p:txBody>
            <a:bodyPr wrap="square" lIns="0" rIns="0" tIns="0" bIns="0" anchor="ctr">
              <a:noAutofit/>
            </a:bodyPr>
            <a:lstStyle/>
            <a:p>
              <a:pPr algn="l"/>
              <a:r>
                <a:rPr sz="1600" b="1" i="0">
                  <a:solidFill>
                    <a:srgbClr val="0E0E10"/>
                  </a:solidFill>
                  <a:latin typeface="Inter" panose="020B0502030000000004" pitchFamily="34" charset="0"/>
                </a:rPr>
                <a:t>Sponsored slots</a:t>
              </a:r>
            </a:p>
          </p:txBody>
        </p:sp>
        <p:sp>
          <p:nvSpPr>
            <p:cNvPr id="19" name="TextBox 18"/>
            <p:cNvSpPr txBox="1"/>
            <p:nvPr/>
          </p:nvSpPr>
          <p:spPr>
            <a:xfrm>
              <a:off x="914400" y="3429000"/>
              <a:ext cx="2834640" cy="384048"/>
            </a:xfrm>
            <a:prstGeom prst="rect">
              <a:avLst/>
            </a:prstGeom>
            <a:noFill/>
          </p:spPr>
          <p:txBody>
            <a:bodyPr wrap="square" lIns="0" rIns="0" tIns="0" bIns="0" anchor="t">
              <a:noAutofit/>
            </a:bodyPr>
            <a:lstStyle/>
            <a:p>
              <a:pPr algn="l">
                <a:lnSpc>
                  <a:spcPct val="105000"/>
                </a:lnSpc>
              </a:pPr>
              <a:r>
                <a:rPr sz="1150" b="0" i="0">
                  <a:solidFill>
                    <a:srgbClr val="5D5D66"/>
                  </a:solidFill>
                  <a:latin typeface="Inter" panose="020B0502030000000004" pitchFamily="34" charset="0"/>
                </a:rPr>
                <a:t>Placement goes to whoever pays the most.</a:t>
              </a:r>
            </a:p>
          </p:txBody>
        </p:sp>
      </p:grpSp>
      <p:grpSp>
        <p:nvGrpSpPr>
          <p:cNvPr id="20" name="Group 19"/>
          <p:cNvGrpSpPr/>
          <p:nvPr/>
        </p:nvGrpSpPr>
        <p:grpSpPr>
          <a:xfrm>
            <a:off x="4087368" y="2359152"/>
            <a:ext cx="3218688" cy="1536192"/>
            <a:chOff x="4087368" y="2359152"/>
            <a:chExt cx="3218688" cy="1536192"/>
          </a:xfrm>
        </p:grpSpPr>
        <p:sp>
          <p:nvSpPr>
            <p:cNvPr id="21" name="Rounded Rectangle 20"/>
            <p:cNvSpPr/>
            <p:nvPr/>
          </p:nvSpPr>
          <p:spPr>
            <a:xfrm>
              <a:off x="4087368" y="2359152"/>
              <a:ext cx="3218688" cy="1536192"/>
            </a:xfrm>
            <a:prstGeom prst="roundRect">
              <a:avLst>
                <a:gd name="adj" fmla="val 714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22" name="Rounded Rectangle 21"/>
            <p:cNvSpPr/>
            <p:nvPr/>
          </p:nvSpPr>
          <p:spPr>
            <a:xfrm>
              <a:off x="4315968" y="2587752"/>
              <a:ext cx="530352" cy="384048"/>
            </a:xfrm>
            <a:prstGeom prst="roundRect">
              <a:avLst>
                <a:gd name="adj" fmla="val 23809"/>
              </a:avLst>
            </a:prstGeom>
            <a:solidFill>
              <a:srgbClr val="FDECEC"/>
            </a:solidFill>
            <a:ln>
              <a:noFill/>
            </a:ln>
          </p:spPr>
          <p:txBody>
            <a:bodyPr rtlCol="0" anchor="ctr"/>
            <a:lstStyle/>
            <a:p>
              <a:pPr algn="ctr"/>
            </a:p>
          </p:txBody>
        </p:sp>
        <p:sp>
          <p:nvSpPr>
            <p:cNvPr id="23" name="TextBox 22"/>
            <p:cNvSpPr txBox="1"/>
            <p:nvPr/>
          </p:nvSpPr>
          <p:spPr>
            <a:xfrm>
              <a:off x="4315968" y="2587752"/>
              <a:ext cx="530352" cy="384048"/>
            </a:xfrm>
            <a:prstGeom prst="rect">
              <a:avLst/>
            </a:prstGeom>
            <a:noFill/>
          </p:spPr>
          <p:txBody>
            <a:bodyPr wrap="square" lIns="0" rIns="0" tIns="0" bIns="0" anchor="ctr">
              <a:noAutofit/>
            </a:bodyPr>
            <a:lstStyle/>
            <a:p>
              <a:pPr algn="ctr"/>
              <a:r>
                <a:rPr sz="1100" b="1" i="0">
                  <a:solidFill>
                    <a:srgbClr val="D93036"/>
                  </a:solidFill>
                  <a:latin typeface="Inter" panose="020B0502030000000004" pitchFamily="34" charset="0"/>
                </a:rPr>
                <a:t>SEO</a:t>
              </a:r>
            </a:p>
          </p:txBody>
        </p:sp>
        <p:sp>
          <p:nvSpPr>
            <p:cNvPr id="24" name="TextBox 23"/>
            <p:cNvSpPr txBox="1"/>
            <p:nvPr/>
          </p:nvSpPr>
          <p:spPr>
            <a:xfrm>
              <a:off x="4315968" y="3108960"/>
              <a:ext cx="2834640" cy="310896"/>
            </a:xfrm>
            <a:prstGeom prst="rect">
              <a:avLst/>
            </a:prstGeom>
            <a:noFill/>
          </p:spPr>
          <p:txBody>
            <a:bodyPr wrap="square" lIns="0" rIns="0" tIns="0" bIns="0" anchor="ctr">
              <a:noAutofit/>
            </a:bodyPr>
            <a:lstStyle/>
            <a:p>
              <a:pPr algn="l"/>
              <a:r>
                <a:rPr sz="1600" b="1" i="0">
                  <a:solidFill>
                    <a:srgbClr val="0E0E10"/>
                  </a:solidFill>
                  <a:latin typeface="Inter" panose="020B0502030000000004" pitchFamily="34" charset="0"/>
                </a:rPr>
                <a:t>Ranking games</a:t>
              </a:r>
            </a:p>
          </p:txBody>
        </p:sp>
        <p:sp>
          <p:nvSpPr>
            <p:cNvPr id="25" name="TextBox 24"/>
            <p:cNvSpPr txBox="1"/>
            <p:nvPr/>
          </p:nvSpPr>
          <p:spPr>
            <a:xfrm>
              <a:off x="4315968" y="3429000"/>
              <a:ext cx="2834640" cy="384048"/>
            </a:xfrm>
            <a:prstGeom prst="rect">
              <a:avLst/>
            </a:prstGeom>
            <a:noFill/>
          </p:spPr>
          <p:txBody>
            <a:bodyPr wrap="square" lIns="0" rIns="0" tIns="0" bIns="0" anchor="t">
              <a:noAutofit/>
            </a:bodyPr>
            <a:lstStyle/>
            <a:p>
              <a:pPr algn="l">
                <a:lnSpc>
                  <a:spcPct val="105000"/>
                </a:lnSpc>
              </a:pPr>
              <a:r>
                <a:rPr sz="1150" b="0" i="0">
                  <a:solidFill>
                    <a:srgbClr val="5D5D66"/>
                  </a:solidFill>
                  <a:latin typeface="Inter" panose="020B0502030000000004" pitchFamily="34" charset="0"/>
                </a:rPr>
                <a:t>Rank goes to whoever games the algorithm best.</a:t>
              </a:r>
            </a:p>
          </p:txBody>
        </p:sp>
      </p:grpSp>
      <p:grpSp>
        <p:nvGrpSpPr>
          <p:cNvPr id="26" name="Group 25"/>
          <p:cNvGrpSpPr/>
          <p:nvPr/>
        </p:nvGrpSpPr>
        <p:grpSpPr>
          <a:xfrm>
            <a:off x="685800" y="4059936"/>
            <a:ext cx="3218688" cy="1536192"/>
            <a:chOff x="685800" y="4059936"/>
            <a:chExt cx="3218688" cy="1536192"/>
          </a:xfrm>
        </p:grpSpPr>
        <p:sp>
          <p:nvSpPr>
            <p:cNvPr id="27" name="Rounded Rectangle 26"/>
            <p:cNvSpPr/>
            <p:nvPr/>
          </p:nvSpPr>
          <p:spPr>
            <a:xfrm>
              <a:off x="685800" y="4059936"/>
              <a:ext cx="3218688" cy="1536192"/>
            </a:xfrm>
            <a:prstGeom prst="roundRect">
              <a:avLst>
                <a:gd name="adj" fmla="val 714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28" name="Rounded Rectangle 27"/>
            <p:cNvSpPr/>
            <p:nvPr/>
          </p:nvSpPr>
          <p:spPr>
            <a:xfrm>
              <a:off x="914400" y="4288536"/>
              <a:ext cx="658368" cy="384048"/>
            </a:xfrm>
            <a:prstGeom prst="roundRect">
              <a:avLst>
                <a:gd name="adj" fmla="val 23809"/>
              </a:avLst>
            </a:prstGeom>
            <a:solidFill>
              <a:srgbClr val="FDECEC"/>
            </a:solidFill>
            <a:ln>
              <a:noFill/>
            </a:ln>
          </p:spPr>
          <p:txBody>
            <a:bodyPr rtlCol="0" anchor="ctr"/>
            <a:lstStyle/>
            <a:p>
              <a:pPr algn="ctr"/>
            </a:p>
          </p:txBody>
        </p:sp>
        <p:sp>
          <p:nvSpPr>
            <p:cNvPr id="29" name="TextBox 28"/>
            <p:cNvSpPr txBox="1"/>
            <p:nvPr/>
          </p:nvSpPr>
          <p:spPr>
            <a:xfrm>
              <a:off x="914400" y="4288536"/>
              <a:ext cx="658368" cy="384048"/>
            </a:xfrm>
            <a:prstGeom prst="rect">
              <a:avLst/>
            </a:prstGeom>
            <a:noFill/>
          </p:spPr>
          <p:txBody>
            <a:bodyPr wrap="square" lIns="0" rIns="0" tIns="0" bIns="0" anchor="ctr">
              <a:noAutofit/>
            </a:bodyPr>
            <a:lstStyle/>
            <a:p>
              <a:pPr algn="ctr"/>
              <a:r>
                <a:rPr sz="1100" b="1" i="0">
                  <a:solidFill>
                    <a:srgbClr val="D93036"/>
                  </a:solidFill>
                  <a:latin typeface="Inter" panose="020B0502030000000004" pitchFamily="34" charset="0"/>
                </a:rPr>
                <a:t>+$29</a:t>
              </a:r>
            </a:p>
          </p:txBody>
        </p:sp>
        <p:sp>
          <p:nvSpPr>
            <p:cNvPr id="30" name="TextBox 29"/>
            <p:cNvSpPr txBox="1"/>
            <p:nvPr/>
          </p:nvSpPr>
          <p:spPr>
            <a:xfrm>
              <a:off x="914400" y="4809744"/>
              <a:ext cx="2834640" cy="310896"/>
            </a:xfrm>
            <a:prstGeom prst="rect">
              <a:avLst/>
            </a:prstGeom>
            <a:noFill/>
          </p:spPr>
          <p:txBody>
            <a:bodyPr wrap="square" lIns="0" rIns="0" tIns="0" bIns="0" anchor="ctr">
              <a:noAutofit/>
            </a:bodyPr>
            <a:lstStyle/>
            <a:p>
              <a:pPr algn="l"/>
              <a:r>
                <a:rPr sz="1600" b="1" i="0">
                  <a:solidFill>
                    <a:srgbClr val="0E0E10"/>
                  </a:solidFill>
                  <a:latin typeface="Inter" panose="020B0502030000000004" pitchFamily="34" charset="0"/>
                </a:rPr>
                <a:t>Drip pricing</a:t>
              </a:r>
            </a:p>
          </p:txBody>
        </p:sp>
        <p:sp>
          <p:nvSpPr>
            <p:cNvPr id="31" name="TextBox 30"/>
            <p:cNvSpPr txBox="1"/>
            <p:nvPr/>
          </p:nvSpPr>
          <p:spPr>
            <a:xfrm>
              <a:off x="914400" y="5129784"/>
              <a:ext cx="2834640" cy="384048"/>
            </a:xfrm>
            <a:prstGeom prst="rect">
              <a:avLst/>
            </a:prstGeom>
            <a:noFill/>
          </p:spPr>
          <p:txBody>
            <a:bodyPr wrap="square" lIns="0" rIns="0" tIns="0" bIns="0" anchor="t">
              <a:noAutofit/>
            </a:bodyPr>
            <a:lstStyle/>
            <a:p>
              <a:pPr algn="l">
                <a:lnSpc>
                  <a:spcPct val="105000"/>
                </a:lnSpc>
              </a:pPr>
              <a:r>
                <a:rPr sz="1150" b="0" i="0">
                  <a:solidFill>
                    <a:srgbClr val="5D5D66"/>
                  </a:solidFill>
                  <a:latin typeface="Inter" panose="020B0502030000000004" pitchFamily="34" charset="0"/>
                </a:rPr>
                <a:t>$34.99 on the page. $63.99 at checkout.</a:t>
              </a:r>
            </a:p>
          </p:txBody>
        </p:sp>
      </p:grpSp>
      <p:grpSp>
        <p:nvGrpSpPr>
          <p:cNvPr id="32" name="Group 31"/>
          <p:cNvGrpSpPr/>
          <p:nvPr/>
        </p:nvGrpSpPr>
        <p:grpSpPr>
          <a:xfrm>
            <a:off x="4087368" y="4059936"/>
            <a:ext cx="3218688" cy="1536192"/>
            <a:chOff x="4087368" y="4059936"/>
            <a:chExt cx="3218688" cy="1536192"/>
          </a:xfrm>
        </p:grpSpPr>
        <p:sp>
          <p:nvSpPr>
            <p:cNvPr id="33" name="Rounded Rectangle 32"/>
            <p:cNvSpPr/>
            <p:nvPr/>
          </p:nvSpPr>
          <p:spPr>
            <a:xfrm>
              <a:off x="4087368" y="4059936"/>
              <a:ext cx="3218688" cy="1536192"/>
            </a:xfrm>
            <a:prstGeom prst="roundRect">
              <a:avLst>
                <a:gd name="adj" fmla="val 714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34" name="Rounded Rectangle 33"/>
            <p:cNvSpPr/>
            <p:nvPr/>
          </p:nvSpPr>
          <p:spPr>
            <a:xfrm>
              <a:off x="4315968" y="4288536"/>
              <a:ext cx="658368" cy="384048"/>
            </a:xfrm>
            <a:prstGeom prst="roundRect">
              <a:avLst>
                <a:gd name="adj" fmla="val 23809"/>
              </a:avLst>
            </a:prstGeom>
            <a:solidFill>
              <a:srgbClr val="FDECEC"/>
            </a:solidFill>
            <a:ln>
              <a:noFill/>
            </a:ln>
          </p:spPr>
          <p:txBody>
            <a:bodyPr rtlCol="0" anchor="ctr"/>
            <a:lstStyle/>
            <a:p>
              <a:pPr algn="ctr"/>
            </a:p>
          </p:txBody>
        </p:sp>
        <p:sp>
          <p:nvSpPr>
            <p:cNvPr id="35" name="TextBox 34"/>
            <p:cNvSpPr txBox="1"/>
            <p:nvPr/>
          </p:nvSpPr>
          <p:spPr>
            <a:xfrm>
              <a:off x="4315968" y="4288536"/>
              <a:ext cx="658368" cy="384048"/>
            </a:xfrm>
            <a:prstGeom prst="rect">
              <a:avLst/>
            </a:prstGeom>
            <a:noFill/>
          </p:spPr>
          <p:txBody>
            <a:bodyPr wrap="square" lIns="0" rIns="0" tIns="0" bIns="0" anchor="ctr">
              <a:noAutofit/>
            </a:bodyPr>
            <a:lstStyle/>
            <a:p>
              <a:pPr algn="ctr"/>
              <a:r>
                <a:rPr sz="1100" b="1" i="0">
                  <a:solidFill>
                    <a:srgbClr val="D93036"/>
                  </a:solidFill>
                  <a:latin typeface="Inter" panose="020B0502030000000004" pitchFamily="34" charset="0"/>
                </a:rPr>
                <a:t>ANC?</a:t>
              </a:r>
            </a:p>
          </p:txBody>
        </p:sp>
        <p:sp>
          <p:nvSpPr>
            <p:cNvPr id="36" name="TextBox 35"/>
            <p:cNvSpPr txBox="1"/>
            <p:nvPr/>
          </p:nvSpPr>
          <p:spPr>
            <a:xfrm>
              <a:off x="4315968" y="4809744"/>
              <a:ext cx="2834640" cy="310896"/>
            </a:xfrm>
            <a:prstGeom prst="rect">
              <a:avLst/>
            </a:prstGeom>
            <a:noFill/>
          </p:spPr>
          <p:txBody>
            <a:bodyPr wrap="square" lIns="0" rIns="0" tIns="0" bIns="0" anchor="ctr">
              <a:noAutofit/>
            </a:bodyPr>
            <a:lstStyle/>
            <a:p>
              <a:pPr algn="l"/>
              <a:r>
                <a:rPr sz="1600" b="1" i="0">
                  <a:solidFill>
                    <a:srgbClr val="0E0E10"/>
                  </a:solidFill>
                  <a:latin typeface="Inter" panose="020B0502030000000004" pitchFamily="34" charset="0"/>
                </a:rPr>
                <a:t>Fake specs</a:t>
              </a:r>
            </a:p>
          </p:txBody>
        </p:sp>
        <p:sp>
          <p:nvSpPr>
            <p:cNvPr id="37" name="TextBox 36"/>
            <p:cNvSpPr txBox="1"/>
            <p:nvPr/>
          </p:nvSpPr>
          <p:spPr>
            <a:xfrm>
              <a:off x="4315968" y="5129784"/>
              <a:ext cx="2834640" cy="384048"/>
            </a:xfrm>
            <a:prstGeom prst="rect">
              <a:avLst/>
            </a:prstGeom>
            <a:noFill/>
          </p:spPr>
          <p:txBody>
            <a:bodyPr wrap="square" lIns="0" rIns="0" tIns="0" bIns="0" anchor="t">
              <a:noAutofit/>
            </a:bodyPr>
            <a:lstStyle/>
            <a:p>
              <a:pPr algn="l">
                <a:lnSpc>
                  <a:spcPct val="105000"/>
                </a:lnSpc>
              </a:pPr>
              <a:r>
                <a:rPr sz="1150" b="0" i="0">
                  <a:solidFill>
                    <a:srgbClr val="5D5D66"/>
                  </a:solidFill>
                  <a:latin typeface="Inter" panose="020B0502030000000004" pitchFamily="34" charset="0"/>
                </a:rPr>
                <a:t>“Noise cancelling” on headphones that don't have it.</a:t>
              </a:r>
            </a:p>
          </p:txBody>
        </p:sp>
      </p:grpSp>
      <p:grpSp>
        <p:nvGrpSpPr>
          <p:cNvPr id="38" name="Group 37"/>
          <p:cNvGrpSpPr/>
          <p:nvPr/>
        </p:nvGrpSpPr>
        <p:grpSpPr>
          <a:xfrm>
            <a:off x="7443216" y="3593592"/>
            <a:ext cx="402336" cy="402336"/>
            <a:chOff x="7443216" y="3593592"/>
            <a:chExt cx="402336" cy="402336"/>
          </a:xfrm>
        </p:grpSpPr>
        <p:sp>
          <p:nvSpPr>
            <p:cNvPr id="39" name="Oval 38"/>
            <p:cNvSpPr/>
            <p:nvPr/>
          </p:nvSpPr>
          <p:spPr>
            <a:xfrm>
              <a:off x="7443216" y="3593592"/>
              <a:ext cx="402336" cy="402336"/>
            </a:xfrm>
            <a:prstGeom prst="ellipse">
              <a:avLst/>
            </a:prstGeom>
            <a:solidFill>
              <a:srgbClr val="FFFFFF"/>
            </a:solidFill>
            <a:ln w="9525">
              <a:solidFill>
                <a:srgbClr val="D9D8D1"/>
              </a:solidFill>
            </a:ln>
          </p:spPr>
          <p:txBody>
            <a:bodyPr rtlCol="0" anchor="ctr"/>
            <a:lstStyle/>
            <a:p>
              <a:pPr algn="ctr"/>
            </a:p>
          </p:txBody>
        </p:sp>
        <p:sp>
          <p:nvSpPr>
            <p:cNvPr id="40" name="TextBox 39"/>
            <p:cNvSpPr txBox="1"/>
            <p:nvPr/>
          </p:nvSpPr>
          <p:spPr>
            <a:xfrm>
              <a:off x="7443216" y="3593592"/>
              <a:ext cx="402336" cy="402336"/>
            </a:xfrm>
            <a:prstGeom prst="rect">
              <a:avLst/>
            </a:prstGeom>
            <a:noFill/>
          </p:spPr>
          <p:txBody>
            <a:bodyPr wrap="square" lIns="0" rIns="0" tIns="0" bIns="0" anchor="ctr">
              <a:noAutofit/>
            </a:bodyPr>
            <a:lstStyle/>
            <a:p>
              <a:pPr algn="ctr"/>
              <a:r>
                <a:rPr sz="1500" b="0" i="0">
                  <a:solidFill>
                    <a:srgbClr val="5D5D66"/>
                  </a:solidFill>
                  <a:latin typeface="Inter" panose="020B0502030000000004" pitchFamily="34" charset="0"/>
                </a:rPr>
                <a:t>→</a:t>
              </a:r>
            </a:p>
          </p:txBody>
        </p:sp>
      </p:grpSp>
      <p:sp>
        <p:nvSpPr>
          <p:cNvPr id="41" name="TextBox 40"/>
          <p:cNvSpPr txBox="1"/>
          <p:nvPr/>
        </p:nvSpPr>
        <p:spPr>
          <a:xfrm>
            <a:off x="8092440" y="2011680"/>
            <a:ext cx="3474720" cy="237744"/>
          </a:xfrm>
          <a:prstGeom prst="rect">
            <a:avLst/>
          </a:prstGeom>
          <a:noFill/>
        </p:spPr>
        <p:txBody>
          <a:bodyPr wrap="square" lIns="0" rIns="0" tIns="0" bIns="0" anchor="ctr">
            <a:noAutofit/>
          </a:bodyPr>
          <a:lstStyle/>
          <a:p>
            <a:pPr algn="l"/>
            <a:r>
              <a:rPr sz="1100" b="1" i="0">
                <a:solidFill>
                  <a:srgbClr val="5D5D66"/>
                </a:solidFill>
                <a:latin typeface="Inter" panose="020B0502030000000004" pitchFamily="34" charset="0"/>
              </a:rPr>
              <a:t>What breaks</a:t>
            </a:r>
          </a:p>
        </p:txBody>
      </p:sp>
      <p:grpSp>
        <p:nvGrpSpPr>
          <p:cNvPr id="42" name="Group 41"/>
          <p:cNvGrpSpPr/>
          <p:nvPr/>
        </p:nvGrpSpPr>
        <p:grpSpPr>
          <a:xfrm>
            <a:off x="8092440" y="2359152"/>
            <a:ext cx="3410712" cy="1536192"/>
            <a:chOff x="8092440" y="2359152"/>
            <a:chExt cx="3410712" cy="1536192"/>
          </a:xfrm>
        </p:grpSpPr>
        <p:sp>
          <p:nvSpPr>
            <p:cNvPr id="43" name="Rounded Rectangle 42"/>
            <p:cNvSpPr/>
            <p:nvPr/>
          </p:nvSpPr>
          <p:spPr>
            <a:xfrm>
              <a:off x="8092440" y="2359152"/>
              <a:ext cx="3410712" cy="1536192"/>
            </a:xfrm>
            <a:prstGeom prst="roundRect">
              <a:avLst>
                <a:gd name="adj" fmla="val 714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44" name="Rectangle 43"/>
            <p:cNvSpPr/>
            <p:nvPr/>
          </p:nvSpPr>
          <p:spPr>
            <a:xfrm>
              <a:off x="8092440" y="2542032"/>
              <a:ext cx="41148" cy="1170432"/>
            </a:xfrm>
            <a:prstGeom prst="rect">
              <a:avLst/>
            </a:prstGeom>
            <a:solidFill>
              <a:srgbClr val="2F5BEA"/>
            </a:solidFill>
            <a:ln>
              <a:noFill/>
            </a:ln>
          </p:spPr>
          <p:txBody>
            <a:bodyPr rtlCol="0" anchor="ctr"/>
            <a:lstStyle/>
            <a:p>
              <a:pPr algn="ctr"/>
            </a:p>
          </p:txBody>
        </p:sp>
        <p:sp>
          <p:nvSpPr>
            <p:cNvPr id="45" name="TextBox 44"/>
            <p:cNvSpPr txBox="1"/>
            <p:nvPr/>
          </p:nvSpPr>
          <p:spPr>
            <a:xfrm>
              <a:off x="8339328" y="2578608"/>
              <a:ext cx="3063240" cy="329184"/>
            </a:xfrm>
            <a:prstGeom prst="rect">
              <a:avLst/>
            </a:prstGeom>
            <a:noFill/>
          </p:spPr>
          <p:txBody>
            <a:bodyPr wrap="square" lIns="0" rIns="0" tIns="0" bIns="0" anchor="ctr">
              <a:noAutofit/>
            </a:bodyPr>
            <a:lstStyle/>
            <a:p>
              <a:pPr algn="l"/>
              <a:r>
                <a:rPr sz="1600" b="1" i="0">
                  <a:solidFill>
                    <a:srgbClr val="0E0E10"/>
                  </a:solidFill>
                  <a:latin typeface="Inter" panose="020B0502030000000004" pitchFamily="34" charset="0"/>
                </a:rPr>
                <a:t>Agents get gamed</a:t>
              </a:r>
            </a:p>
          </p:txBody>
        </p:sp>
        <p:sp>
          <p:nvSpPr>
            <p:cNvPr id="46" name="TextBox 45"/>
            <p:cNvSpPr txBox="1"/>
            <p:nvPr/>
          </p:nvSpPr>
          <p:spPr>
            <a:xfrm>
              <a:off x="8339328" y="2962656"/>
              <a:ext cx="3044952" cy="822960"/>
            </a:xfrm>
            <a:prstGeom prst="rect">
              <a:avLst/>
            </a:prstGeom>
            <a:noFill/>
          </p:spPr>
          <p:txBody>
            <a:bodyPr wrap="square" lIns="0" rIns="0" tIns="0" bIns="0" anchor="t">
              <a:noAutofit/>
            </a:bodyPr>
            <a:lstStyle/>
            <a:p>
              <a:pPr algn="l">
                <a:lnSpc>
                  <a:spcPct val="106000"/>
                </a:lnSpc>
              </a:pPr>
              <a:r>
                <a:rPr sz="1150" b="0" i="0">
                  <a:solidFill>
                    <a:srgbClr val="5D5D66"/>
                  </a:solidFill>
                  <a:latin typeface="Inter" panose="020B0502030000000004" pitchFamily="34" charset="0"/>
                </a:rPr>
                <a:t>They read the same pages and trust the same claims. Nobody checks the checkout.</a:t>
              </a:r>
            </a:p>
          </p:txBody>
        </p:sp>
      </p:grpSp>
      <p:grpSp>
        <p:nvGrpSpPr>
          <p:cNvPr id="47" name="Group 46"/>
          <p:cNvGrpSpPr/>
          <p:nvPr/>
        </p:nvGrpSpPr>
        <p:grpSpPr>
          <a:xfrm>
            <a:off x="8092440" y="4059936"/>
            <a:ext cx="3410712" cy="1536192"/>
            <a:chOff x="8092440" y="4059936"/>
            <a:chExt cx="3410712" cy="1536192"/>
          </a:xfrm>
        </p:grpSpPr>
        <p:sp>
          <p:nvSpPr>
            <p:cNvPr id="48" name="Rounded Rectangle 47"/>
            <p:cNvSpPr/>
            <p:nvPr/>
          </p:nvSpPr>
          <p:spPr>
            <a:xfrm>
              <a:off x="8092440" y="4059936"/>
              <a:ext cx="3410712" cy="1536192"/>
            </a:xfrm>
            <a:prstGeom prst="roundRect">
              <a:avLst>
                <a:gd name="adj" fmla="val 714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49" name="Rectangle 48"/>
            <p:cNvSpPr/>
            <p:nvPr/>
          </p:nvSpPr>
          <p:spPr>
            <a:xfrm>
              <a:off x="8092440" y="4242816"/>
              <a:ext cx="41148" cy="1170432"/>
            </a:xfrm>
            <a:prstGeom prst="rect">
              <a:avLst/>
            </a:prstGeom>
            <a:solidFill>
              <a:srgbClr val="A15C07"/>
            </a:solidFill>
            <a:ln>
              <a:noFill/>
            </a:ln>
          </p:spPr>
          <p:txBody>
            <a:bodyPr rtlCol="0" anchor="ctr"/>
            <a:lstStyle/>
            <a:p>
              <a:pPr algn="ctr"/>
            </a:p>
          </p:txBody>
        </p:sp>
        <p:sp>
          <p:nvSpPr>
            <p:cNvPr id="50" name="TextBox 49"/>
            <p:cNvSpPr txBox="1"/>
            <p:nvPr/>
          </p:nvSpPr>
          <p:spPr>
            <a:xfrm>
              <a:off x="8339328" y="4279392"/>
              <a:ext cx="3063240" cy="329184"/>
            </a:xfrm>
            <a:prstGeom prst="rect">
              <a:avLst/>
            </a:prstGeom>
            <a:noFill/>
          </p:spPr>
          <p:txBody>
            <a:bodyPr wrap="square" lIns="0" rIns="0" tIns="0" bIns="0" anchor="ctr">
              <a:noAutofit/>
            </a:bodyPr>
            <a:lstStyle/>
            <a:p>
              <a:pPr algn="l"/>
              <a:r>
                <a:rPr sz="1600" b="1" i="0">
                  <a:solidFill>
                    <a:srgbClr val="0E0E10"/>
                  </a:solidFill>
                  <a:latin typeface="Inter" panose="020B0502030000000004" pitchFamily="34" charset="0"/>
                </a:rPr>
                <a:t>Merchants can't reach agents</a:t>
              </a:r>
            </a:p>
          </p:txBody>
        </p:sp>
        <p:sp>
          <p:nvSpPr>
            <p:cNvPr id="51" name="TextBox 50"/>
            <p:cNvSpPr txBox="1"/>
            <p:nvPr/>
          </p:nvSpPr>
          <p:spPr>
            <a:xfrm>
              <a:off x="8339328" y="4663440"/>
              <a:ext cx="3044952" cy="822960"/>
            </a:xfrm>
            <a:prstGeom prst="rect">
              <a:avLst/>
            </a:prstGeom>
            <a:noFill/>
          </p:spPr>
          <p:txBody>
            <a:bodyPr wrap="square" lIns="0" rIns="0" tIns="0" bIns="0" anchor="t">
              <a:noAutofit/>
            </a:bodyPr>
            <a:lstStyle/>
            <a:p>
              <a:pPr algn="l">
                <a:lnSpc>
                  <a:spcPct val="106000"/>
                </a:lnSpc>
              </a:pPr>
              <a:r>
                <a:rPr sz="1150" b="0" i="0">
                  <a:solidFill>
                    <a:srgbClr val="5D5D66"/>
                  </a:solidFill>
                  <a:latin typeface="Inter" panose="020B0502030000000004" pitchFamily="34" charset="0"/>
                </a:rPr>
                <a:t>There's no ad slot inside a tool call. Banners and SEO never reach a shopping agent.</a:t>
              </a:r>
            </a:p>
          </p:txBody>
        </p:sp>
      </p:grpSp>
      <p:sp>
        <p:nvSpPr>
          <p:cNvPr id="52" name="TextBox 51"/>
          <p:cNvSpPr txBox="1"/>
          <p:nvPr/>
        </p:nvSpPr>
        <p:spPr>
          <a:xfrm>
            <a:off x="685800" y="5779008"/>
            <a:ext cx="10835640" cy="411480"/>
          </a:xfrm>
          <a:prstGeom prst="rect">
            <a:avLst/>
          </a:prstGeom>
          <a:noFill/>
        </p:spPr>
        <p:txBody>
          <a:bodyPr wrap="square" lIns="0" rIns="0" tIns="0" bIns="0" anchor="t">
            <a:noAutofit/>
          </a:bodyPr>
          <a:lstStyle/>
          <a:p>
            <a:pPr algn="l"/>
            <a:r>
              <a:rPr sz="1700" b="0" i="0">
                <a:solidFill>
                  <a:srgbClr val="5D5D66"/>
                </a:solidFill>
                <a:latin typeface="Inter" panose="020B0502030000000004" pitchFamily="34" charset="0"/>
              </a:rPr>
              <a:t>Agents need offers they can </a:t>
            </a:r>
            <a:r>
              <a:rPr sz="1700" b="1" i="0">
                <a:solidFill>
                  <a:srgbClr val="0E0E10"/>
                </a:solidFill>
                <a:latin typeface="Inter" panose="020B0502030000000004" pitchFamily="34" charset="0"/>
              </a:rPr>
              <a:t>verify</a:t>
            </a:r>
            <a:r>
              <a:rPr sz="1700" b="0" i="0">
                <a:solidFill>
                  <a:srgbClr val="5D5D66"/>
                </a:solidFill>
                <a:latin typeface="Inter" panose="020B0502030000000004" pitchFamily="34" charset="0"/>
              </a:rPr>
              <a:t>. Merchants need a way to </a:t>
            </a:r>
            <a:r>
              <a:rPr sz="1700" b="1" i="0">
                <a:solidFill>
                  <a:srgbClr val="0E0E10"/>
                </a:solidFill>
                <a:latin typeface="Inter" panose="020B0502030000000004" pitchFamily="34" charset="0"/>
              </a:rPr>
              <a:t>compete</a:t>
            </a:r>
            <a:r>
              <a:rPr sz="1700" b="0" i="0">
                <a:solidFill>
                  <a:srgbClr val="5D5D66"/>
                </a:solidFill>
                <a:latin typeface="Inter" panose="020B0502030000000004" pitchFamily="34" charset="0"/>
              </a:rPr>
              <a:t> for an agent's purchase.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00"/>
                                        <p:tgtEl>
                                          <p:spTgt spid="13"/>
                                        </p:tgtEl>
                                      </p:cBhvr>
                                    </p:animEffect>
                                  </p:childTnLst>
                                </p:cTn>
                              </p:par>
                              <p:par>
                                <p:cTn id="16" presetID="42" presetClass="entr" presetSubtype="0" fill="hold" grpId="0" nodeType="withEffect">
                                  <p:stCondLst>
                                    <p:cond delay="30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additive="base">
                                        <p:cTn id="19" dur="500" fill="hold" decel="100000"/>
                                        <p:tgtEl>
                                          <p:spTgt spid="14"/>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4"/>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anim calcmode="lin" valueType="num">
                                      <p:cBhvr additive="base">
                                        <p:cTn id="24" dur="500" fill="hold" decel="100000"/>
                                        <p:tgtEl>
                                          <p:spTgt spid="20"/>
                                        </p:tgtEl>
                                        <p:attrNameLst>
                                          <p:attrName>ppt_x</p:attrName>
                                        </p:attrNameLst>
                                      </p:cBhvr>
                                      <p:tavLst>
                                        <p:tav tm="0">
                                          <p:val>
                                            <p:strVal val="#ppt_x"/>
                                          </p:val>
                                        </p:tav>
                                        <p:tav tm="100000">
                                          <p:val>
                                            <p:strVal val="#ppt_x"/>
                                          </p:val>
                                        </p:tav>
                                      </p:tavLst>
                                    </p:anim>
                                    <p:anim calcmode="lin" valueType="num">
                                      <p:cBhvr additive="base">
                                        <p:cTn id="25" dur="500" fill="hold" decel="100000"/>
                                        <p:tgtEl>
                                          <p:spTgt spid="20"/>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50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anim calcmode="lin" valueType="num">
                                      <p:cBhvr additive="base">
                                        <p:cTn id="29" dur="500" fill="hold" decel="100000"/>
                                        <p:tgtEl>
                                          <p:spTgt spid="26"/>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26"/>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60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anim calcmode="lin" valueType="num">
                                      <p:cBhvr additive="base">
                                        <p:cTn id="34" dur="500" fill="hold" decel="100000"/>
                                        <p:tgtEl>
                                          <p:spTgt spid="32"/>
                                        </p:tgtEl>
                                        <p:attrNameLst>
                                          <p:attrName>ppt_x</p:attrName>
                                        </p:attrNameLst>
                                      </p:cBhvr>
                                      <p:tavLst>
                                        <p:tav tm="0">
                                          <p:val>
                                            <p:strVal val="#ppt_x"/>
                                          </p:val>
                                        </p:tav>
                                        <p:tav tm="100000">
                                          <p:val>
                                            <p:strVal val="#ppt_x"/>
                                          </p:val>
                                        </p:tav>
                                      </p:tavLst>
                                    </p:anim>
                                    <p:anim calcmode="lin" valueType="num">
                                      <p:cBhvr additive="base">
                                        <p:cTn id="35" dur="500" fill="hold" decel="100000"/>
                                        <p:tgtEl>
                                          <p:spTgt spid="32"/>
                                        </p:tgtEl>
                                        <p:attrNameLst>
                                          <p:attrName>ppt_y</p:attrName>
                                        </p:attrNameLst>
                                      </p:cBhvr>
                                      <p:tavLst>
                                        <p:tav tm="0">
                                          <p:val>
                                            <p:strVal val="#ppt_y+0.025"/>
                                          </p:val>
                                        </p:tav>
                                        <p:tav tm="100000">
                                          <p:val>
                                            <p:strVal val="#ppt_y"/>
                                          </p:val>
                                        </p:tav>
                                      </p:tavLst>
                                    </p:anim>
                                  </p:childTnLst>
                                </p:cTn>
                              </p:par>
                              <p:par>
                                <p:cTn id="36" presetID="53" presetClass="entr" presetSubtype="16" fill="hold" grpId="0" nodeType="withEffect">
                                  <p:stCondLst>
                                    <p:cond delay="8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210"/>
                                        <p:tgtEl>
                                          <p:spTgt spid="38"/>
                                        </p:tgtEl>
                                      </p:cBhvr>
                                    </p:animEffect>
                                    <p:anim calcmode="lin" valueType="num">
                                      <p:cBhvr additive="base">
                                        <p:cTn id="39" dur="350" fill="hold" decel="100000"/>
                                        <p:tgtEl>
                                          <p:spTgt spid="38"/>
                                        </p:tgtEl>
                                        <p:attrNameLst>
                                          <p:attrName>ppt_w</p:attrName>
                                        </p:attrNameLst>
                                      </p:cBhvr>
                                      <p:tavLst>
                                        <p:tav tm="0">
                                          <p:val>
                                            <p:strVal val="#ppt_w*0.85"/>
                                          </p:val>
                                        </p:tav>
                                        <p:tav tm="100000">
                                          <p:val>
                                            <p:strVal val="#ppt_w"/>
                                          </p:val>
                                        </p:tav>
                                      </p:tavLst>
                                    </p:anim>
                                    <p:anim calcmode="lin" valueType="num">
                                      <p:cBhvr additive="base">
                                        <p:cTn id="40" dur="350" fill="hold" decel="100000"/>
                                        <p:tgtEl>
                                          <p:spTgt spid="38"/>
                                        </p:tgtEl>
                                        <p:attrNameLst>
                                          <p:attrName>ppt_h</p:attrName>
                                        </p:attrNameLst>
                                      </p:cBhvr>
                                      <p:tavLst>
                                        <p:tav tm="0">
                                          <p:val>
                                            <p:strVal val="#ppt_h*0.85"/>
                                          </p:val>
                                        </p:tav>
                                        <p:tav tm="100000">
                                          <p:val>
                                            <p:strVal val="#ppt_h"/>
                                          </p:val>
                                        </p:tav>
                                      </p:tavLst>
                                    </p:anim>
                                  </p:childTnLst>
                                </p:cTn>
                              </p:par>
                              <p:par>
                                <p:cTn id="41" presetID="10" presetClass="entr" presetSubtype="0" fill="hold" grpId="0" nodeType="withEffect">
                                  <p:stCondLst>
                                    <p:cond delay="85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400"/>
                                        <p:tgtEl>
                                          <p:spTgt spid="41"/>
                                        </p:tgtEl>
                                      </p:cBhvr>
                                    </p:animEffect>
                                  </p:childTnLst>
                                </p:cTn>
                              </p:par>
                              <p:par>
                                <p:cTn id="44" presetID="42" presetClass="entr" presetSubtype="0" fill="hold" grpId="0" nodeType="withEffect">
                                  <p:stCondLst>
                                    <p:cond delay="950"/>
                                  </p:stCondLst>
                                  <p:childTnLst>
                                    <p:set>
                                      <p:cBhvr>
                                        <p:cTn id="45" dur="1" fill="hold">
                                          <p:stCondLst>
                                            <p:cond delay="0"/>
                                          </p:stCondLst>
                                        </p:cTn>
                                        <p:tgtEl>
                                          <p:spTgt spid="42"/>
                                        </p:tgtEl>
                                        <p:attrNameLst>
                                          <p:attrName>style.visibility</p:attrName>
                                        </p:attrNameLst>
                                      </p:cBhvr>
                                      <p:to>
                                        <p:strVal val="visible"/>
                                      </p:to>
                                    </p:set>
                                    <p:animEffect transition="in" filter="fade">
                                      <p:cBhvr>
                                        <p:cTn id="46" dur="500"/>
                                        <p:tgtEl>
                                          <p:spTgt spid="42"/>
                                        </p:tgtEl>
                                      </p:cBhvr>
                                    </p:animEffect>
                                    <p:anim calcmode="lin" valueType="num">
                                      <p:cBhvr additive="base">
                                        <p:cTn id="47" dur="500" fill="hold" decel="100000"/>
                                        <p:tgtEl>
                                          <p:spTgt spid="42"/>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2"/>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080"/>
                                  </p:stCondLst>
                                  <p:childTnLst>
                                    <p:set>
                                      <p:cBhvr>
                                        <p:cTn id="50" dur="1" fill="hold">
                                          <p:stCondLst>
                                            <p:cond delay="0"/>
                                          </p:stCondLst>
                                        </p:cTn>
                                        <p:tgtEl>
                                          <p:spTgt spid="47"/>
                                        </p:tgtEl>
                                        <p:attrNameLst>
                                          <p:attrName>style.visibility</p:attrName>
                                        </p:attrNameLst>
                                      </p:cBhvr>
                                      <p:to>
                                        <p:strVal val="visible"/>
                                      </p:to>
                                    </p:set>
                                    <p:animEffect transition="in" filter="fade">
                                      <p:cBhvr>
                                        <p:cTn id="51" dur="500"/>
                                        <p:tgtEl>
                                          <p:spTgt spid="47"/>
                                        </p:tgtEl>
                                      </p:cBhvr>
                                    </p:animEffect>
                                    <p:anim calcmode="lin" valueType="num">
                                      <p:cBhvr additive="base">
                                        <p:cTn id="52" dur="500" fill="hold" decel="100000"/>
                                        <p:tgtEl>
                                          <p:spTgt spid="47"/>
                                        </p:tgtEl>
                                        <p:attrNameLst>
                                          <p:attrName>ppt_x</p:attrName>
                                        </p:attrNameLst>
                                      </p:cBhvr>
                                      <p:tavLst>
                                        <p:tav tm="0">
                                          <p:val>
                                            <p:strVal val="#ppt_x"/>
                                          </p:val>
                                        </p:tav>
                                        <p:tav tm="100000">
                                          <p:val>
                                            <p:strVal val="#ppt_x"/>
                                          </p:val>
                                        </p:tav>
                                      </p:tavLst>
                                    </p:anim>
                                    <p:anim calcmode="lin" valueType="num">
                                      <p:cBhvr additive="base">
                                        <p:cTn id="53" dur="500" fill="hold" decel="100000"/>
                                        <p:tgtEl>
                                          <p:spTgt spid="47"/>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00"/>
                                  </p:stCondLst>
                                  <p:childTnLst>
                                    <p:set>
                                      <p:cBhvr>
                                        <p:cTn id="55" dur="1" fill="hold">
                                          <p:stCondLst>
                                            <p:cond delay="0"/>
                                          </p:stCondLst>
                                        </p:cTn>
                                        <p:tgtEl>
                                          <p:spTgt spid="52"/>
                                        </p:tgtEl>
                                        <p:attrNameLst>
                                          <p:attrName>style.visibility</p:attrName>
                                        </p:attrNameLst>
                                      </p:cBhvr>
                                      <p:to>
                                        <p:strVal val="visible"/>
                                      </p:to>
                                    </p:set>
                                    <p:animEffect transition="in" filter="fade">
                                      <p:cBhvr>
                                        <p:cTn id="56" dur="600"/>
                                        <p:tgtEl>
                                          <p:spTgt spid="52"/>
                                        </p:tgtEl>
                                      </p:cBhvr>
                                    </p:animEffect>
                                    <p:anim calcmode="lin" valueType="num">
                                      <p:cBhvr additive="base">
                                        <p:cTn id="57" dur="600" fill="hold" decel="100000"/>
                                        <p:tgtEl>
                                          <p:spTgt spid="52"/>
                                        </p:tgtEl>
                                        <p:attrNameLst>
                                          <p:attrName>ppt_x</p:attrName>
                                        </p:attrNameLst>
                                      </p:cBhvr>
                                      <p:tavLst>
                                        <p:tav tm="0">
                                          <p:val>
                                            <p:strVal val="#ppt_x"/>
                                          </p:val>
                                        </p:tav>
                                        <p:tav tm="100000">
                                          <p:val>
                                            <p:strVal val="#ppt_x"/>
                                          </p:val>
                                        </p:tav>
                                      </p:tavLst>
                                    </p:anim>
                                    <p:anim calcmode="lin" valueType="num">
                                      <p:cBhvr additive="base">
                                        <p:cTn id="58" dur="600" fill="hold" decel="100000"/>
                                        <p:tgtEl>
                                          <p:spTgt spid="5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41" grpId="0" animBg="1"/>
      <p:bldP spid="52"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THE INSIGHT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3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3657509"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96112"/>
            <a:ext cx="10835640" cy="914400"/>
          </a:xfrm>
          <a:prstGeom prst="rect">
            <a:avLst/>
          </a:prstGeom>
          <a:noFill/>
        </p:spPr>
        <p:txBody>
          <a:bodyPr wrap="square" lIns="0" rIns="0" tIns="0" bIns="0" anchor="ctr">
            <a:noAutofit/>
          </a:bodyPr>
          <a:lstStyle/>
          <a:p>
            <a:pPr algn="l"/>
            <a:r>
              <a:rPr sz="5400" b="1" i="0" spc="-160">
                <a:solidFill>
                  <a:srgbClr val="0E0E10"/>
                </a:solidFill>
                <a:latin typeface="Inter" panose="020B0502030000000004" pitchFamily="34" charset="0"/>
              </a:rPr>
              <a:t>For an agent, </a:t>
            </a:r>
            <a:r>
              <a:rPr sz="5400" b="1" i="0" spc="-160">
                <a:solidFill>
                  <a:srgbClr val="F2561D"/>
                </a:solidFill>
                <a:latin typeface="Inter" panose="020B0502030000000004" pitchFamily="34" charset="0"/>
              </a:rPr>
              <a:t>the ad is the offer.</a:t>
            </a:r>
          </a:p>
        </p:txBody>
      </p:sp>
      <p:sp>
        <p:nvSpPr>
          <p:cNvPr id="13" name="TextBox 12"/>
          <p:cNvSpPr txBox="1"/>
          <p:nvPr/>
        </p:nvSpPr>
        <p:spPr>
          <a:xfrm>
            <a:off x="685800" y="1847088"/>
            <a:ext cx="10835640" cy="411480"/>
          </a:xfrm>
          <a:prstGeom prst="rect">
            <a:avLst/>
          </a:prstGeom>
          <a:noFill/>
        </p:spPr>
        <p:txBody>
          <a:bodyPr wrap="square" lIns="0" rIns="0" tIns="0" bIns="0" anchor="t">
            <a:noAutofit/>
          </a:bodyPr>
          <a:lstStyle/>
          <a:p>
            <a:pPr algn="l"/>
            <a:r>
              <a:rPr sz="1900" b="0" i="0">
                <a:solidFill>
                  <a:srgbClr val="5D5D66"/>
                </a:solidFill>
                <a:latin typeface="Inter" panose="020B0502030000000004" pitchFamily="34" charset="0"/>
              </a:rPr>
              <a:t>So merchants bid with claims a machine can check, and we check every one.</a:t>
            </a:r>
          </a:p>
        </p:txBody>
      </p:sp>
      <p:grpSp>
        <p:nvGrpSpPr>
          <p:cNvPr id="14" name="Group 13"/>
          <p:cNvGrpSpPr/>
          <p:nvPr/>
        </p:nvGrpSpPr>
        <p:grpSpPr>
          <a:xfrm>
            <a:off x="685800" y="2542032"/>
            <a:ext cx="3474720" cy="2743200"/>
            <a:chOff x="685800" y="2542032"/>
            <a:chExt cx="3474720" cy="2743200"/>
          </a:xfrm>
        </p:grpSpPr>
        <p:sp>
          <p:nvSpPr>
            <p:cNvPr id="15" name="Rounded Rectangle 14"/>
            <p:cNvSpPr/>
            <p:nvPr/>
          </p:nvSpPr>
          <p:spPr>
            <a:xfrm>
              <a:off x="685800" y="2542032"/>
              <a:ext cx="3474720" cy="2743200"/>
            </a:xfrm>
            <a:prstGeom prst="roundRect">
              <a:avLst>
                <a:gd name="adj" fmla="val 400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6" name="Oval 15"/>
            <p:cNvSpPr/>
            <p:nvPr/>
          </p:nvSpPr>
          <p:spPr>
            <a:xfrm>
              <a:off x="941832" y="2798064"/>
              <a:ext cx="329184" cy="329184"/>
            </a:xfrm>
            <a:prstGeom prst="ellipse">
              <a:avLst/>
            </a:prstGeom>
            <a:solidFill>
              <a:srgbClr val="0E0E10"/>
            </a:solidFill>
            <a:ln>
              <a:noFill/>
            </a:ln>
          </p:spPr>
          <p:txBody>
            <a:bodyPr rtlCol="0" anchor="ctr"/>
            <a:lstStyle/>
            <a:p>
              <a:pPr algn="ctr"/>
            </a:p>
          </p:txBody>
        </p:sp>
        <p:sp>
          <p:nvSpPr>
            <p:cNvPr id="17" name="TextBox 16"/>
            <p:cNvSpPr txBox="1"/>
            <p:nvPr/>
          </p:nvSpPr>
          <p:spPr>
            <a:xfrm>
              <a:off x="941832" y="2798064"/>
              <a:ext cx="329184" cy="329184"/>
            </a:xfrm>
            <a:prstGeom prst="rect">
              <a:avLst/>
            </a:prstGeom>
            <a:noFill/>
          </p:spPr>
          <p:txBody>
            <a:bodyPr wrap="square" lIns="0" rIns="0" tIns="0" bIns="0" anchor="ctr">
              <a:noAutofit/>
            </a:bodyPr>
            <a:lstStyle/>
            <a:p>
              <a:pPr algn="ctr"/>
              <a:r>
                <a:rPr sz="1100" b="1" i="0">
                  <a:solidFill>
                    <a:srgbClr val="FFFFFF"/>
                  </a:solidFill>
                  <a:latin typeface="Inter" panose="020B0502030000000004" pitchFamily="34" charset="0"/>
                </a:rPr>
                <a:t>1</a:t>
              </a:r>
            </a:p>
          </p:txBody>
        </p:sp>
        <p:sp>
          <p:nvSpPr>
            <p:cNvPr id="18" name="TextBox 17"/>
            <p:cNvSpPr txBox="1"/>
            <p:nvPr/>
          </p:nvSpPr>
          <p:spPr>
            <a:xfrm>
              <a:off x="941832" y="3255264"/>
              <a:ext cx="3017520" cy="365760"/>
            </a:xfrm>
            <a:prstGeom prst="rect">
              <a:avLst/>
            </a:prstGeom>
            <a:noFill/>
          </p:spPr>
          <p:txBody>
            <a:bodyPr wrap="square" lIns="0" rIns="0" tIns="0" bIns="0" anchor="ctr">
              <a:noAutofit/>
            </a:bodyPr>
            <a:lstStyle/>
            <a:p>
              <a:pPr algn="l"/>
              <a:r>
                <a:rPr sz="1800" b="1" i="0" spc="-30">
                  <a:solidFill>
                    <a:srgbClr val="0E0E10"/>
                  </a:solidFill>
                  <a:latin typeface="Inter" panose="020B0502030000000004" pitchFamily="34" charset="0"/>
                </a:rPr>
                <a:t>Bid with verifiable claims</a:t>
              </a:r>
            </a:p>
          </p:txBody>
        </p:sp>
        <p:sp>
          <p:nvSpPr>
            <p:cNvPr id="19" name="TextBox 18"/>
            <p:cNvSpPr txBox="1"/>
            <p:nvPr/>
          </p:nvSpPr>
          <p:spPr>
            <a:xfrm>
              <a:off x="941832" y="3675888"/>
              <a:ext cx="2980944" cy="1005840"/>
            </a:xfrm>
            <a:prstGeom prst="rect">
              <a:avLst/>
            </a:prstGeom>
            <a:noFill/>
          </p:spPr>
          <p:txBody>
            <a:bodyPr wrap="square" lIns="0" rIns="0" tIns="0" bIns="0" anchor="t">
              <a:noAutofit/>
            </a:bodyPr>
            <a:lstStyle/>
            <a:p>
              <a:pPr algn="l">
                <a:lnSpc>
                  <a:spcPct val="110000"/>
                </a:lnSpc>
              </a:pPr>
              <a:r>
                <a:rPr sz="1150" b="0" i="0">
                  <a:solidFill>
                    <a:srgbClr val="5D5D66"/>
                  </a:solidFill>
                  <a:latin typeface="Inter" panose="020B0502030000000004" pitchFamily="34" charset="0"/>
                </a:rPr>
                <a:t>Delivered price, delivery days and features, checked against the merchant's own product page (schema.org JSON-LD) and live checkout.</a:t>
              </a:r>
            </a:p>
          </p:txBody>
        </p:sp>
      </p:grpSp>
      <p:grpSp>
        <p:nvGrpSpPr>
          <p:cNvPr id="20" name="Group 19"/>
          <p:cNvGrpSpPr/>
          <p:nvPr/>
        </p:nvGrpSpPr>
        <p:grpSpPr>
          <a:xfrm>
            <a:off x="941832" y="4718304"/>
            <a:ext cx="728980" cy="292608"/>
            <a:chOff x="941832" y="4718304"/>
            <a:chExt cx="728980" cy="292608"/>
          </a:xfrm>
        </p:grpSpPr>
        <p:sp>
          <p:nvSpPr>
            <p:cNvPr id="21" name="Rounded Rectangle 20"/>
            <p:cNvSpPr/>
            <p:nvPr/>
          </p:nvSpPr>
          <p:spPr>
            <a:xfrm>
              <a:off x="941832" y="4718304"/>
              <a:ext cx="728980" cy="292608"/>
            </a:xfrm>
            <a:prstGeom prst="roundRect">
              <a:avLst>
                <a:gd name="adj" fmla="val 50000"/>
              </a:avLst>
            </a:prstGeom>
            <a:solidFill>
              <a:srgbClr val="E7F6EF"/>
            </a:solidFill>
            <a:ln>
              <a:noFill/>
            </a:ln>
          </p:spPr>
          <p:txBody>
            <a:bodyPr rtlCol="0" anchor="ctr"/>
            <a:lstStyle/>
            <a:p>
              <a:pPr algn="ctr"/>
            </a:p>
          </p:txBody>
        </p:sp>
        <p:sp>
          <p:nvSpPr>
            <p:cNvPr id="22" name="TextBox 21"/>
            <p:cNvSpPr txBox="1"/>
            <p:nvPr/>
          </p:nvSpPr>
          <p:spPr>
            <a:xfrm>
              <a:off x="941832" y="4718304"/>
              <a:ext cx="728980" cy="292608"/>
            </a:xfrm>
            <a:prstGeom prst="rect">
              <a:avLst/>
            </a:prstGeom>
            <a:noFill/>
          </p:spPr>
          <p:txBody>
            <a:bodyPr wrap="square" lIns="0" rIns="0" tIns="0" bIns="0" anchor="ctr">
              <a:noAutofit/>
            </a:bodyPr>
            <a:lstStyle/>
            <a:p>
              <a:pPr algn="ctr"/>
              <a:r>
                <a:rPr sz="950" b="1" i="0">
                  <a:solidFill>
                    <a:srgbClr val="12805C"/>
                  </a:solidFill>
                  <a:latin typeface="Inter" panose="020B0502030000000004" pitchFamily="34" charset="0"/>
                </a:rPr>
                <a:t>Price ✓</a:t>
              </a:r>
            </a:p>
          </p:txBody>
        </p:sp>
      </p:grpSp>
      <p:grpSp>
        <p:nvGrpSpPr>
          <p:cNvPr id="23" name="Group 22"/>
          <p:cNvGrpSpPr/>
          <p:nvPr/>
        </p:nvGrpSpPr>
        <p:grpSpPr>
          <a:xfrm>
            <a:off x="1743964" y="4718304"/>
            <a:ext cx="999236" cy="292608"/>
            <a:chOff x="1743964" y="4718304"/>
            <a:chExt cx="999236" cy="292608"/>
          </a:xfrm>
        </p:grpSpPr>
        <p:sp>
          <p:nvSpPr>
            <p:cNvPr id="24" name="Rounded Rectangle 23"/>
            <p:cNvSpPr/>
            <p:nvPr/>
          </p:nvSpPr>
          <p:spPr>
            <a:xfrm>
              <a:off x="1743964" y="4718304"/>
              <a:ext cx="999236" cy="292608"/>
            </a:xfrm>
            <a:prstGeom prst="roundRect">
              <a:avLst>
                <a:gd name="adj" fmla="val 50000"/>
              </a:avLst>
            </a:prstGeom>
            <a:solidFill>
              <a:srgbClr val="E7F6EF"/>
            </a:solidFill>
            <a:ln>
              <a:noFill/>
            </a:ln>
          </p:spPr>
          <p:txBody>
            <a:bodyPr rtlCol="0" anchor="ctr"/>
            <a:lstStyle/>
            <a:p>
              <a:pPr algn="ctr"/>
            </a:p>
          </p:txBody>
        </p:sp>
        <p:sp>
          <p:nvSpPr>
            <p:cNvPr id="25" name="TextBox 24"/>
            <p:cNvSpPr txBox="1"/>
            <p:nvPr/>
          </p:nvSpPr>
          <p:spPr>
            <a:xfrm>
              <a:off x="1743964" y="4718304"/>
              <a:ext cx="999236" cy="292608"/>
            </a:xfrm>
            <a:prstGeom prst="rect">
              <a:avLst/>
            </a:prstGeom>
            <a:noFill/>
          </p:spPr>
          <p:txBody>
            <a:bodyPr wrap="square" lIns="0" rIns="0" tIns="0" bIns="0" anchor="ctr">
              <a:noAutofit/>
            </a:bodyPr>
            <a:lstStyle/>
            <a:p>
              <a:pPr algn="ctr"/>
              <a:r>
                <a:rPr sz="950" b="1" i="0">
                  <a:solidFill>
                    <a:srgbClr val="12805C"/>
                  </a:solidFill>
                  <a:latin typeface="Inter" panose="020B0502030000000004" pitchFamily="34" charset="0"/>
                </a:rPr>
                <a:t>Ship days ✓</a:t>
              </a:r>
            </a:p>
          </p:txBody>
        </p:sp>
      </p:grpSp>
      <p:grpSp>
        <p:nvGrpSpPr>
          <p:cNvPr id="26" name="Group 25"/>
          <p:cNvGrpSpPr/>
          <p:nvPr/>
        </p:nvGrpSpPr>
        <p:grpSpPr>
          <a:xfrm>
            <a:off x="2816352" y="4718304"/>
            <a:ext cx="931672" cy="292608"/>
            <a:chOff x="2816352" y="4718304"/>
            <a:chExt cx="931672" cy="292608"/>
          </a:xfrm>
        </p:grpSpPr>
        <p:sp>
          <p:nvSpPr>
            <p:cNvPr id="27" name="Rounded Rectangle 26"/>
            <p:cNvSpPr/>
            <p:nvPr/>
          </p:nvSpPr>
          <p:spPr>
            <a:xfrm>
              <a:off x="2816352" y="4718304"/>
              <a:ext cx="931672" cy="292608"/>
            </a:xfrm>
            <a:prstGeom prst="roundRect">
              <a:avLst>
                <a:gd name="adj" fmla="val 50000"/>
              </a:avLst>
            </a:prstGeom>
            <a:solidFill>
              <a:srgbClr val="E7F6EF"/>
            </a:solidFill>
            <a:ln>
              <a:noFill/>
            </a:ln>
          </p:spPr>
          <p:txBody>
            <a:bodyPr rtlCol="0" anchor="ctr"/>
            <a:lstStyle/>
            <a:p>
              <a:pPr algn="ctr"/>
            </a:p>
          </p:txBody>
        </p:sp>
        <p:sp>
          <p:nvSpPr>
            <p:cNvPr id="28" name="TextBox 27"/>
            <p:cNvSpPr txBox="1"/>
            <p:nvPr/>
          </p:nvSpPr>
          <p:spPr>
            <a:xfrm>
              <a:off x="2816352" y="4718304"/>
              <a:ext cx="931672" cy="292608"/>
            </a:xfrm>
            <a:prstGeom prst="rect">
              <a:avLst/>
            </a:prstGeom>
            <a:noFill/>
          </p:spPr>
          <p:txBody>
            <a:bodyPr wrap="square" lIns="0" rIns="0" tIns="0" bIns="0" anchor="ctr">
              <a:noAutofit/>
            </a:bodyPr>
            <a:lstStyle/>
            <a:p>
              <a:pPr algn="ctr"/>
              <a:r>
                <a:rPr sz="950" b="1" i="0">
                  <a:solidFill>
                    <a:srgbClr val="12805C"/>
                  </a:solidFill>
                  <a:latin typeface="Inter" panose="020B0502030000000004" pitchFamily="34" charset="0"/>
                </a:rPr>
                <a:t>Features ✓</a:t>
              </a:r>
            </a:p>
          </p:txBody>
        </p:sp>
      </p:grpSp>
      <p:grpSp>
        <p:nvGrpSpPr>
          <p:cNvPr id="29" name="Group 28"/>
          <p:cNvGrpSpPr/>
          <p:nvPr/>
        </p:nvGrpSpPr>
        <p:grpSpPr>
          <a:xfrm>
            <a:off x="4357116" y="2542032"/>
            <a:ext cx="3474720" cy="2743200"/>
            <a:chOff x="4357116" y="2542032"/>
            <a:chExt cx="3474720" cy="2743200"/>
          </a:xfrm>
        </p:grpSpPr>
        <p:sp>
          <p:nvSpPr>
            <p:cNvPr id="30" name="Rounded Rectangle 29"/>
            <p:cNvSpPr/>
            <p:nvPr/>
          </p:nvSpPr>
          <p:spPr>
            <a:xfrm>
              <a:off x="4357116" y="2542032"/>
              <a:ext cx="3474720" cy="2743200"/>
            </a:xfrm>
            <a:prstGeom prst="roundRect">
              <a:avLst>
                <a:gd name="adj" fmla="val 400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31" name="Oval 30"/>
            <p:cNvSpPr/>
            <p:nvPr/>
          </p:nvSpPr>
          <p:spPr>
            <a:xfrm>
              <a:off x="4613148" y="2798064"/>
              <a:ext cx="329184" cy="329184"/>
            </a:xfrm>
            <a:prstGeom prst="ellipse">
              <a:avLst/>
            </a:prstGeom>
            <a:solidFill>
              <a:srgbClr val="0E0E10"/>
            </a:solidFill>
            <a:ln>
              <a:noFill/>
            </a:ln>
          </p:spPr>
          <p:txBody>
            <a:bodyPr rtlCol="0" anchor="ctr"/>
            <a:lstStyle/>
            <a:p>
              <a:pPr algn="ctr"/>
            </a:p>
          </p:txBody>
        </p:sp>
        <p:sp>
          <p:nvSpPr>
            <p:cNvPr id="32" name="TextBox 31"/>
            <p:cNvSpPr txBox="1"/>
            <p:nvPr/>
          </p:nvSpPr>
          <p:spPr>
            <a:xfrm>
              <a:off x="4613148" y="2798064"/>
              <a:ext cx="329184" cy="329184"/>
            </a:xfrm>
            <a:prstGeom prst="rect">
              <a:avLst/>
            </a:prstGeom>
            <a:noFill/>
          </p:spPr>
          <p:txBody>
            <a:bodyPr wrap="square" lIns="0" rIns="0" tIns="0" bIns="0" anchor="ctr">
              <a:noAutofit/>
            </a:bodyPr>
            <a:lstStyle/>
            <a:p>
              <a:pPr algn="ctr"/>
              <a:r>
                <a:rPr sz="1100" b="1" i="0">
                  <a:solidFill>
                    <a:srgbClr val="FFFFFF"/>
                  </a:solidFill>
                  <a:latin typeface="Inter" panose="020B0502030000000004" pitchFamily="34" charset="0"/>
                </a:rPr>
                <a:t>2</a:t>
              </a:r>
            </a:p>
          </p:txBody>
        </p:sp>
        <p:sp>
          <p:nvSpPr>
            <p:cNvPr id="33" name="TextBox 32"/>
            <p:cNvSpPr txBox="1"/>
            <p:nvPr/>
          </p:nvSpPr>
          <p:spPr>
            <a:xfrm>
              <a:off x="4613148" y="3255264"/>
              <a:ext cx="3017520" cy="365760"/>
            </a:xfrm>
            <a:prstGeom prst="rect">
              <a:avLst/>
            </a:prstGeom>
            <a:noFill/>
          </p:spPr>
          <p:txBody>
            <a:bodyPr wrap="square" lIns="0" rIns="0" tIns="0" bIns="0" anchor="ctr">
              <a:noAutofit/>
            </a:bodyPr>
            <a:lstStyle/>
            <a:p>
              <a:pPr algn="l"/>
              <a:r>
                <a:rPr sz="1800" b="1" i="0" spc="-30">
                  <a:solidFill>
                    <a:srgbClr val="0E0E10"/>
                  </a:solidFill>
                  <a:latin typeface="Inter" panose="020B0502030000000004" pitchFamily="34" charset="0"/>
                </a:rPr>
                <a:t>Rank on merit</a:t>
              </a:r>
            </a:p>
          </p:txBody>
        </p:sp>
        <p:sp>
          <p:nvSpPr>
            <p:cNvPr id="34" name="TextBox 33"/>
            <p:cNvSpPr txBox="1"/>
            <p:nvPr/>
          </p:nvSpPr>
          <p:spPr>
            <a:xfrm>
              <a:off x="4613148" y="3675888"/>
              <a:ext cx="2980944" cy="1005840"/>
            </a:xfrm>
            <a:prstGeom prst="rect">
              <a:avLst/>
            </a:prstGeom>
            <a:noFill/>
          </p:spPr>
          <p:txBody>
            <a:bodyPr wrap="square" lIns="0" rIns="0" tIns="0" bIns="0" anchor="t">
              <a:noAutofit/>
            </a:bodyPr>
            <a:lstStyle/>
            <a:p>
              <a:pPr algn="l">
                <a:lnSpc>
                  <a:spcPct val="110000"/>
                </a:lnSpc>
              </a:pPr>
              <a:r>
                <a:rPr sz="1150" b="0" i="0">
                  <a:solidFill>
                    <a:srgbClr val="5D5D66"/>
                  </a:solidFill>
                  <a:latin typeface="Inter" panose="020B0502030000000004" pitchFamily="34" charset="0"/>
                </a:rPr>
                <a:t>Verified offers are scored 0–100 with public weights. Agents can read the policy as an MCP resource.</a:t>
              </a:r>
            </a:p>
          </p:txBody>
        </p:sp>
      </p:grpSp>
      <p:grpSp>
        <p:nvGrpSpPr>
          <p:cNvPr id="35" name="Group 34"/>
          <p:cNvGrpSpPr/>
          <p:nvPr/>
        </p:nvGrpSpPr>
        <p:grpSpPr>
          <a:xfrm>
            <a:off x="4613148" y="4718304"/>
            <a:ext cx="1162202" cy="292608"/>
            <a:chOff x="4613148" y="4718304"/>
            <a:chExt cx="1162202" cy="292608"/>
          </a:xfrm>
        </p:grpSpPr>
        <p:sp>
          <p:nvSpPr>
            <p:cNvPr id="36" name="Rounded Rectangle 35"/>
            <p:cNvSpPr/>
            <p:nvPr/>
          </p:nvSpPr>
          <p:spPr>
            <a:xfrm>
              <a:off x="4613148" y="4718304"/>
              <a:ext cx="1162202" cy="292608"/>
            </a:xfrm>
            <a:prstGeom prst="roundRect">
              <a:avLst>
                <a:gd name="adj" fmla="val 9375"/>
              </a:avLst>
            </a:prstGeom>
            <a:solidFill>
              <a:srgbClr val="0E0E10"/>
            </a:solidFill>
            <a:ln>
              <a:noFill/>
            </a:ln>
          </p:spPr>
          <p:txBody>
            <a:bodyPr rtlCol="0" anchor="ctr"/>
            <a:lstStyle/>
            <a:p>
              <a:pPr algn="ctr"/>
            </a:p>
          </p:txBody>
        </p:sp>
        <p:sp>
          <p:nvSpPr>
            <p:cNvPr id="37" name="TextBox 36"/>
            <p:cNvSpPr txBox="1"/>
            <p:nvPr/>
          </p:nvSpPr>
          <p:spPr>
            <a:xfrm>
              <a:off x="4613148" y="4718304"/>
              <a:ext cx="1162202" cy="292608"/>
            </a:xfrm>
            <a:prstGeom prst="rect">
              <a:avLst/>
            </a:prstGeom>
            <a:noFill/>
          </p:spPr>
          <p:txBody>
            <a:bodyPr wrap="square" lIns="0" rIns="0" tIns="0" bIns="0" anchor="ctr">
              <a:noAutofit/>
            </a:bodyPr>
            <a:lstStyle/>
            <a:p>
              <a:pPr algn="ctr"/>
              <a:r>
                <a:rPr sz="800" b="1" i="0">
                  <a:solidFill>
                    <a:srgbClr val="FFFFFF"/>
                  </a:solidFill>
                  <a:latin typeface="Inter" panose="020B0502030000000004" pitchFamily="34" charset="0"/>
                </a:rPr>
                <a:t>Price 40</a:t>
              </a:r>
            </a:p>
          </p:txBody>
        </p:sp>
      </p:grpSp>
      <p:grpSp>
        <p:nvGrpSpPr>
          <p:cNvPr id="38" name="Group 37"/>
          <p:cNvGrpSpPr/>
          <p:nvPr/>
        </p:nvGrpSpPr>
        <p:grpSpPr>
          <a:xfrm>
            <a:off x="5798210" y="4718304"/>
            <a:ext cx="717804" cy="292608"/>
            <a:chOff x="5798210" y="4718304"/>
            <a:chExt cx="717804" cy="292608"/>
          </a:xfrm>
        </p:grpSpPr>
        <p:sp>
          <p:nvSpPr>
            <p:cNvPr id="39" name="Rounded Rectangle 38"/>
            <p:cNvSpPr/>
            <p:nvPr/>
          </p:nvSpPr>
          <p:spPr>
            <a:xfrm>
              <a:off x="5798210" y="4718304"/>
              <a:ext cx="717804" cy="292608"/>
            </a:xfrm>
            <a:prstGeom prst="roundRect">
              <a:avLst>
                <a:gd name="adj" fmla="val 9375"/>
              </a:avLst>
            </a:prstGeom>
            <a:solidFill>
              <a:srgbClr val="3A3A41"/>
            </a:solidFill>
            <a:ln>
              <a:noFill/>
            </a:ln>
          </p:spPr>
          <p:txBody>
            <a:bodyPr rtlCol="0" anchor="ctr"/>
            <a:lstStyle/>
            <a:p>
              <a:pPr algn="ctr"/>
            </a:p>
          </p:txBody>
        </p:sp>
        <p:sp>
          <p:nvSpPr>
            <p:cNvPr id="40" name="TextBox 39"/>
            <p:cNvSpPr txBox="1"/>
            <p:nvPr/>
          </p:nvSpPr>
          <p:spPr>
            <a:xfrm>
              <a:off x="5798210" y="4718304"/>
              <a:ext cx="717804" cy="292608"/>
            </a:xfrm>
            <a:prstGeom prst="rect">
              <a:avLst/>
            </a:prstGeom>
            <a:noFill/>
          </p:spPr>
          <p:txBody>
            <a:bodyPr wrap="square" lIns="0" rIns="0" tIns="0" bIns="0" anchor="ctr">
              <a:noAutofit/>
            </a:bodyPr>
            <a:lstStyle/>
            <a:p>
              <a:pPr algn="ctr"/>
              <a:r>
                <a:rPr sz="800" b="1" i="0">
                  <a:solidFill>
                    <a:srgbClr val="FFFFFF"/>
                  </a:solidFill>
                  <a:latin typeface="Inter" panose="020B0502030000000004" pitchFamily="34" charset="0"/>
                </a:rPr>
                <a:t>25</a:t>
              </a:r>
            </a:p>
          </p:txBody>
        </p:sp>
      </p:grpSp>
      <p:grpSp>
        <p:nvGrpSpPr>
          <p:cNvPr id="41" name="Group 40"/>
          <p:cNvGrpSpPr/>
          <p:nvPr/>
        </p:nvGrpSpPr>
        <p:grpSpPr>
          <a:xfrm>
            <a:off x="6538874" y="4718304"/>
            <a:ext cx="421538" cy="292608"/>
            <a:chOff x="6538874" y="4718304"/>
            <a:chExt cx="421538" cy="292608"/>
          </a:xfrm>
        </p:grpSpPr>
        <p:sp>
          <p:nvSpPr>
            <p:cNvPr id="42" name="Rounded Rectangle 41"/>
            <p:cNvSpPr/>
            <p:nvPr/>
          </p:nvSpPr>
          <p:spPr>
            <a:xfrm>
              <a:off x="6538874" y="4718304"/>
              <a:ext cx="421538" cy="292608"/>
            </a:xfrm>
            <a:prstGeom prst="roundRect">
              <a:avLst>
                <a:gd name="adj" fmla="val 9375"/>
              </a:avLst>
            </a:prstGeom>
            <a:solidFill>
              <a:srgbClr val="6E6E78"/>
            </a:solidFill>
            <a:ln>
              <a:noFill/>
            </a:ln>
          </p:spPr>
          <p:txBody>
            <a:bodyPr rtlCol="0" anchor="ctr"/>
            <a:lstStyle/>
            <a:p>
              <a:pPr algn="ctr"/>
            </a:p>
          </p:txBody>
        </p:sp>
        <p:sp>
          <p:nvSpPr>
            <p:cNvPr id="43" name="TextBox 42"/>
            <p:cNvSpPr txBox="1"/>
            <p:nvPr/>
          </p:nvSpPr>
          <p:spPr>
            <a:xfrm>
              <a:off x="6538874" y="4718304"/>
              <a:ext cx="421538" cy="292608"/>
            </a:xfrm>
            <a:prstGeom prst="rect">
              <a:avLst/>
            </a:prstGeom>
            <a:noFill/>
          </p:spPr>
          <p:txBody>
            <a:bodyPr wrap="square" lIns="0" rIns="0" tIns="0" bIns="0" anchor="ctr">
              <a:noAutofit/>
            </a:bodyPr>
            <a:lstStyle/>
            <a:p>
              <a:pPr algn="ctr"/>
              <a:r>
                <a:rPr sz="800" b="1" i="0">
                  <a:solidFill>
                    <a:srgbClr val="FFFFFF"/>
                  </a:solidFill>
                  <a:latin typeface="Inter" panose="020B0502030000000004" pitchFamily="34" charset="0"/>
                </a:rPr>
                <a:t>15</a:t>
              </a:r>
            </a:p>
          </p:txBody>
        </p:sp>
      </p:grpSp>
      <p:grpSp>
        <p:nvGrpSpPr>
          <p:cNvPr id="44" name="Group 43"/>
          <p:cNvGrpSpPr/>
          <p:nvPr/>
        </p:nvGrpSpPr>
        <p:grpSpPr>
          <a:xfrm>
            <a:off x="6983273" y="4718304"/>
            <a:ext cx="421538" cy="292608"/>
            <a:chOff x="6983273" y="4718304"/>
            <a:chExt cx="421538" cy="292608"/>
          </a:xfrm>
        </p:grpSpPr>
        <p:sp>
          <p:nvSpPr>
            <p:cNvPr id="45" name="Rounded Rectangle 44"/>
            <p:cNvSpPr/>
            <p:nvPr/>
          </p:nvSpPr>
          <p:spPr>
            <a:xfrm>
              <a:off x="6983273" y="4718304"/>
              <a:ext cx="421538" cy="292608"/>
            </a:xfrm>
            <a:prstGeom prst="roundRect">
              <a:avLst>
                <a:gd name="adj" fmla="val 9375"/>
              </a:avLst>
            </a:prstGeom>
            <a:solidFill>
              <a:srgbClr val="A3A3AC"/>
            </a:solidFill>
            <a:ln>
              <a:noFill/>
            </a:ln>
          </p:spPr>
          <p:txBody>
            <a:bodyPr rtlCol="0" anchor="ctr"/>
            <a:lstStyle/>
            <a:p>
              <a:pPr algn="ctr"/>
            </a:p>
          </p:txBody>
        </p:sp>
        <p:sp>
          <p:nvSpPr>
            <p:cNvPr id="46" name="TextBox 45"/>
            <p:cNvSpPr txBox="1"/>
            <p:nvPr/>
          </p:nvSpPr>
          <p:spPr>
            <a:xfrm>
              <a:off x="6983273" y="4718304"/>
              <a:ext cx="421538" cy="292608"/>
            </a:xfrm>
            <a:prstGeom prst="rect">
              <a:avLst/>
            </a:prstGeom>
            <a:noFill/>
          </p:spPr>
          <p:txBody>
            <a:bodyPr wrap="square" lIns="0" rIns="0" tIns="0" bIns="0" anchor="ctr">
              <a:noAutofit/>
            </a:bodyPr>
            <a:lstStyle/>
            <a:p>
              <a:pPr algn="ctr"/>
              <a:r>
                <a:rPr sz="800" b="1" i="0">
                  <a:solidFill>
                    <a:srgbClr val="0E0E10"/>
                  </a:solidFill>
                  <a:latin typeface="Inter" panose="020B0502030000000004" pitchFamily="34" charset="0"/>
                </a:rPr>
                <a:t>15</a:t>
              </a:r>
            </a:p>
          </p:txBody>
        </p:sp>
      </p:grpSp>
      <p:grpSp>
        <p:nvGrpSpPr>
          <p:cNvPr id="47" name="Group 46"/>
          <p:cNvGrpSpPr/>
          <p:nvPr/>
        </p:nvGrpSpPr>
        <p:grpSpPr>
          <a:xfrm>
            <a:off x="7427671" y="4718304"/>
            <a:ext cx="125273" cy="292608"/>
            <a:chOff x="7427671" y="4718304"/>
            <a:chExt cx="125273" cy="292608"/>
          </a:xfrm>
        </p:grpSpPr>
        <p:sp>
          <p:nvSpPr>
            <p:cNvPr id="48" name="Rounded Rectangle 47"/>
            <p:cNvSpPr/>
            <p:nvPr/>
          </p:nvSpPr>
          <p:spPr>
            <a:xfrm>
              <a:off x="7427671" y="4718304"/>
              <a:ext cx="125273" cy="292608"/>
            </a:xfrm>
            <a:prstGeom prst="roundRect">
              <a:avLst>
                <a:gd name="adj" fmla="val 21897"/>
              </a:avLst>
            </a:prstGeom>
            <a:solidFill>
              <a:srgbClr val="D6D6DB"/>
            </a:solidFill>
            <a:ln>
              <a:noFill/>
            </a:ln>
          </p:spPr>
          <p:txBody>
            <a:bodyPr rtlCol="0" anchor="ctr"/>
            <a:lstStyle/>
            <a:p>
              <a:pPr algn="ctr"/>
            </a:p>
          </p:txBody>
        </p:sp>
        <p:sp>
          <p:nvSpPr>
            <p:cNvPr id="49" name="TextBox 48"/>
            <p:cNvSpPr txBox="1"/>
            <p:nvPr/>
          </p:nvSpPr>
          <p:spPr>
            <a:xfrm>
              <a:off x="7427671" y="4718304"/>
              <a:ext cx="125273" cy="292608"/>
            </a:xfrm>
            <a:prstGeom prst="rect">
              <a:avLst/>
            </a:prstGeom>
            <a:noFill/>
          </p:spPr>
          <p:txBody>
            <a:bodyPr wrap="square" lIns="0" rIns="0" tIns="0" bIns="0" anchor="ctr">
              <a:noAutofit/>
            </a:bodyPr>
            <a:lstStyle/>
            <a:p>
              <a:pPr algn="ctr"/>
              <a:r>
                <a:rPr sz="800" b="1" i="0">
                  <a:solidFill>
                    <a:srgbClr val="0E0E10"/>
                  </a:solidFill>
                  <a:latin typeface="Inter" panose="020B0502030000000004" pitchFamily="34" charset="0"/>
                </a:rPr>
                <a:t>5</a:t>
              </a:r>
            </a:p>
          </p:txBody>
        </p:sp>
      </p:grpSp>
      <p:grpSp>
        <p:nvGrpSpPr>
          <p:cNvPr id="50" name="Group 49"/>
          <p:cNvGrpSpPr/>
          <p:nvPr/>
        </p:nvGrpSpPr>
        <p:grpSpPr>
          <a:xfrm>
            <a:off x="8028432" y="2542032"/>
            <a:ext cx="3474720" cy="2743200"/>
            <a:chOff x="8028432" y="2542032"/>
            <a:chExt cx="3474720" cy="2743200"/>
          </a:xfrm>
        </p:grpSpPr>
        <p:sp>
          <p:nvSpPr>
            <p:cNvPr id="51" name="Rounded Rectangle 50"/>
            <p:cNvSpPr/>
            <p:nvPr/>
          </p:nvSpPr>
          <p:spPr>
            <a:xfrm>
              <a:off x="8028432" y="2542032"/>
              <a:ext cx="3474720" cy="2743200"/>
            </a:xfrm>
            <a:prstGeom prst="roundRect">
              <a:avLst>
                <a:gd name="adj" fmla="val 400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52" name="Oval 51"/>
            <p:cNvSpPr/>
            <p:nvPr/>
          </p:nvSpPr>
          <p:spPr>
            <a:xfrm>
              <a:off x="8284464" y="2798064"/>
              <a:ext cx="329184" cy="329184"/>
            </a:xfrm>
            <a:prstGeom prst="ellipse">
              <a:avLst/>
            </a:prstGeom>
            <a:solidFill>
              <a:srgbClr val="0E0E10"/>
            </a:solidFill>
            <a:ln>
              <a:noFill/>
            </a:ln>
          </p:spPr>
          <p:txBody>
            <a:bodyPr rtlCol="0" anchor="ctr"/>
            <a:lstStyle/>
            <a:p>
              <a:pPr algn="ctr"/>
            </a:p>
          </p:txBody>
        </p:sp>
        <p:sp>
          <p:nvSpPr>
            <p:cNvPr id="53" name="TextBox 52"/>
            <p:cNvSpPr txBox="1"/>
            <p:nvPr/>
          </p:nvSpPr>
          <p:spPr>
            <a:xfrm>
              <a:off x="8284464" y="2798064"/>
              <a:ext cx="329184" cy="329184"/>
            </a:xfrm>
            <a:prstGeom prst="rect">
              <a:avLst/>
            </a:prstGeom>
            <a:noFill/>
          </p:spPr>
          <p:txBody>
            <a:bodyPr wrap="square" lIns="0" rIns="0" tIns="0" bIns="0" anchor="ctr">
              <a:noAutofit/>
            </a:bodyPr>
            <a:lstStyle/>
            <a:p>
              <a:pPr algn="ctr"/>
              <a:r>
                <a:rPr sz="1100" b="1" i="0">
                  <a:solidFill>
                    <a:srgbClr val="FFFFFF"/>
                  </a:solidFill>
                  <a:latin typeface="Inter" panose="020B0502030000000004" pitchFamily="34" charset="0"/>
                </a:rPr>
                <a:t>3</a:t>
              </a:r>
            </a:p>
          </p:txBody>
        </p:sp>
        <p:sp>
          <p:nvSpPr>
            <p:cNvPr id="54" name="TextBox 53"/>
            <p:cNvSpPr txBox="1"/>
            <p:nvPr/>
          </p:nvSpPr>
          <p:spPr>
            <a:xfrm>
              <a:off x="8284464" y="3255264"/>
              <a:ext cx="3017520" cy="365760"/>
            </a:xfrm>
            <a:prstGeom prst="rect">
              <a:avLst/>
            </a:prstGeom>
            <a:noFill/>
          </p:spPr>
          <p:txBody>
            <a:bodyPr wrap="square" lIns="0" rIns="0" tIns="0" bIns="0" anchor="ctr">
              <a:noAutofit/>
            </a:bodyPr>
            <a:lstStyle/>
            <a:p>
              <a:pPr algn="l"/>
              <a:r>
                <a:rPr sz="1800" b="1" i="0" spc="-30">
                  <a:solidFill>
                    <a:srgbClr val="0E0E10"/>
                  </a:solidFill>
                  <a:latin typeface="Inter" panose="020B0502030000000004" pitchFamily="34" charset="0"/>
                </a:rPr>
                <a:t>Fees can't buy rank</a:t>
              </a:r>
            </a:p>
          </p:txBody>
        </p:sp>
        <p:sp>
          <p:nvSpPr>
            <p:cNvPr id="55" name="TextBox 54"/>
            <p:cNvSpPr txBox="1"/>
            <p:nvPr/>
          </p:nvSpPr>
          <p:spPr>
            <a:xfrm>
              <a:off x="8284464" y="3675888"/>
              <a:ext cx="2980944" cy="1005840"/>
            </a:xfrm>
            <a:prstGeom prst="rect">
              <a:avLst/>
            </a:prstGeom>
            <a:noFill/>
          </p:spPr>
          <p:txBody>
            <a:bodyPr wrap="square" lIns="0" rIns="0" tIns="0" bIns="0" anchor="t">
              <a:noAutofit/>
            </a:bodyPr>
            <a:lstStyle/>
            <a:p>
              <a:pPr algn="l">
                <a:lnSpc>
                  <a:spcPct val="110000"/>
                </a:lnSpc>
              </a:pPr>
              <a:r>
                <a:rPr sz="1150" b="0" i="0">
                  <a:solidFill>
                    <a:srgbClr val="5D5D66"/>
                  </a:solidFill>
                  <a:latin typeface="Inter" panose="020B0502030000000004" pitchFamily="34" charset="0"/>
                </a:rPr>
                <a:t>A merchant pays its fee only when an agent buys, and the fee only breaks near-ties (under 0.5 merit points).</a:t>
              </a:r>
            </a:p>
          </p:txBody>
        </p:sp>
      </p:grpSp>
      <p:grpSp>
        <p:nvGrpSpPr>
          <p:cNvPr id="56" name="Group 55"/>
          <p:cNvGrpSpPr/>
          <p:nvPr/>
        </p:nvGrpSpPr>
        <p:grpSpPr>
          <a:xfrm>
            <a:off x="8284464" y="4718304"/>
            <a:ext cx="1134364" cy="292608"/>
            <a:chOff x="8284464" y="4718304"/>
            <a:chExt cx="1134364" cy="292608"/>
          </a:xfrm>
        </p:grpSpPr>
        <p:sp>
          <p:nvSpPr>
            <p:cNvPr id="57" name="Rounded Rectangle 56"/>
            <p:cNvSpPr/>
            <p:nvPr/>
          </p:nvSpPr>
          <p:spPr>
            <a:xfrm>
              <a:off x="8284464" y="4718304"/>
              <a:ext cx="1134364" cy="292608"/>
            </a:xfrm>
            <a:prstGeom prst="roundRect">
              <a:avLst>
                <a:gd name="adj" fmla="val 50000"/>
              </a:avLst>
            </a:prstGeom>
            <a:solidFill>
              <a:srgbClr val="FFF4E2"/>
            </a:solidFill>
            <a:ln>
              <a:noFill/>
            </a:ln>
          </p:spPr>
          <p:txBody>
            <a:bodyPr rtlCol="0" anchor="ctr"/>
            <a:lstStyle/>
            <a:p>
              <a:pPr algn="ctr"/>
            </a:p>
          </p:txBody>
        </p:sp>
        <p:sp>
          <p:nvSpPr>
            <p:cNvPr id="58" name="TextBox 57"/>
            <p:cNvSpPr txBox="1"/>
            <p:nvPr/>
          </p:nvSpPr>
          <p:spPr>
            <a:xfrm>
              <a:off x="8284464" y="4718304"/>
              <a:ext cx="1134364" cy="292608"/>
            </a:xfrm>
            <a:prstGeom prst="rect">
              <a:avLst/>
            </a:prstGeom>
            <a:noFill/>
          </p:spPr>
          <p:txBody>
            <a:bodyPr wrap="square" lIns="0" rIns="0" tIns="0" bIns="0" anchor="ctr">
              <a:noAutofit/>
            </a:bodyPr>
            <a:lstStyle/>
            <a:p>
              <a:pPr algn="ctr"/>
              <a:r>
                <a:rPr sz="950" b="1" i="0">
                  <a:solidFill>
                    <a:srgbClr val="A15C07"/>
                  </a:solidFill>
                  <a:latin typeface="Inter" panose="020B0502030000000004" pitchFamily="34" charset="0"/>
                </a:rPr>
                <a:t>Bribe ignored</a:t>
              </a:r>
            </a:p>
          </p:txBody>
        </p:sp>
      </p:grpSp>
      <p:sp>
        <p:nvSpPr>
          <p:cNvPr id="59" name="TextBox 58"/>
          <p:cNvSpPr txBox="1"/>
          <p:nvPr/>
        </p:nvSpPr>
        <p:spPr>
          <a:xfrm>
            <a:off x="9528556" y="4718304"/>
            <a:ext cx="1828800" cy="292608"/>
          </a:xfrm>
          <a:prstGeom prst="rect">
            <a:avLst/>
          </a:prstGeom>
          <a:noFill/>
        </p:spPr>
        <p:txBody>
          <a:bodyPr wrap="square" lIns="0" rIns="0" tIns="0" bIns="0" anchor="ctr">
            <a:noAutofit/>
          </a:bodyPr>
          <a:lstStyle/>
          <a:p>
            <a:pPr algn="l"/>
            <a:r>
              <a:rPr sz="1000" b="0" i="0">
                <a:solidFill>
                  <a:srgbClr val="5D5D66"/>
                </a:solidFill>
                <a:latin typeface="Inter" panose="020B0502030000000004" pitchFamily="34" charset="0"/>
              </a:rPr>
              <a:t>$35/sale, still #5</a:t>
            </a:r>
          </a:p>
        </p:txBody>
      </p:sp>
      <p:grpSp>
        <p:nvGrpSpPr>
          <p:cNvPr id="60" name="Group 59"/>
          <p:cNvGrpSpPr/>
          <p:nvPr/>
        </p:nvGrpSpPr>
        <p:grpSpPr>
          <a:xfrm>
            <a:off x="685800" y="5541264"/>
            <a:ext cx="10817352" cy="566928"/>
            <a:chOff x="685800" y="5541264"/>
            <a:chExt cx="10817352" cy="566928"/>
          </a:xfrm>
        </p:grpSpPr>
        <p:sp>
          <p:nvSpPr>
            <p:cNvPr id="61" name="Rounded Rectangle 60"/>
            <p:cNvSpPr/>
            <p:nvPr/>
          </p:nvSpPr>
          <p:spPr>
            <a:xfrm>
              <a:off x="685800" y="5541264"/>
              <a:ext cx="10817352" cy="566928"/>
            </a:xfrm>
            <a:prstGeom prst="roundRect">
              <a:avLst>
                <a:gd name="adj" fmla="val 19354"/>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62" name="TextBox 61"/>
            <p:cNvSpPr txBox="1"/>
            <p:nvPr/>
          </p:nvSpPr>
          <p:spPr>
            <a:xfrm>
              <a:off x="914400" y="5541264"/>
              <a:ext cx="10424160" cy="566928"/>
            </a:xfrm>
            <a:prstGeom prst="rect">
              <a:avLst/>
            </a:prstGeom>
            <a:noFill/>
          </p:spPr>
          <p:txBody>
            <a:bodyPr wrap="square" lIns="0" rIns="0" tIns="0" bIns="0" anchor="ctr">
              <a:noAutofit/>
            </a:bodyPr>
            <a:lstStyle/>
            <a:p>
              <a:pPr algn="l"/>
              <a:r>
                <a:rPr sz="1300" b="0" i="0">
                  <a:solidFill>
                    <a:srgbClr val="5D5D66"/>
                  </a:solidFill>
                  <a:latin typeface="Inter" panose="020B0502030000000004" pitchFamily="34" charset="0"/>
                </a:rPr>
                <a:t>YC prompt: rebuild a tool that was built for humans.</a:t>
              </a:r>
              <a:r>
                <a:rPr sz="1300" b="0" i="0">
                  <a:solidFill>
                    <a:srgbClr val="0E0E10"/>
                  </a:solidFill>
                  <a:latin typeface="Inter" panose="020B0502030000000004" pitchFamily="34" charset="0"/>
                </a:rPr>
                <a:t>      Search: Google → Exa      ·      Ads: Google Ads → </a:t>
              </a:r>
              <a:r>
                <a:rPr sz="1300" b="1" i="0">
                  <a:solidFill>
                    <a:srgbClr val="0E0E10"/>
                  </a:solidFill>
                  <a:latin typeface="Inter" panose="020B0502030000000004" pitchFamily="34" charset="0"/>
                </a:rPr>
                <a:t>Bidwire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50"/>
                                        <p:tgtEl>
                                          <p:spTgt spid="12"/>
                                        </p:tgtEl>
                                      </p:cBhvr>
                                    </p:animEffect>
                                    <p:anim calcmode="lin" valueType="num">
                                      <p:cBhvr additive="base">
                                        <p:cTn id="11"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50" fill="hold" decel="100000"/>
                                        <p:tgtEl>
                                          <p:spTgt spid="12"/>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50"/>
                                        <p:tgtEl>
                                          <p:spTgt spid="14"/>
                                        </p:tgtEl>
                                      </p:cBhvr>
                                    </p:animEffect>
                                    <p:anim calcmode="lin" valueType="num">
                                      <p:cBhvr additive="base">
                                        <p:cTn id="19" dur="550" fill="hold" decel="100000"/>
                                        <p:tgtEl>
                                          <p:spTgt spid="14"/>
                                        </p:tgtEl>
                                        <p:attrNameLst>
                                          <p:attrName>ppt_x</p:attrName>
                                        </p:attrNameLst>
                                      </p:cBhvr>
                                      <p:tavLst>
                                        <p:tav tm="0">
                                          <p:val>
                                            <p:strVal val="#ppt_x"/>
                                          </p:val>
                                        </p:tav>
                                        <p:tav tm="100000">
                                          <p:val>
                                            <p:strVal val="#ppt_x"/>
                                          </p:val>
                                        </p:tav>
                                      </p:tavLst>
                                    </p:anim>
                                    <p:anim calcmode="lin" valueType="num">
                                      <p:cBhvr additive="base">
                                        <p:cTn id="20" dur="550" fill="hold" decel="100000"/>
                                        <p:tgtEl>
                                          <p:spTgt spid="14"/>
                                        </p:tgtEl>
                                        <p:attrNameLst>
                                          <p:attrName>ppt_y</p:attrName>
                                        </p:attrNameLst>
                                      </p:cBhvr>
                                      <p:tavLst>
                                        <p:tav tm="0">
                                          <p:val>
                                            <p:strVal val="#ppt_y+0.025"/>
                                          </p:val>
                                        </p:tav>
                                        <p:tav tm="100000">
                                          <p:val>
                                            <p:strVal val="#ppt_y"/>
                                          </p:val>
                                        </p:tav>
                                      </p:tavLst>
                                    </p:anim>
                                  </p:childTnLst>
                                </p:cTn>
                              </p:par>
                              <p:par>
                                <p:cTn id="21" presetID="53" presetClass="entr" presetSubtype="16" fill="hold" grpId="0" nodeType="withEffect">
                                  <p:stCondLst>
                                    <p:cond delay="11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180"/>
                                        <p:tgtEl>
                                          <p:spTgt spid="20"/>
                                        </p:tgtEl>
                                      </p:cBhvr>
                                    </p:animEffect>
                                    <p:anim calcmode="lin" valueType="num">
                                      <p:cBhvr additive="base">
                                        <p:cTn id="24" dur="300" fill="hold" decel="100000"/>
                                        <p:tgtEl>
                                          <p:spTgt spid="20"/>
                                        </p:tgtEl>
                                        <p:attrNameLst>
                                          <p:attrName>ppt_w</p:attrName>
                                        </p:attrNameLst>
                                      </p:cBhvr>
                                      <p:tavLst>
                                        <p:tav tm="0">
                                          <p:val>
                                            <p:strVal val="#ppt_w*0.85"/>
                                          </p:val>
                                        </p:tav>
                                        <p:tav tm="100000">
                                          <p:val>
                                            <p:strVal val="#ppt_w"/>
                                          </p:val>
                                        </p:tav>
                                      </p:tavLst>
                                    </p:anim>
                                    <p:anim calcmode="lin" valueType="num">
                                      <p:cBhvr additive="base">
                                        <p:cTn id="25" dur="300" fill="hold" decel="100000"/>
                                        <p:tgtEl>
                                          <p:spTgt spid="20"/>
                                        </p:tgtEl>
                                        <p:attrNameLst>
                                          <p:attrName>ppt_h</p:attrName>
                                        </p:attrNameLst>
                                      </p:cBhvr>
                                      <p:tavLst>
                                        <p:tav tm="0">
                                          <p:val>
                                            <p:strVal val="#ppt_h*0.85"/>
                                          </p:val>
                                        </p:tav>
                                        <p:tav tm="100000">
                                          <p:val>
                                            <p:strVal val="#ppt_h"/>
                                          </p:val>
                                        </p:tav>
                                      </p:tavLst>
                                    </p:anim>
                                  </p:childTnLst>
                                </p:cTn>
                              </p:par>
                              <p:par>
                                <p:cTn id="26" presetID="53" presetClass="entr" presetSubtype="16" fill="hold" grpId="0" nodeType="withEffect">
                                  <p:stCondLst>
                                    <p:cond delay="120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180"/>
                                        <p:tgtEl>
                                          <p:spTgt spid="23"/>
                                        </p:tgtEl>
                                      </p:cBhvr>
                                    </p:animEffect>
                                    <p:anim calcmode="lin" valueType="num">
                                      <p:cBhvr additive="base">
                                        <p:cTn id="29" dur="300" fill="hold" decel="100000"/>
                                        <p:tgtEl>
                                          <p:spTgt spid="23"/>
                                        </p:tgtEl>
                                        <p:attrNameLst>
                                          <p:attrName>ppt_w</p:attrName>
                                        </p:attrNameLst>
                                      </p:cBhvr>
                                      <p:tavLst>
                                        <p:tav tm="0">
                                          <p:val>
                                            <p:strVal val="#ppt_w*0.85"/>
                                          </p:val>
                                        </p:tav>
                                        <p:tav tm="100000">
                                          <p:val>
                                            <p:strVal val="#ppt_w"/>
                                          </p:val>
                                        </p:tav>
                                      </p:tavLst>
                                    </p:anim>
                                    <p:anim calcmode="lin" valueType="num">
                                      <p:cBhvr additive="base">
                                        <p:cTn id="30" dur="300" fill="hold" decel="100000"/>
                                        <p:tgtEl>
                                          <p:spTgt spid="23"/>
                                        </p:tgtEl>
                                        <p:attrNameLst>
                                          <p:attrName>ppt_h</p:attrName>
                                        </p:attrNameLst>
                                      </p:cBhvr>
                                      <p:tavLst>
                                        <p:tav tm="0">
                                          <p:val>
                                            <p:strVal val="#ppt_h*0.85"/>
                                          </p:val>
                                        </p:tav>
                                        <p:tav tm="100000">
                                          <p:val>
                                            <p:strVal val="#ppt_h"/>
                                          </p:val>
                                        </p:tav>
                                      </p:tavLst>
                                    </p:anim>
                                  </p:childTnLst>
                                </p:cTn>
                              </p:par>
                              <p:par>
                                <p:cTn id="31" presetID="53" presetClass="entr" presetSubtype="16" fill="hold" grpId="0" nodeType="withEffect">
                                  <p:stCondLst>
                                    <p:cond delay="130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180"/>
                                        <p:tgtEl>
                                          <p:spTgt spid="26"/>
                                        </p:tgtEl>
                                      </p:cBhvr>
                                    </p:animEffect>
                                    <p:anim calcmode="lin" valueType="num">
                                      <p:cBhvr additive="base">
                                        <p:cTn id="34" dur="300" fill="hold" decel="100000"/>
                                        <p:tgtEl>
                                          <p:spTgt spid="26"/>
                                        </p:tgtEl>
                                        <p:attrNameLst>
                                          <p:attrName>ppt_w</p:attrName>
                                        </p:attrNameLst>
                                      </p:cBhvr>
                                      <p:tavLst>
                                        <p:tav tm="0">
                                          <p:val>
                                            <p:strVal val="#ppt_w*0.85"/>
                                          </p:val>
                                        </p:tav>
                                        <p:tav tm="100000">
                                          <p:val>
                                            <p:strVal val="#ppt_w"/>
                                          </p:val>
                                        </p:tav>
                                      </p:tavLst>
                                    </p:anim>
                                    <p:anim calcmode="lin" valueType="num">
                                      <p:cBhvr additive="base">
                                        <p:cTn id="35" dur="300" fill="hold" decel="100000"/>
                                        <p:tgtEl>
                                          <p:spTgt spid="26"/>
                                        </p:tgtEl>
                                        <p:attrNameLst>
                                          <p:attrName>ppt_h</p:attrName>
                                        </p:attrNameLst>
                                      </p:cBhvr>
                                      <p:tavLst>
                                        <p:tav tm="0">
                                          <p:val>
                                            <p:strVal val="#ppt_h*0.85"/>
                                          </p:val>
                                        </p:tav>
                                        <p:tav tm="100000">
                                          <p:val>
                                            <p:strVal val="#ppt_h"/>
                                          </p:val>
                                        </p:tav>
                                      </p:tavLst>
                                    </p:anim>
                                  </p:childTnLst>
                                </p:cTn>
                              </p:par>
                              <p:par>
                                <p:cTn id="36" presetID="42" presetClass="entr" presetSubtype="0" fill="hold" grpId="0" nodeType="withEffect">
                                  <p:stCondLst>
                                    <p:cond delay="65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550"/>
                                        <p:tgtEl>
                                          <p:spTgt spid="29"/>
                                        </p:tgtEl>
                                      </p:cBhvr>
                                    </p:animEffect>
                                    <p:anim calcmode="lin" valueType="num">
                                      <p:cBhvr additive="base">
                                        <p:cTn id="39" dur="550" fill="hold" decel="100000"/>
                                        <p:tgtEl>
                                          <p:spTgt spid="29"/>
                                        </p:tgtEl>
                                        <p:attrNameLst>
                                          <p:attrName>ppt_x</p:attrName>
                                        </p:attrNameLst>
                                      </p:cBhvr>
                                      <p:tavLst>
                                        <p:tav tm="0">
                                          <p:val>
                                            <p:strVal val="#ppt_x"/>
                                          </p:val>
                                        </p:tav>
                                        <p:tav tm="100000">
                                          <p:val>
                                            <p:strVal val="#ppt_x"/>
                                          </p:val>
                                        </p:tav>
                                      </p:tavLst>
                                    </p:anim>
                                    <p:anim calcmode="lin" valueType="num">
                                      <p:cBhvr additive="base">
                                        <p:cTn id="40" dur="550" fill="hold" decel="100000"/>
                                        <p:tgtEl>
                                          <p:spTgt spid="29"/>
                                        </p:tgtEl>
                                        <p:attrNameLst>
                                          <p:attrName>ppt_y</p:attrName>
                                        </p:attrNameLst>
                                      </p:cBhvr>
                                      <p:tavLst>
                                        <p:tav tm="0">
                                          <p:val>
                                            <p:strVal val="#ppt_y+0.025"/>
                                          </p:val>
                                        </p:tav>
                                        <p:tav tm="100000">
                                          <p:val>
                                            <p:strVal val="#ppt_y"/>
                                          </p:val>
                                        </p:tav>
                                      </p:tavLst>
                                    </p:anim>
                                  </p:childTnLst>
                                </p:cTn>
                              </p:par>
                              <p:par>
                                <p:cTn id="41" presetID="22" presetClass="entr" presetSubtype="8" fill="hold" grpId="0" nodeType="withEffect">
                                  <p:stCondLst>
                                    <p:cond delay="1150"/>
                                  </p:stCondLst>
                                  <p:childTnLst>
                                    <p:set>
                                      <p:cBhvr>
                                        <p:cTn id="42" dur="1" fill="hold">
                                          <p:stCondLst>
                                            <p:cond delay="0"/>
                                          </p:stCondLst>
                                        </p:cTn>
                                        <p:tgtEl>
                                          <p:spTgt spid="35"/>
                                        </p:tgtEl>
                                        <p:attrNameLst>
                                          <p:attrName>style.visibility</p:attrName>
                                        </p:attrNameLst>
                                      </p:cBhvr>
                                      <p:to>
                                        <p:strVal val="visible"/>
                                      </p:to>
                                    </p:set>
                                    <p:animEffect transition="in" filter="wipe(left)">
                                      <p:cBhvr>
                                        <p:cTn id="43" dur="400"/>
                                        <p:tgtEl>
                                          <p:spTgt spid="35"/>
                                        </p:tgtEl>
                                      </p:cBhvr>
                                    </p:animEffect>
                                  </p:childTnLst>
                                </p:cTn>
                              </p:par>
                              <p:par>
                                <p:cTn id="44" presetID="22" presetClass="entr" presetSubtype="8" fill="hold" grpId="0" nodeType="withEffect">
                                  <p:stCondLst>
                                    <p:cond delay="1270"/>
                                  </p:stCondLst>
                                  <p:childTnLst>
                                    <p:set>
                                      <p:cBhvr>
                                        <p:cTn id="45" dur="1" fill="hold">
                                          <p:stCondLst>
                                            <p:cond delay="0"/>
                                          </p:stCondLst>
                                        </p:cTn>
                                        <p:tgtEl>
                                          <p:spTgt spid="38"/>
                                        </p:tgtEl>
                                        <p:attrNameLst>
                                          <p:attrName>style.visibility</p:attrName>
                                        </p:attrNameLst>
                                      </p:cBhvr>
                                      <p:to>
                                        <p:strVal val="visible"/>
                                      </p:to>
                                    </p:set>
                                    <p:animEffect transition="in" filter="wipe(left)">
                                      <p:cBhvr>
                                        <p:cTn id="46" dur="400"/>
                                        <p:tgtEl>
                                          <p:spTgt spid="38"/>
                                        </p:tgtEl>
                                      </p:cBhvr>
                                    </p:animEffect>
                                  </p:childTnLst>
                                </p:cTn>
                              </p:par>
                              <p:par>
                                <p:cTn id="47" presetID="22" presetClass="entr" presetSubtype="8" fill="hold" grpId="0" nodeType="withEffect">
                                  <p:stCondLst>
                                    <p:cond delay="1390"/>
                                  </p:stCondLst>
                                  <p:childTnLst>
                                    <p:set>
                                      <p:cBhvr>
                                        <p:cTn id="48" dur="1" fill="hold">
                                          <p:stCondLst>
                                            <p:cond delay="0"/>
                                          </p:stCondLst>
                                        </p:cTn>
                                        <p:tgtEl>
                                          <p:spTgt spid="41"/>
                                        </p:tgtEl>
                                        <p:attrNameLst>
                                          <p:attrName>style.visibility</p:attrName>
                                        </p:attrNameLst>
                                      </p:cBhvr>
                                      <p:to>
                                        <p:strVal val="visible"/>
                                      </p:to>
                                    </p:set>
                                    <p:animEffect transition="in" filter="wipe(left)">
                                      <p:cBhvr>
                                        <p:cTn id="49" dur="400"/>
                                        <p:tgtEl>
                                          <p:spTgt spid="41"/>
                                        </p:tgtEl>
                                      </p:cBhvr>
                                    </p:animEffect>
                                  </p:childTnLst>
                                </p:cTn>
                              </p:par>
                              <p:par>
                                <p:cTn id="50" presetID="22" presetClass="entr" presetSubtype="8" fill="hold" grpId="0" nodeType="withEffect">
                                  <p:stCondLst>
                                    <p:cond delay="1510"/>
                                  </p:stCondLst>
                                  <p:childTnLst>
                                    <p:set>
                                      <p:cBhvr>
                                        <p:cTn id="51" dur="1" fill="hold">
                                          <p:stCondLst>
                                            <p:cond delay="0"/>
                                          </p:stCondLst>
                                        </p:cTn>
                                        <p:tgtEl>
                                          <p:spTgt spid="44"/>
                                        </p:tgtEl>
                                        <p:attrNameLst>
                                          <p:attrName>style.visibility</p:attrName>
                                        </p:attrNameLst>
                                      </p:cBhvr>
                                      <p:to>
                                        <p:strVal val="visible"/>
                                      </p:to>
                                    </p:set>
                                    <p:animEffect transition="in" filter="wipe(left)">
                                      <p:cBhvr>
                                        <p:cTn id="52" dur="400"/>
                                        <p:tgtEl>
                                          <p:spTgt spid="44"/>
                                        </p:tgtEl>
                                      </p:cBhvr>
                                    </p:animEffect>
                                  </p:childTnLst>
                                </p:cTn>
                              </p:par>
                              <p:par>
                                <p:cTn id="53" presetID="22" presetClass="entr" presetSubtype="8" fill="hold" grpId="0" nodeType="withEffect">
                                  <p:stCondLst>
                                    <p:cond delay="1630"/>
                                  </p:stCondLst>
                                  <p:childTnLst>
                                    <p:set>
                                      <p:cBhvr>
                                        <p:cTn id="54" dur="1" fill="hold">
                                          <p:stCondLst>
                                            <p:cond delay="0"/>
                                          </p:stCondLst>
                                        </p:cTn>
                                        <p:tgtEl>
                                          <p:spTgt spid="47"/>
                                        </p:tgtEl>
                                        <p:attrNameLst>
                                          <p:attrName>style.visibility</p:attrName>
                                        </p:attrNameLst>
                                      </p:cBhvr>
                                      <p:to>
                                        <p:strVal val="visible"/>
                                      </p:to>
                                    </p:set>
                                    <p:animEffect transition="in" filter="wipe(left)">
                                      <p:cBhvr>
                                        <p:cTn id="55" dur="400"/>
                                        <p:tgtEl>
                                          <p:spTgt spid="47"/>
                                        </p:tgtEl>
                                      </p:cBhvr>
                                    </p:animEffect>
                                  </p:childTnLst>
                                </p:cTn>
                              </p:par>
                              <p:par>
                                <p:cTn id="56" presetID="42" presetClass="entr" presetSubtype="0" fill="hold" grpId="0" nodeType="withEffect">
                                  <p:stCondLst>
                                    <p:cond delay="800"/>
                                  </p:stCondLst>
                                  <p:childTnLst>
                                    <p:set>
                                      <p:cBhvr>
                                        <p:cTn id="57" dur="1" fill="hold">
                                          <p:stCondLst>
                                            <p:cond delay="0"/>
                                          </p:stCondLst>
                                        </p:cTn>
                                        <p:tgtEl>
                                          <p:spTgt spid="50"/>
                                        </p:tgtEl>
                                        <p:attrNameLst>
                                          <p:attrName>style.visibility</p:attrName>
                                        </p:attrNameLst>
                                      </p:cBhvr>
                                      <p:to>
                                        <p:strVal val="visible"/>
                                      </p:to>
                                    </p:set>
                                    <p:animEffect transition="in" filter="fade">
                                      <p:cBhvr>
                                        <p:cTn id="58" dur="550"/>
                                        <p:tgtEl>
                                          <p:spTgt spid="50"/>
                                        </p:tgtEl>
                                      </p:cBhvr>
                                    </p:animEffect>
                                    <p:anim calcmode="lin" valueType="num">
                                      <p:cBhvr additive="base">
                                        <p:cTn id="59" dur="550" fill="hold" decel="100000"/>
                                        <p:tgtEl>
                                          <p:spTgt spid="50"/>
                                        </p:tgtEl>
                                        <p:attrNameLst>
                                          <p:attrName>ppt_x</p:attrName>
                                        </p:attrNameLst>
                                      </p:cBhvr>
                                      <p:tavLst>
                                        <p:tav tm="0">
                                          <p:val>
                                            <p:strVal val="#ppt_x"/>
                                          </p:val>
                                        </p:tav>
                                        <p:tav tm="100000">
                                          <p:val>
                                            <p:strVal val="#ppt_x"/>
                                          </p:val>
                                        </p:tav>
                                      </p:tavLst>
                                    </p:anim>
                                    <p:anim calcmode="lin" valueType="num">
                                      <p:cBhvr additive="base">
                                        <p:cTn id="60" dur="550" fill="hold" decel="100000"/>
                                        <p:tgtEl>
                                          <p:spTgt spid="50"/>
                                        </p:tgtEl>
                                        <p:attrNameLst>
                                          <p:attrName>ppt_y</p:attrName>
                                        </p:attrNameLst>
                                      </p:cBhvr>
                                      <p:tavLst>
                                        <p:tav tm="0">
                                          <p:val>
                                            <p:strVal val="#ppt_y+0.025"/>
                                          </p:val>
                                        </p:tav>
                                        <p:tav tm="100000">
                                          <p:val>
                                            <p:strVal val="#ppt_y"/>
                                          </p:val>
                                        </p:tav>
                                      </p:tavLst>
                                    </p:anim>
                                  </p:childTnLst>
                                </p:cTn>
                              </p:par>
                              <p:par>
                                <p:cTn id="61" presetID="53" presetClass="entr" presetSubtype="16" fill="hold" grpId="0" nodeType="withEffect">
                                  <p:stCondLst>
                                    <p:cond delay="1550"/>
                                  </p:stCondLst>
                                  <p:childTnLst>
                                    <p:set>
                                      <p:cBhvr>
                                        <p:cTn id="62" dur="1" fill="hold">
                                          <p:stCondLst>
                                            <p:cond delay="0"/>
                                          </p:stCondLst>
                                        </p:cTn>
                                        <p:tgtEl>
                                          <p:spTgt spid="56"/>
                                        </p:tgtEl>
                                        <p:attrNameLst>
                                          <p:attrName>style.visibility</p:attrName>
                                        </p:attrNameLst>
                                      </p:cBhvr>
                                      <p:to>
                                        <p:strVal val="visible"/>
                                      </p:to>
                                    </p:set>
                                    <p:animEffect transition="in" filter="fade">
                                      <p:cBhvr>
                                        <p:cTn id="63" dur="180"/>
                                        <p:tgtEl>
                                          <p:spTgt spid="56"/>
                                        </p:tgtEl>
                                      </p:cBhvr>
                                    </p:animEffect>
                                    <p:anim calcmode="lin" valueType="num">
                                      <p:cBhvr additive="base">
                                        <p:cTn id="64" dur="300" fill="hold" decel="100000"/>
                                        <p:tgtEl>
                                          <p:spTgt spid="56"/>
                                        </p:tgtEl>
                                        <p:attrNameLst>
                                          <p:attrName>ppt_w</p:attrName>
                                        </p:attrNameLst>
                                      </p:cBhvr>
                                      <p:tavLst>
                                        <p:tav tm="0">
                                          <p:val>
                                            <p:strVal val="#ppt_w*1.35"/>
                                          </p:val>
                                        </p:tav>
                                        <p:tav tm="100000">
                                          <p:val>
                                            <p:strVal val="#ppt_w"/>
                                          </p:val>
                                        </p:tav>
                                      </p:tavLst>
                                    </p:anim>
                                    <p:anim calcmode="lin" valueType="num">
                                      <p:cBhvr additive="base">
                                        <p:cTn id="65" dur="300" fill="hold" decel="100000"/>
                                        <p:tgtEl>
                                          <p:spTgt spid="56"/>
                                        </p:tgtEl>
                                        <p:attrNameLst>
                                          <p:attrName>ppt_h</p:attrName>
                                        </p:attrNameLst>
                                      </p:cBhvr>
                                      <p:tavLst>
                                        <p:tav tm="0">
                                          <p:val>
                                            <p:strVal val="#ppt_h*1.35"/>
                                          </p:val>
                                        </p:tav>
                                        <p:tav tm="100000">
                                          <p:val>
                                            <p:strVal val="#ppt_h"/>
                                          </p:val>
                                        </p:tav>
                                      </p:tavLst>
                                    </p:anim>
                                  </p:childTnLst>
                                </p:cTn>
                              </p:par>
                              <p:par>
                                <p:cTn id="66" presetID="10" presetClass="entr" presetSubtype="0" fill="hold" grpId="0" nodeType="withEffect">
                                  <p:stCondLst>
                                    <p:cond delay="1650"/>
                                  </p:stCondLst>
                                  <p:childTnLst>
                                    <p:set>
                                      <p:cBhvr>
                                        <p:cTn id="67" dur="1" fill="hold">
                                          <p:stCondLst>
                                            <p:cond delay="0"/>
                                          </p:stCondLst>
                                        </p:cTn>
                                        <p:tgtEl>
                                          <p:spTgt spid="59"/>
                                        </p:tgtEl>
                                        <p:attrNameLst>
                                          <p:attrName>style.visibility</p:attrName>
                                        </p:attrNameLst>
                                      </p:cBhvr>
                                      <p:to>
                                        <p:strVal val="visible"/>
                                      </p:to>
                                    </p:set>
                                    <p:animEffect transition="in" filter="fade">
                                      <p:cBhvr>
                                        <p:cTn id="68" dur="300"/>
                                        <p:tgtEl>
                                          <p:spTgt spid="59"/>
                                        </p:tgtEl>
                                      </p:cBhvr>
                                    </p:animEffect>
                                  </p:childTnLst>
                                </p:cTn>
                              </p:par>
                              <p:par>
                                <p:cTn id="69" presetID="10" presetClass="entr" presetSubtype="0" fill="hold" grpId="0" nodeType="withEffect">
                                  <p:stCondLst>
                                    <p:cond delay="1850"/>
                                  </p:stCondLst>
                                  <p:childTnLst>
                                    <p:set>
                                      <p:cBhvr>
                                        <p:cTn id="70" dur="1" fill="hold">
                                          <p:stCondLst>
                                            <p:cond delay="0"/>
                                          </p:stCondLst>
                                        </p:cTn>
                                        <p:tgtEl>
                                          <p:spTgt spid="60"/>
                                        </p:tgtEl>
                                        <p:attrNameLst>
                                          <p:attrName>style.visibility</p:attrName>
                                        </p:attrNameLst>
                                      </p:cBhvr>
                                      <p:to>
                                        <p:strVal val="visible"/>
                                      </p:to>
                                    </p:set>
                                    <p:animEffect transition="in" filter="fade">
                                      <p:cBhvr>
                                        <p:cTn id="7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59"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HOW IT WORKS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4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4876678"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594360"/>
          </a:xfrm>
          <a:prstGeom prst="rect">
            <a:avLst/>
          </a:prstGeom>
          <a:noFill/>
        </p:spPr>
        <p:txBody>
          <a:bodyPr wrap="square" lIns="0" rIns="0" tIns="0" bIns="0" anchor="t">
            <a:noAutofit/>
          </a:bodyPr>
          <a:lstStyle/>
          <a:p>
            <a:pPr algn="l">
              <a:lnSpc>
                <a:spcPct val="98000"/>
              </a:lnSpc>
            </a:pPr>
            <a:r>
              <a:rPr sz="3400" b="1" i="0" spc="-80">
                <a:solidFill>
                  <a:srgbClr val="0E0E10"/>
                </a:solidFill>
                <a:latin typeface="Inter" panose="020B0502030000000004" pitchFamily="34" charset="0"/>
              </a:rPr>
              <a:t>One tool call in. </a:t>
            </a:r>
            <a:r>
              <a:rPr sz="3400" b="1" i="0" spc="-80">
                <a:solidFill>
                  <a:srgbClr val="5D5D66"/>
                </a:solidFill>
                <a:latin typeface="Inter" panose="020B0502030000000004" pitchFamily="34" charset="0"/>
              </a:rPr>
              <a:t>A verified, merit-ranked purchase out.</a:t>
            </a:r>
          </a:p>
        </p:txBody>
      </p:sp>
      <p:grpSp>
        <p:nvGrpSpPr>
          <p:cNvPr id="13" name="Group 12"/>
          <p:cNvGrpSpPr/>
          <p:nvPr/>
        </p:nvGrpSpPr>
        <p:grpSpPr>
          <a:xfrm>
            <a:off x="685800" y="1783080"/>
            <a:ext cx="1385316" cy="2148840"/>
            <a:chOff x="685800" y="1783080"/>
            <a:chExt cx="1385316" cy="2148840"/>
          </a:xfrm>
        </p:grpSpPr>
        <p:sp>
          <p:nvSpPr>
            <p:cNvPr id="14" name="Rounded Rectangle 13"/>
            <p:cNvSpPr/>
            <p:nvPr/>
          </p:nvSpPr>
          <p:spPr>
            <a:xfrm>
              <a:off x="685800"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5" name="Oval 14"/>
            <p:cNvSpPr/>
            <p:nvPr/>
          </p:nvSpPr>
          <p:spPr>
            <a:xfrm>
              <a:off x="832104" y="1947672"/>
              <a:ext cx="292608" cy="292608"/>
            </a:xfrm>
            <a:prstGeom prst="ellipse">
              <a:avLst/>
            </a:prstGeom>
            <a:solidFill>
              <a:srgbClr val="EDF2FF"/>
            </a:solidFill>
            <a:ln>
              <a:noFill/>
            </a:ln>
          </p:spPr>
          <p:txBody>
            <a:bodyPr rtlCol="0" anchor="ctr"/>
            <a:lstStyle/>
            <a:p>
              <a:pPr algn="ctr"/>
            </a:p>
          </p:txBody>
        </p:sp>
        <p:sp>
          <p:nvSpPr>
            <p:cNvPr id="16" name="TextBox 15"/>
            <p:cNvSpPr txBox="1"/>
            <p:nvPr/>
          </p:nvSpPr>
          <p:spPr>
            <a:xfrm>
              <a:off x="832104" y="1947672"/>
              <a:ext cx="292608" cy="292608"/>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1</a:t>
              </a:r>
            </a:p>
          </p:txBody>
        </p:sp>
        <p:sp>
          <p:nvSpPr>
            <p:cNvPr id="17" name="TextBox 16"/>
            <p:cNvSpPr txBox="1"/>
            <p:nvPr/>
          </p:nvSpPr>
          <p:spPr>
            <a:xfrm>
              <a:off x="832104" y="2350008"/>
              <a:ext cx="1147572" cy="457200"/>
            </a:xfrm>
            <a:prstGeom prst="rect">
              <a:avLst/>
            </a:prstGeom>
            <a:noFill/>
          </p:spPr>
          <p:txBody>
            <a:bodyPr wrap="square" lIns="0" rIns="0" tIns="0" bIns="0" anchor="t">
              <a:noAutofit/>
            </a:bodyPr>
            <a:lstStyle/>
            <a:p>
              <a:pPr algn="l">
                <a:lnSpc>
                  <a:spcPct val="95000"/>
                </a:lnSpc>
              </a:pPr>
              <a:r>
                <a:rPr sz="1200" b="1" i="0">
                  <a:solidFill>
                    <a:srgbClr val="2F5BEA"/>
                  </a:solidFill>
                  <a:latin typeface="JetBrains Mono" panose="02000009000000000000" pitchFamily="49" charset="0"/>
                </a:rPr>
                <a:t>find_offers</a:t>
              </a:r>
            </a:p>
          </p:txBody>
        </p:sp>
        <p:sp>
          <p:nvSpPr>
            <p:cNvPr id="18" name="TextBox 17"/>
            <p:cNvSpPr txBox="1"/>
            <p:nvPr/>
          </p:nvSpPr>
          <p:spPr>
            <a:xfrm>
              <a:off x="832104"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The agent sends its need, budget, deadline and must-haves.</a:t>
              </a:r>
            </a:p>
          </p:txBody>
        </p:sp>
      </p:grpSp>
      <p:cxnSp>
        <p:nvCxnSpPr>
          <p:cNvPr id="19" name="Connector 18"/>
          <p:cNvCxnSpPr/>
          <p:nvPr/>
        </p:nvCxnSpPr>
        <p:spPr>
          <a:xfrm>
            <a:off x="2098548" y="2857500"/>
            <a:ext cx="137160" cy="0"/>
          </a:xfrm>
          <a:prstGeom prst="line">
            <a:avLst/>
          </a:prstGeom>
          <a:ln w="19050">
            <a:solidFill>
              <a:srgbClr val="D9D8D1"/>
            </a:solidFill>
            <a:tailEnd type="triangle" w="med" len="med"/>
          </a:ln>
        </p:spPr>
      </p:cxnSp>
      <p:grpSp>
        <p:nvGrpSpPr>
          <p:cNvPr id="20" name="Group 19"/>
          <p:cNvGrpSpPr/>
          <p:nvPr/>
        </p:nvGrpSpPr>
        <p:grpSpPr>
          <a:xfrm>
            <a:off x="2258568" y="1783080"/>
            <a:ext cx="1385316" cy="2148840"/>
            <a:chOff x="2258568" y="1783080"/>
            <a:chExt cx="1385316" cy="2148840"/>
          </a:xfrm>
        </p:grpSpPr>
        <p:sp>
          <p:nvSpPr>
            <p:cNvPr id="21" name="Rounded Rectangle 20"/>
            <p:cNvSpPr/>
            <p:nvPr/>
          </p:nvSpPr>
          <p:spPr>
            <a:xfrm>
              <a:off x="2258568"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22" name="Oval 21"/>
            <p:cNvSpPr/>
            <p:nvPr/>
          </p:nvSpPr>
          <p:spPr>
            <a:xfrm>
              <a:off x="2404872" y="1947672"/>
              <a:ext cx="292608" cy="292608"/>
            </a:xfrm>
            <a:prstGeom prst="ellipse">
              <a:avLst/>
            </a:prstGeom>
            <a:solidFill>
              <a:srgbClr val="EDF2FF"/>
            </a:solidFill>
            <a:ln>
              <a:noFill/>
            </a:ln>
          </p:spPr>
          <p:txBody>
            <a:bodyPr rtlCol="0" anchor="ctr"/>
            <a:lstStyle/>
            <a:p>
              <a:pPr algn="ctr"/>
            </a:p>
          </p:txBody>
        </p:sp>
        <p:sp>
          <p:nvSpPr>
            <p:cNvPr id="23" name="TextBox 22"/>
            <p:cNvSpPr txBox="1"/>
            <p:nvPr/>
          </p:nvSpPr>
          <p:spPr>
            <a:xfrm>
              <a:off x="2404872" y="1947672"/>
              <a:ext cx="292608" cy="292608"/>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2</a:t>
              </a:r>
            </a:p>
          </p:txBody>
        </p:sp>
        <p:sp>
          <p:nvSpPr>
            <p:cNvPr id="24" name="TextBox 23"/>
            <p:cNvSpPr txBox="1"/>
            <p:nvPr/>
          </p:nvSpPr>
          <p:spPr>
            <a:xfrm>
              <a:off x="2404872" y="2350008"/>
              <a:ext cx="1147572" cy="457200"/>
            </a:xfrm>
            <a:prstGeom prst="rect">
              <a:avLst/>
            </a:prstGeom>
            <a:noFill/>
          </p:spPr>
          <p:txBody>
            <a:bodyPr wrap="square" lIns="0" rIns="0" tIns="0" bIns="0" anchor="t">
              <a:noAutofit/>
            </a:bodyPr>
            <a:lstStyle/>
            <a:p>
              <a:pPr algn="l">
                <a:lnSpc>
                  <a:spcPct val="95000"/>
                </a:lnSpc>
              </a:pPr>
              <a:r>
                <a:rPr sz="1350" b="1" i="0">
                  <a:solidFill>
                    <a:srgbClr val="0E0E10"/>
                  </a:solidFill>
                  <a:latin typeface="Inter" panose="020B0502030000000004" pitchFamily="34" charset="0"/>
                </a:rPr>
                <a:t>Live auction</a:t>
              </a:r>
            </a:p>
          </p:txBody>
        </p:sp>
        <p:sp>
          <p:nvSpPr>
            <p:cNvPr id="25" name="TextBox 24"/>
            <p:cNvSpPr txBox="1"/>
            <p:nvPr/>
          </p:nvSpPr>
          <p:spPr>
            <a:xfrm>
              <a:off x="2404872"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About 12 seconds. Bots, people on phones and merchant agents bid.</a:t>
              </a:r>
            </a:p>
          </p:txBody>
        </p:sp>
      </p:grpSp>
      <p:cxnSp>
        <p:nvCxnSpPr>
          <p:cNvPr id="26" name="Connector 25"/>
          <p:cNvCxnSpPr/>
          <p:nvPr/>
        </p:nvCxnSpPr>
        <p:spPr>
          <a:xfrm>
            <a:off x="3671316" y="2857500"/>
            <a:ext cx="137160" cy="0"/>
          </a:xfrm>
          <a:prstGeom prst="line">
            <a:avLst/>
          </a:prstGeom>
          <a:ln w="19050">
            <a:solidFill>
              <a:srgbClr val="D9D8D1"/>
            </a:solidFill>
            <a:tailEnd type="triangle" w="med" len="med"/>
          </a:ln>
        </p:spPr>
      </p:cxnSp>
      <p:grpSp>
        <p:nvGrpSpPr>
          <p:cNvPr id="27" name="Group 26"/>
          <p:cNvGrpSpPr/>
          <p:nvPr/>
        </p:nvGrpSpPr>
        <p:grpSpPr>
          <a:xfrm>
            <a:off x="3831336" y="1783080"/>
            <a:ext cx="1385316" cy="2148840"/>
            <a:chOff x="3831336" y="1783080"/>
            <a:chExt cx="1385316" cy="2148840"/>
          </a:xfrm>
        </p:grpSpPr>
        <p:sp>
          <p:nvSpPr>
            <p:cNvPr id="28" name="Rounded Rectangle 27"/>
            <p:cNvSpPr/>
            <p:nvPr/>
          </p:nvSpPr>
          <p:spPr>
            <a:xfrm>
              <a:off x="3831336"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29" name="Oval 28"/>
            <p:cNvSpPr/>
            <p:nvPr/>
          </p:nvSpPr>
          <p:spPr>
            <a:xfrm>
              <a:off x="3977640" y="1947672"/>
              <a:ext cx="292608" cy="292608"/>
            </a:xfrm>
            <a:prstGeom prst="ellipse">
              <a:avLst/>
            </a:prstGeom>
            <a:solidFill>
              <a:srgbClr val="E7F6EF"/>
            </a:solidFill>
            <a:ln>
              <a:noFill/>
            </a:ln>
          </p:spPr>
          <p:txBody>
            <a:bodyPr rtlCol="0" anchor="ctr"/>
            <a:lstStyle/>
            <a:p>
              <a:pPr algn="ctr"/>
            </a:p>
          </p:txBody>
        </p:sp>
        <p:sp>
          <p:nvSpPr>
            <p:cNvPr id="30" name="TextBox 29"/>
            <p:cNvSpPr txBox="1"/>
            <p:nvPr/>
          </p:nvSpPr>
          <p:spPr>
            <a:xfrm>
              <a:off x="3977640" y="1947672"/>
              <a:ext cx="292608" cy="292608"/>
            </a:xfrm>
            <a:prstGeom prst="rect">
              <a:avLst/>
            </a:prstGeom>
            <a:noFill/>
          </p:spPr>
          <p:txBody>
            <a:bodyPr wrap="square" lIns="0" rIns="0" tIns="0" bIns="0" anchor="ctr">
              <a:noAutofit/>
            </a:bodyPr>
            <a:lstStyle/>
            <a:p>
              <a:pPr algn="ctr"/>
              <a:r>
                <a:rPr sz="1000" b="1" i="0">
                  <a:solidFill>
                    <a:srgbClr val="12805C"/>
                  </a:solidFill>
                  <a:latin typeface="Inter" panose="020B0502030000000004" pitchFamily="34" charset="0"/>
                </a:rPr>
                <a:t>3</a:t>
              </a:r>
            </a:p>
          </p:txBody>
        </p:sp>
        <p:sp>
          <p:nvSpPr>
            <p:cNvPr id="31" name="TextBox 30"/>
            <p:cNvSpPr txBox="1"/>
            <p:nvPr/>
          </p:nvSpPr>
          <p:spPr>
            <a:xfrm>
              <a:off x="3977640" y="2350008"/>
              <a:ext cx="1147572" cy="457200"/>
            </a:xfrm>
            <a:prstGeom prst="rect">
              <a:avLst/>
            </a:prstGeom>
            <a:noFill/>
          </p:spPr>
          <p:txBody>
            <a:bodyPr wrap="square" lIns="0" rIns="0" tIns="0" bIns="0" anchor="t">
              <a:noAutofit/>
            </a:bodyPr>
            <a:lstStyle/>
            <a:p>
              <a:pPr algn="l">
                <a:lnSpc>
                  <a:spcPct val="95000"/>
                </a:lnSpc>
              </a:pPr>
              <a:r>
                <a:rPr sz="1350" b="1" i="0">
                  <a:solidFill>
                    <a:srgbClr val="0E0E10"/>
                  </a:solidFill>
                  <a:latin typeface="Inter" panose="020B0502030000000004" pitchFamily="34" charset="0"/>
                </a:rPr>
                <a:t>Verify</a:t>
              </a:r>
            </a:p>
          </p:txBody>
        </p:sp>
        <p:sp>
          <p:nvSpPr>
            <p:cNvPr id="32" name="TextBox 31"/>
            <p:cNvSpPr txBox="1"/>
            <p:nvPr/>
          </p:nvSpPr>
          <p:spPr>
            <a:xfrm>
              <a:off x="3977640"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Fetch the product page JSON-LD and the checkout quote. 5 checks.</a:t>
              </a:r>
            </a:p>
          </p:txBody>
        </p:sp>
      </p:grpSp>
      <p:cxnSp>
        <p:nvCxnSpPr>
          <p:cNvPr id="33" name="Connector 32"/>
          <p:cNvCxnSpPr/>
          <p:nvPr/>
        </p:nvCxnSpPr>
        <p:spPr>
          <a:xfrm>
            <a:off x="5244084" y="2857500"/>
            <a:ext cx="137160" cy="0"/>
          </a:xfrm>
          <a:prstGeom prst="line">
            <a:avLst/>
          </a:prstGeom>
          <a:ln w="19050">
            <a:solidFill>
              <a:srgbClr val="D9D8D1"/>
            </a:solidFill>
            <a:tailEnd type="triangle" w="med" len="med"/>
          </a:ln>
        </p:spPr>
      </p:cxnSp>
      <p:cxnSp>
        <p:nvCxnSpPr>
          <p:cNvPr id="34" name="Connector 33"/>
          <p:cNvCxnSpPr/>
          <p:nvPr/>
        </p:nvCxnSpPr>
        <p:spPr>
          <a:xfrm>
            <a:off x="4523994" y="3959352"/>
            <a:ext cx="0" cy="274320"/>
          </a:xfrm>
          <a:prstGeom prst="line">
            <a:avLst/>
          </a:prstGeom>
          <a:ln w="12700">
            <a:solidFill>
              <a:srgbClr val="D9D8D1"/>
            </a:solidFill>
            <a:prstDash val="dash"/>
          </a:ln>
        </p:spPr>
      </p:cxnSp>
      <p:grpSp>
        <p:nvGrpSpPr>
          <p:cNvPr id="35" name="Group 34"/>
          <p:cNvGrpSpPr/>
          <p:nvPr/>
        </p:nvGrpSpPr>
        <p:grpSpPr>
          <a:xfrm>
            <a:off x="3831336" y="4251960"/>
            <a:ext cx="1385316" cy="1024128"/>
            <a:chOff x="3831336" y="4251960"/>
            <a:chExt cx="1385316" cy="1024128"/>
          </a:xfrm>
        </p:grpSpPr>
        <p:sp>
          <p:nvSpPr>
            <p:cNvPr id="36" name="Rounded Rectangle 35"/>
            <p:cNvSpPr/>
            <p:nvPr/>
          </p:nvSpPr>
          <p:spPr>
            <a:xfrm>
              <a:off x="3831336" y="4251960"/>
              <a:ext cx="1385316" cy="1024128"/>
            </a:xfrm>
            <a:prstGeom prst="roundRect">
              <a:avLst>
                <a:gd name="adj" fmla="val 10714"/>
              </a:avLst>
            </a:prstGeom>
            <a:solidFill>
              <a:srgbClr val="FDECEC"/>
            </a:solidFill>
            <a:ln>
              <a:noFill/>
            </a:ln>
          </p:spPr>
          <p:txBody>
            <a:bodyPr rtlCol="0" anchor="ctr"/>
            <a:lstStyle/>
            <a:p>
              <a:pPr algn="ctr"/>
            </a:p>
          </p:txBody>
        </p:sp>
        <p:sp>
          <p:nvSpPr>
            <p:cNvPr id="37" name="TextBox 36"/>
            <p:cNvSpPr txBox="1"/>
            <p:nvPr/>
          </p:nvSpPr>
          <p:spPr>
            <a:xfrm>
              <a:off x="3959352" y="4343400"/>
              <a:ext cx="1184148" cy="237744"/>
            </a:xfrm>
            <a:prstGeom prst="rect">
              <a:avLst/>
            </a:prstGeom>
            <a:noFill/>
          </p:spPr>
          <p:txBody>
            <a:bodyPr wrap="square" lIns="0" rIns="0" tIns="0" bIns="0" anchor="ctr">
              <a:noAutofit/>
            </a:bodyPr>
            <a:lstStyle/>
            <a:p>
              <a:pPr algn="l"/>
              <a:r>
                <a:rPr sz="1000" b="1" i="0">
                  <a:solidFill>
                    <a:srgbClr val="D93036"/>
                  </a:solidFill>
                  <a:latin typeface="Inter" panose="020B0502030000000004" pitchFamily="34" charset="0"/>
                </a:rPr>
                <a:t>Lied ✗</a:t>
              </a:r>
            </a:p>
          </p:txBody>
        </p:sp>
        <p:sp>
          <p:nvSpPr>
            <p:cNvPr id="38" name="TextBox 37"/>
            <p:cNvSpPr txBox="1"/>
            <p:nvPr/>
          </p:nvSpPr>
          <p:spPr>
            <a:xfrm>
              <a:off x="3959352" y="4608576"/>
              <a:ext cx="1165860" cy="640080"/>
            </a:xfrm>
            <a:prstGeom prst="rect">
              <a:avLst/>
            </a:prstGeom>
            <a:noFill/>
          </p:spPr>
          <p:txBody>
            <a:bodyPr wrap="square" lIns="0" rIns="0" tIns="0" bIns="0" anchor="t">
              <a:noAutofit/>
            </a:bodyPr>
            <a:lstStyle/>
            <a:p>
              <a:pPr algn="l">
                <a:lnSpc>
                  <a:spcPct val="105000"/>
                </a:lnSpc>
              </a:pPr>
              <a:r>
                <a:rPr sz="950" b="0" i="0">
                  <a:solidFill>
                    <a:srgbClr val="0E0E10"/>
                  </a:solidFill>
                  <a:latin typeface="Inter" panose="020B0502030000000004" pitchFamily="34" charset="0"/>
                </a:rPr>
                <a:t>Excluded. Trust −12 for every agent.</a:t>
              </a:r>
            </a:p>
          </p:txBody>
        </p:sp>
      </p:grpSp>
      <p:grpSp>
        <p:nvGrpSpPr>
          <p:cNvPr id="39" name="Group 38"/>
          <p:cNvGrpSpPr/>
          <p:nvPr/>
        </p:nvGrpSpPr>
        <p:grpSpPr>
          <a:xfrm>
            <a:off x="5404104" y="1783080"/>
            <a:ext cx="1385316" cy="2148840"/>
            <a:chOff x="5404104" y="1783080"/>
            <a:chExt cx="1385316" cy="2148840"/>
          </a:xfrm>
        </p:grpSpPr>
        <p:sp>
          <p:nvSpPr>
            <p:cNvPr id="40" name="Rounded Rectangle 39"/>
            <p:cNvSpPr/>
            <p:nvPr/>
          </p:nvSpPr>
          <p:spPr>
            <a:xfrm>
              <a:off x="5404104"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41" name="Oval 40"/>
            <p:cNvSpPr/>
            <p:nvPr/>
          </p:nvSpPr>
          <p:spPr>
            <a:xfrm>
              <a:off x="5550408" y="1947672"/>
              <a:ext cx="292608" cy="292608"/>
            </a:xfrm>
            <a:prstGeom prst="ellipse">
              <a:avLst/>
            </a:prstGeom>
            <a:solidFill>
              <a:srgbClr val="E7F6EF"/>
            </a:solidFill>
            <a:ln>
              <a:noFill/>
            </a:ln>
          </p:spPr>
          <p:txBody>
            <a:bodyPr rtlCol="0" anchor="ctr"/>
            <a:lstStyle/>
            <a:p>
              <a:pPr algn="ctr"/>
            </a:p>
          </p:txBody>
        </p:sp>
        <p:sp>
          <p:nvSpPr>
            <p:cNvPr id="42" name="TextBox 41"/>
            <p:cNvSpPr txBox="1"/>
            <p:nvPr/>
          </p:nvSpPr>
          <p:spPr>
            <a:xfrm>
              <a:off x="5550408" y="1947672"/>
              <a:ext cx="292608" cy="292608"/>
            </a:xfrm>
            <a:prstGeom prst="rect">
              <a:avLst/>
            </a:prstGeom>
            <a:noFill/>
          </p:spPr>
          <p:txBody>
            <a:bodyPr wrap="square" lIns="0" rIns="0" tIns="0" bIns="0" anchor="ctr">
              <a:noAutofit/>
            </a:bodyPr>
            <a:lstStyle/>
            <a:p>
              <a:pPr algn="ctr"/>
              <a:r>
                <a:rPr sz="1000" b="1" i="0">
                  <a:solidFill>
                    <a:srgbClr val="12805C"/>
                  </a:solidFill>
                  <a:latin typeface="Inter" panose="020B0502030000000004" pitchFamily="34" charset="0"/>
                </a:rPr>
                <a:t>4</a:t>
              </a:r>
            </a:p>
          </p:txBody>
        </p:sp>
        <p:sp>
          <p:nvSpPr>
            <p:cNvPr id="43" name="TextBox 42"/>
            <p:cNvSpPr txBox="1"/>
            <p:nvPr/>
          </p:nvSpPr>
          <p:spPr>
            <a:xfrm>
              <a:off x="5550408" y="2350008"/>
              <a:ext cx="1147572" cy="457200"/>
            </a:xfrm>
            <a:prstGeom prst="rect">
              <a:avLst/>
            </a:prstGeom>
            <a:noFill/>
          </p:spPr>
          <p:txBody>
            <a:bodyPr wrap="square" lIns="0" rIns="0" tIns="0" bIns="0" anchor="t">
              <a:noAutofit/>
            </a:bodyPr>
            <a:lstStyle/>
            <a:p>
              <a:pPr algn="l">
                <a:lnSpc>
                  <a:spcPct val="95000"/>
                </a:lnSpc>
              </a:pPr>
              <a:r>
                <a:rPr sz="1350" b="1" i="0">
                  <a:solidFill>
                    <a:srgbClr val="0E0E10"/>
                  </a:solidFill>
                  <a:latin typeface="Inter" panose="020B0502030000000004" pitchFamily="34" charset="0"/>
                </a:rPr>
                <a:t>Rank on merit</a:t>
              </a:r>
            </a:p>
          </p:txBody>
        </p:sp>
        <p:sp>
          <p:nvSpPr>
            <p:cNvPr id="44" name="TextBox 43"/>
            <p:cNvSpPr txBox="1"/>
            <p:nvPr/>
          </p:nvSpPr>
          <p:spPr>
            <a:xfrm>
              <a:off x="5550408"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Price 40, must-haves 25, delivery 15, trust 15, returns 5.</a:t>
              </a:r>
            </a:p>
          </p:txBody>
        </p:sp>
      </p:grpSp>
      <p:cxnSp>
        <p:nvCxnSpPr>
          <p:cNvPr id="45" name="Connector 44"/>
          <p:cNvCxnSpPr/>
          <p:nvPr/>
        </p:nvCxnSpPr>
        <p:spPr>
          <a:xfrm>
            <a:off x="6816852" y="2857500"/>
            <a:ext cx="137160" cy="0"/>
          </a:xfrm>
          <a:prstGeom prst="line">
            <a:avLst/>
          </a:prstGeom>
          <a:ln w="19050">
            <a:solidFill>
              <a:srgbClr val="D9D8D1"/>
            </a:solidFill>
            <a:tailEnd type="triangle" w="med" len="med"/>
          </a:ln>
        </p:spPr>
      </p:cxnSp>
      <p:cxnSp>
        <p:nvCxnSpPr>
          <p:cNvPr id="46" name="Connector 45"/>
          <p:cNvCxnSpPr/>
          <p:nvPr/>
        </p:nvCxnSpPr>
        <p:spPr>
          <a:xfrm>
            <a:off x="6096762" y="3959352"/>
            <a:ext cx="0" cy="274320"/>
          </a:xfrm>
          <a:prstGeom prst="line">
            <a:avLst/>
          </a:prstGeom>
          <a:ln w="12700">
            <a:solidFill>
              <a:srgbClr val="D9D8D1"/>
            </a:solidFill>
            <a:prstDash val="dash"/>
          </a:ln>
        </p:spPr>
      </p:cxnSp>
      <p:grpSp>
        <p:nvGrpSpPr>
          <p:cNvPr id="47" name="Group 46"/>
          <p:cNvGrpSpPr/>
          <p:nvPr/>
        </p:nvGrpSpPr>
        <p:grpSpPr>
          <a:xfrm>
            <a:off x="5404104" y="4251960"/>
            <a:ext cx="1385316" cy="1024128"/>
            <a:chOff x="5404104" y="4251960"/>
            <a:chExt cx="1385316" cy="1024128"/>
          </a:xfrm>
        </p:grpSpPr>
        <p:sp>
          <p:nvSpPr>
            <p:cNvPr id="48" name="Rounded Rectangle 47"/>
            <p:cNvSpPr/>
            <p:nvPr/>
          </p:nvSpPr>
          <p:spPr>
            <a:xfrm>
              <a:off x="5404104" y="4251960"/>
              <a:ext cx="1385316" cy="1024128"/>
            </a:xfrm>
            <a:prstGeom prst="roundRect">
              <a:avLst>
                <a:gd name="adj" fmla="val 10714"/>
              </a:avLst>
            </a:prstGeom>
            <a:solidFill>
              <a:srgbClr val="FFF4E2"/>
            </a:solidFill>
            <a:ln>
              <a:noFill/>
            </a:ln>
          </p:spPr>
          <p:txBody>
            <a:bodyPr rtlCol="0" anchor="ctr"/>
            <a:lstStyle/>
            <a:p>
              <a:pPr algn="ctr"/>
            </a:p>
          </p:txBody>
        </p:sp>
        <p:sp>
          <p:nvSpPr>
            <p:cNvPr id="49" name="TextBox 48"/>
            <p:cNvSpPr txBox="1"/>
            <p:nvPr/>
          </p:nvSpPr>
          <p:spPr>
            <a:xfrm>
              <a:off x="5532120" y="4343400"/>
              <a:ext cx="1184148" cy="237744"/>
            </a:xfrm>
            <a:prstGeom prst="rect">
              <a:avLst/>
            </a:prstGeom>
            <a:noFill/>
          </p:spPr>
          <p:txBody>
            <a:bodyPr wrap="square" lIns="0" rIns="0" tIns="0" bIns="0" anchor="ctr">
              <a:noAutofit/>
            </a:bodyPr>
            <a:lstStyle/>
            <a:p>
              <a:pPr algn="l"/>
              <a:r>
                <a:rPr sz="1000" b="1" i="0">
                  <a:solidFill>
                    <a:srgbClr val="A15C07"/>
                  </a:solidFill>
                  <a:latin typeface="Inter" panose="020B0502030000000004" pitchFamily="34" charset="0"/>
                </a:rPr>
                <a:t>Bribe ignored</a:t>
              </a:r>
            </a:p>
          </p:txBody>
        </p:sp>
        <p:sp>
          <p:nvSpPr>
            <p:cNvPr id="50" name="TextBox 49"/>
            <p:cNvSpPr txBox="1"/>
            <p:nvPr/>
          </p:nvSpPr>
          <p:spPr>
            <a:xfrm>
              <a:off x="5532120" y="4608576"/>
              <a:ext cx="1165860" cy="640080"/>
            </a:xfrm>
            <a:prstGeom prst="rect">
              <a:avLst/>
            </a:prstGeom>
            <a:noFill/>
          </p:spPr>
          <p:txBody>
            <a:bodyPr wrap="square" lIns="0" rIns="0" tIns="0" bIns="0" anchor="t">
              <a:noAutofit/>
            </a:bodyPr>
            <a:lstStyle/>
            <a:p>
              <a:pPr algn="l">
                <a:lnSpc>
                  <a:spcPct val="105000"/>
                </a:lnSpc>
              </a:pPr>
              <a:r>
                <a:rPr sz="950" b="0" i="0">
                  <a:solidFill>
                    <a:srgbClr val="0E0E10"/>
                  </a:solidFill>
                  <a:latin typeface="Inter" panose="020B0502030000000004" pitchFamily="34" charset="0"/>
                </a:rPr>
                <a:t>Fees only break near-ties.</a:t>
              </a:r>
            </a:p>
          </p:txBody>
        </p:sp>
      </p:grpSp>
      <p:grpSp>
        <p:nvGrpSpPr>
          <p:cNvPr id="51" name="Group 50"/>
          <p:cNvGrpSpPr/>
          <p:nvPr/>
        </p:nvGrpSpPr>
        <p:grpSpPr>
          <a:xfrm>
            <a:off x="6976872" y="1783080"/>
            <a:ext cx="1385316" cy="2148840"/>
            <a:chOff x="6976872" y="1783080"/>
            <a:chExt cx="1385316" cy="2148840"/>
          </a:xfrm>
        </p:grpSpPr>
        <p:sp>
          <p:nvSpPr>
            <p:cNvPr id="52" name="Rounded Rectangle 51"/>
            <p:cNvSpPr/>
            <p:nvPr/>
          </p:nvSpPr>
          <p:spPr>
            <a:xfrm>
              <a:off x="6976872"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53" name="Oval 52"/>
            <p:cNvSpPr/>
            <p:nvPr/>
          </p:nvSpPr>
          <p:spPr>
            <a:xfrm>
              <a:off x="7123176" y="1947672"/>
              <a:ext cx="292608" cy="292608"/>
            </a:xfrm>
            <a:prstGeom prst="ellipse">
              <a:avLst/>
            </a:prstGeom>
            <a:solidFill>
              <a:srgbClr val="EDF2FF"/>
            </a:solidFill>
            <a:ln>
              <a:noFill/>
            </a:ln>
          </p:spPr>
          <p:txBody>
            <a:bodyPr rtlCol="0" anchor="ctr"/>
            <a:lstStyle/>
            <a:p>
              <a:pPr algn="ctr"/>
            </a:p>
          </p:txBody>
        </p:sp>
        <p:sp>
          <p:nvSpPr>
            <p:cNvPr id="54" name="TextBox 53"/>
            <p:cNvSpPr txBox="1"/>
            <p:nvPr/>
          </p:nvSpPr>
          <p:spPr>
            <a:xfrm>
              <a:off x="7123176" y="1947672"/>
              <a:ext cx="292608" cy="292608"/>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5</a:t>
              </a:r>
            </a:p>
          </p:txBody>
        </p:sp>
        <p:sp>
          <p:nvSpPr>
            <p:cNvPr id="55" name="TextBox 54"/>
            <p:cNvSpPr txBox="1"/>
            <p:nvPr/>
          </p:nvSpPr>
          <p:spPr>
            <a:xfrm>
              <a:off x="7123176" y="2350008"/>
              <a:ext cx="1147572" cy="457200"/>
            </a:xfrm>
            <a:prstGeom prst="rect">
              <a:avLst/>
            </a:prstGeom>
            <a:noFill/>
          </p:spPr>
          <p:txBody>
            <a:bodyPr wrap="square" lIns="0" rIns="0" tIns="0" bIns="0" anchor="t">
              <a:noAutofit/>
            </a:bodyPr>
            <a:lstStyle/>
            <a:p>
              <a:pPr algn="l">
                <a:lnSpc>
                  <a:spcPct val="95000"/>
                </a:lnSpc>
              </a:pPr>
              <a:r>
                <a:rPr sz="1200" b="1" i="0">
                  <a:solidFill>
                    <a:srgbClr val="2F5BEA"/>
                  </a:solidFill>
                  <a:latin typeface="JetBrains Mono" panose="02000009000000000000" pitchFamily="49" charset="0"/>
                </a:rPr>
                <a:t>buy_offer</a:t>
              </a:r>
            </a:p>
          </p:txBody>
        </p:sp>
        <p:sp>
          <p:nvSpPr>
            <p:cNvPr id="56" name="TextBox 55"/>
            <p:cNvSpPr txBox="1"/>
            <p:nvPr/>
          </p:nvSpPr>
          <p:spPr>
            <a:xfrm>
              <a:off x="7123176"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Pays from the agent's prepaid wallet. Idempotent.</a:t>
              </a:r>
            </a:p>
          </p:txBody>
        </p:sp>
      </p:grpSp>
      <p:cxnSp>
        <p:nvCxnSpPr>
          <p:cNvPr id="57" name="Connector 56"/>
          <p:cNvCxnSpPr/>
          <p:nvPr/>
        </p:nvCxnSpPr>
        <p:spPr>
          <a:xfrm>
            <a:off x="8389620" y="2857500"/>
            <a:ext cx="137160" cy="0"/>
          </a:xfrm>
          <a:prstGeom prst="line">
            <a:avLst/>
          </a:prstGeom>
          <a:ln w="19050">
            <a:solidFill>
              <a:srgbClr val="D9D8D1"/>
            </a:solidFill>
            <a:tailEnd type="triangle" w="med" len="med"/>
          </a:ln>
        </p:spPr>
      </p:cxnSp>
      <p:cxnSp>
        <p:nvCxnSpPr>
          <p:cNvPr id="58" name="Connector 57"/>
          <p:cNvCxnSpPr/>
          <p:nvPr/>
        </p:nvCxnSpPr>
        <p:spPr>
          <a:xfrm>
            <a:off x="7669530" y="3959352"/>
            <a:ext cx="0" cy="274320"/>
          </a:xfrm>
          <a:prstGeom prst="line">
            <a:avLst/>
          </a:prstGeom>
          <a:ln w="12700">
            <a:solidFill>
              <a:srgbClr val="D9D8D1"/>
            </a:solidFill>
            <a:prstDash val="dash"/>
          </a:ln>
        </p:spPr>
      </p:cxnSp>
      <p:grpSp>
        <p:nvGrpSpPr>
          <p:cNvPr id="59" name="Group 58"/>
          <p:cNvGrpSpPr/>
          <p:nvPr/>
        </p:nvGrpSpPr>
        <p:grpSpPr>
          <a:xfrm>
            <a:off x="6976872" y="4251960"/>
            <a:ext cx="1385316" cy="1024128"/>
            <a:chOff x="6976872" y="4251960"/>
            <a:chExt cx="1385316" cy="1024128"/>
          </a:xfrm>
        </p:grpSpPr>
        <p:sp>
          <p:nvSpPr>
            <p:cNvPr id="60" name="Rounded Rectangle 59"/>
            <p:cNvSpPr/>
            <p:nvPr/>
          </p:nvSpPr>
          <p:spPr>
            <a:xfrm>
              <a:off x="6976872" y="4251960"/>
              <a:ext cx="1385316" cy="1024128"/>
            </a:xfrm>
            <a:prstGeom prst="roundRect">
              <a:avLst>
                <a:gd name="adj" fmla="val 10714"/>
              </a:avLst>
            </a:prstGeom>
            <a:solidFill>
              <a:srgbClr val="EDF2FF"/>
            </a:solidFill>
            <a:ln>
              <a:noFill/>
            </a:ln>
          </p:spPr>
          <p:txBody>
            <a:bodyPr rtlCol="0" anchor="ctr"/>
            <a:lstStyle/>
            <a:p>
              <a:pPr algn="ctr"/>
            </a:p>
          </p:txBody>
        </p:sp>
        <p:sp>
          <p:nvSpPr>
            <p:cNvPr id="61" name="TextBox 60"/>
            <p:cNvSpPr txBox="1"/>
            <p:nvPr/>
          </p:nvSpPr>
          <p:spPr>
            <a:xfrm>
              <a:off x="7104888" y="4343400"/>
              <a:ext cx="1184148" cy="237744"/>
            </a:xfrm>
            <a:prstGeom prst="rect">
              <a:avLst/>
            </a:prstGeom>
            <a:noFill/>
          </p:spPr>
          <p:txBody>
            <a:bodyPr wrap="square" lIns="0" rIns="0" tIns="0" bIns="0" anchor="ctr">
              <a:noAutofit/>
            </a:bodyPr>
            <a:lstStyle/>
            <a:p>
              <a:pPr algn="l"/>
              <a:r>
                <a:rPr sz="1000" b="1" i="0">
                  <a:solidFill>
                    <a:srgbClr val="2F5BEA"/>
                  </a:solidFill>
                  <a:latin typeface="Inter" panose="020B0502030000000004" pitchFamily="34" charset="0"/>
                </a:rPr>
                <a:t>Sold out</a:t>
              </a:r>
            </a:p>
          </p:txBody>
        </p:sp>
        <p:sp>
          <p:nvSpPr>
            <p:cNvPr id="62" name="TextBox 61"/>
            <p:cNvSpPr txBox="1"/>
            <p:nvPr/>
          </p:nvSpPr>
          <p:spPr>
            <a:xfrm>
              <a:off x="7104888" y="4608576"/>
              <a:ext cx="1165860" cy="640080"/>
            </a:xfrm>
            <a:prstGeom prst="rect">
              <a:avLst/>
            </a:prstGeom>
            <a:noFill/>
          </p:spPr>
          <p:txBody>
            <a:bodyPr wrap="square" lIns="0" rIns="0" tIns="0" bIns="0" anchor="t">
              <a:noAutofit/>
            </a:bodyPr>
            <a:lstStyle/>
            <a:p>
              <a:pPr algn="l">
                <a:lnSpc>
                  <a:spcPct val="105000"/>
                </a:lnSpc>
              </a:pPr>
              <a:r>
                <a:rPr sz="950" b="0" i="0">
                  <a:solidFill>
                    <a:srgbClr val="0E0E10"/>
                  </a:solidFill>
                  <a:latin typeface="Inter" panose="020B0502030000000004" pitchFamily="34" charset="0"/>
                </a:rPr>
                <a:t>out_of_stock + next best offer. The agent recovers.</a:t>
              </a:r>
            </a:p>
          </p:txBody>
        </p:sp>
      </p:grpSp>
      <p:grpSp>
        <p:nvGrpSpPr>
          <p:cNvPr id="63" name="Group 62"/>
          <p:cNvGrpSpPr/>
          <p:nvPr/>
        </p:nvGrpSpPr>
        <p:grpSpPr>
          <a:xfrm>
            <a:off x="8549640" y="1783080"/>
            <a:ext cx="1385316" cy="2148840"/>
            <a:chOff x="8549640" y="1783080"/>
            <a:chExt cx="1385316" cy="2148840"/>
          </a:xfrm>
        </p:grpSpPr>
        <p:sp>
          <p:nvSpPr>
            <p:cNvPr id="64" name="Rounded Rectangle 63"/>
            <p:cNvSpPr/>
            <p:nvPr/>
          </p:nvSpPr>
          <p:spPr>
            <a:xfrm>
              <a:off x="8549640"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65" name="Oval 64"/>
            <p:cNvSpPr/>
            <p:nvPr/>
          </p:nvSpPr>
          <p:spPr>
            <a:xfrm>
              <a:off x="8695944" y="1947672"/>
              <a:ext cx="292608" cy="292608"/>
            </a:xfrm>
            <a:prstGeom prst="ellipse">
              <a:avLst/>
            </a:prstGeom>
            <a:solidFill>
              <a:srgbClr val="FFF4E2"/>
            </a:solidFill>
            <a:ln>
              <a:noFill/>
            </a:ln>
          </p:spPr>
          <p:txBody>
            <a:bodyPr rtlCol="0" anchor="ctr"/>
            <a:lstStyle/>
            <a:p>
              <a:pPr algn="ctr"/>
            </a:p>
          </p:txBody>
        </p:sp>
        <p:sp>
          <p:nvSpPr>
            <p:cNvPr id="66" name="TextBox 65"/>
            <p:cNvSpPr txBox="1"/>
            <p:nvPr/>
          </p:nvSpPr>
          <p:spPr>
            <a:xfrm>
              <a:off x="8695944" y="1947672"/>
              <a:ext cx="292608" cy="292608"/>
            </a:xfrm>
            <a:prstGeom prst="rect">
              <a:avLst/>
            </a:prstGeom>
            <a:noFill/>
          </p:spPr>
          <p:txBody>
            <a:bodyPr wrap="square" lIns="0" rIns="0" tIns="0" bIns="0" anchor="ctr">
              <a:noAutofit/>
            </a:bodyPr>
            <a:lstStyle/>
            <a:p>
              <a:pPr algn="ctr"/>
              <a:r>
                <a:rPr sz="1000" b="1" i="0">
                  <a:solidFill>
                    <a:srgbClr val="A15C07"/>
                  </a:solidFill>
                  <a:latin typeface="Inter" panose="020B0502030000000004" pitchFamily="34" charset="0"/>
                </a:rPr>
                <a:t>6</a:t>
              </a:r>
            </a:p>
          </p:txBody>
        </p:sp>
        <p:sp>
          <p:nvSpPr>
            <p:cNvPr id="67" name="TextBox 66"/>
            <p:cNvSpPr txBox="1"/>
            <p:nvPr/>
          </p:nvSpPr>
          <p:spPr>
            <a:xfrm>
              <a:off x="8695944" y="2350008"/>
              <a:ext cx="1147572" cy="457200"/>
            </a:xfrm>
            <a:prstGeom prst="rect">
              <a:avLst/>
            </a:prstGeom>
            <a:noFill/>
          </p:spPr>
          <p:txBody>
            <a:bodyPr wrap="square" lIns="0" rIns="0" tIns="0" bIns="0" anchor="t">
              <a:noAutofit/>
            </a:bodyPr>
            <a:lstStyle/>
            <a:p>
              <a:pPr algn="l">
                <a:lnSpc>
                  <a:spcPct val="95000"/>
                </a:lnSpc>
              </a:pPr>
              <a:r>
                <a:rPr sz="1350" b="1" i="0">
                  <a:solidFill>
                    <a:srgbClr val="0E0E10"/>
                  </a:solidFill>
                  <a:latin typeface="Inter" panose="020B0502030000000004" pitchFamily="34" charset="0"/>
                </a:rPr>
                <a:t>Spending policy</a:t>
              </a:r>
            </a:p>
          </p:txBody>
        </p:sp>
        <p:sp>
          <p:nvSpPr>
            <p:cNvPr id="68" name="TextBox 67"/>
            <p:cNvSpPr txBox="1"/>
            <p:nvPr/>
          </p:nvSpPr>
          <p:spPr>
            <a:xfrm>
              <a:off x="8695944"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Over the limit? Inkbox texts the human: “Reply YES 1234”.</a:t>
              </a:r>
            </a:p>
          </p:txBody>
        </p:sp>
      </p:grpSp>
      <p:cxnSp>
        <p:nvCxnSpPr>
          <p:cNvPr id="69" name="Connector 68"/>
          <p:cNvCxnSpPr/>
          <p:nvPr/>
        </p:nvCxnSpPr>
        <p:spPr>
          <a:xfrm>
            <a:off x="9962388" y="2857500"/>
            <a:ext cx="137160" cy="0"/>
          </a:xfrm>
          <a:prstGeom prst="line">
            <a:avLst/>
          </a:prstGeom>
          <a:ln w="19050">
            <a:solidFill>
              <a:srgbClr val="D9D8D1"/>
            </a:solidFill>
            <a:tailEnd type="triangle" w="med" len="med"/>
          </a:ln>
        </p:spPr>
      </p:cxnSp>
      <p:cxnSp>
        <p:nvCxnSpPr>
          <p:cNvPr id="70" name="Connector 69"/>
          <p:cNvCxnSpPr/>
          <p:nvPr/>
        </p:nvCxnSpPr>
        <p:spPr>
          <a:xfrm>
            <a:off x="9242298" y="3959352"/>
            <a:ext cx="0" cy="274320"/>
          </a:xfrm>
          <a:prstGeom prst="line">
            <a:avLst/>
          </a:prstGeom>
          <a:ln w="12700">
            <a:solidFill>
              <a:srgbClr val="D9D8D1"/>
            </a:solidFill>
            <a:prstDash val="dash"/>
          </a:ln>
        </p:spPr>
      </p:cxnSp>
      <p:grpSp>
        <p:nvGrpSpPr>
          <p:cNvPr id="71" name="Group 70"/>
          <p:cNvGrpSpPr/>
          <p:nvPr/>
        </p:nvGrpSpPr>
        <p:grpSpPr>
          <a:xfrm>
            <a:off x="8549640" y="4251960"/>
            <a:ext cx="1385316" cy="1024128"/>
            <a:chOff x="8549640" y="4251960"/>
            <a:chExt cx="1385316" cy="1024128"/>
          </a:xfrm>
        </p:grpSpPr>
        <p:sp>
          <p:nvSpPr>
            <p:cNvPr id="72" name="Rounded Rectangle 71"/>
            <p:cNvSpPr/>
            <p:nvPr/>
          </p:nvSpPr>
          <p:spPr>
            <a:xfrm>
              <a:off x="8549640" y="4251960"/>
              <a:ext cx="1385316" cy="1024128"/>
            </a:xfrm>
            <a:prstGeom prst="roundRect">
              <a:avLst>
                <a:gd name="adj" fmla="val 10714"/>
              </a:avLst>
            </a:prstGeom>
            <a:solidFill>
              <a:srgbClr val="E7F6EF"/>
            </a:solidFill>
            <a:ln>
              <a:noFill/>
            </a:ln>
          </p:spPr>
          <p:txBody>
            <a:bodyPr rtlCol="0" anchor="ctr"/>
            <a:lstStyle/>
            <a:p>
              <a:pPr algn="ctr"/>
            </a:p>
          </p:txBody>
        </p:sp>
        <p:sp>
          <p:nvSpPr>
            <p:cNvPr id="73" name="TextBox 72"/>
            <p:cNvSpPr txBox="1"/>
            <p:nvPr/>
          </p:nvSpPr>
          <p:spPr>
            <a:xfrm>
              <a:off x="8677656" y="4343400"/>
              <a:ext cx="1184148" cy="237744"/>
            </a:xfrm>
            <a:prstGeom prst="rect">
              <a:avLst/>
            </a:prstGeom>
            <a:noFill/>
          </p:spPr>
          <p:txBody>
            <a:bodyPr wrap="square" lIns="0" rIns="0" tIns="0" bIns="0" anchor="ctr">
              <a:noAutofit/>
            </a:bodyPr>
            <a:lstStyle/>
            <a:p>
              <a:pPr algn="l"/>
              <a:r>
                <a:rPr sz="1000" b="1" i="0">
                  <a:solidFill>
                    <a:srgbClr val="12805C"/>
                  </a:solidFill>
                  <a:latin typeface="Inter" panose="020B0502030000000004" pitchFamily="34" charset="0"/>
                </a:rPr>
                <a:t>Approved</a:t>
              </a:r>
            </a:p>
          </p:txBody>
        </p:sp>
        <p:sp>
          <p:nvSpPr>
            <p:cNvPr id="74" name="TextBox 73"/>
            <p:cNvSpPr txBox="1"/>
            <p:nvPr/>
          </p:nvSpPr>
          <p:spPr>
            <a:xfrm>
              <a:off x="8677656" y="4608576"/>
              <a:ext cx="1165860" cy="640080"/>
            </a:xfrm>
            <a:prstGeom prst="rect">
              <a:avLst/>
            </a:prstGeom>
            <a:noFill/>
          </p:spPr>
          <p:txBody>
            <a:bodyPr wrap="square" lIns="0" rIns="0" tIns="0" bIns="0" anchor="t">
              <a:noAutofit/>
            </a:bodyPr>
            <a:lstStyle/>
            <a:p>
              <a:pPr algn="l">
                <a:lnSpc>
                  <a:spcPct val="105000"/>
                </a:lnSpc>
              </a:pPr>
              <a:r>
                <a:rPr sz="950" b="0" i="0">
                  <a:solidFill>
                    <a:srgbClr val="0E0E10"/>
                  </a:solidFill>
                  <a:latin typeface="Inter" panose="020B0502030000000004" pitchFamily="34" charset="0"/>
                </a:rPr>
                <a:t>The human replies YES 1234.</a:t>
              </a:r>
            </a:p>
          </p:txBody>
        </p:sp>
      </p:grpSp>
      <p:grpSp>
        <p:nvGrpSpPr>
          <p:cNvPr id="75" name="Group 74"/>
          <p:cNvGrpSpPr/>
          <p:nvPr/>
        </p:nvGrpSpPr>
        <p:grpSpPr>
          <a:xfrm>
            <a:off x="10122408" y="1783080"/>
            <a:ext cx="1385316" cy="2148840"/>
            <a:chOff x="10122408" y="1783080"/>
            <a:chExt cx="1385316" cy="2148840"/>
          </a:xfrm>
        </p:grpSpPr>
        <p:sp>
          <p:nvSpPr>
            <p:cNvPr id="76" name="Rounded Rectangle 75"/>
            <p:cNvSpPr/>
            <p:nvPr/>
          </p:nvSpPr>
          <p:spPr>
            <a:xfrm>
              <a:off x="10122408" y="1783080"/>
              <a:ext cx="1385316" cy="2148840"/>
            </a:xfrm>
            <a:prstGeom prst="roundRect">
              <a:avLst>
                <a:gd name="adj" fmla="val 79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77" name="Oval 76"/>
            <p:cNvSpPr/>
            <p:nvPr/>
          </p:nvSpPr>
          <p:spPr>
            <a:xfrm>
              <a:off x="10268712" y="1947672"/>
              <a:ext cx="292608" cy="292608"/>
            </a:xfrm>
            <a:prstGeom prst="ellipse">
              <a:avLst/>
            </a:prstGeom>
            <a:solidFill>
              <a:srgbClr val="E7F6EF"/>
            </a:solidFill>
            <a:ln>
              <a:noFill/>
            </a:ln>
          </p:spPr>
          <p:txBody>
            <a:bodyPr rtlCol="0" anchor="ctr"/>
            <a:lstStyle/>
            <a:p>
              <a:pPr algn="ctr"/>
            </a:p>
          </p:txBody>
        </p:sp>
        <p:sp>
          <p:nvSpPr>
            <p:cNvPr id="78" name="TextBox 77"/>
            <p:cNvSpPr txBox="1"/>
            <p:nvPr/>
          </p:nvSpPr>
          <p:spPr>
            <a:xfrm>
              <a:off x="10268712" y="1947672"/>
              <a:ext cx="292608" cy="292608"/>
            </a:xfrm>
            <a:prstGeom prst="rect">
              <a:avLst/>
            </a:prstGeom>
            <a:noFill/>
          </p:spPr>
          <p:txBody>
            <a:bodyPr wrap="square" lIns="0" rIns="0" tIns="0" bIns="0" anchor="ctr">
              <a:noAutofit/>
            </a:bodyPr>
            <a:lstStyle/>
            <a:p>
              <a:pPr algn="ctr"/>
              <a:r>
                <a:rPr sz="1000" b="1" i="0">
                  <a:solidFill>
                    <a:srgbClr val="12805C"/>
                  </a:solidFill>
                  <a:latin typeface="Inter" panose="020B0502030000000004" pitchFamily="34" charset="0"/>
                </a:rPr>
                <a:t>7</a:t>
              </a:r>
            </a:p>
          </p:txBody>
        </p:sp>
        <p:sp>
          <p:nvSpPr>
            <p:cNvPr id="79" name="TextBox 78"/>
            <p:cNvSpPr txBox="1"/>
            <p:nvPr/>
          </p:nvSpPr>
          <p:spPr>
            <a:xfrm>
              <a:off x="10268712" y="2350008"/>
              <a:ext cx="1147572" cy="457200"/>
            </a:xfrm>
            <a:prstGeom prst="rect">
              <a:avLst/>
            </a:prstGeom>
            <a:noFill/>
          </p:spPr>
          <p:txBody>
            <a:bodyPr wrap="square" lIns="0" rIns="0" tIns="0" bIns="0" anchor="t">
              <a:noAutofit/>
            </a:bodyPr>
            <a:lstStyle/>
            <a:p>
              <a:pPr algn="l">
                <a:lnSpc>
                  <a:spcPct val="95000"/>
                </a:lnSpc>
              </a:pPr>
              <a:r>
                <a:rPr sz="1350" b="1" i="0">
                  <a:solidFill>
                    <a:srgbClr val="0E0E10"/>
                  </a:solidFill>
                  <a:latin typeface="Inter" panose="020B0502030000000004" pitchFamily="34" charset="0"/>
                </a:rPr>
                <a:t>Ledger + receipt</a:t>
              </a:r>
            </a:p>
          </p:txBody>
        </p:sp>
        <p:sp>
          <p:nvSpPr>
            <p:cNvPr id="80" name="TextBox 79"/>
            <p:cNvSpPr txBox="1"/>
            <p:nvPr/>
          </p:nvSpPr>
          <p:spPr>
            <a:xfrm>
              <a:off x="10268712" y="2834640"/>
              <a:ext cx="1129284" cy="1051560"/>
            </a:xfrm>
            <a:prstGeom prst="rect">
              <a:avLst/>
            </a:prstGeom>
            <a:noFill/>
          </p:spPr>
          <p:txBody>
            <a:bodyPr wrap="square" lIns="0" rIns="0" tIns="0" bIns="0" anchor="t">
              <a:noAutofit/>
            </a:bodyPr>
            <a:lstStyle/>
            <a:p>
              <a:pPr algn="l">
                <a:lnSpc>
                  <a:spcPct val="108000"/>
                </a:lnSpc>
              </a:pPr>
              <a:r>
                <a:rPr sz="1000" b="0" i="0">
                  <a:solidFill>
                    <a:srgbClr val="5D5D66"/>
                  </a:solidFill>
                  <a:latin typeface="Inter" panose="020B0502030000000004" pitchFamily="34" charset="0"/>
                </a:rPr>
                <a:t>Double-entry. Every transaction sums to $0.</a:t>
              </a:r>
            </a:p>
          </p:txBody>
        </p:sp>
      </p:grpSp>
      <p:grpSp>
        <p:nvGrpSpPr>
          <p:cNvPr id="81" name="Group 80"/>
          <p:cNvGrpSpPr/>
          <p:nvPr/>
        </p:nvGrpSpPr>
        <p:grpSpPr>
          <a:xfrm>
            <a:off x="685800" y="5623560"/>
            <a:ext cx="10817352" cy="603504"/>
            <a:chOff x="685800" y="5623560"/>
            <a:chExt cx="10817352" cy="603504"/>
          </a:xfrm>
        </p:grpSpPr>
        <p:sp>
          <p:nvSpPr>
            <p:cNvPr id="82" name="Rounded Rectangle 81"/>
            <p:cNvSpPr/>
            <p:nvPr/>
          </p:nvSpPr>
          <p:spPr>
            <a:xfrm>
              <a:off x="685800" y="5623560"/>
              <a:ext cx="10817352" cy="603504"/>
            </a:xfrm>
            <a:prstGeom prst="roundRect">
              <a:avLst>
                <a:gd name="adj" fmla="val 18181"/>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grpSp>
      <p:grpSp>
        <p:nvGrpSpPr>
          <p:cNvPr id="83" name="Group 82"/>
          <p:cNvGrpSpPr/>
          <p:nvPr/>
        </p:nvGrpSpPr>
        <p:grpSpPr>
          <a:xfrm>
            <a:off x="914400" y="5623560"/>
            <a:ext cx="2430018" cy="603504"/>
            <a:chOff x="914400" y="5623560"/>
            <a:chExt cx="2430018" cy="603504"/>
          </a:xfrm>
        </p:grpSpPr>
        <p:sp>
          <p:nvSpPr>
            <p:cNvPr id="84" name="TextBox 83"/>
            <p:cNvSpPr txBox="1"/>
            <p:nvPr/>
          </p:nvSpPr>
          <p:spPr>
            <a:xfrm>
              <a:off x="914400" y="5623560"/>
              <a:ext cx="2430018" cy="603504"/>
            </a:xfrm>
            <a:prstGeom prst="rect">
              <a:avLst/>
            </a:prstGeom>
            <a:noFill/>
          </p:spPr>
          <p:txBody>
            <a:bodyPr wrap="square" lIns="0" rIns="0" tIns="0" bIns="0" anchor="ctr">
              <a:noAutofit/>
            </a:bodyPr>
            <a:lstStyle/>
            <a:p>
              <a:pPr algn="l"/>
              <a:r>
                <a:rPr sz="2000" b="1" i="0">
                  <a:solidFill>
                    <a:srgbClr val="0E0E10"/>
                  </a:solidFill>
                  <a:latin typeface="Inter" panose="020B0502030000000004" pitchFamily="34" charset="0"/>
                </a:rPr>
                <a:t>2</a:t>
              </a:r>
              <a:r>
                <a:rPr sz="1100" b="0" i="0">
                  <a:solidFill>
                    <a:srgbClr val="5D5D66"/>
                  </a:solidFill>
                  <a:latin typeface="Inter" panose="020B0502030000000004" pitchFamily="34" charset="0"/>
                </a:rPr>
                <a:t>   calls for the agent</a:t>
              </a:r>
            </a:p>
          </p:txBody>
        </p:sp>
      </p:grpSp>
      <p:sp>
        <p:nvSpPr>
          <p:cNvPr id="85" name="Rectangle 84"/>
          <p:cNvSpPr/>
          <p:nvPr/>
        </p:nvSpPr>
        <p:spPr>
          <a:xfrm>
            <a:off x="3390138" y="5751576"/>
            <a:ext cx="9144" cy="347472"/>
          </a:xfrm>
          <a:prstGeom prst="rect">
            <a:avLst/>
          </a:prstGeom>
          <a:solidFill>
            <a:srgbClr val="E9E8E3"/>
          </a:solidFill>
          <a:ln>
            <a:noFill/>
          </a:ln>
        </p:spPr>
        <p:txBody>
          <a:bodyPr rtlCol="0" anchor="ctr"/>
          <a:lstStyle/>
          <a:p>
            <a:pPr algn="ctr"/>
          </a:p>
        </p:txBody>
      </p:sp>
      <p:grpSp>
        <p:nvGrpSpPr>
          <p:cNvPr id="86" name="Group 85"/>
          <p:cNvGrpSpPr/>
          <p:nvPr/>
        </p:nvGrpSpPr>
        <p:grpSpPr>
          <a:xfrm>
            <a:off x="3618738" y="5623560"/>
            <a:ext cx="2430018" cy="603504"/>
            <a:chOff x="3618738" y="5623560"/>
            <a:chExt cx="2430018" cy="603504"/>
          </a:xfrm>
        </p:grpSpPr>
        <p:sp>
          <p:nvSpPr>
            <p:cNvPr id="87" name="TextBox 86"/>
            <p:cNvSpPr txBox="1"/>
            <p:nvPr/>
          </p:nvSpPr>
          <p:spPr>
            <a:xfrm>
              <a:off x="3618738" y="5623560"/>
              <a:ext cx="2430018" cy="603504"/>
            </a:xfrm>
            <a:prstGeom prst="rect">
              <a:avLst/>
            </a:prstGeom>
            <a:noFill/>
          </p:spPr>
          <p:txBody>
            <a:bodyPr wrap="square" lIns="0" rIns="0" tIns="0" bIns="0" anchor="ctr">
              <a:noAutofit/>
            </a:bodyPr>
            <a:lstStyle/>
            <a:p>
              <a:pPr algn="l"/>
              <a:r>
                <a:rPr sz="2000" b="1" i="0">
                  <a:solidFill>
                    <a:srgbClr val="0E0E10"/>
                  </a:solidFill>
                  <a:latin typeface="Inter" panose="020B0502030000000004" pitchFamily="34" charset="0"/>
                </a:rPr>
                <a:t>~12 s</a:t>
              </a:r>
              <a:r>
                <a:rPr sz="1100" b="0" i="0">
                  <a:solidFill>
                    <a:srgbClr val="5D5D66"/>
                  </a:solidFill>
                  <a:latin typeface="Inter" panose="020B0502030000000004" pitchFamily="34" charset="0"/>
                </a:rPr>
                <a:t>   live auction</a:t>
              </a:r>
            </a:p>
          </p:txBody>
        </p:sp>
      </p:grpSp>
      <p:sp>
        <p:nvSpPr>
          <p:cNvPr id="88" name="Rectangle 87"/>
          <p:cNvSpPr/>
          <p:nvPr/>
        </p:nvSpPr>
        <p:spPr>
          <a:xfrm>
            <a:off x="6094476" y="5751576"/>
            <a:ext cx="9144" cy="347472"/>
          </a:xfrm>
          <a:prstGeom prst="rect">
            <a:avLst/>
          </a:prstGeom>
          <a:solidFill>
            <a:srgbClr val="E9E8E3"/>
          </a:solidFill>
          <a:ln>
            <a:noFill/>
          </a:ln>
        </p:spPr>
        <p:txBody>
          <a:bodyPr rtlCol="0" anchor="ctr"/>
          <a:lstStyle/>
          <a:p>
            <a:pPr algn="ctr"/>
          </a:p>
        </p:txBody>
      </p:sp>
      <p:grpSp>
        <p:nvGrpSpPr>
          <p:cNvPr id="89" name="Group 88"/>
          <p:cNvGrpSpPr/>
          <p:nvPr/>
        </p:nvGrpSpPr>
        <p:grpSpPr>
          <a:xfrm>
            <a:off x="6323076" y="5623560"/>
            <a:ext cx="2430018" cy="603504"/>
            <a:chOff x="6323076" y="5623560"/>
            <a:chExt cx="2430018" cy="603504"/>
          </a:xfrm>
        </p:grpSpPr>
        <p:sp>
          <p:nvSpPr>
            <p:cNvPr id="90" name="TextBox 89"/>
            <p:cNvSpPr txBox="1"/>
            <p:nvPr/>
          </p:nvSpPr>
          <p:spPr>
            <a:xfrm>
              <a:off x="6323076" y="5623560"/>
              <a:ext cx="2430018" cy="603504"/>
            </a:xfrm>
            <a:prstGeom prst="rect">
              <a:avLst/>
            </a:prstGeom>
            <a:noFill/>
          </p:spPr>
          <p:txBody>
            <a:bodyPr wrap="square" lIns="0" rIns="0" tIns="0" bIns="0" anchor="ctr">
              <a:noAutofit/>
            </a:bodyPr>
            <a:lstStyle/>
            <a:p>
              <a:pPr algn="l"/>
              <a:r>
                <a:rPr sz="2000" b="1" i="0">
                  <a:solidFill>
                    <a:srgbClr val="12805C"/>
                  </a:solidFill>
                  <a:latin typeface="Inter" panose="020B0502030000000004" pitchFamily="34" charset="0"/>
                </a:rPr>
                <a:t>5</a:t>
              </a:r>
              <a:r>
                <a:rPr sz="1100" b="0" i="0">
                  <a:solidFill>
                    <a:srgbClr val="5D5D66"/>
                  </a:solidFill>
                  <a:latin typeface="Inter" panose="020B0502030000000004" pitchFamily="34" charset="0"/>
                </a:rPr>
                <a:t>   checks per bid</a:t>
              </a:r>
            </a:p>
          </p:txBody>
        </p:sp>
      </p:grpSp>
      <p:sp>
        <p:nvSpPr>
          <p:cNvPr id="91" name="Rectangle 90"/>
          <p:cNvSpPr/>
          <p:nvPr/>
        </p:nvSpPr>
        <p:spPr>
          <a:xfrm>
            <a:off x="8798814" y="5751576"/>
            <a:ext cx="9144" cy="347472"/>
          </a:xfrm>
          <a:prstGeom prst="rect">
            <a:avLst/>
          </a:prstGeom>
          <a:solidFill>
            <a:srgbClr val="E9E8E3"/>
          </a:solidFill>
          <a:ln>
            <a:noFill/>
          </a:ln>
        </p:spPr>
        <p:txBody>
          <a:bodyPr rtlCol="0" anchor="ctr"/>
          <a:lstStyle/>
          <a:p>
            <a:pPr algn="ctr"/>
          </a:p>
        </p:txBody>
      </p:sp>
      <p:grpSp>
        <p:nvGrpSpPr>
          <p:cNvPr id="92" name="Group 91"/>
          <p:cNvGrpSpPr/>
          <p:nvPr/>
        </p:nvGrpSpPr>
        <p:grpSpPr>
          <a:xfrm>
            <a:off x="9027414" y="5623560"/>
            <a:ext cx="2430018" cy="603504"/>
            <a:chOff x="9027414" y="5623560"/>
            <a:chExt cx="2430018" cy="603504"/>
          </a:xfrm>
        </p:grpSpPr>
        <p:sp>
          <p:nvSpPr>
            <p:cNvPr id="93" name="TextBox 92"/>
            <p:cNvSpPr txBox="1"/>
            <p:nvPr/>
          </p:nvSpPr>
          <p:spPr>
            <a:xfrm>
              <a:off x="9027414" y="5623560"/>
              <a:ext cx="2430018" cy="603504"/>
            </a:xfrm>
            <a:prstGeom prst="rect">
              <a:avLst/>
            </a:prstGeom>
            <a:noFill/>
          </p:spPr>
          <p:txBody>
            <a:bodyPr wrap="square" lIns="0" rIns="0" tIns="0" bIns="0" anchor="ctr">
              <a:noAutofit/>
            </a:bodyPr>
            <a:lstStyle/>
            <a:p>
              <a:pPr algn="l"/>
              <a:r>
                <a:rPr sz="2000" b="1" i="0">
                  <a:solidFill>
                    <a:srgbClr val="A15C07"/>
                  </a:solidFill>
                  <a:latin typeface="Inter" panose="020B0502030000000004" pitchFamily="34" charset="0"/>
                </a:rPr>
                <a:t>0%</a:t>
              </a:r>
              <a:r>
                <a:rPr sz="1100" b="0" i="0">
                  <a:solidFill>
                    <a:srgbClr val="5D5D66"/>
                  </a:solidFill>
                  <a:latin typeface="Inter" panose="020B0502030000000004" pitchFamily="34" charset="0"/>
                </a:rPr>
                <a:t>   of rank for sale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50"/>
                                        <p:tgtEl>
                                          <p:spTgt spid="13"/>
                                        </p:tgtEl>
                                      </p:cBhvr>
                                    </p:animEffect>
                                    <p:anim calcmode="lin" valueType="num">
                                      <p:cBhvr additive="base">
                                        <p:cTn id="16" dur="45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450" fill="hold" decel="100000"/>
                                        <p:tgtEl>
                                          <p:spTgt spid="13"/>
                                        </p:tgtEl>
                                        <p:attrNameLst>
                                          <p:attrName>ppt_y</p:attrName>
                                        </p:attrNameLst>
                                      </p:cBhvr>
                                      <p:tavLst>
                                        <p:tav tm="0">
                                          <p:val>
                                            <p:strVal val="#ppt_y+0.025"/>
                                          </p:val>
                                        </p:tav>
                                        <p:tav tm="100000">
                                          <p:val>
                                            <p:strVal val="#ppt_y"/>
                                          </p:val>
                                        </p:tav>
                                      </p:tavLst>
                                    </p:anim>
                                  </p:childTnLst>
                                </p:cTn>
                              </p:par>
                              <p:par>
                                <p:cTn id="18" presetID="22" presetClass="entr" presetSubtype="8" fill="hold" grpId="0" nodeType="withEffect">
                                  <p:stCondLst>
                                    <p:cond delay="350"/>
                                  </p:stCondLst>
                                  <p:childTnLst>
                                    <p:set>
                                      <p:cBhvr>
                                        <p:cTn id="19" dur="1" fill="hold">
                                          <p:stCondLst>
                                            <p:cond delay="0"/>
                                          </p:stCondLst>
                                        </p:cTn>
                                        <p:tgtEl>
                                          <p:spTgt spid="19"/>
                                        </p:tgtEl>
                                        <p:attrNameLst>
                                          <p:attrName>style.visibility</p:attrName>
                                        </p:attrNameLst>
                                      </p:cBhvr>
                                      <p:to>
                                        <p:strVal val="visible"/>
                                      </p:to>
                                    </p:set>
                                    <p:animEffect transition="in" filter="wipe(left)">
                                      <p:cBhvr>
                                        <p:cTn id="20" dur="220"/>
                                        <p:tgtEl>
                                          <p:spTgt spid="19"/>
                                        </p:tgtEl>
                                      </p:cBhvr>
                                    </p:animEffect>
                                  </p:childTnLst>
                                </p:cTn>
                              </p:par>
                              <p:par>
                                <p:cTn id="21" presetID="42" presetClass="entr" presetSubtype="0" fill="hold" grpId="0" nodeType="withEffect">
                                  <p:stCondLst>
                                    <p:cond delay="39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50"/>
                                        <p:tgtEl>
                                          <p:spTgt spid="20"/>
                                        </p:tgtEl>
                                      </p:cBhvr>
                                    </p:animEffect>
                                    <p:anim calcmode="lin" valueType="num">
                                      <p:cBhvr additive="base">
                                        <p:cTn id="24" dur="450" fill="hold" decel="100000"/>
                                        <p:tgtEl>
                                          <p:spTgt spid="20"/>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0"/>
                                        </p:tgtEl>
                                        <p:attrNameLst>
                                          <p:attrName>ppt_y</p:attrName>
                                        </p:attrNameLst>
                                      </p:cBhvr>
                                      <p:tavLst>
                                        <p:tav tm="0">
                                          <p:val>
                                            <p:strVal val="#ppt_y+0.025"/>
                                          </p:val>
                                        </p:tav>
                                        <p:tav tm="100000">
                                          <p:val>
                                            <p:strVal val="#ppt_y"/>
                                          </p:val>
                                        </p:tav>
                                      </p:tavLst>
                                    </p:anim>
                                  </p:childTnLst>
                                </p:cTn>
                              </p:par>
                              <p:par>
                                <p:cTn id="26" presetID="22" presetClass="entr" presetSubtype="8" fill="hold" grpId="0" nodeType="withEffect">
                                  <p:stCondLst>
                                    <p:cond delay="490"/>
                                  </p:stCondLst>
                                  <p:childTnLst>
                                    <p:set>
                                      <p:cBhvr>
                                        <p:cTn id="27" dur="1" fill="hold">
                                          <p:stCondLst>
                                            <p:cond delay="0"/>
                                          </p:stCondLst>
                                        </p:cTn>
                                        <p:tgtEl>
                                          <p:spTgt spid="26"/>
                                        </p:tgtEl>
                                        <p:attrNameLst>
                                          <p:attrName>style.visibility</p:attrName>
                                        </p:attrNameLst>
                                      </p:cBhvr>
                                      <p:to>
                                        <p:strVal val="visible"/>
                                      </p:to>
                                    </p:set>
                                    <p:animEffect transition="in" filter="wipe(left)">
                                      <p:cBhvr>
                                        <p:cTn id="28" dur="220"/>
                                        <p:tgtEl>
                                          <p:spTgt spid="26"/>
                                        </p:tgtEl>
                                      </p:cBhvr>
                                    </p:animEffect>
                                  </p:childTnLst>
                                </p:cTn>
                              </p:par>
                              <p:par>
                                <p:cTn id="29" presetID="42" presetClass="entr" presetSubtype="0" fill="hold" grpId="0" nodeType="withEffect">
                                  <p:stCondLst>
                                    <p:cond delay="53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50"/>
                                        <p:tgtEl>
                                          <p:spTgt spid="27"/>
                                        </p:tgtEl>
                                      </p:cBhvr>
                                    </p:animEffect>
                                    <p:anim calcmode="lin" valueType="num">
                                      <p:cBhvr additive="base">
                                        <p:cTn id="32" dur="450" fill="hold" decel="100000"/>
                                        <p:tgtEl>
                                          <p:spTgt spid="27"/>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27"/>
                                        </p:tgtEl>
                                        <p:attrNameLst>
                                          <p:attrName>ppt_y</p:attrName>
                                        </p:attrNameLst>
                                      </p:cBhvr>
                                      <p:tavLst>
                                        <p:tav tm="0">
                                          <p:val>
                                            <p:strVal val="#ppt_y+0.025"/>
                                          </p:val>
                                        </p:tav>
                                        <p:tav tm="100000">
                                          <p:val>
                                            <p:strVal val="#ppt_y"/>
                                          </p:val>
                                        </p:tav>
                                      </p:tavLst>
                                    </p:anim>
                                  </p:childTnLst>
                                </p:cTn>
                              </p:par>
                              <p:par>
                                <p:cTn id="34" presetID="22" presetClass="entr" presetSubtype="8" fill="hold" grpId="0" nodeType="withEffect">
                                  <p:stCondLst>
                                    <p:cond delay="630"/>
                                  </p:stCondLst>
                                  <p:childTnLst>
                                    <p:set>
                                      <p:cBhvr>
                                        <p:cTn id="35" dur="1" fill="hold">
                                          <p:stCondLst>
                                            <p:cond delay="0"/>
                                          </p:stCondLst>
                                        </p:cTn>
                                        <p:tgtEl>
                                          <p:spTgt spid="33"/>
                                        </p:tgtEl>
                                        <p:attrNameLst>
                                          <p:attrName>style.visibility</p:attrName>
                                        </p:attrNameLst>
                                      </p:cBhvr>
                                      <p:to>
                                        <p:strVal val="visible"/>
                                      </p:to>
                                    </p:set>
                                    <p:animEffect transition="in" filter="wipe(left)">
                                      <p:cBhvr>
                                        <p:cTn id="36" dur="220"/>
                                        <p:tgtEl>
                                          <p:spTgt spid="33"/>
                                        </p:tgtEl>
                                      </p:cBhvr>
                                    </p:animEffect>
                                  </p:childTnLst>
                                </p:cTn>
                              </p:par>
                              <p:par>
                                <p:cTn id="37" presetID="10" presetClass="entr" presetSubtype="0" fill="hold" grpId="0" nodeType="withEffect">
                                  <p:stCondLst>
                                    <p:cond delay="145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250"/>
                                        <p:tgtEl>
                                          <p:spTgt spid="34"/>
                                        </p:tgtEl>
                                      </p:cBhvr>
                                    </p:animEffect>
                                  </p:childTnLst>
                                </p:cTn>
                              </p:par>
                              <p:par>
                                <p:cTn id="40" presetID="42" presetClass="entr" presetSubtype="0" fill="hold" grpId="0" nodeType="withEffect">
                                  <p:stCondLst>
                                    <p:cond delay="150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anim calcmode="lin" valueType="num">
                                      <p:cBhvr additive="base">
                                        <p:cTn id="43" dur="400" fill="hold" decel="100000"/>
                                        <p:tgtEl>
                                          <p:spTgt spid="35"/>
                                        </p:tgtEl>
                                        <p:attrNameLst>
                                          <p:attrName>ppt_x</p:attrName>
                                        </p:attrNameLst>
                                      </p:cBhvr>
                                      <p:tavLst>
                                        <p:tav tm="0">
                                          <p:val>
                                            <p:strVal val="#ppt_x"/>
                                          </p:val>
                                        </p:tav>
                                        <p:tav tm="100000">
                                          <p:val>
                                            <p:strVal val="#ppt_x"/>
                                          </p:val>
                                        </p:tav>
                                      </p:tavLst>
                                    </p:anim>
                                    <p:anim calcmode="lin" valueType="num">
                                      <p:cBhvr additive="base">
                                        <p:cTn id="44" dur="400" fill="hold" decel="100000"/>
                                        <p:tgtEl>
                                          <p:spTgt spid="35"/>
                                        </p:tgtEl>
                                        <p:attrNameLst>
                                          <p:attrName>ppt_y</p:attrName>
                                        </p:attrNameLst>
                                      </p:cBhvr>
                                      <p:tavLst>
                                        <p:tav tm="0">
                                          <p:val>
                                            <p:strVal val="#ppt_y+0.025"/>
                                          </p:val>
                                        </p:tav>
                                        <p:tav tm="100000">
                                          <p:val>
                                            <p:strVal val="#ppt_y"/>
                                          </p:val>
                                        </p:tav>
                                      </p:tavLst>
                                    </p:anim>
                                  </p:childTnLst>
                                </p:cTn>
                              </p:par>
                              <p:par>
                                <p:cTn id="45" presetID="42" presetClass="entr" presetSubtype="0" fill="hold" grpId="0" nodeType="withEffect">
                                  <p:stCondLst>
                                    <p:cond delay="67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50"/>
                                        <p:tgtEl>
                                          <p:spTgt spid="39"/>
                                        </p:tgtEl>
                                      </p:cBhvr>
                                    </p:animEffect>
                                    <p:anim calcmode="lin" valueType="num">
                                      <p:cBhvr additive="base">
                                        <p:cTn id="48" dur="450" fill="hold" decel="100000"/>
                                        <p:tgtEl>
                                          <p:spTgt spid="39"/>
                                        </p:tgtEl>
                                        <p:attrNameLst>
                                          <p:attrName>ppt_x</p:attrName>
                                        </p:attrNameLst>
                                      </p:cBhvr>
                                      <p:tavLst>
                                        <p:tav tm="0">
                                          <p:val>
                                            <p:strVal val="#ppt_x"/>
                                          </p:val>
                                        </p:tav>
                                        <p:tav tm="100000">
                                          <p:val>
                                            <p:strVal val="#ppt_x"/>
                                          </p:val>
                                        </p:tav>
                                      </p:tavLst>
                                    </p:anim>
                                    <p:anim calcmode="lin" valueType="num">
                                      <p:cBhvr additive="base">
                                        <p:cTn id="49" dur="450" fill="hold" decel="100000"/>
                                        <p:tgtEl>
                                          <p:spTgt spid="39"/>
                                        </p:tgtEl>
                                        <p:attrNameLst>
                                          <p:attrName>ppt_y</p:attrName>
                                        </p:attrNameLst>
                                      </p:cBhvr>
                                      <p:tavLst>
                                        <p:tav tm="0">
                                          <p:val>
                                            <p:strVal val="#ppt_y+0.025"/>
                                          </p:val>
                                        </p:tav>
                                        <p:tav tm="100000">
                                          <p:val>
                                            <p:strVal val="#ppt_y"/>
                                          </p:val>
                                        </p:tav>
                                      </p:tavLst>
                                    </p:anim>
                                  </p:childTnLst>
                                </p:cTn>
                              </p:par>
                              <p:par>
                                <p:cTn id="50" presetID="22" presetClass="entr" presetSubtype="8" fill="hold" grpId="0" nodeType="withEffect">
                                  <p:stCondLst>
                                    <p:cond delay="770"/>
                                  </p:stCondLst>
                                  <p:childTnLst>
                                    <p:set>
                                      <p:cBhvr>
                                        <p:cTn id="51" dur="1" fill="hold">
                                          <p:stCondLst>
                                            <p:cond delay="0"/>
                                          </p:stCondLst>
                                        </p:cTn>
                                        <p:tgtEl>
                                          <p:spTgt spid="45"/>
                                        </p:tgtEl>
                                        <p:attrNameLst>
                                          <p:attrName>style.visibility</p:attrName>
                                        </p:attrNameLst>
                                      </p:cBhvr>
                                      <p:to>
                                        <p:strVal val="visible"/>
                                      </p:to>
                                    </p:set>
                                    <p:animEffect transition="in" filter="wipe(left)">
                                      <p:cBhvr>
                                        <p:cTn id="52" dur="220"/>
                                        <p:tgtEl>
                                          <p:spTgt spid="45"/>
                                        </p:tgtEl>
                                      </p:cBhvr>
                                    </p:animEffect>
                                  </p:childTnLst>
                                </p:cTn>
                              </p:par>
                              <p:par>
                                <p:cTn id="53" presetID="10" presetClass="entr" presetSubtype="0" fill="hold" grpId="0" nodeType="withEffect">
                                  <p:stCondLst>
                                    <p:cond delay="1590"/>
                                  </p:stCondLst>
                                  <p:childTnLst>
                                    <p:set>
                                      <p:cBhvr>
                                        <p:cTn id="54" dur="1" fill="hold">
                                          <p:stCondLst>
                                            <p:cond delay="0"/>
                                          </p:stCondLst>
                                        </p:cTn>
                                        <p:tgtEl>
                                          <p:spTgt spid="46"/>
                                        </p:tgtEl>
                                        <p:attrNameLst>
                                          <p:attrName>style.visibility</p:attrName>
                                        </p:attrNameLst>
                                      </p:cBhvr>
                                      <p:to>
                                        <p:strVal val="visible"/>
                                      </p:to>
                                    </p:set>
                                    <p:animEffect transition="in" filter="fade">
                                      <p:cBhvr>
                                        <p:cTn id="55" dur="250"/>
                                        <p:tgtEl>
                                          <p:spTgt spid="46"/>
                                        </p:tgtEl>
                                      </p:cBhvr>
                                    </p:animEffect>
                                  </p:childTnLst>
                                </p:cTn>
                              </p:par>
                              <p:par>
                                <p:cTn id="56" presetID="42" presetClass="entr" presetSubtype="0" fill="hold" grpId="0" nodeType="withEffect">
                                  <p:stCondLst>
                                    <p:cond delay="1640"/>
                                  </p:stCondLst>
                                  <p:childTnLst>
                                    <p:set>
                                      <p:cBhvr>
                                        <p:cTn id="57" dur="1" fill="hold">
                                          <p:stCondLst>
                                            <p:cond delay="0"/>
                                          </p:stCondLst>
                                        </p:cTn>
                                        <p:tgtEl>
                                          <p:spTgt spid="47"/>
                                        </p:tgtEl>
                                        <p:attrNameLst>
                                          <p:attrName>style.visibility</p:attrName>
                                        </p:attrNameLst>
                                      </p:cBhvr>
                                      <p:to>
                                        <p:strVal val="visible"/>
                                      </p:to>
                                    </p:set>
                                    <p:animEffect transition="in" filter="fade">
                                      <p:cBhvr>
                                        <p:cTn id="58" dur="400"/>
                                        <p:tgtEl>
                                          <p:spTgt spid="47"/>
                                        </p:tgtEl>
                                      </p:cBhvr>
                                    </p:animEffect>
                                    <p:anim calcmode="lin" valueType="num">
                                      <p:cBhvr additive="base">
                                        <p:cTn id="59" dur="400" fill="hold" decel="100000"/>
                                        <p:tgtEl>
                                          <p:spTgt spid="4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47"/>
                                        </p:tgtEl>
                                        <p:attrNameLst>
                                          <p:attrName>ppt_y</p:attrName>
                                        </p:attrNameLst>
                                      </p:cBhvr>
                                      <p:tavLst>
                                        <p:tav tm="0">
                                          <p:val>
                                            <p:strVal val="#ppt_y+0.025"/>
                                          </p:val>
                                        </p:tav>
                                        <p:tav tm="100000">
                                          <p:val>
                                            <p:strVal val="#ppt_y"/>
                                          </p:val>
                                        </p:tav>
                                      </p:tavLst>
                                    </p:anim>
                                  </p:childTnLst>
                                </p:cTn>
                              </p:par>
                              <p:par>
                                <p:cTn id="61" presetID="42" presetClass="entr" presetSubtype="0" fill="hold" grpId="0" nodeType="withEffect">
                                  <p:stCondLst>
                                    <p:cond delay="8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50"/>
                                        <p:tgtEl>
                                          <p:spTgt spid="51"/>
                                        </p:tgtEl>
                                      </p:cBhvr>
                                    </p:animEffect>
                                    <p:anim calcmode="lin" valueType="num">
                                      <p:cBhvr additive="base">
                                        <p:cTn id="64" dur="450" fill="hold" decel="100000"/>
                                        <p:tgtEl>
                                          <p:spTgt spid="51"/>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51"/>
                                        </p:tgtEl>
                                        <p:attrNameLst>
                                          <p:attrName>ppt_y</p:attrName>
                                        </p:attrNameLst>
                                      </p:cBhvr>
                                      <p:tavLst>
                                        <p:tav tm="0">
                                          <p:val>
                                            <p:strVal val="#ppt_y+0.025"/>
                                          </p:val>
                                        </p:tav>
                                        <p:tav tm="100000">
                                          <p:val>
                                            <p:strVal val="#ppt_y"/>
                                          </p:val>
                                        </p:tav>
                                      </p:tavLst>
                                    </p:anim>
                                  </p:childTnLst>
                                </p:cTn>
                              </p:par>
                              <p:par>
                                <p:cTn id="66" presetID="22" presetClass="entr" presetSubtype="8" fill="hold" grpId="0" nodeType="withEffect">
                                  <p:stCondLst>
                                    <p:cond delay="91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220"/>
                                        <p:tgtEl>
                                          <p:spTgt spid="57"/>
                                        </p:tgtEl>
                                      </p:cBhvr>
                                    </p:animEffect>
                                  </p:childTnLst>
                                </p:cTn>
                              </p:par>
                              <p:par>
                                <p:cTn id="69" presetID="10" presetClass="entr" presetSubtype="0" fill="hold" grpId="0" nodeType="withEffect">
                                  <p:stCondLst>
                                    <p:cond delay="173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250"/>
                                        <p:tgtEl>
                                          <p:spTgt spid="58"/>
                                        </p:tgtEl>
                                      </p:cBhvr>
                                    </p:animEffect>
                                  </p:childTnLst>
                                </p:cTn>
                              </p:par>
                              <p:par>
                                <p:cTn id="72" presetID="42" presetClass="entr" presetSubtype="0" fill="hold" grpId="0" nodeType="withEffect">
                                  <p:stCondLst>
                                    <p:cond delay="178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anim calcmode="lin" valueType="num">
                                      <p:cBhvr additive="base">
                                        <p:cTn id="75" dur="400" fill="hold" decel="100000"/>
                                        <p:tgtEl>
                                          <p:spTgt spid="59"/>
                                        </p:tgtEl>
                                        <p:attrNameLst>
                                          <p:attrName>ppt_x</p:attrName>
                                        </p:attrNameLst>
                                      </p:cBhvr>
                                      <p:tavLst>
                                        <p:tav tm="0">
                                          <p:val>
                                            <p:strVal val="#ppt_x"/>
                                          </p:val>
                                        </p:tav>
                                        <p:tav tm="100000">
                                          <p:val>
                                            <p:strVal val="#ppt_x"/>
                                          </p:val>
                                        </p:tav>
                                      </p:tavLst>
                                    </p:anim>
                                    <p:anim calcmode="lin" valueType="num">
                                      <p:cBhvr additive="base">
                                        <p:cTn id="76" dur="400" fill="hold" decel="100000"/>
                                        <p:tgtEl>
                                          <p:spTgt spid="59"/>
                                        </p:tgtEl>
                                        <p:attrNameLst>
                                          <p:attrName>ppt_y</p:attrName>
                                        </p:attrNameLst>
                                      </p:cBhvr>
                                      <p:tavLst>
                                        <p:tav tm="0">
                                          <p:val>
                                            <p:strVal val="#ppt_y+0.025"/>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63"/>
                                        </p:tgtEl>
                                        <p:attrNameLst>
                                          <p:attrName>style.visibility</p:attrName>
                                        </p:attrNameLst>
                                      </p:cBhvr>
                                      <p:to>
                                        <p:strVal val="visible"/>
                                      </p:to>
                                    </p:set>
                                    <p:animEffect transition="in" filter="fade">
                                      <p:cBhvr>
                                        <p:cTn id="79" dur="450"/>
                                        <p:tgtEl>
                                          <p:spTgt spid="63"/>
                                        </p:tgtEl>
                                      </p:cBhvr>
                                    </p:animEffect>
                                    <p:anim calcmode="lin" valueType="num">
                                      <p:cBhvr additive="base">
                                        <p:cTn id="80" dur="450" fill="hold" decel="100000"/>
                                        <p:tgtEl>
                                          <p:spTgt spid="63"/>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63"/>
                                        </p:tgtEl>
                                        <p:attrNameLst>
                                          <p:attrName>ppt_y</p:attrName>
                                        </p:attrNameLst>
                                      </p:cBhvr>
                                      <p:tavLst>
                                        <p:tav tm="0">
                                          <p:val>
                                            <p:strVal val="#ppt_y+0.025"/>
                                          </p:val>
                                        </p:tav>
                                        <p:tav tm="100000">
                                          <p:val>
                                            <p:strVal val="#ppt_y"/>
                                          </p:val>
                                        </p:tav>
                                      </p:tavLst>
                                    </p:anim>
                                  </p:childTnLst>
                                </p:cTn>
                              </p:par>
                              <p:par>
                                <p:cTn id="82" presetID="22" presetClass="entr" presetSubtype="8" fill="hold" grpId="0" nodeType="withEffect">
                                  <p:stCondLst>
                                    <p:cond delay="1050"/>
                                  </p:stCondLst>
                                  <p:childTnLst>
                                    <p:set>
                                      <p:cBhvr>
                                        <p:cTn id="83" dur="1" fill="hold">
                                          <p:stCondLst>
                                            <p:cond delay="0"/>
                                          </p:stCondLst>
                                        </p:cTn>
                                        <p:tgtEl>
                                          <p:spTgt spid="69"/>
                                        </p:tgtEl>
                                        <p:attrNameLst>
                                          <p:attrName>style.visibility</p:attrName>
                                        </p:attrNameLst>
                                      </p:cBhvr>
                                      <p:to>
                                        <p:strVal val="visible"/>
                                      </p:to>
                                    </p:set>
                                    <p:animEffect transition="in" filter="wipe(left)">
                                      <p:cBhvr>
                                        <p:cTn id="84" dur="220"/>
                                        <p:tgtEl>
                                          <p:spTgt spid="69"/>
                                        </p:tgtEl>
                                      </p:cBhvr>
                                    </p:animEffect>
                                  </p:childTnLst>
                                </p:cTn>
                              </p:par>
                              <p:par>
                                <p:cTn id="85" presetID="10" presetClass="entr" presetSubtype="0" fill="hold" grpId="0" nodeType="withEffect">
                                  <p:stCondLst>
                                    <p:cond delay="1870"/>
                                  </p:stCondLst>
                                  <p:childTnLst>
                                    <p:set>
                                      <p:cBhvr>
                                        <p:cTn id="86" dur="1" fill="hold">
                                          <p:stCondLst>
                                            <p:cond delay="0"/>
                                          </p:stCondLst>
                                        </p:cTn>
                                        <p:tgtEl>
                                          <p:spTgt spid="70"/>
                                        </p:tgtEl>
                                        <p:attrNameLst>
                                          <p:attrName>style.visibility</p:attrName>
                                        </p:attrNameLst>
                                      </p:cBhvr>
                                      <p:to>
                                        <p:strVal val="visible"/>
                                      </p:to>
                                    </p:set>
                                    <p:animEffect transition="in" filter="fade">
                                      <p:cBhvr>
                                        <p:cTn id="87" dur="250"/>
                                        <p:tgtEl>
                                          <p:spTgt spid="70"/>
                                        </p:tgtEl>
                                      </p:cBhvr>
                                    </p:animEffect>
                                  </p:childTnLst>
                                </p:cTn>
                              </p:par>
                              <p:par>
                                <p:cTn id="88" presetID="42" presetClass="entr" presetSubtype="0" fill="hold" grpId="0" nodeType="withEffect">
                                  <p:stCondLst>
                                    <p:cond delay="1920"/>
                                  </p:stCondLst>
                                  <p:childTnLst>
                                    <p:set>
                                      <p:cBhvr>
                                        <p:cTn id="89" dur="1" fill="hold">
                                          <p:stCondLst>
                                            <p:cond delay="0"/>
                                          </p:stCondLst>
                                        </p:cTn>
                                        <p:tgtEl>
                                          <p:spTgt spid="71"/>
                                        </p:tgtEl>
                                        <p:attrNameLst>
                                          <p:attrName>style.visibility</p:attrName>
                                        </p:attrNameLst>
                                      </p:cBhvr>
                                      <p:to>
                                        <p:strVal val="visible"/>
                                      </p:to>
                                    </p:set>
                                    <p:animEffect transition="in" filter="fade">
                                      <p:cBhvr>
                                        <p:cTn id="90" dur="400"/>
                                        <p:tgtEl>
                                          <p:spTgt spid="71"/>
                                        </p:tgtEl>
                                      </p:cBhvr>
                                    </p:animEffect>
                                    <p:anim calcmode="lin" valueType="num">
                                      <p:cBhvr additive="base">
                                        <p:cTn id="91" dur="400" fill="hold" decel="100000"/>
                                        <p:tgtEl>
                                          <p:spTgt spid="71"/>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71"/>
                                        </p:tgtEl>
                                        <p:attrNameLst>
                                          <p:attrName>ppt_y</p:attrName>
                                        </p:attrNameLst>
                                      </p:cBhvr>
                                      <p:tavLst>
                                        <p:tav tm="0">
                                          <p:val>
                                            <p:strVal val="#ppt_y+0.025"/>
                                          </p:val>
                                        </p:tav>
                                        <p:tav tm="100000">
                                          <p:val>
                                            <p:strVal val="#ppt_y"/>
                                          </p:val>
                                        </p:tav>
                                      </p:tavLst>
                                    </p:anim>
                                  </p:childTnLst>
                                </p:cTn>
                              </p:par>
                              <p:par>
                                <p:cTn id="93" presetID="42" presetClass="entr" presetSubtype="0" fill="hold" grpId="0" nodeType="withEffect">
                                  <p:stCondLst>
                                    <p:cond delay="1090"/>
                                  </p:stCondLst>
                                  <p:childTnLst>
                                    <p:set>
                                      <p:cBhvr>
                                        <p:cTn id="94" dur="1" fill="hold">
                                          <p:stCondLst>
                                            <p:cond delay="0"/>
                                          </p:stCondLst>
                                        </p:cTn>
                                        <p:tgtEl>
                                          <p:spTgt spid="75"/>
                                        </p:tgtEl>
                                        <p:attrNameLst>
                                          <p:attrName>style.visibility</p:attrName>
                                        </p:attrNameLst>
                                      </p:cBhvr>
                                      <p:to>
                                        <p:strVal val="visible"/>
                                      </p:to>
                                    </p:set>
                                    <p:animEffect transition="in" filter="fade">
                                      <p:cBhvr>
                                        <p:cTn id="95" dur="450"/>
                                        <p:tgtEl>
                                          <p:spTgt spid="75"/>
                                        </p:tgtEl>
                                      </p:cBhvr>
                                    </p:animEffect>
                                    <p:anim calcmode="lin" valueType="num">
                                      <p:cBhvr additive="base">
                                        <p:cTn id="96" dur="450" fill="hold" decel="100000"/>
                                        <p:tgtEl>
                                          <p:spTgt spid="75"/>
                                        </p:tgtEl>
                                        <p:attrNameLst>
                                          <p:attrName>ppt_x</p:attrName>
                                        </p:attrNameLst>
                                      </p:cBhvr>
                                      <p:tavLst>
                                        <p:tav tm="0">
                                          <p:val>
                                            <p:strVal val="#ppt_x"/>
                                          </p:val>
                                        </p:tav>
                                        <p:tav tm="100000">
                                          <p:val>
                                            <p:strVal val="#ppt_x"/>
                                          </p:val>
                                        </p:tav>
                                      </p:tavLst>
                                    </p:anim>
                                    <p:anim calcmode="lin" valueType="num">
                                      <p:cBhvr additive="base">
                                        <p:cTn id="97" dur="450" fill="hold" decel="100000"/>
                                        <p:tgtEl>
                                          <p:spTgt spid="75"/>
                                        </p:tgtEl>
                                        <p:attrNameLst>
                                          <p:attrName>ppt_y</p:attrName>
                                        </p:attrNameLst>
                                      </p:cBhvr>
                                      <p:tavLst>
                                        <p:tav tm="0">
                                          <p:val>
                                            <p:strVal val="#ppt_y+0.025"/>
                                          </p:val>
                                        </p:tav>
                                        <p:tav tm="100000">
                                          <p:val>
                                            <p:strVal val="#ppt_y"/>
                                          </p:val>
                                        </p:tav>
                                      </p:tavLst>
                                    </p:anim>
                                  </p:childTnLst>
                                </p:cTn>
                              </p:par>
                              <p:par>
                                <p:cTn id="98" presetID="42" presetClass="entr" presetSubtype="0" fill="hold" grpId="0" nodeType="withEffect">
                                  <p:stCondLst>
                                    <p:cond delay="2100"/>
                                  </p:stCondLst>
                                  <p:childTnLst>
                                    <p:set>
                                      <p:cBhvr>
                                        <p:cTn id="99" dur="1" fill="hold">
                                          <p:stCondLst>
                                            <p:cond delay="0"/>
                                          </p:stCondLst>
                                        </p:cTn>
                                        <p:tgtEl>
                                          <p:spTgt spid="81"/>
                                        </p:tgtEl>
                                        <p:attrNameLst>
                                          <p:attrName>style.visibility</p:attrName>
                                        </p:attrNameLst>
                                      </p:cBhvr>
                                      <p:to>
                                        <p:strVal val="visible"/>
                                      </p:to>
                                    </p:set>
                                    <p:animEffect transition="in" filter="fade">
                                      <p:cBhvr>
                                        <p:cTn id="100" dur="500"/>
                                        <p:tgtEl>
                                          <p:spTgt spid="81"/>
                                        </p:tgtEl>
                                      </p:cBhvr>
                                    </p:animEffect>
                                    <p:anim calcmode="lin" valueType="num">
                                      <p:cBhvr additive="base">
                                        <p:cTn id="101" dur="500" fill="hold" decel="100000"/>
                                        <p:tgtEl>
                                          <p:spTgt spid="81"/>
                                        </p:tgtEl>
                                        <p:attrNameLst>
                                          <p:attrName>ppt_x</p:attrName>
                                        </p:attrNameLst>
                                      </p:cBhvr>
                                      <p:tavLst>
                                        <p:tav tm="0">
                                          <p:val>
                                            <p:strVal val="#ppt_x"/>
                                          </p:val>
                                        </p:tav>
                                        <p:tav tm="100000">
                                          <p:val>
                                            <p:strVal val="#ppt_x"/>
                                          </p:val>
                                        </p:tav>
                                      </p:tavLst>
                                    </p:anim>
                                    <p:anim calcmode="lin" valueType="num">
                                      <p:cBhvr additive="base">
                                        <p:cTn id="102" dur="500" fill="hold" decel="100000"/>
                                        <p:tgtEl>
                                          <p:spTgt spid="81"/>
                                        </p:tgtEl>
                                        <p:attrNameLst>
                                          <p:attrName>ppt_y</p:attrName>
                                        </p:attrNameLst>
                                      </p:cBhvr>
                                      <p:tavLst>
                                        <p:tav tm="0">
                                          <p:val>
                                            <p:strVal val="#ppt_y+0.025"/>
                                          </p:val>
                                        </p:tav>
                                        <p:tav tm="100000">
                                          <p:val>
                                            <p:strVal val="#ppt_y"/>
                                          </p:val>
                                        </p:tav>
                                      </p:tavLst>
                                    </p:anim>
                                  </p:childTnLst>
                                </p:cTn>
                              </p:par>
                              <p:par>
                                <p:cTn id="103" presetID="42" presetClass="entr" presetSubtype="0" fill="hold" grpId="0" nodeType="withEffect">
                                  <p:stCondLst>
                                    <p:cond delay="2250"/>
                                  </p:stCondLst>
                                  <p:childTnLst>
                                    <p:set>
                                      <p:cBhvr>
                                        <p:cTn id="104" dur="1" fill="hold">
                                          <p:stCondLst>
                                            <p:cond delay="0"/>
                                          </p:stCondLst>
                                        </p:cTn>
                                        <p:tgtEl>
                                          <p:spTgt spid="83"/>
                                        </p:tgtEl>
                                        <p:attrNameLst>
                                          <p:attrName>style.visibility</p:attrName>
                                        </p:attrNameLst>
                                      </p:cBhvr>
                                      <p:to>
                                        <p:strVal val="visible"/>
                                      </p:to>
                                    </p:set>
                                    <p:animEffect transition="in" filter="fade">
                                      <p:cBhvr>
                                        <p:cTn id="105" dur="450"/>
                                        <p:tgtEl>
                                          <p:spTgt spid="83"/>
                                        </p:tgtEl>
                                      </p:cBhvr>
                                    </p:animEffect>
                                    <p:anim calcmode="lin" valueType="num">
                                      <p:cBhvr additive="base">
                                        <p:cTn id="106" dur="450" fill="hold" decel="100000"/>
                                        <p:tgtEl>
                                          <p:spTgt spid="83"/>
                                        </p:tgtEl>
                                        <p:attrNameLst>
                                          <p:attrName>ppt_x</p:attrName>
                                        </p:attrNameLst>
                                      </p:cBhvr>
                                      <p:tavLst>
                                        <p:tav tm="0">
                                          <p:val>
                                            <p:strVal val="#ppt_x"/>
                                          </p:val>
                                        </p:tav>
                                        <p:tav tm="100000">
                                          <p:val>
                                            <p:strVal val="#ppt_x"/>
                                          </p:val>
                                        </p:tav>
                                      </p:tavLst>
                                    </p:anim>
                                    <p:anim calcmode="lin" valueType="num">
                                      <p:cBhvr additive="base">
                                        <p:cTn id="107" dur="450" fill="hold" decel="100000"/>
                                        <p:tgtEl>
                                          <p:spTgt spid="83"/>
                                        </p:tgtEl>
                                        <p:attrNameLst>
                                          <p:attrName>ppt_y</p:attrName>
                                        </p:attrNameLst>
                                      </p:cBhvr>
                                      <p:tavLst>
                                        <p:tav tm="0">
                                          <p:val>
                                            <p:strVal val="#ppt_y+0.025"/>
                                          </p:val>
                                        </p:tav>
                                        <p:tav tm="100000">
                                          <p:val>
                                            <p:strVal val="#ppt_y"/>
                                          </p:val>
                                        </p:tav>
                                      </p:tavLst>
                                    </p:anim>
                                  </p:childTnLst>
                                </p:cTn>
                              </p:par>
                              <p:par>
                                <p:cTn id="108" presetID="42" presetClass="entr" presetSubtype="0" fill="hold" grpId="0" nodeType="withEffect">
                                  <p:stCondLst>
                                    <p:cond delay="2360"/>
                                  </p:stCondLst>
                                  <p:childTnLst>
                                    <p:set>
                                      <p:cBhvr>
                                        <p:cTn id="109" dur="1" fill="hold">
                                          <p:stCondLst>
                                            <p:cond delay="0"/>
                                          </p:stCondLst>
                                        </p:cTn>
                                        <p:tgtEl>
                                          <p:spTgt spid="86"/>
                                        </p:tgtEl>
                                        <p:attrNameLst>
                                          <p:attrName>style.visibility</p:attrName>
                                        </p:attrNameLst>
                                      </p:cBhvr>
                                      <p:to>
                                        <p:strVal val="visible"/>
                                      </p:to>
                                    </p:set>
                                    <p:animEffect transition="in" filter="fade">
                                      <p:cBhvr>
                                        <p:cTn id="110" dur="450"/>
                                        <p:tgtEl>
                                          <p:spTgt spid="86"/>
                                        </p:tgtEl>
                                      </p:cBhvr>
                                    </p:animEffect>
                                    <p:anim calcmode="lin" valueType="num">
                                      <p:cBhvr additive="base">
                                        <p:cTn id="111"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2" dur="450" fill="hold" decel="100000"/>
                                        <p:tgtEl>
                                          <p:spTgt spid="86"/>
                                        </p:tgtEl>
                                        <p:attrNameLst>
                                          <p:attrName>ppt_y</p:attrName>
                                        </p:attrNameLst>
                                      </p:cBhvr>
                                      <p:tavLst>
                                        <p:tav tm="0">
                                          <p:val>
                                            <p:strVal val="#ppt_y+0.025"/>
                                          </p:val>
                                        </p:tav>
                                        <p:tav tm="100000">
                                          <p:val>
                                            <p:strVal val="#ppt_y"/>
                                          </p:val>
                                        </p:tav>
                                      </p:tavLst>
                                    </p:anim>
                                  </p:childTnLst>
                                </p:cTn>
                              </p:par>
                              <p:par>
                                <p:cTn id="113" presetID="42" presetClass="entr" presetSubtype="0" fill="hold" grpId="0" nodeType="withEffect">
                                  <p:stCondLst>
                                    <p:cond delay="2470"/>
                                  </p:stCondLst>
                                  <p:childTnLst>
                                    <p:set>
                                      <p:cBhvr>
                                        <p:cTn id="114" dur="1" fill="hold">
                                          <p:stCondLst>
                                            <p:cond delay="0"/>
                                          </p:stCondLst>
                                        </p:cTn>
                                        <p:tgtEl>
                                          <p:spTgt spid="89"/>
                                        </p:tgtEl>
                                        <p:attrNameLst>
                                          <p:attrName>style.visibility</p:attrName>
                                        </p:attrNameLst>
                                      </p:cBhvr>
                                      <p:to>
                                        <p:strVal val="visible"/>
                                      </p:to>
                                    </p:set>
                                    <p:animEffect transition="in" filter="fade">
                                      <p:cBhvr>
                                        <p:cTn id="115" dur="450"/>
                                        <p:tgtEl>
                                          <p:spTgt spid="89"/>
                                        </p:tgtEl>
                                      </p:cBhvr>
                                    </p:animEffect>
                                    <p:anim calcmode="lin" valueType="num">
                                      <p:cBhvr additive="base">
                                        <p:cTn id="116" dur="450" fill="hold" decel="100000"/>
                                        <p:tgtEl>
                                          <p:spTgt spid="89"/>
                                        </p:tgtEl>
                                        <p:attrNameLst>
                                          <p:attrName>ppt_x</p:attrName>
                                        </p:attrNameLst>
                                      </p:cBhvr>
                                      <p:tavLst>
                                        <p:tav tm="0">
                                          <p:val>
                                            <p:strVal val="#ppt_x"/>
                                          </p:val>
                                        </p:tav>
                                        <p:tav tm="100000">
                                          <p:val>
                                            <p:strVal val="#ppt_x"/>
                                          </p:val>
                                        </p:tav>
                                      </p:tavLst>
                                    </p:anim>
                                    <p:anim calcmode="lin" valueType="num">
                                      <p:cBhvr additive="base">
                                        <p:cTn id="117" dur="450" fill="hold" decel="100000"/>
                                        <p:tgtEl>
                                          <p:spTgt spid="89"/>
                                        </p:tgtEl>
                                        <p:attrNameLst>
                                          <p:attrName>ppt_y</p:attrName>
                                        </p:attrNameLst>
                                      </p:cBhvr>
                                      <p:tavLst>
                                        <p:tav tm="0">
                                          <p:val>
                                            <p:strVal val="#ppt_y+0.025"/>
                                          </p:val>
                                        </p:tav>
                                        <p:tav tm="100000">
                                          <p:val>
                                            <p:strVal val="#ppt_y"/>
                                          </p:val>
                                        </p:tav>
                                      </p:tavLst>
                                    </p:anim>
                                  </p:childTnLst>
                                </p:cTn>
                              </p:par>
                              <p:par>
                                <p:cTn id="118" presetID="42" presetClass="entr" presetSubtype="0" fill="hold" grpId="0" nodeType="withEffect">
                                  <p:stCondLst>
                                    <p:cond delay="2580"/>
                                  </p:stCondLst>
                                  <p:childTnLst>
                                    <p:set>
                                      <p:cBhvr>
                                        <p:cTn id="119" dur="1" fill="hold">
                                          <p:stCondLst>
                                            <p:cond delay="0"/>
                                          </p:stCondLst>
                                        </p:cTn>
                                        <p:tgtEl>
                                          <p:spTgt spid="92"/>
                                        </p:tgtEl>
                                        <p:attrNameLst>
                                          <p:attrName>style.visibility</p:attrName>
                                        </p:attrNameLst>
                                      </p:cBhvr>
                                      <p:to>
                                        <p:strVal val="visible"/>
                                      </p:to>
                                    </p:set>
                                    <p:animEffect transition="in" filter="fade">
                                      <p:cBhvr>
                                        <p:cTn id="120" dur="450"/>
                                        <p:tgtEl>
                                          <p:spTgt spid="92"/>
                                        </p:tgtEl>
                                      </p:cBhvr>
                                    </p:animEffect>
                                    <p:anim calcmode="lin" valueType="num">
                                      <p:cBhvr additive="base">
                                        <p:cTn id="121" dur="450" fill="hold" decel="100000"/>
                                        <p:tgtEl>
                                          <p:spTgt spid="92"/>
                                        </p:tgtEl>
                                        <p:attrNameLst>
                                          <p:attrName>ppt_x</p:attrName>
                                        </p:attrNameLst>
                                      </p:cBhvr>
                                      <p:tavLst>
                                        <p:tav tm="0">
                                          <p:val>
                                            <p:strVal val="#ppt_x"/>
                                          </p:val>
                                        </p:tav>
                                        <p:tav tm="100000">
                                          <p:val>
                                            <p:strVal val="#ppt_x"/>
                                          </p:val>
                                        </p:tav>
                                      </p:tavLst>
                                    </p:anim>
                                    <p:anim calcmode="lin" valueType="num">
                                      <p:cBhvr additive="base">
                                        <p:cTn id="122" dur="450" fill="hold" decel="100000"/>
                                        <p:tgtEl>
                                          <p:spTgt spid="9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LIVE DEMO HIGHLIGHTS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5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6095848"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502920"/>
          </a:xfrm>
          <a:prstGeom prst="rect">
            <a:avLst/>
          </a:prstGeom>
          <a:noFill/>
        </p:spPr>
        <p:txBody>
          <a:bodyPr wrap="square" lIns="0" rIns="0" tIns="0" bIns="0" anchor="t">
            <a:noAutofit/>
          </a:bodyPr>
          <a:lstStyle/>
          <a:p>
            <a:pPr algn="l">
              <a:lnSpc>
                <a:spcPct val="98000"/>
              </a:lnSpc>
            </a:pPr>
            <a:r>
              <a:rPr sz="3000" b="1" i="0" spc="-80">
                <a:solidFill>
                  <a:srgbClr val="0E0E10"/>
                </a:solidFill>
                <a:latin typeface="Inter" panose="020B0502030000000004" pitchFamily="34" charset="0"/>
              </a:rPr>
              <a:t>Live today: </a:t>
            </a:r>
            <a:r>
              <a:rPr sz="3000" b="1" i="0" spc="-80">
                <a:solidFill>
                  <a:srgbClr val="5D5D66"/>
                </a:solidFill>
                <a:latin typeface="Inter" panose="020B0502030000000004" pitchFamily="34" charset="0"/>
              </a:rPr>
              <a:t>liars caught, bribes ignored, a human in the loop.</a:t>
            </a:r>
          </a:p>
        </p:txBody>
      </p:sp>
      <p:sp>
        <p:nvSpPr>
          <p:cNvPr id="13" name="TextBox 12"/>
          <p:cNvSpPr txBox="1"/>
          <p:nvPr/>
        </p:nvSpPr>
        <p:spPr>
          <a:xfrm>
            <a:off x="685800" y="1444752"/>
            <a:ext cx="6035040" cy="237744"/>
          </a:xfrm>
          <a:prstGeom prst="rect">
            <a:avLst/>
          </a:prstGeom>
          <a:noFill/>
        </p:spPr>
        <p:txBody>
          <a:bodyPr wrap="square" lIns="0" rIns="0" tIns="0" bIns="0" anchor="ctr">
            <a:noAutofit/>
          </a:bodyPr>
          <a:lstStyle/>
          <a:p>
            <a:pPr algn="l"/>
            <a:r>
              <a:rPr sz="1050" b="1" i="0">
                <a:solidFill>
                  <a:srgbClr val="5D5D66"/>
                </a:solidFill>
                <a:latin typeface="Inter" panose="020B0502030000000004" pitchFamily="34" charset="0"/>
              </a:rPr>
              <a:t>Exchange board · caught lying</a:t>
            </a:r>
          </a:p>
        </p:txBody>
      </p:sp>
      <p:grpSp>
        <p:nvGrpSpPr>
          <p:cNvPr id="14" name="Group 13"/>
          <p:cNvGrpSpPr/>
          <p:nvPr/>
        </p:nvGrpSpPr>
        <p:grpSpPr>
          <a:xfrm>
            <a:off x="685800" y="1737360"/>
            <a:ext cx="6035040" cy="3667887"/>
            <a:chOff x="685800" y="1737360"/>
            <a:chExt cx="6035040" cy="3667887"/>
          </a:xfrm>
        </p:grpSpPr>
        <p:sp>
          <p:nvSpPr>
            <p:cNvPr id="15" name="Rounded Rectangle 14"/>
            <p:cNvSpPr/>
            <p:nvPr/>
          </p:nvSpPr>
          <p:spPr>
            <a:xfrm>
              <a:off x="685800" y="1737360"/>
              <a:ext cx="6035040" cy="3667887"/>
            </a:xfrm>
            <a:prstGeom prst="roundRect">
              <a:avLst>
                <a:gd name="adj" fmla="val 2991"/>
              </a:avLst>
            </a:prstGeom>
            <a:solidFill>
              <a:srgbClr val="FFFFFF"/>
            </a:solidFill>
            <a:ln w="9525">
              <a:solidFill>
                <a:srgbClr val="E9E8E3"/>
              </a:solidFill>
            </a:ln>
            <a:effectLst>
              <a:outerShdw blurRad="384048" dist="109728" dir="5400000" algn="t" rotWithShape="0">
                <a:srgbClr val="0E0E10">
                  <a:alpha val="13000"/>
                </a:srgbClr>
              </a:outerShdw>
            </a:effectLst>
          </p:spPr>
          <p:txBody>
            <a:bodyPr rtlCol="0" anchor="ctr"/>
            <a:lstStyle/>
            <a:p>
              <a:pPr algn="ctr"/>
            </a:p>
          </p:txBody>
        </p:sp>
        <p:sp>
          <p:nvSpPr>
            <p:cNvPr id="16" name="Oval 15"/>
            <p:cNvSpPr/>
            <p:nvPr/>
          </p:nvSpPr>
          <p:spPr>
            <a:xfrm>
              <a:off x="832104" y="1837944"/>
              <a:ext cx="73152" cy="73152"/>
            </a:xfrm>
            <a:prstGeom prst="ellipse">
              <a:avLst/>
            </a:prstGeom>
            <a:solidFill>
              <a:srgbClr val="D9D8D1"/>
            </a:solidFill>
            <a:ln>
              <a:noFill/>
            </a:ln>
          </p:spPr>
          <p:txBody>
            <a:bodyPr rtlCol="0" anchor="ctr"/>
            <a:lstStyle/>
            <a:p>
              <a:pPr algn="ctr"/>
            </a:p>
          </p:txBody>
        </p:sp>
        <p:sp>
          <p:nvSpPr>
            <p:cNvPr id="17" name="Oval 16"/>
            <p:cNvSpPr/>
            <p:nvPr/>
          </p:nvSpPr>
          <p:spPr>
            <a:xfrm>
              <a:off x="969264" y="1837944"/>
              <a:ext cx="73152" cy="73152"/>
            </a:xfrm>
            <a:prstGeom prst="ellipse">
              <a:avLst/>
            </a:prstGeom>
            <a:solidFill>
              <a:srgbClr val="D9D8D1"/>
            </a:solidFill>
            <a:ln>
              <a:noFill/>
            </a:ln>
          </p:spPr>
          <p:txBody>
            <a:bodyPr rtlCol="0" anchor="ctr"/>
            <a:lstStyle/>
            <a:p>
              <a:pPr algn="ctr"/>
            </a:p>
          </p:txBody>
        </p:sp>
        <p:sp>
          <p:nvSpPr>
            <p:cNvPr id="18" name="Oval 17"/>
            <p:cNvSpPr/>
            <p:nvPr/>
          </p:nvSpPr>
          <p:spPr>
            <a:xfrm>
              <a:off x="1106424" y="1837944"/>
              <a:ext cx="73152" cy="73152"/>
            </a:xfrm>
            <a:prstGeom prst="ellipse">
              <a:avLst/>
            </a:prstGeom>
            <a:solidFill>
              <a:srgbClr val="D9D8D1"/>
            </a:solidFill>
            <a:ln>
              <a:noFill/>
            </a:ln>
          </p:spPr>
          <p:txBody>
            <a:bodyPr rtlCol="0" anchor="ctr"/>
            <a:lstStyle/>
            <a:p>
              <a:pPr algn="ctr"/>
            </a:p>
          </p:txBody>
        </p:sp>
        <p:sp>
          <p:nvSpPr>
            <p:cNvPr id="19" name="Rounded Rectangle 18"/>
            <p:cNvSpPr/>
            <p:nvPr/>
          </p:nvSpPr>
          <p:spPr>
            <a:xfrm>
              <a:off x="2496312" y="1796796"/>
              <a:ext cx="2414016" cy="155448"/>
            </a:xfrm>
            <a:prstGeom prst="roundRect">
              <a:avLst>
                <a:gd name="adj" fmla="val 50000"/>
              </a:avLst>
            </a:prstGeom>
            <a:solidFill>
              <a:srgbClr val="F4F4F1"/>
            </a:solidFill>
            <a:ln>
              <a:noFill/>
            </a:ln>
          </p:spPr>
          <p:txBody>
            <a:bodyPr rtlCol="0" anchor="ctr"/>
            <a:lstStyle/>
            <a:p>
              <a:pPr algn="ctr"/>
            </a:p>
          </p:txBody>
        </p:sp>
        <p:sp>
          <p:nvSpPr>
            <p:cNvPr id="20" name="TextBox 19"/>
            <p:cNvSpPr txBox="1"/>
            <p:nvPr/>
          </p:nvSpPr>
          <p:spPr>
            <a:xfrm>
              <a:off x="2496312" y="1796796"/>
              <a:ext cx="2414016" cy="155448"/>
            </a:xfrm>
            <a:prstGeom prst="rect">
              <a:avLst/>
            </a:prstGeom>
            <a:noFill/>
          </p:spPr>
          <p:txBody>
            <a:bodyPr wrap="square" lIns="0" rIns="0" tIns="0" bIns="0" anchor="ctr">
              <a:noAutofit/>
            </a:bodyPr>
            <a:lstStyle/>
            <a:p>
              <a:pPr algn="ctr"/>
              <a:r>
                <a:rPr sz="750" b="0" i="0">
                  <a:solidFill>
                    <a:srgbClr val="5D5D66"/>
                  </a:solidFill>
                  <a:latin typeface="Inter" panose="020B0502030000000004" pitchFamily="34" charset="0"/>
                </a:rPr>
                <a:t>localhost:8787/exchange</a:t>
              </a:r>
            </a:p>
          </p:txBody>
        </p:sp>
        <p:sp>
          <p:nvSpPr>
            <p:cNvPr id="21" name="Rectangle 20"/>
            <p:cNvSpPr/>
            <p:nvPr/>
          </p:nvSpPr>
          <p:spPr>
            <a:xfrm>
              <a:off x="694944" y="2002536"/>
              <a:ext cx="6016752" cy="9144"/>
            </a:xfrm>
            <a:prstGeom prst="rect">
              <a:avLst/>
            </a:prstGeom>
            <a:solidFill>
              <a:srgbClr val="E9E8E3"/>
            </a:solidFill>
            <a:ln>
              <a:noFill/>
            </a:ln>
          </p:spPr>
          <p:txBody>
            <a:bodyPr rtlCol="0" anchor="ctr"/>
            <a:lstStyle/>
            <a:p>
              <a:pPr algn="ctr"/>
            </a:p>
          </p:txBody>
        </p:sp>
        <p:sp>
          <p:nvSpPr>
            <p:cNvPr id="22" name="Rounded Rectangle 21"/>
            <p:cNvSpPr/>
            <p:nvPr/>
          </p:nvSpPr>
          <p:spPr>
            <a:xfrm>
              <a:off x="694944" y="2011680"/>
              <a:ext cx="6016752" cy="3384423"/>
            </a:xfrm>
            <a:prstGeom prst="roundRect">
              <a:avLst>
                <a:gd name="adj" fmla="val 1080"/>
              </a:avLst>
            </a:prstGeom>
            <a:solidFill>
              <a:srgbClr val="FAFAF8"/>
            </a:solidFill>
            <a:ln>
              <a:noFill/>
            </a:ln>
          </p:spPr>
          <p:txBody>
            <a:bodyPr rtlCol="0" anchor="ctr"/>
            <a:lstStyle/>
            <a:p>
              <a:pPr algn="ctr"/>
            </a:p>
          </p:txBody>
        </p:sp>
        <p:sp>
          <p:nvSpPr>
            <p:cNvPr id="23" name="Rectangle 22"/>
            <p:cNvSpPr/>
            <p:nvPr/>
          </p:nvSpPr>
          <p:spPr>
            <a:xfrm>
              <a:off x="694944" y="2011680"/>
              <a:ext cx="6016752" cy="310896"/>
            </a:xfrm>
            <a:prstGeom prst="rect">
              <a:avLst/>
            </a:prstGeom>
            <a:solidFill>
              <a:srgbClr val="FFFFFF"/>
            </a:solidFill>
            <a:ln>
              <a:noFill/>
            </a:ln>
          </p:spPr>
          <p:txBody>
            <a:bodyPr rtlCol="0" anchor="ctr"/>
            <a:lstStyle/>
            <a:p>
              <a:pPr algn="ctr"/>
            </a:p>
          </p:txBody>
        </p:sp>
        <p:sp>
          <p:nvSpPr>
            <p:cNvPr id="24" name="Rectangle 23"/>
            <p:cNvSpPr/>
            <p:nvPr/>
          </p:nvSpPr>
          <p:spPr>
            <a:xfrm>
              <a:off x="694944" y="2322576"/>
              <a:ext cx="6016752" cy="9144"/>
            </a:xfrm>
            <a:prstGeom prst="rect">
              <a:avLst/>
            </a:prstGeom>
            <a:solidFill>
              <a:srgbClr val="E9E8E3"/>
            </a:solidFill>
            <a:ln>
              <a:noFill/>
            </a:ln>
          </p:spPr>
          <p:txBody>
            <a:bodyPr rtlCol="0" anchor="ctr"/>
            <a:lstStyle/>
            <a:p>
              <a:pPr algn="ctr"/>
            </a:p>
          </p:txBody>
        </p:sp>
        <p:sp>
          <p:nvSpPr>
            <p:cNvPr id="25" name="TextBox 24"/>
            <p:cNvSpPr txBox="1"/>
            <p:nvPr/>
          </p:nvSpPr>
          <p:spPr>
            <a:xfrm>
              <a:off x="859536" y="2011680"/>
              <a:ext cx="2743200" cy="310896"/>
            </a:xfrm>
            <a:prstGeom prst="rect">
              <a:avLst/>
            </a:prstGeom>
            <a:noFill/>
          </p:spPr>
          <p:txBody>
            <a:bodyPr wrap="square" lIns="0" rIns="0" tIns="0" bIns="0" anchor="ctr">
              <a:noAutofit/>
            </a:bodyPr>
            <a:lstStyle/>
            <a:p>
              <a:pPr algn="l"/>
              <a:r>
                <a:rPr sz="850" b="1" i="0">
                  <a:solidFill>
                    <a:srgbClr val="0E0E10"/>
                  </a:solidFill>
                  <a:latin typeface="Inter" panose="020B0502030000000004" pitchFamily="34" charset="0"/>
                </a:rPr>
                <a:t>Bidwire  </a:t>
              </a:r>
              <a:r>
                <a:rPr sz="850" b="0" i="0">
                  <a:solidFill>
                    <a:srgbClr val="9A9AA3"/>
                  </a:solidFill>
                  <a:latin typeface="Inter" panose="020B0502030000000004" pitchFamily="34" charset="0"/>
                </a:rPr>
                <a:t>Exchange</a:t>
              </a:r>
            </a:p>
          </p:txBody>
        </p:sp>
        <p:sp>
          <p:nvSpPr>
            <p:cNvPr id="26" name="Rounded Rectangle 25"/>
            <p:cNvSpPr/>
            <p:nvPr/>
          </p:nvSpPr>
          <p:spPr>
            <a:xfrm>
              <a:off x="832104" y="2468880"/>
              <a:ext cx="5742432" cy="502920"/>
            </a:xfrm>
            <a:prstGeom prst="roundRect">
              <a:avLst>
                <a:gd name="adj" fmla="val 10909"/>
              </a:avLst>
            </a:prstGeom>
            <a:solidFill>
              <a:srgbClr val="FDECEC"/>
            </a:solidFill>
            <a:ln>
              <a:noFill/>
            </a:ln>
          </p:spPr>
          <p:txBody>
            <a:bodyPr rtlCol="0" anchor="ctr"/>
            <a:lstStyle/>
            <a:p>
              <a:pPr algn="ctr"/>
            </a:p>
          </p:txBody>
        </p:sp>
        <p:sp>
          <p:nvSpPr>
            <p:cNvPr id="27" name="Rectangle 26"/>
            <p:cNvSpPr/>
            <p:nvPr/>
          </p:nvSpPr>
          <p:spPr>
            <a:xfrm>
              <a:off x="832104" y="2560320"/>
              <a:ext cx="32004" cy="320040"/>
            </a:xfrm>
            <a:prstGeom prst="rect">
              <a:avLst/>
            </a:prstGeom>
            <a:solidFill>
              <a:srgbClr val="D93036"/>
            </a:solidFill>
            <a:ln>
              <a:noFill/>
            </a:ln>
          </p:spPr>
          <p:txBody>
            <a:bodyPr rtlCol="0" anchor="ctr"/>
            <a:lstStyle/>
            <a:p>
              <a:pPr algn="ctr"/>
            </a:p>
          </p:txBody>
        </p:sp>
        <p:sp>
          <p:nvSpPr>
            <p:cNvPr id="28" name="TextBox 27"/>
            <p:cNvSpPr txBox="1"/>
            <p:nvPr/>
          </p:nvSpPr>
          <p:spPr>
            <a:xfrm>
              <a:off x="969264" y="2505456"/>
              <a:ext cx="5468112" cy="219456"/>
            </a:xfrm>
            <a:prstGeom prst="rect">
              <a:avLst/>
            </a:prstGeom>
            <a:noFill/>
          </p:spPr>
          <p:txBody>
            <a:bodyPr wrap="square" lIns="0" rIns="0" tIns="0" bIns="0" anchor="ctr">
              <a:noAutofit/>
            </a:bodyPr>
            <a:lstStyle/>
            <a:p>
              <a:pPr algn="l"/>
              <a:r>
                <a:rPr sz="900" b="1" i="0">
                  <a:solidFill>
                    <a:srgbClr val="0E0E10"/>
                  </a:solidFill>
                  <a:latin typeface="Inter" panose="020B0502030000000004" pitchFamily="34" charset="0"/>
                </a:rPr>
                <a:t>Caught lying · DealDrop Direct</a:t>
              </a:r>
            </a:p>
          </p:txBody>
        </p:sp>
        <p:sp>
          <p:nvSpPr>
            <p:cNvPr id="29" name="TextBox 28"/>
            <p:cNvSpPr txBox="1"/>
            <p:nvPr/>
          </p:nvSpPr>
          <p:spPr>
            <a:xfrm>
              <a:off x="969264" y="2715768"/>
              <a:ext cx="5468112" cy="201168"/>
            </a:xfrm>
            <a:prstGeom prst="rect">
              <a:avLst/>
            </a:prstGeom>
            <a:noFill/>
          </p:spPr>
          <p:txBody>
            <a:bodyPr wrap="square" lIns="0" rIns="0" tIns="0" bIns="0" anchor="ctr">
              <a:noAutofit/>
            </a:bodyPr>
            <a:lstStyle/>
            <a:p>
              <a:pPr algn="l"/>
              <a:r>
                <a:rPr sz="700" b="0" i="0">
                  <a:solidFill>
                    <a:srgbClr val="5D5D66"/>
                  </a:solidFill>
                  <a:latin typeface="Inter" panose="020B0502030000000004" pitchFamily="34" charset="0"/>
                </a:rPr>
                <a:t>Claimed $34.99 delivered · checkout says $63.99 (+$29.00 “Service &amp; handling fee”)</a:t>
              </a:r>
            </a:p>
          </p:txBody>
        </p:sp>
        <p:sp>
          <p:nvSpPr>
            <p:cNvPr id="30" name="Rounded Rectangle 29"/>
            <p:cNvSpPr/>
            <p:nvPr/>
          </p:nvSpPr>
          <p:spPr>
            <a:xfrm>
              <a:off x="832104" y="3108960"/>
              <a:ext cx="5742432" cy="2177415"/>
            </a:xfrm>
            <a:prstGeom prst="roundRect">
              <a:avLst>
                <a:gd name="adj" fmla="val 2519"/>
              </a:avLst>
            </a:prstGeom>
            <a:solidFill>
              <a:srgbClr val="FFFFFF"/>
            </a:solidFill>
            <a:ln w="9525">
              <a:solidFill>
                <a:srgbClr val="E9E8E3"/>
              </a:solidFill>
            </a:ln>
          </p:spPr>
          <p:txBody>
            <a:bodyPr rtlCol="0" anchor="ctr"/>
            <a:lstStyle/>
            <a:p>
              <a:pPr algn="ctr"/>
            </a:p>
          </p:txBody>
        </p:sp>
        <p:sp>
          <p:nvSpPr>
            <p:cNvPr id="31" name="TextBox 30"/>
            <p:cNvSpPr txBox="1"/>
            <p:nvPr/>
          </p:nvSpPr>
          <p:spPr>
            <a:xfrm>
              <a:off x="950976" y="3145536"/>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#1</a:t>
              </a:r>
            </a:p>
          </p:txBody>
        </p:sp>
        <p:sp>
          <p:nvSpPr>
            <p:cNvPr id="32" name="TextBox 31"/>
            <p:cNvSpPr txBox="1"/>
            <p:nvPr/>
          </p:nvSpPr>
          <p:spPr>
            <a:xfrm>
              <a:off x="1335024" y="3145536"/>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Last Unit Labs</a:t>
              </a:r>
            </a:p>
          </p:txBody>
        </p:sp>
        <p:sp>
          <p:nvSpPr>
            <p:cNvPr id="33" name="Rounded Rectangle 32"/>
            <p:cNvSpPr/>
            <p:nvPr/>
          </p:nvSpPr>
          <p:spPr>
            <a:xfrm>
              <a:off x="5924296" y="3213544"/>
              <a:ext cx="513080" cy="164592"/>
            </a:xfrm>
            <a:prstGeom prst="roundRect">
              <a:avLst>
                <a:gd name="adj" fmla="val 50000"/>
              </a:avLst>
            </a:prstGeom>
            <a:solidFill>
              <a:srgbClr val="FFF0EA"/>
            </a:solidFill>
            <a:ln>
              <a:noFill/>
            </a:ln>
          </p:spPr>
          <p:txBody>
            <a:bodyPr rtlCol="0" anchor="ctr"/>
            <a:lstStyle/>
            <a:p>
              <a:pPr algn="ctr"/>
            </a:p>
          </p:txBody>
        </p:sp>
        <p:sp>
          <p:nvSpPr>
            <p:cNvPr id="34" name="TextBox 33"/>
            <p:cNvSpPr txBox="1"/>
            <p:nvPr/>
          </p:nvSpPr>
          <p:spPr>
            <a:xfrm>
              <a:off x="5924296" y="3213544"/>
              <a:ext cx="513080" cy="164592"/>
            </a:xfrm>
            <a:prstGeom prst="rect">
              <a:avLst/>
            </a:prstGeom>
            <a:noFill/>
          </p:spPr>
          <p:txBody>
            <a:bodyPr wrap="square" lIns="0" rIns="0" tIns="0" bIns="0" anchor="ctr">
              <a:noAutofit/>
            </a:bodyPr>
            <a:lstStyle/>
            <a:p>
              <a:pPr algn="ctr"/>
              <a:r>
                <a:rPr sz="700" b="1" i="0">
                  <a:solidFill>
                    <a:srgbClr val="F2561D"/>
                  </a:solidFill>
                  <a:latin typeface="Inter" panose="020B0502030000000004" pitchFamily="34" charset="0"/>
                </a:rPr>
                <a:t>#1 pick</a:t>
              </a:r>
            </a:p>
          </p:txBody>
        </p:sp>
        <p:sp>
          <p:nvSpPr>
            <p:cNvPr id="35" name="Rectangle 34"/>
            <p:cNvSpPr/>
            <p:nvPr/>
          </p:nvSpPr>
          <p:spPr>
            <a:xfrm>
              <a:off x="877824" y="3446145"/>
              <a:ext cx="5650992" cy="7315"/>
            </a:xfrm>
            <a:prstGeom prst="rect">
              <a:avLst/>
            </a:prstGeom>
            <a:solidFill>
              <a:srgbClr val="E9E8E3"/>
            </a:solidFill>
            <a:ln>
              <a:noFill/>
            </a:ln>
          </p:spPr>
          <p:txBody>
            <a:bodyPr rtlCol="0" anchor="ctr"/>
            <a:lstStyle/>
            <a:p>
              <a:pPr algn="ctr"/>
            </a:p>
          </p:txBody>
        </p:sp>
        <p:sp>
          <p:nvSpPr>
            <p:cNvPr id="36" name="TextBox 35"/>
            <p:cNvSpPr txBox="1"/>
            <p:nvPr/>
          </p:nvSpPr>
          <p:spPr>
            <a:xfrm>
              <a:off x="950976" y="3446145"/>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#2</a:t>
              </a:r>
            </a:p>
          </p:txBody>
        </p:sp>
        <p:sp>
          <p:nvSpPr>
            <p:cNvPr id="37" name="TextBox 36"/>
            <p:cNvSpPr txBox="1"/>
            <p:nvPr/>
          </p:nvSpPr>
          <p:spPr>
            <a:xfrm>
              <a:off x="1335024" y="3446145"/>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Parcel &amp; Pine</a:t>
              </a:r>
            </a:p>
          </p:txBody>
        </p:sp>
        <p:sp>
          <p:nvSpPr>
            <p:cNvPr id="38" name="Rounded Rectangle 37"/>
            <p:cNvSpPr/>
            <p:nvPr/>
          </p:nvSpPr>
          <p:spPr>
            <a:xfrm>
              <a:off x="5874512" y="3514153"/>
              <a:ext cx="562864" cy="164592"/>
            </a:xfrm>
            <a:prstGeom prst="roundRect">
              <a:avLst>
                <a:gd name="adj" fmla="val 50000"/>
              </a:avLst>
            </a:prstGeom>
            <a:solidFill>
              <a:srgbClr val="E7F6EF"/>
            </a:solidFill>
            <a:ln>
              <a:noFill/>
            </a:ln>
          </p:spPr>
          <p:txBody>
            <a:bodyPr rtlCol="0" anchor="ctr"/>
            <a:lstStyle/>
            <a:p>
              <a:pPr algn="ctr"/>
            </a:p>
          </p:txBody>
        </p:sp>
        <p:sp>
          <p:nvSpPr>
            <p:cNvPr id="39" name="TextBox 38"/>
            <p:cNvSpPr txBox="1"/>
            <p:nvPr/>
          </p:nvSpPr>
          <p:spPr>
            <a:xfrm>
              <a:off x="5874512" y="3514153"/>
              <a:ext cx="562864" cy="164592"/>
            </a:xfrm>
            <a:prstGeom prst="rect">
              <a:avLst/>
            </a:prstGeom>
            <a:noFill/>
          </p:spPr>
          <p:txBody>
            <a:bodyPr wrap="square" lIns="0" rIns="0" tIns="0" bIns="0" anchor="ctr">
              <a:noAutofit/>
            </a:bodyPr>
            <a:lstStyle/>
            <a:p>
              <a:pPr algn="ctr"/>
              <a:r>
                <a:rPr sz="700" b="1" i="0">
                  <a:solidFill>
                    <a:srgbClr val="12805C"/>
                  </a:solidFill>
                  <a:latin typeface="Inter" panose="020B0502030000000004" pitchFamily="34" charset="0"/>
                </a:rPr>
                <a:t>Verified</a:t>
              </a:r>
            </a:p>
          </p:txBody>
        </p:sp>
        <p:sp>
          <p:nvSpPr>
            <p:cNvPr id="40" name="Rectangle 39"/>
            <p:cNvSpPr/>
            <p:nvPr/>
          </p:nvSpPr>
          <p:spPr>
            <a:xfrm>
              <a:off x="877824" y="3746754"/>
              <a:ext cx="5650992" cy="7315"/>
            </a:xfrm>
            <a:prstGeom prst="rect">
              <a:avLst/>
            </a:prstGeom>
            <a:solidFill>
              <a:srgbClr val="E9E8E3"/>
            </a:solidFill>
            <a:ln>
              <a:noFill/>
            </a:ln>
          </p:spPr>
          <p:txBody>
            <a:bodyPr rtlCol="0" anchor="ctr"/>
            <a:lstStyle/>
            <a:p>
              <a:pPr algn="ctr"/>
            </a:p>
          </p:txBody>
        </p:sp>
        <p:sp>
          <p:nvSpPr>
            <p:cNvPr id="41" name="TextBox 40"/>
            <p:cNvSpPr txBox="1"/>
            <p:nvPr/>
          </p:nvSpPr>
          <p:spPr>
            <a:xfrm>
              <a:off x="950976" y="3746754"/>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#3</a:t>
              </a:r>
            </a:p>
          </p:txBody>
        </p:sp>
        <p:sp>
          <p:nvSpPr>
            <p:cNvPr id="42" name="TextBox 41"/>
            <p:cNvSpPr txBox="1"/>
            <p:nvPr/>
          </p:nvSpPr>
          <p:spPr>
            <a:xfrm>
              <a:off x="1335024" y="3746754"/>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Northwind Electronics</a:t>
              </a:r>
            </a:p>
          </p:txBody>
        </p:sp>
        <p:sp>
          <p:nvSpPr>
            <p:cNvPr id="43" name="Rounded Rectangle 42"/>
            <p:cNvSpPr/>
            <p:nvPr/>
          </p:nvSpPr>
          <p:spPr>
            <a:xfrm>
              <a:off x="5874512" y="3814762"/>
              <a:ext cx="562864" cy="164592"/>
            </a:xfrm>
            <a:prstGeom prst="roundRect">
              <a:avLst>
                <a:gd name="adj" fmla="val 50000"/>
              </a:avLst>
            </a:prstGeom>
            <a:solidFill>
              <a:srgbClr val="E7F6EF"/>
            </a:solidFill>
            <a:ln>
              <a:noFill/>
            </a:ln>
          </p:spPr>
          <p:txBody>
            <a:bodyPr rtlCol="0" anchor="ctr"/>
            <a:lstStyle/>
            <a:p>
              <a:pPr algn="ctr"/>
            </a:p>
          </p:txBody>
        </p:sp>
        <p:sp>
          <p:nvSpPr>
            <p:cNvPr id="44" name="TextBox 43"/>
            <p:cNvSpPr txBox="1"/>
            <p:nvPr/>
          </p:nvSpPr>
          <p:spPr>
            <a:xfrm>
              <a:off x="5874512" y="3814762"/>
              <a:ext cx="562864" cy="164592"/>
            </a:xfrm>
            <a:prstGeom prst="rect">
              <a:avLst/>
            </a:prstGeom>
            <a:noFill/>
          </p:spPr>
          <p:txBody>
            <a:bodyPr wrap="square" lIns="0" rIns="0" tIns="0" bIns="0" anchor="ctr">
              <a:noAutofit/>
            </a:bodyPr>
            <a:lstStyle/>
            <a:p>
              <a:pPr algn="ctr"/>
              <a:r>
                <a:rPr sz="700" b="1" i="0">
                  <a:solidFill>
                    <a:srgbClr val="12805C"/>
                  </a:solidFill>
                  <a:latin typeface="Inter" panose="020B0502030000000004" pitchFamily="34" charset="0"/>
                </a:rPr>
                <a:t>Verified</a:t>
              </a:r>
            </a:p>
          </p:txBody>
        </p:sp>
        <p:sp>
          <p:nvSpPr>
            <p:cNvPr id="45" name="Rectangle 44"/>
            <p:cNvSpPr/>
            <p:nvPr/>
          </p:nvSpPr>
          <p:spPr>
            <a:xfrm>
              <a:off x="877824" y="4047363"/>
              <a:ext cx="5650992" cy="7315"/>
            </a:xfrm>
            <a:prstGeom prst="rect">
              <a:avLst/>
            </a:prstGeom>
            <a:solidFill>
              <a:srgbClr val="E9E8E3"/>
            </a:solidFill>
            <a:ln>
              <a:noFill/>
            </a:ln>
          </p:spPr>
          <p:txBody>
            <a:bodyPr rtlCol="0" anchor="ctr"/>
            <a:lstStyle/>
            <a:p>
              <a:pPr algn="ctr"/>
            </a:p>
          </p:txBody>
        </p:sp>
        <p:sp>
          <p:nvSpPr>
            <p:cNvPr id="46" name="TextBox 45"/>
            <p:cNvSpPr txBox="1"/>
            <p:nvPr/>
          </p:nvSpPr>
          <p:spPr>
            <a:xfrm>
              <a:off x="950976" y="4047363"/>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#4</a:t>
              </a:r>
            </a:p>
          </p:txBody>
        </p:sp>
        <p:sp>
          <p:nvSpPr>
            <p:cNvPr id="47" name="TextBox 46"/>
            <p:cNvSpPr txBox="1"/>
            <p:nvPr/>
          </p:nvSpPr>
          <p:spPr>
            <a:xfrm>
              <a:off x="1335024" y="4047363"/>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Sundial Supply</a:t>
              </a:r>
            </a:p>
          </p:txBody>
        </p:sp>
        <p:sp>
          <p:nvSpPr>
            <p:cNvPr id="48" name="Rounded Rectangle 47"/>
            <p:cNvSpPr/>
            <p:nvPr/>
          </p:nvSpPr>
          <p:spPr>
            <a:xfrm>
              <a:off x="5874512" y="4115371"/>
              <a:ext cx="562864" cy="164592"/>
            </a:xfrm>
            <a:prstGeom prst="roundRect">
              <a:avLst>
                <a:gd name="adj" fmla="val 50000"/>
              </a:avLst>
            </a:prstGeom>
            <a:solidFill>
              <a:srgbClr val="E7F6EF"/>
            </a:solidFill>
            <a:ln>
              <a:noFill/>
            </a:ln>
          </p:spPr>
          <p:txBody>
            <a:bodyPr rtlCol="0" anchor="ctr"/>
            <a:lstStyle/>
            <a:p>
              <a:pPr algn="ctr"/>
            </a:p>
          </p:txBody>
        </p:sp>
        <p:sp>
          <p:nvSpPr>
            <p:cNvPr id="49" name="TextBox 48"/>
            <p:cNvSpPr txBox="1"/>
            <p:nvPr/>
          </p:nvSpPr>
          <p:spPr>
            <a:xfrm>
              <a:off x="5874512" y="4115371"/>
              <a:ext cx="562864" cy="164592"/>
            </a:xfrm>
            <a:prstGeom prst="rect">
              <a:avLst/>
            </a:prstGeom>
            <a:noFill/>
          </p:spPr>
          <p:txBody>
            <a:bodyPr wrap="square" lIns="0" rIns="0" tIns="0" bIns="0" anchor="ctr">
              <a:noAutofit/>
            </a:bodyPr>
            <a:lstStyle/>
            <a:p>
              <a:pPr algn="ctr"/>
              <a:r>
                <a:rPr sz="700" b="1" i="0">
                  <a:solidFill>
                    <a:srgbClr val="12805C"/>
                  </a:solidFill>
                  <a:latin typeface="Inter" panose="020B0502030000000004" pitchFamily="34" charset="0"/>
                </a:rPr>
                <a:t>Verified</a:t>
              </a:r>
            </a:p>
          </p:txBody>
        </p:sp>
        <p:sp>
          <p:nvSpPr>
            <p:cNvPr id="50" name="Rectangle 49"/>
            <p:cNvSpPr/>
            <p:nvPr/>
          </p:nvSpPr>
          <p:spPr>
            <a:xfrm>
              <a:off x="877824" y="4347972"/>
              <a:ext cx="5650992" cy="7315"/>
            </a:xfrm>
            <a:prstGeom prst="rect">
              <a:avLst/>
            </a:prstGeom>
            <a:solidFill>
              <a:srgbClr val="E9E8E3"/>
            </a:solidFill>
            <a:ln>
              <a:noFill/>
            </a:ln>
          </p:spPr>
          <p:txBody>
            <a:bodyPr rtlCol="0" anchor="ctr"/>
            <a:lstStyle/>
            <a:p>
              <a:pPr algn="ctr"/>
            </a:p>
          </p:txBody>
        </p:sp>
        <p:sp>
          <p:nvSpPr>
            <p:cNvPr id="51" name="TextBox 50"/>
            <p:cNvSpPr txBox="1"/>
            <p:nvPr/>
          </p:nvSpPr>
          <p:spPr>
            <a:xfrm>
              <a:off x="950976" y="4347972"/>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#5</a:t>
              </a:r>
            </a:p>
          </p:txBody>
        </p:sp>
        <p:sp>
          <p:nvSpPr>
            <p:cNvPr id="52" name="TextBox 51"/>
            <p:cNvSpPr txBox="1"/>
            <p:nvPr/>
          </p:nvSpPr>
          <p:spPr>
            <a:xfrm>
              <a:off x="1335024" y="4347972"/>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MegaMart Ads Co.</a:t>
              </a:r>
            </a:p>
          </p:txBody>
        </p:sp>
        <p:sp>
          <p:nvSpPr>
            <p:cNvPr id="53" name="Rounded Rectangle 52"/>
            <p:cNvSpPr/>
            <p:nvPr/>
          </p:nvSpPr>
          <p:spPr>
            <a:xfrm>
              <a:off x="5625592" y="4415980"/>
              <a:ext cx="811784" cy="164592"/>
            </a:xfrm>
            <a:prstGeom prst="roundRect">
              <a:avLst>
                <a:gd name="adj" fmla="val 50000"/>
              </a:avLst>
            </a:prstGeom>
            <a:solidFill>
              <a:srgbClr val="FFF4E2"/>
            </a:solidFill>
            <a:ln>
              <a:noFill/>
            </a:ln>
          </p:spPr>
          <p:txBody>
            <a:bodyPr rtlCol="0" anchor="ctr"/>
            <a:lstStyle/>
            <a:p>
              <a:pPr algn="ctr"/>
            </a:p>
          </p:txBody>
        </p:sp>
        <p:sp>
          <p:nvSpPr>
            <p:cNvPr id="54" name="TextBox 53"/>
            <p:cNvSpPr txBox="1"/>
            <p:nvPr/>
          </p:nvSpPr>
          <p:spPr>
            <a:xfrm>
              <a:off x="5625592" y="4415980"/>
              <a:ext cx="811784" cy="164592"/>
            </a:xfrm>
            <a:prstGeom prst="rect">
              <a:avLst/>
            </a:prstGeom>
            <a:noFill/>
          </p:spPr>
          <p:txBody>
            <a:bodyPr wrap="square" lIns="0" rIns="0" tIns="0" bIns="0" anchor="ctr">
              <a:noAutofit/>
            </a:bodyPr>
            <a:lstStyle/>
            <a:p>
              <a:pPr algn="ctr"/>
              <a:r>
                <a:rPr sz="700" b="1" i="0">
                  <a:solidFill>
                    <a:srgbClr val="A15C07"/>
                  </a:solidFill>
                  <a:latin typeface="Inter" panose="020B0502030000000004" pitchFamily="34" charset="0"/>
                </a:rPr>
                <a:t>Bribe ignored</a:t>
              </a:r>
            </a:p>
          </p:txBody>
        </p:sp>
        <p:sp>
          <p:nvSpPr>
            <p:cNvPr id="55" name="Rectangle 54"/>
            <p:cNvSpPr/>
            <p:nvPr/>
          </p:nvSpPr>
          <p:spPr>
            <a:xfrm>
              <a:off x="877824" y="4648581"/>
              <a:ext cx="5650992" cy="7315"/>
            </a:xfrm>
            <a:prstGeom prst="rect">
              <a:avLst/>
            </a:prstGeom>
            <a:solidFill>
              <a:srgbClr val="E9E8E3"/>
            </a:solidFill>
            <a:ln>
              <a:noFill/>
            </a:ln>
          </p:spPr>
          <p:txBody>
            <a:bodyPr rtlCol="0" anchor="ctr"/>
            <a:lstStyle/>
            <a:p>
              <a:pPr algn="ctr"/>
            </a:p>
          </p:txBody>
        </p:sp>
        <p:sp>
          <p:nvSpPr>
            <p:cNvPr id="56" name="TextBox 55"/>
            <p:cNvSpPr txBox="1"/>
            <p:nvPr/>
          </p:nvSpPr>
          <p:spPr>
            <a:xfrm>
              <a:off x="950976" y="4648581"/>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a:t>
              </a:r>
            </a:p>
          </p:txBody>
        </p:sp>
        <p:sp>
          <p:nvSpPr>
            <p:cNvPr id="57" name="TextBox 56"/>
            <p:cNvSpPr txBox="1"/>
            <p:nvPr/>
          </p:nvSpPr>
          <p:spPr>
            <a:xfrm>
              <a:off x="1335024" y="4648581"/>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DealDrop Direct</a:t>
              </a:r>
            </a:p>
          </p:txBody>
        </p:sp>
        <p:sp>
          <p:nvSpPr>
            <p:cNvPr id="58" name="Rounded Rectangle 57"/>
            <p:cNvSpPr/>
            <p:nvPr/>
          </p:nvSpPr>
          <p:spPr>
            <a:xfrm>
              <a:off x="6073648" y="4716589"/>
              <a:ext cx="363728" cy="164592"/>
            </a:xfrm>
            <a:prstGeom prst="roundRect">
              <a:avLst>
                <a:gd name="adj" fmla="val 50000"/>
              </a:avLst>
            </a:prstGeom>
            <a:solidFill>
              <a:srgbClr val="FDECEC"/>
            </a:solidFill>
            <a:ln>
              <a:noFill/>
            </a:ln>
          </p:spPr>
          <p:txBody>
            <a:bodyPr rtlCol="0" anchor="ctr"/>
            <a:lstStyle/>
            <a:p>
              <a:pPr algn="ctr"/>
            </a:p>
          </p:txBody>
        </p:sp>
        <p:sp>
          <p:nvSpPr>
            <p:cNvPr id="59" name="TextBox 58"/>
            <p:cNvSpPr txBox="1"/>
            <p:nvPr/>
          </p:nvSpPr>
          <p:spPr>
            <a:xfrm>
              <a:off x="6073648" y="4716589"/>
              <a:ext cx="363728" cy="164592"/>
            </a:xfrm>
            <a:prstGeom prst="rect">
              <a:avLst/>
            </a:prstGeom>
            <a:noFill/>
          </p:spPr>
          <p:txBody>
            <a:bodyPr wrap="square" lIns="0" rIns="0" tIns="0" bIns="0" anchor="ctr">
              <a:noAutofit/>
            </a:bodyPr>
            <a:lstStyle/>
            <a:p>
              <a:pPr algn="ctr"/>
              <a:r>
                <a:rPr sz="700" b="1" i="0">
                  <a:solidFill>
                    <a:srgbClr val="D93036"/>
                  </a:solidFill>
                  <a:latin typeface="Inter" panose="020B0502030000000004" pitchFamily="34" charset="0"/>
                </a:rPr>
                <a:t>Lied</a:t>
              </a:r>
            </a:p>
          </p:txBody>
        </p:sp>
        <p:sp>
          <p:nvSpPr>
            <p:cNvPr id="60" name="Rectangle 59"/>
            <p:cNvSpPr/>
            <p:nvPr/>
          </p:nvSpPr>
          <p:spPr>
            <a:xfrm>
              <a:off x="877824" y="4949190"/>
              <a:ext cx="5650992" cy="7315"/>
            </a:xfrm>
            <a:prstGeom prst="rect">
              <a:avLst/>
            </a:prstGeom>
            <a:solidFill>
              <a:srgbClr val="E9E8E3"/>
            </a:solidFill>
            <a:ln>
              <a:noFill/>
            </a:ln>
          </p:spPr>
          <p:txBody>
            <a:bodyPr rtlCol="0" anchor="ctr"/>
            <a:lstStyle/>
            <a:p>
              <a:pPr algn="ctr"/>
            </a:p>
          </p:txBody>
        </p:sp>
        <p:sp>
          <p:nvSpPr>
            <p:cNvPr id="61" name="TextBox 60"/>
            <p:cNvSpPr txBox="1"/>
            <p:nvPr/>
          </p:nvSpPr>
          <p:spPr>
            <a:xfrm>
              <a:off x="950976" y="4949190"/>
              <a:ext cx="457200" cy="300609"/>
            </a:xfrm>
            <a:prstGeom prst="rect">
              <a:avLst/>
            </a:prstGeom>
            <a:noFill/>
          </p:spPr>
          <p:txBody>
            <a:bodyPr wrap="square" lIns="0" rIns="0" tIns="0" bIns="0" anchor="ctr">
              <a:noAutofit/>
            </a:bodyPr>
            <a:lstStyle/>
            <a:p>
              <a:pPr algn="l"/>
              <a:r>
                <a:rPr sz="750" b="0" i="0">
                  <a:solidFill>
                    <a:srgbClr val="5D5D66"/>
                  </a:solidFill>
                  <a:latin typeface="Inter" panose="020B0502030000000004" pitchFamily="34" charset="0"/>
                </a:rPr>
                <a:t>—</a:t>
              </a:r>
            </a:p>
          </p:txBody>
        </p:sp>
        <p:sp>
          <p:nvSpPr>
            <p:cNvPr id="62" name="TextBox 61"/>
            <p:cNvSpPr txBox="1"/>
            <p:nvPr/>
          </p:nvSpPr>
          <p:spPr>
            <a:xfrm>
              <a:off x="1335024" y="4949190"/>
              <a:ext cx="3008376" cy="300609"/>
            </a:xfrm>
            <a:prstGeom prst="rect">
              <a:avLst/>
            </a:prstGeom>
            <a:noFill/>
          </p:spPr>
          <p:txBody>
            <a:bodyPr wrap="square" lIns="0" rIns="0" tIns="0" bIns="0" anchor="ctr">
              <a:noAutofit/>
            </a:bodyPr>
            <a:lstStyle/>
            <a:p>
              <a:pPr algn="l"/>
              <a:r>
                <a:rPr sz="800" b="1" i="0">
                  <a:solidFill>
                    <a:srgbClr val="0E0E10"/>
                  </a:solidFill>
                  <a:latin typeface="Inter" panose="020B0502030000000004" pitchFamily="34" charset="0"/>
                </a:rPr>
                <a:t>Specsmith</a:t>
              </a:r>
            </a:p>
          </p:txBody>
        </p:sp>
        <p:sp>
          <p:nvSpPr>
            <p:cNvPr id="63" name="Rounded Rectangle 62"/>
            <p:cNvSpPr/>
            <p:nvPr/>
          </p:nvSpPr>
          <p:spPr>
            <a:xfrm>
              <a:off x="6073648" y="5017198"/>
              <a:ext cx="363728" cy="164592"/>
            </a:xfrm>
            <a:prstGeom prst="roundRect">
              <a:avLst>
                <a:gd name="adj" fmla="val 50000"/>
              </a:avLst>
            </a:prstGeom>
            <a:solidFill>
              <a:srgbClr val="FDECEC"/>
            </a:solidFill>
            <a:ln>
              <a:noFill/>
            </a:ln>
          </p:spPr>
          <p:txBody>
            <a:bodyPr rtlCol="0" anchor="ctr"/>
            <a:lstStyle/>
            <a:p>
              <a:pPr algn="ctr"/>
            </a:p>
          </p:txBody>
        </p:sp>
        <p:sp>
          <p:nvSpPr>
            <p:cNvPr id="64" name="TextBox 63"/>
            <p:cNvSpPr txBox="1"/>
            <p:nvPr/>
          </p:nvSpPr>
          <p:spPr>
            <a:xfrm>
              <a:off x="6073648" y="5017198"/>
              <a:ext cx="363728" cy="164592"/>
            </a:xfrm>
            <a:prstGeom prst="rect">
              <a:avLst/>
            </a:prstGeom>
            <a:noFill/>
          </p:spPr>
          <p:txBody>
            <a:bodyPr wrap="square" lIns="0" rIns="0" tIns="0" bIns="0" anchor="ctr">
              <a:noAutofit/>
            </a:bodyPr>
            <a:lstStyle/>
            <a:p>
              <a:pPr algn="ctr"/>
              <a:r>
                <a:rPr sz="700" b="1" i="0">
                  <a:solidFill>
                    <a:srgbClr val="D93036"/>
                  </a:solidFill>
                  <a:latin typeface="Inter" panose="020B0502030000000004" pitchFamily="34" charset="0"/>
                </a:rPr>
                <a:t>Lied</a:t>
              </a:r>
            </a:p>
          </p:txBody>
        </p:sp>
        <p:sp>
          <p:nvSpPr>
            <p:cNvPr id="65" name="TextBox 64"/>
            <p:cNvSpPr txBox="1"/>
            <p:nvPr/>
          </p:nvSpPr>
          <p:spPr>
            <a:xfrm>
              <a:off x="777240" y="5176647"/>
              <a:ext cx="5852160" cy="182880"/>
            </a:xfrm>
            <a:prstGeom prst="rect">
              <a:avLst/>
            </a:prstGeom>
            <a:noFill/>
          </p:spPr>
          <p:txBody>
            <a:bodyPr wrap="square" lIns="0" rIns="0" tIns="0" bIns="0" anchor="ctr">
              <a:noAutofit/>
            </a:bodyPr>
            <a:lstStyle/>
            <a:p>
              <a:pPr algn="r"/>
              <a:r>
                <a:rPr sz="700" b="0" i="0">
                  <a:solidFill>
                    <a:srgbClr val="9A9AA3"/>
                  </a:solidFill>
                  <a:latin typeface="JetBrains Mono" panose="02000009000000000000" pitchFamily="49" charset="0"/>
                </a:rPr>
                <a:t>Placeholder: screenshots/exchange-liar.png</a:t>
              </a:r>
            </a:p>
          </p:txBody>
        </p:sp>
      </p:grpSp>
      <p:grpSp>
        <p:nvGrpSpPr>
          <p:cNvPr id="66" name="Group 65"/>
          <p:cNvGrpSpPr/>
          <p:nvPr/>
        </p:nvGrpSpPr>
        <p:grpSpPr>
          <a:xfrm>
            <a:off x="685800" y="5532120"/>
            <a:ext cx="2962656" cy="786384"/>
            <a:chOff x="685800" y="5532120"/>
            <a:chExt cx="2962656" cy="786384"/>
          </a:xfrm>
        </p:grpSpPr>
        <p:sp>
          <p:nvSpPr>
            <p:cNvPr id="67" name="Rounded Rectangle 66"/>
            <p:cNvSpPr/>
            <p:nvPr/>
          </p:nvSpPr>
          <p:spPr>
            <a:xfrm>
              <a:off x="685800" y="5532120"/>
              <a:ext cx="2962656" cy="786384"/>
            </a:xfrm>
            <a:prstGeom prst="roundRect">
              <a:avLst>
                <a:gd name="adj" fmla="val 13953"/>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68" name="Rounded Rectangle 67"/>
            <p:cNvSpPr/>
            <p:nvPr/>
          </p:nvSpPr>
          <p:spPr>
            <a:xfrm>
              <a:off x="822960" y="5623560"/>
              <a:ext cx="1005332" cy="219456"/>
            </a:xfrm>
            <a:prstGeom prst="roundRect">
              <a:avLst>
                <a:gd name="adj" fmla="val 50000"/>
              </a:avLst>
            </a:prstGeom>
            <a:solidFill>
              <a:srgbClr val="FFF4E2"/>
            </a:solidFill>
            <a:ln>
              <a:noFill/>
            </a:ln>
          </p:spPr>
          <p:txBody>
            <a:bodyPr rtlCol="0" anchor="ctr"/>
            <a:lstStyle/>
            <a:p>
              <a:pPr algn="ctr"/>
            </a:p>
          </p:txBody>
        </p:sp>
        <p:sp>
          <p:nvSpPr>
            <p:cNvPr id="69" name="TextBox 68"/>
            <p:cNvSpPr txBox="1"/>
            <p:nvPr/>
          </p:nvSpPr>
          <p:spPr>
            <a:xfrm>
              <a:off x="822960" y="5623560"/>
              <a:ext cx="1005332" cy="219456"/>
            </a:xfrm>
            <a:prstGeom prst="rect">
              <a:avLst/>
            </a:prstGeom>
            <a:noFill/>
          </p:spPr>
          <p:txBody>
            <a:bodyPr wrap="square" lIns="0" rIns="0" tIns="0" bIns="0" anchor="ctr">
              <a:noAutofit/>
            </a:bodyPr>
            <a:lstStyle/>
            <a:p>
              <a:pPr algn="ctr"/>
              <a:r>
                <a:rPr sz="850" b="1" i="0">
                  <a:solidFill>
                    <a:srgbClr val="A15C07"/>
                  </a:solidFill>
                  <a:latin typeface="Inter" panose="020B0502030000000004" pitchFamily="34" charset="0"/>
                </a:rPr>
                <a:t>Bribe ignored</a:t>
              </a:r>
            </a:p>
          </p:txBody>
        </p:sp>
        <p:sp>
          <p:nvSpPr>
            <p:cNvPr id="70" name="TextBox 69"/>
            <p:cNvSpPr txBox="1"/>
            <p:nvPr/>
          </p:nvSpPr>
          <p:spPr>
            <a:xfrm>
              <a:off x="1919732" y="5623560"/>
              <a:ext cx="1637284" cy="219456"/>
            </a:xfrm>
            <a:prstGeom prst="rect">
              <a:avLst/>
            </a:prstGeom>
            <a:noFill/>
          </p:spPr>
          <p:txBody>
            <a:bodyPr wrap="square" lIns="0" rIns="0" tIns="0" bIns="0" anchor="ctr">
              <a:noAutofit/>
            </a:bodyPr>
            <a:lstStyle/>
            <a:p>
              <a:pPr algn="l"/>
              <a:r>
                <a:rPr sz="850" b="1" i="0">
                  <a:solidFill>
                    <a:srgbClr val="5D5D66"/>
                  </a:solidFill>
                  <a:latin typeface="Inter" panose="020B0502030000000004" pitchFamily="34" charset="0"/>
                </a:rPr>
                <a:t>MegaMart Ads Co.</a:t>
              </a:r>
            </a:p>
          </p:txBody>
        </p:sp>
        <p:sp>
          <p:nvSpPr>
            <p:cNvPr id="71" name="TextBox 70"/>
            <p:cNvSpPr txBox="1"/>
            <p:nvPr/>
          </p:nvSpPr>
          <p:spPr>
            <a:xfrm>
              <a:off x="822960" y="5888736"/>
              <a:ext cx="2724912" cy="411480"/>
            </a:xfrm>
            <a:prstGeom prst="rect">
              <a:avLst/>
            </a:prstGeom>
            <a:noFill/>
          </p:spPr>
          <p:txBody>
            <a:bodyPr wrap="square" lIns="0" rIns="0" tIns="0" bIns="0" anchor="t">
              <a:noAutofit/>
            </a:bodyPr>
            <a:lstStyle/>
            <a:p>
              <a:pPr algn="l">
                <a:lnSpc>
                  <a:spcPct val="103000"/>
                </a:lnSpc>
              </a:pPr>
              <a:r>
                <a:rPr sz="900" b="0" i="0">
                  <a:solidFill>
                    <a:srgbClr val="0E0E10"/>
                  </a:solidFill>
                  <a:latin typeface="Inter" panose="020B0502030000000004" pitchFamily="34" charset="0"/>
                </a:rPr>
                <a:t>Offered $35.00/sale to the exchange; fees never buy rank, so it stays #5</a:t>
              </a:r>
            </a:p>
          </p:txBody>
        </p:sp>
      </p:grpSp>
      <p:grpSp>
        <p:nvGrpSpPr>
          <p:cNvPr id="72" name="Group 71"/>
          <p:cNvGrpSpPr/>
          <p:nvPr/>
        </p:nvGrpSpPr>
        <p:grpSpPr>
          <a:xfrm>
            <a:off x="3758184" y="5532120"/>
            <a:ext cx="2962656" cy="786384"/>
            <a:chOff x="3758184" y="5532120"/>
            <a:chExt cx="2962656" cy="786384"/>
          </a:xfrm>
        </p:grpSpPr>
        <p:sp>
          <p:nvSpPr>
            <p:cNvPr id="73" name="Rounded Rectangle 72"/>
            <p:cNvSpPr/>
            <p:nvPr/>
          </p:nvSpPr>
          <p:spPr>
            <a:xfrm>
              <a:off x="3758184" y="5532120"/>
              <a:ext cx="2962656" cy="786384"/>
            </a:xfrm>
            <a:prstGeom prst="roundRect">
              <a:avLst>
                <a:gd name="adj" fmla="val 13953"/>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74" name="Rounded Rectangle 73"/>
            <p:cNvSpPr/>
            <p:nvPr/>
          </p:nvSpPr>
          <p:spPr>
            <a:xfrm>
              <a:off x="3895344" y="5623560"/>
              <a:ext cx="1368044" cy="219456"/>
            </a:xfrm>
            <a:prstGeom prst="roundRect">
              <a:avLst>
                <a:gd name="adj" fmla="val 50000"/>
              </a:avLst>
            </a:prstGeom>
            <a:solidFill>
              <a:srgbClr val="EDF2FF"/>
            </a:solidFill>
            <a:ln>
              <a:noFill/>
            </a:ln>
          </p:spPr>
          <p:txBody>
            <a:bodyPr rtlCol="0" anchor="ctr"/>
            <a:lstStyle/>
            <a:p>
              <a:pPr algn="ctr"/>
            </a:p>
          </p:txBody>
        </p:sp>
        <p:sp>
          <p:nvSpPr>
            <p:cNvPr id="75" name="TextBox 74"/>
            <p:cNvSpPr txBox="1"/>
            <p:nvPr/>
          </p:nvSpPr>
          <p:spPr>
            <a:xfrm>
              <a:off x="3895344" y="5623560"/>
              <a:ext cx="1368044" cy="219456"/>
            </a:xfrm>
            <a:prstGeom prst="rect">
              <a:avLst/>
            </a:prstGeom>
            <a:noFill/>
          </p:spPr>
          <p:txBody>
            <a:bodyPr wrap="square" lIns="0" rIns="0" tIns="0" bIns="0" anchor="ctr">
              <a:noAutofit/>
            </a:bodyPr>
            <a:lstStyle/>
            <a:p>
              <a:pPr algn="ctr"/>
              <a:r>
                <a:rPr sz="850" b="1" i="0">
                  <a:solidFill>
                    <a:srgbClr val="2F5BEA"/>
                  </a:solidFill>
                  <a:latin typeface="Inter" panose="020B0502030000000004" pitchFamily="34" charset="0"/>
                </a:rPr>
                <a:t>Sold out, recovered</a:t>
              </a:r>
            </a:p>
          </p:txBody>
        </p:sp>
        <p:sp>
          <p:nvSpPr>
            <p:cNvPr id="76" name="TextBox 75"/>
            <p:cNvSpPr txBox="1"/>
            <p:nvPr/>
          </p:nvSpPr>
          <p:spPr>
            <a:xfrm>
              <a:off x="5354828" y="5623560"/>
              <a:ext cx="1274572" cy="219456"/>
            </a:xfrm>
            <a:prstGeom prst="rect">
              <a:avLst/>
            </a:prstGeom>
            <a:noFill/>
          </p:spPr>
          <p:txBody>
            <a:bodyPr wrap="square" lIns="0" rIns="0" tIns="0" bIns="0" anchor="ctr">
              <a:noAutofit/>
            </a:bodyPr>
            <a:lstStyle/>
            <a:p>
              <a:pPr algn="l"/>
              <a:r>
                <a:rPr sz="850" b="1" i="0">
                  <a:solidFill>
                    <a:srgbClr val="5D5D66"/>
                  </a:solidFill>
                  <a:latin typeface="JetBrains Mono" panose="02000009000000000000" pitchFamily="49" charset="0"/>
                </a:rPr>
                <a:t>buy_offer</a:t>
              </a:r>
            </a:p>
          </p:txBody>
        </p:sp>
        <p:sp>
          <p:nvSpPr>
            <p:cNvPr id="77" name="TextBox 76"/>
            <p:cNvSpPr txBox="1"/>
            <p:nvPr/>
          </p:nvSpPr>
          <p:spPr>
            <a:xfrm>
              <a:off x="3895344" y="5888736"/>
              <a:ext cx="2724912" cy="411480"/>
            </a:xfrm>
            <a:prstGeom prst="rect">
              <a:avLst/>
            </a:prstGeom>
            <a:noFill/>
          </p:spPr>
          <p:txBody>
            <a:bodyPr wrap="square" lIns="0" rIns="0" tIns="0" bIns="0" anchor="t">
              <a:noAutofit/>
            </a:bodyPr>
            <a:lstStyle/>
            <a:p>
              <a:pPr algn="l">
                <a:lnSpc>
                  <a:spcPct val="103000"/>
                </a:lnSpc>
              </a:pPr>
              <a:r>
                <a:rPr sz="900" b="0" i="0">
                  <a:solidFill>
                    <a:srgbClr val="0E0E10"/>
                  </a:solidFill>
                  <a:latin typeface="Inter" panose="020B0502030000000004" pitchFamily="34" charset="0"/>
                </a:rPr>
                <a:t>out_of_stock + next_offer: the agent buys the next best verified offer on its own.</a:t>
              </a:r>
            </a:p>
          </p:txBody>
        </p:sp>
      </p:grpSp>
      <p:sp>
        <p:nvSpPr>
          <p:cNvPr id="78" name="TextBox 77"/>
          <p:cNvSpPr txBox="1"/>
          <p:nvPr/>
        </p:nvSpPr>
        <p:spPr>
          <a:xfrm>
            <a:off x="6967728" y="1444752"/>
            <a:ext cx="2377440" cy="237744"/>
          </a:xfrm>
          <a:prstGeom prst="rect">
            <a:avLst/>
          </a:prstGeom>
          <a:noFill/>
        </p:spPr>
        <p:txBody>
          <a:bodyPr wrap="square" lIns="0" rIns="0" tIns="0" bIns="0" anchor="ctr">
            <a:noAutofit/>
          </a:bodyPr>
          <a:lstStyle/>
          <a:p>
            <a:pPr algn="l"/>
            <a:r>
              <a:rPr sz="1050" b="1" i="0">
                <a:solidFill>
                  <a:srgbClr val="5D5D66"/>
                </a:solidFill>
                <a:latin typeface="Inter" panose="020B0502030000000004" pitchFamily="34" charset="0"/>
              </a:rPr>
              <a:t>Approver phone · SMS</a:t>
            </a:r>
          </a:p>
        </p:txBody>
      </p:sp>
      <p:grpSp>
        <p:nvGrpSpPr>
          <p:cNvPr id="79" name="Group 78"/>
          <p:cNvGrpSpPr/>
          <p:nvPr/>
        </p:nvGrpSpPr>
        <p:grpSpPr>
          <a:xfrm>
            <a:off x="6967728" y="1737360"/>
            <a:ext cx="2191353" cy="4572000"/>
            <a:chOff x="6967728" y="1737360"/>
            <a:chExt cx="2191353" cy="4572000"/>
          </a:xfrm>
        </p:grpSpPr>
        <p:sp>
          <p:nvSpPr>
            <p:cNvPr id="80" name="Rounded Rectangle 79"/>
            <p:cNvSpPr/>
            <p:nvPr/>
          </p:nvSpPr>
          <p:spPr>
            <a:xfrm>
              <a:off x="6967728" y="1737360"/>
              <a:ext cx="2191353" cy="4572000"/>
            </a:xfrm>
            <a:prstGeom prst="roundRect">
              <a:avLst>
                <a:gd name="adj" fmla="val 15021"/>
              </a:avLst>
            </a:prstGeom>
            <a:solidFill>
              <a:srgbClr val="0E0E10"/>
            </a:solidFill>
            <a:ln>
              <a:noFill/>
            </a:ln>
            <a:effectLst>
              <a:outerShdw blurRad="384048" dist="109728" dir="5400000" algn="t" rotWithShape="0">
                <a:srgbClr val="0E0E10">
                  <a:alpha val="13000"/>
                </a:srgbClr>
              </a:outerShdw>
            </a:effectLst>
          </p:spPr>
          <p:txBody>
            <a:bodyPr rtlCol="0" anchor="ctr"/>
            <a:lstStyle/>
            <a:p>
              <a:pPr algn="ctr"/>
            </a:p>
          </p:txBody>
        </p:sp>
        <p:sp>
          <p:nvSpPr>
            <p:cNvPr id="81" name="Rounded Rectangle 80"/>
            <p:cNvSpPr/>
            <p:nvPr/>
          </p:nvSpPr>
          <p:spPr>
            <a:xfrm>
              <a:off x="7040880" y="1810512"/>
              <a:ext cx="2045049" cy="4425696"/>
            </a:xfrm>
            <a:prstGeom prst="roundRect">
              <a:avLst>
                <a:gd name="adj" fmla="val 11625"/>
              </a:avLst>
            </a:prstGeom>
            <a:solidFill>
              <a:srgbClr val="FFFFFF"/>
            </a:solidFill>
            <a:ln>
              <a:noFill/>
            </a:ln>
          </p:spPr>
          <p:txBody>
            <a:bodyPr rtlCol="0" anchor="ctr"/>
            <a:lstStyle/>
            <a:p>
              <a:pPr algn="ctr"/>
            </a:p>
          </p:txBody>
        </p:sp>
        <p:sp>
          <p:nvSpPr>
            <p:cNvPr id="82" name="TextBox 81"/>
            <p:cNvSpPr txBox="1"/>
            <p:nvPr/>
          </p:nvSpPr>
          <p:spPr>
            <a:xfrm>
              <a:off x="7040880" y="2084832"/>
              <a:ext cx="2045049" cy="228600"/>
            </a:xfrm>
            <a:prstGeom prst="rect">
              <a:avLst/>
            </a:prstGeom>
            <a:noFill/>
          </p:spPr>
          <p:txBody>
            <a:bodyPr wrap="square" lIns="0" rIns="0" tIns="0" bIns="0" anchor="t">
              <a:noAutofit/>
            </a:bodyPr>
            <a:lstStyle/>
            <a:p>
              <a:pPr algn="ctr"/>
              <a:r>
                <a:rPr sz="900" b="1" i="0">
                  <a:solidFill>
                    <a:srgbClr val="0E0E10"/>
                  </a:solidFill>
                  <a:latin typeface="Inter" panose="020B0502030000000004" pitchFamily="34" charset="0"/>
                </a:rPr>
                <a:t>Bidwire</a:t>
              </a:r>
            </a:p>
          </p:txBody>
        </p:sp>
        <p:sp>
          <p:nvSpPr>
            <p:cNvPr id="83" name="Rounded Rectangle 82"/>
            <p:cNvSpPr/>
            <p:nvPr/>
          </p:nvSpPr>
          <p:spPr>
            <a:xfrm>
              <a:off x="7168896" y="2496312"/>
              <a:ext cx="1587849" cy="1554480"/>
            </a:xfrm>
            <a:prstGeom prst="roundRect">
              <a:avLst>
                <a:gd name="adj" fmla="val 8235"/>
              </a:avLst>
            </a:prstGeom>
            <a:solidFill>
              <a:srgbClr val="F4F4F1"/>
            </a:solidFill>
            <a:ln>
              <a:noFill/>
            </a:ln>
          </p:spPr>
          <p:txBody>
            <a:bodyPr rtlCol="0" anchor="ctr"/>
            <a:lstStyle/>
            <a:p>
              <a:pPr algn="ctr"/>
            </a:p>
          </p:txBody>
        </p:sp>
        <p:sp>
          <p:nvSpPr>
            <p:cNvPr id="84" name="TextBox 83"/>
            <p:cNvSpPr txBox="1"/>
            <p:nvPr/>
          </p:nvSpPr>
          <p:spPr>
            <a:xfrm>
              <a:off x="7278624" y="2587752"/>
              <a:ext cx="1368393" cy="1417320"/>
            </a:xfrm>
            <a:prstGeom prst="rect">
              <a:avLst/>
            </a:prstGeom>
            <a:noFill/>
          </p:spPr>
          <p:txBody>
            <a:bodyPr wrap="square" lIns="0" rIns="0" tIns="0" bIns="0" anchor="t">
              <a:noAutofit/>
            </a:bodyPr>
            <a:lstStyle/>
            <a:p>
              <a:pPr algn="l">
                <a:lnSpc>
                  <a:spcPct val="105000"/>
                </a:lnSpc>
              </a:pPr>
              <a:r>
                <a:rPr sz="750" b="0" i="0">
                  <a:solidFill>
                    <a:srgbClr val="0E0E10"/>
                  </a:solidFill>
                  <a:latin typeface="Inter" panose="020B0502030000000004" pitchFamily="34" charset="0"/>
                </a:rPr>
                <a:t>Your agent wants to buy Sennheiser Momentum 4 Wireless from Last Unit Labs for $319.99 (your limit is $300). Reply YES 1234 to approve.</a:t>
              </a:r>
            </a:p>
          </p:txBody>
        </p:sp>
        <p:sp>
          <p:nvSpPr>
            <p:cNvPr id="85" name="Rounded Rectangle 84"/>
            <p:cNvSpPr/>
            <p:nvPr/>
          </p:nvSpPr>
          <p:spPr>
            <a:xfrm>
              <a:off x="8217249" y="4206240"/>
              <a:ext cx="731520" cy="292608"/>
            </a:xfrm>
            <a:prstGeom prst="roundRect">
              <a:avLst>
                <a:gd name="adj" fmla="val 43750"/>
              </a:avLst>
            </a:prstGeom>
            <a:solidFill>
              <a:srgbClr val="0E0E10"/>
            </a:solidFill>
            <a:ln>
              <a:noFill/>
            </a:ln>
          </p:spPr>
          <p:txBody>
            <a:bodyPr rtlCol="0" anchor="ctr"/>
            <a:lstStyle/>
            <a:p>
              <a:pPr algn="ctr"/>
            </a:p>
          </p:txBody>
        </p:sp>
        <p:sp>
          <p:nvSpPr>
            <p:cNvPr id="86" name="TextBox 85"/>
            <p:cNvSpPr txBox="1"/>
            <p:nvPr/>
          </p:nvSpPr>
          <p:spPr>
            <a:xfrm>
              <a:off x="8217249" y="4206240"/>
              <a:ext cx="731520" cy="292608"/>
            </a:xfrm>
            <a:prstGeom prst="rect">
              <a:avLst/>
            </a:prstGeom>
            <a:noFill/>
          </p:spPr>
          <p:txBody>
            <a:bodyPr wrap="square" lIns="0" rIns="0" tIns="0" bIns="0" anchor="ctr">
              <a:noAutofit/>
            </a:bodyPr>
            <a:lstStyle/>
            <a:p>
              <a:pPr algn="ctr"/>
              <a:r>
                <a:rPr sz="800" b="1" i="0">
                  <a:solidFill>
                    <a:srgbClr val="FFFFFF"/>
                  </a:solidFill>
                  <a:latin typeface="Inter" panose="020B0502030000000004" pitchFamily="34" charset="0"/>
                </a:rPr>
                <a:t>YES 1234</a:t>
              </a:r>
            </a:p>
          </p:txBody>
        </p:sp>
        <p:sp>
          <p:nvSpPr>
            <p:cNvPr id="87" name="TextBox 86"/>
            <p:cNvSpPr txBox="1"/>
            <p:nvPr/>
          </p:nvSpPr>
          <p:spPr>
            <a:xfrm>
              <a:off x="7178040" y="4690872"/>
              <a:ext cx="1770729" cy="274320"/>
            </a:xfrm>
            <a:prstGeom prst="rect">
              <a:avLst/>
            </a:prstGeom>
            <a:noFill/>
          </p:spPr>
          <p:txBody>
            <a:bodyPr wrap="square" lIns="0" rIns="0" tIns="0" bIns="0" anchor="t">
              <a:noAutofit/>
            </a:bodyPr>
            <a:lstStyle/>
            <a:p>
              <a:pPr algn="ctr"/>
              <a:r>
                <a:rPr sz="750" b="1" i="0">
                  <a:solidFill>
                    <a:srgbClr val="12805C"/>
                  </a:solidFill>
                  <a:latin typeface="Inter" panose="020B0502030000000004" pitchFamily="34" charset="0"/>
                </a:rPr>
                <a:t>Approved · purchase completed</a:t>
              </a:r>
            </a:p>
          </p:txBody>
        </p:sp>
        <p:sp>
          <p:nvSpPr>
            <p:cNvPr id="88" name="TextBox 87"/>
            <p:cNvSpPr txBox="1"/>
            <p:nvPr/>
          </p:nvSpPr>
          <p:spPr>
            <a:xfrm>
              <a:off x="7077456" y="5998464"/>
              <a:ext cx="1971897" cy="182880"/>
            </a:xfrm>
            <a:prstGeom prst="rect">
              <a:avLst/>
            </a:prstGeom>
            <a:noFill/>
          </p:spPr>
          <p:txBody>
            <a:bodyPr wrap="square" lIns="0" rIns="0" tIns="0" bIns="0" anchor="ctr">
              <a:noAutofit/>
            </a:bodyPr>
            <a:lstStyle/>
            <a:p>
              <a:pPr algn="r"/>
              <a:r>
                <a:rPr sz="700" b="0" i="0">
                  <a:solidFill>
                    <a:srgbClr val="9A9AA3"/>
                  </a:solidFill>
                  <a:latin typeface="JetBrains Mono" panose="02000009000000000000" pitchFamily="49" charset="0"/>
                </a:rPr>
                <a:t>Placeholder: screenshots/phone-approval.png</a:t>
              </a:r>
            </a:p>
          </p:txBody>
        </p:sp>
      </p:grpSp>
      <p:grpSp>
        <p:nvGrpSpPr>
          <p:cNvPr id="89" name="Group 88"/>
          <p:cNvGrpSpPr/>
          <p:nvPr/>
        </p:nvGrpSpPr>
        <p:grpSpPr>
          <a:xfrm>
            <a:off x="9415113" y="1737360"/>
            <a:ext cx="2090782" cy="4572000"/>
            <a:chOff x="9415113" y="1737360"/>
            <a:chExt cx="2090782" cy="4572000"/>
          </a:xfrm>
        </p:grpSpPr>
        <p:sp>
          <p:nvSpPr>
            <p:cNvPr id="90" name="Rounded Rectangle 89"/>
            <p:cNvSpPr/>
            <p:nvPr/>
          </p:nvSpPr>
          <p:spPr>
            <a:xfrm>
              <a:off x="9415113" y="1737360"/>
              <a:ext cx="2090782" cy="4572000"/>
            </a:xfrm>
            <a:prstGeom prst="roundRect">
              <a:avLst>
                <a:gd name="adj" fmla="val 5248"/>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grpSp>
      <p:grpSp>
        <p:nvGrpSpPr>
          <p:cNvPr id="91" name="Group 90"/>
          <p:cNvGrpSpPr/>
          <p:nvPr/>
        </p:nvGrpSpPr>
        <p:grpSpPr>
          <a:xfrm>
            <a:off x="9643713" y="1847088"/>
            <a:ext cx="1725022" cy="978408"/>
            <a:chOff x="9643713" y="1847088"/>
            <a:chExt cx="1725022" cy="978408"/>
          </a:xfrm>
        </p:grpSpPr>
        <p:sp>
          <p:nvSpPr>
            <p:cNvPr id="92" name="TextBox 91"/>
            <p:cNvSpPr txBox="1"/>
            <p:nvPr/>
          </p:nvSpPr>
          <p:spPr>
            <a:xfrm>
              <a:off x="9643713" y="1847088"/>
              <a:ext cx="1725022" cy="457200"/>
            </a:xfrm>
            <a:prstGeom prst="rect">
              <a:avLst/>
            </a:prstGeom>
            <a:noFill/>
          </p:spPr>
          <p:txBody>
            <a:bodyPr wrap="square" lIns="0" rIns="0" tIns="0" bIns="0" anchor="ctr">
              <a:noAutofit/>
            </a:bodyPr>
            <a:lstStyle/>
            <a:p>
              <a:pPr algn="l"/>
              <a:r>
                <a:rPr sz="2600" b="1" i="0" spc="-40">
                  <a:solidFill>
                    <a:srgbClr val="12805C"/>
                  </a:solidFill>
                  <a:latin typeface="Inter" panose="020B0502030000000004" pitchFamily="34" charset="0"/>
                </a:rPr>
                <a:t>7 → 5</a:t>
              </a:r>
            </a:p>
          </p:txBody>
        </p:sp>
        <p:sp>
          <p:nvSpPr>
            <p:cNvPr id="93" name="TextBox 92"/>
            <p:cNvSpPr txBox="1"/>
            <p:nvPr/>
          </p:nvSpPr>
          <p:spPr>
            <a:xfrm>
              <a:off x="9643713" y="2304288"/>
              <a:ext cx="1679302" cy="521208"/>
            </a:xfrm>
            <a:prstGeom prst="rect">
              <a:avLst/>
            </a:prstGeom>
            <a:noFill/>
          </p:spPr>
          <p:txBody>
            <a:bodyPr wrap="square" lIns="0" rIns="0" tIns="0" bIns="0" anchor="t">
              <a:noAutofit/>
            </a:bodyPr>
            <a:lstStyle/>
            <a:p>
              <a:pPr algn="l">
                <a:lnSpc>
                  <a:spcPct val="102000"/>
                </a:lnSpc>
              </a:pPr>
              <a:r>
                <a:rPr sz="1000" b="0" i="0">
                  <a:solidFill>
                    <a:srgbClr val="5D5D66"/>
                  </a:solidFill>
                  <a:latin typeface="Inter" panose="020B0502030000000004" pitchFamily="34" charset="0"/>
                </a:rPr>
                <a:t>bids → verified</a:t>
              </a:r>
            </a:p>
          </p:txBody>
        </p:sp>
      </p:grpSp>
      <p:sp>
        <p:nvSpPr>
          <p:cNvPr id="94" name="Rectangle 93"/>
          <p:cNvSpPr/>
          <p:nvPr/>
        </p:nvSpPr>
        <p:spPr>
          <a:xfrm>
            <a:off x="9597993" y="2880360"/>
            <a:ext cx="1725022" cy="9144"/>
          </a:xfrm>
          <a:prstGeom prst="rect">
            <a:avLst/>
          </a:prstGeom>
          <a:solidFill>
            <a:srgbClr val="E9E8E3"/>
          </a:solidFill>
          <a:ln>
            <a:noFill/>
          </a:ln>
        </p:spPr>
        <p:txBody>
          <a:bodyPr rtlCol="0" anchor="ctr"/>
          <a:lstStyle/>
          <a:p>
            <a:pPr algn="ctr"/>
          </a:p>
        </p:txBody>
      </p:sp>
      <p:grpSp>
        <p:nvGrpSpPr>
          <p:cNvPr id="95" name="Group 94"/>
          <p:cNvGrpSpPr/>
          <p:nvPr/>
        </p:nvGrpSpPr>
        <p:grpSpPr>
          <a:xfrm>
            <a:off x="9643713" y="2990088"/>
            <a:ext cx="1725022" cy="978408"/>
            <a:chOff x="9643713" y="2990088"/>
            <a:chExt cx="1725022" cy="978408"/>
          </a:xfrm>
        </p:grpSpPr>
        <p:sp>
          <p:nvSpPr>
            <p:cNvPr id="96" name="TextBox 95"/>
            <p:cNvSpPr txBox="1"/>
            <p:nvPr/>
          </p:nvSpPr>
          <p:spPr>
            <a:xfrm>
              <a:off x="9643713" y="2990088"/>
              <a:ext cx="1725022" cy="457200"/>
            </a:xfrm>
            <a:prstGeom prst="rect">
              <a:avLst/>
            </a:prstGeom>
            <a:noFill/>
          </p:spPr>
          <p:txBody>
            <a:bodyPr wrap="square" lIns="0" rIns="0" tIns="0" bIns="0" anchor="ctr">
              <a:noAutofit/>
            </a:bodyPr>
            <a:lstStyle/>
            <a:p>
              <a:pPr algn="l"/>
              <a:r>
                <a:rPr sz="2600" b="1" i="0" spc="-40">
                  <a:solidFill>
                    <a:srgbClr val="D93036"/>
                  </a:solidFill>
                  <a:latin typeface="Inter" panose="020B0502030000000004" pitchFamily="34" charset="0"/>
                </a:rPr>
                <a:t>2</a:t>
              </a:r>
            </a:p>
          </p:txBody>
        </p:sp>
        <p:sp>
          <p:nvSpPr>
            <p:cNvPr id="97" name="TextBox 96"/>
            <p:cNvSpPr txBox="1"/>
            <p:nvPr/>
          </p:nvSpPr>
          <p:spPr>
            <a:xfrm>
              <a:off x="9643713" y="3447288"/>
              <a:ext cx="1679302" cy="521208"/>
            </a:xfrm>
            <a:prstGeom prst="rect">
              <a:avLst/>
            </a:prstGeom>
            <a:noFill/>
          </p:spPr>
          <p:txBody>
            <a:bodyPr wrap="square" lIns="0" rIns="0" tIns="0" bIns="0" anchor="t">
              <a:noAutofit/>
            </a:bodyPr>
            <a:lstStyle/>
            <a:p>
              <a:pPr algn="l">
                <a:lnSpc>
                  <a:spcPct val="102000"/>
                </a:lnSpc>
              </a:pPr>
              <a:r>
                <a:rPr sz="1000" b="0" i="0">
                  <a:solidFill>
                    <a:srgbClr val="5D5D66"/>
                  </a:solidFill>
                  <a:latin typeface="Inter" panose="020B0502030000000004" pitchFamily="34" charset="0"/>
                </a:rPr>
                <a:t>excluded for lying: a hidden fee and a fake ANC claim</a:t>
              </a:r>
            </a:p>
          </p:txBody>
        </p:sp>
      </p:grpSp>
      <p:sp>
        <p:nvSpPr>
          <p:cNvPr id="98" name="Rectangle 97"/>
          <p:cNvSpPr/>
          <p:nvPr/>
        </p:nvSpPr>
        <p:spPr>
          <a:xfrm>
            <a:off x="9597993" y="4023360"/>
            <a:ext cx="1725022" cy="9144"/>
          </a:xfrm>
          <a:prstGeom prst="rect">
            <a:avLst/>
          </a:prstGeom>
          <a:solidFill>
            <a:srgbClr val="E9E8E3"/>
          </a:solidFill>
          <a:ln>
            <a:noFill/>
          </a:ln>
        </p:spPr>
        <p:txBody>
          <a:bodyPr rtlCol="0" anchor="ctr"/>
          <a:lstStyle/>
          <a:p>
            <a:pPr algn="ctr"/>
          </a:p>
        </p:txBody>
      </p:sp>
      <p:grpSp>
        <p:nvGrpSpPr>
          <p:cNvPr id="99" name="Group 98"/>
          <p:cNvGrpSpPr/>
          <p:nvPr/>
        </p:nvGrpSpPr>
        <p:grpSpPr>
          <a:xfrm>
            <a:off x="9643713" y="4133088"/>
            <a:ext cx="1725022" cy="978408"/>
            <a:chOff x="9643713" y="4133088"/>
            <a:chExt cx="1725022" cy="978408"/>
          </a:xfrm>
        </p:grpSpPr>
        <p:sp>
          <p:nvSpPr>
            <p:cNvPr id="100" name="TextBox 99"/>
            <p:cNvSpPr txBox="1"/>
            <p:nvPr/>
          </p:nvSpPr>
          <p:spPr>
            <a:xfrm>
              <a:off x="9643713" y="4133088"/>
              <a:ext cx="1725022" cy="457200"/>
            </a:xfrm>
            <a:prstGeom prst="rect">
              <a:avLst/>
            </a:prstGeom>
            <a:noFill/>
          </p:spPr>
          <p:txBody>
            <a:bodyPr wrap="square" lIns="0" rIns="0" tIns="0" bIns="0" anchor="ctr">
              <a:noAutofit/>
            </a:bodyPr>
            <a:lstStyle/>
            <a:p>
              <a:pPr algn="l"/>
              <a:r>
                <a:rPr sz="2600" b="1" i="0" spc="-40">
                  <a:solidFill>
                    <a:srgbClr val="A15C07"/>
                  </a:solidFill>
                  <a:latin typeface="Inter" panose="020B0502030000000004" pitchFamily="34" charset="0"/>
                </a:rPr>
                <a:t>#5</a:t>
              </a:r>
            </a:p>
          </p:txBody>
        </p:sp>
        <p:sp>
          <p:nvSpPr>
            <p:cNvPr id="101" name="TextBox 100"/>
            <p:cNvSpPr txBox="1"/>
            <p:nvPr/>
          </p:nvSpPr>
          <p:spPr>
            <a:xfrm>
              <a:off x="9643713" y="4590288"/>
              <a:ext cx="1679302" cy="521208"/>
            </a:xfrm>
            <a:prstGeom prst="rect">
              <a:avLst/>
            </a:prstGeom>
            <a:noFill/>
          </p:spPr>
          <p:txBody>
            <a:bodyPr wrap="square" lIns="0" rIns="0" tIns="0" bIns="0" anchor="t">
              <a:noAutofit/>
            </a:bodyPr>
            <a:lstStyle/>
            <a:p>
              <a:pPr algn="l">
                <a:lnSpc>
                  <a:spcPct val="102000"/>
                </a:lnSpc>
              </a:pPr>
              <a:r>
                <a:rPr sz="1000" b="0" i="0">
                  <a:solidFill>
                    <a:srgbClr val="5D5D66"/>
                  </a:solidFill>
                  <a:latin typeface="Inter" panose="020B0502030000000004" pitchFamily="34" charset="0"/>
                </a:rPr>
                <a:t>where the $35/sale bribe stayed</a:t>
              </a:r>
            </a:p>
          </p:txBody>
        </p:sp>
      </p:grpSp>
      <p:sp>
        <p:nvSpPr>
          <p:cNvPr id="102" name="Rectangle 101"/>
          <p:cNvSpPr/>
          <p:nvPr/>
        </p:nvSpPr>
        <p:spPr>
          <a:xfrm>
            <a:off x="9597993" y="5166360"/>
            <a:ext cx="1725022" cy="9144"/>
          </a:xfrm>
          <a:prstGeom prst="rect">
            <a:avLst/>
          </a:prstGeom>
          <a:solidFill>
            <a:srgbClr val="E9E8E3"/>
          </a:solidFill>
          <a:ln>
            <a:noFill/>
          </a:ln>
        </p:spPr>
        <p:txBody>
          <a:bodyPr rtlCol="0" anchor="ctr"/>
          <a:lstStyle/>
          <a:p>
            <a:pPr algn="ctr"/>
          </a:p>
        </p:txBody>
      </p:sp>
      <p:grpSp>
        <p:nvGrpSpPr>
          <p:cNvPr id="103" name="Group 102"/>
          <p:cNvGrpSpPr/>
          <p:nvPr/>
        </p:nvGrpSpPr>
        <p:grpSpPr>
          <a:xfrm>
            <a:off x="9643713" y="5276088"/>
            <a:ext cx="1725022" cy="978408"/>
            <a:chOff x="9643713" y="5276088"/>
            <a:chExt cx="1725022" cy="978408"/>
          </a:xfrm>
        </p:grpSpPr>
        <p:sp>
          <p:nvSpPr>
            <p:cNvPr id="104" name="TextBox 103"/>
            <p:cNvSpPr txBox="1"/>
            <p:nvPr/>
          </p:nvSpPr>
          <p:spPr>
            <a:xfrm>
              <a:off x="9643713" y="5276088"/>
              <a:ext cx="1725022" cy="457200"/>
            </a:xfrm>
            <a:prstGeom prst="rect">
              <a:avLst/>
            </a:prstGeom>
            <a:noFill/>
          </p:spPr>
          <p:txBody>
            <a:bodyPr wrap="square" lIns="0" rIns="0" tIns="0" bIns="0" anchor="ctr">
              <a:noAutofit/>
            </a:bodyPr>
            <a:lstStyle/>
            <a:p>
              <a:pPr algn="l"/>
              <a:r>
                <a:rPr sz="2600" b="1" i="0" spc="-40">
                  <a:solidFill>
                    <a:srgbClr val="2F5BEA"/>
                  </a:solidFill>
                  <a:latin typeface="Inter" panose="020B0502030000000004" pitchFamily="34" charset="0"/>
                </a:rPr>
                <a:t>$319.99</a:t>
              </a:r>
            </a:p>
          </p:txBody>
        </p:sp>
        <p:sp>
          <p:nvSpPr>
            <p:cNvPr id="105" name="TextBox 104"/>
            <p:cNvSpPr txBox="1"/>
            <p:nvPr/>
          </p:nvSpPr>
          <p:spPr>
            <a:xfrm>
              <a:off x="9643713" y="5733288"/>
              <a:ext cx="1679302" cy="521208"/>
            </a:xfrm>
            <a:prstGeom prst="rect">
              <a:avLst/>
            </a:prstGeom>
            <a:noFill/>
          </p:spPr>
          <p:txBody>
            <a:bodyPr wrap="square" lIns="0" rIns="0" tIns="0" bIns="0" anchor="t">
              <a:noAutofit/>
            </a:bodyPr>
            <a:lstStyle/>
            <a:p>
              <a:pPr algn="l">
                <a:lnSpc>
                  <a:spcPct val="102000"/>
                </a:lnSpc>
              </a:pPr>
              <a:r>
                <a:rPr sz="1000" b="0" i="0">
                  <a:solidFill>
                    <a:srgbClr val="5D5D66"/>
                  </a:solidFill>
                  <a:latin typeface="Inter" panose="020B0502030000000004" pitchFamily="34" charset="0"/>
                </a:rPr>
                <a:t>over the $300 limit, so the human texted YES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00"/>
                                        <p:tgtEl>
                                          <p:spTgt spid="13"/>
                                        </p:tgtEl>
                                      </p:cBhvr>
                                    </p:animEffect>
                                  </p:childTnLst>
                                </p:cTn>
                              </p:par>
                              <p:par>
                                <p:cTn id="16" presetID="42" presetClass="entr" presetSubtype="0" fill="hold" grpId="0" nodeType="withEffect">
                                  <p:stCondLst>
                                    <p:cond delay="20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700"/>
                                        <p:tgtEl>
                                          <p:spTgt spid="14"/>
                                        </p:tgtEl>
                                      </p:cBhvr>
                                    </p:animEffect>
                                    <p:anim calcmode="lin" valueType="num">
                                      <p:cBhvr additive="base">
                                        <p:cTn id="19" dur="700" fill="hold" decel="100000"/>
                                        <p:tgtEl>
                                          <p:spTgt spid="14"/>
                                        </p:tgtEl>
                                        <p:attrNameLst>
                                          <p:attrName>ppt_x</p:attrName>
                                        </p:attrNameLst>
                                      </p:cBhvr>
                                      <p:tavLst>
                                        <p:tav tm="0">
                                          <p:val>
                                            <p:strVal val="#ppt_x"/>
                                          </p:val>
                                        </p:tav>
                                        <p:tav tm="100000">
                                          <p:val>
                                            <p:strVal val="#ppt_x"/>
                                          </p:val>
                                        </p:tav>
                                      </p:tavLst>
                                    </p:anim>
                                    <p:anim calcmode="lin" valueType="num">
                                      <p:cBhvr additive="base">
                                        <p:cTn id="20" dur="700" fill="hold" decel="100000"/>
                                        <p:tgtEl>
                                          <p:spTgt spid="14"/>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950"/>
                                  </p:stCondLst>
                                  <p:childTnLst>
                                    <p:set>
                                      <p:cBhvr>
                                        <p:cTn id="22" dur="1" fill="hold">
                                          <p:stCondLst>
                                            <p:cond delay="0"/>
                                          </p:stCondLst>
                                        </p:cTn>
                                        <p:tgtEl>
                                          <p:spTgt spid="66"/>
                                        </p:tgtEl>
                                        <p:attrNameLst>
                                          <p:attrName>style.visibility</p:attrName>
                                        </p:attrNameLst>
                                      </p:cBhvr>
                                      <p:to>
                                        <p:strVal val="visible"/>
                                      </p:to>
                                    </p:set>
                                    <p:animEffect transition="in" filter="fade">
                                      <p:cBhvr>
                                        <p:cTn id="23" dur="450"/>
                                        <p:tgtEl>
                                          <p:spTgt spid="66"/>
                                        </p:tgtEl>
                                      </p:cBhvr>
                                    </p:animEffect>
                                    <p:anim calcmode="lin" valueType="num">
                                      <p:cBhvr additive="base">
                                        <p:cTn id="24" dur="450" fill="hold" decel="100000"/>
                                        <p:tgtEl>
                                          <p:spTgt spid="66"/>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66"/>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080"/>
                                  </p:stCondLst>
                                  <p:childTnLst>
                                    <p:set>
                                      <p:cBhvr>
                                        <p:cTn id="27" dur="1" fill="hold">
                                          <p:stCondLst>
                                            <p:cond delay="0"/>
                                          </p:stCondLst>
                                        </p:cTn>
                                        <p:tgtEl>
                                          <p:spTgt spid="72"/>
                                        </p:tgtEl>
                                        <p:attrNameLst>
                                          <p:attrName>style.visibility</p:attrName>
                                        </p:attrNameLst>
                                      </p:cBhvr>
                                      <p:to>
                                        <p:strVal val="visible"/>
                                      </p:to>
                                    </p:set>
                                    <p:animEffect transition="in" filter="fade">
                                      <p:cBhvr>
                                        <p:cTn id="28" dur="450"/>
                                        <p:tgtEl>
                                          <p:spTgt spid="72"/>
                                        </p:tgtEl>
                                      </p:cBhvr>
                                    </p:animEffect>
                                    <p:anim calcmode="lin" valueType="num">
                                      <p:cBhvr additive="base">
                                        <p:cTn id="29" dur="450" fill="hold" decel="100000"/>
                                        <p:tgtEl>
                                          <p:spTgt spid="72"/>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72"/>
                                        </p:tgtEl>
                                        <p:attrNameLst>
                                          <p:attrName>ppt_y</p:attrName>
                                        </p:attrNameLst>
                                      </p:cBhvr>
                                      <p:tavLst>
                                        <p:tav tm="0">
                                          <p:val>
                                            <p:strVal val="#ppt_y+0.025"/>
                                          </p:val>
                                        </p:tav>
                                        <p:tav tm="100000">
                                          <p:val>
                                            <p:strVal val="#ppt_y"/>
                                          </p:val>
                                        </p:tav>
                                      </p:tavLst>
                                    </p:anim>
                                  </p:childTnLst>
                                </p:cTn>
                              </p:par>
                              <p:par>
                                <p:cTn id="31" presetID="10" presetClass="entr" presetSubtype="0" fill="hold" grpId="0" nodeType="withEffect">
                                  <p:stCondLst>
                                    <p:cond delay="300"/>
                                  </p:stCondLst>
                                  <p:childTnLst>
                                    <p:set>
                                      <p:cBhvr>
                                        <p:cTn id="32" dur="1" fill="hold">
                                          <p:stCondLst>
                                            <p:cond delay="0"/>
                                          </p:stCondLst>
                                        </p:cTn>
                                        <p:tgtEl>
                                          <p:spTgt spid="78"/>
                                        </p:tgtEl>
                                        <p:attrNameLst>
                                          <p:attrName>style.visibility</p:attrName>
                                        </p:attrNameLst>
                                      </p:cBhvr>
                                      <p:to>
                                        <p:strVal val="visible"/>
                                      </p:to>
                                    </p:set>
                                    <p:animEffect transition="in" filter="fade">
                                      <p:cBhvr>
                                        <p:cTn id="33" dur="400"/>
                                        <p:tgtEl>
                                          <p:spTgt spid="78"/>
                                        </p:tgtEl>
                                      </p:cBhvr>
                                    </p:animEffect>
                                  </p:childTnLst>
                                </p:cTn>
                              </p:par>
                              <p:par>
                                <p:cTn id="34" presetID="42" presetClass="entr" presetSubtype="0" fill="hold" grpId="0" nodeType="withEffect">
                                  <p:stCondLst>
                                    <p:cond delay="350"/>
                                  </p:stCondLst>
                                  <p:childTnLst>
                                    <p:set>
                                      <p:cBhvr>
                                        <p:cTn id="35" dur="1" fill="hold">
                                          <p:stCondLst>
                                            <p:cond delay="0"/>
                                          </p:stCondLst>
                                        </p:cTn>
                                        <p:tgtEl>
                                          <p:spTgt spid="79"/>
                                        </p:tgtEl>
                                        <p:attrNameLst>
                                          <p:attrName>style.visibility</p:attrName>
                                        </p:attrNameLst>
                                      </p:cBhvr>
                                      <p:to>
                                        <p:strVal val="visible"/>
                                      </p:to>
                                    </p:set>
                                    <p:animEffect transition="in" filter="fade">
                                      <p:cBhvr>
                                        <p:cTn id="36" dur="700"/>
                                        <p:tgtEl>
                                          <p:spTgt spid="79"/>
                                        </p:tgtEl>
                                      </p:cBhvr>
                                    </p:animEffect>
                                    <p:anim calcmode="lin" valueType="num">
                                      <p:cBhvr additive="base">
                                        <p:cTn id="37" dur="700" fill="hold" decel="100000"/>
                                        <p:tgtEl>
                                          <p:spTgt spid="79"/>
                                        </p:tgtEl>
                                        <p:attrNameLst>
                                          <p:attrName>ppt_x</p:attrName>
                                        </p:attrNameLst>
                                      </p:cBhvr>
                                      <p:tavLst>
                                        <p:tav tm="0">
                                          <p:val>
                                            <p:strVal val="#ppt_x"/>
                                          </p:val>
                                        </p:tav>
                                        <p:tav tm="100000">
                                          <p:val>
                                            <p:strVal val="#ppt_x"/>
                                          </p:val>
                                        </p:tav>
                                      </p:tavLst>
                                    </p:anim>
                                    <p:anim calcmode="lin" valueType="num">
                                      <p:cBhvr additive="base">
                                        <p:cTn id="38" dur="700" fill="hold" decel="100000"/>
                                        <p:tgtEl>
                                          <p:spTgt spid="79"/>
                                        </p:tgtEl>
                                        <p:attrNameLst>
                                          <p:attrName>ppt_y</p:attrName>
                                        </p:attrNameLst>
                                      </p:cBhvr>
                                      <p:tavLst>
                                        <p:tav tm="0">
                                          <p:val>
                                            <p:strVal val="#ppt_y+0.025"/>
                                          </p:val>
                                        </p:tav>
                                        <p:tav tm="100000">
                                          <p:val>
                                            <p:strVal val="#ppt_y"/>
                                          </p:val>
                                        </p:tav>
                                      </p:tavLst>
                                    </p:anim>
                                  </p:childTnLst>
                                </p:cTn>
                              </p:par>
                              <p:par>
                                <p:cTn id="39" presetID="42" presetClass="entr" presetSubtype="0" fill="hold" grpId="0" nodeType="withEffect">
                                  <p:stCondLst>
                                    <p:cond delay="1100"/>
                                  </p:stCondLst>
                                  <p:childTnLst>
                                    <p:set>
                                      <p:cBhvr>
                                        <p:cTn id="40" dur="1" fill="hold">
                                          <p:stCondLst>
                                            <p:cond delay="0"/>
                                          </p:stCondLst>
                                        </p:cTn>
                                        <p:tgtEl>
                                          <p:spTgt spid="89"/>
                                        </p:tgtEl>
                                        <p:attrNameLst>
                                          <p:attrName>style.visibility</p:attrName>
                                        </p:attrNameLst>
                                      </p:cBhvr>
                                      <p:to>
                                        <p:strVal val="visible"/>
                                      </p:to>
                                    </p:set>
                                    <p:animEffect transition="in" filter="fade">
                                      <p:cBhvr>
                                        <p:cTn id="41" dur="500"/>
                                        <p:tgtEl>
                                          <p:spTgt spid="89"/>
                                        </p:tgtEl>
                                      </p:cBhvr>
                                    </p:animEffect>
                                    <p:anim calcmode="lin" valueType="num">
                                      <p:cBhvr additive="base">
                                        <p:cTn id="42" dur="500" fill="hold" decel="100000"/>
                                        <p:tgtEl>
                                          <p:spTgt spid="89"/>
                                        </p:tgtEl>
                                        <p:attrNameLst>
                                          <p:attrName>ppt_x</p:attrName>
                                        </p:attrNameLst>
                                      </p:cBhvr>
                                      <p:tavLst>
                                        <p:tav tm="0">
                                          <p:val>
                                            <p:strVal val="#ppt_x"/>
                                          </p:val>
                                        </p:tav>
                                        <p:tav tm="100000">
                                          <p:val>
                                            <p:strVal val="#ppt_x"/>
                                          </p:val>
                                        </p:tav>
                                      </p:tavLst>
                                    </p:anim>
                                    <p:anim calcmode="lin" valueType="num">
                                      <p:cBhvr additive="base">
                                        <p:cTn id="43" dur="500" fill="hold" decel="100000"/>
                                        <p:tgtEl>
                                          <p:spTgt spid="89"/>
                                        </p:tgtEl>
                                        <p:attrNameLst>
                                          <p:attrName>ppt_y</p:attrName>
                                        </p:attrNameLst>
                                      </p:cBhvr>
                                      <p:tavLst>
                                        <p:tav tm="0">
                                          <p:val>
                                            <p:strVal val="#ppt_y+0.025"/>
                                          </p:val>
                                        </p:tav>
                                        <p:tav tm="100000">
                                          <p:val>
                                            <p:strVal val="#ppt_y"/>
                                          </p:val>
                                        </p:tav>
                                      </p:tavLst>
                                    </p:anim>
                                  </p:childTnLst>
                                </p:cTn>
                              </p:par>
                              <p:par>
                                <p:cTn id="44" presetID="42" presetClass="entr" presetSubtype="0" fill="hold" grpId="0" nodeType="withEffect">
                                  <p:stCondLst>
                                    <p:cond delay="1250"/>
                                  </p:stCondLst>
                                  <p:childTnLst>
                                    <p:set>
                                      <p:cBhvr>
                                        <p:cTn id="45" dur="1" fill="hold">
                                          <p:stCondLst>
                                            <p:cond delay="0"/>
                                          </p:stCondLst>
                                        </p:cTn>
                                        <p:tgtEl>
                                          <p:spTgt spid="91"/>
                                        </p:tgtEl>
                                        <p:attrNameLst>
                                          <p:attrName>style.visibility</p:attrName>
                                        </p:attrNameLst>
                                      </p:cBhvr>
                                      <p:to>
                                        <p:strVal val="visible"/>
                                      </p:to>
                                    </p:set>
                                    <p:animEffect transition="in" filter="fade">
                                      <p:cBhvr>
                                        <p:cTn id="46" dur="450"/>
                                        <p:tgtEl>
                                          <p:spTgt spid="91"/>
                                        </p:tgtEl>
                                      </p:cBhvr>
                                    </p:animEffect>
                                    <p:anim calcmode="lin" valueType="num">
                                      <p:cBhvr additive="base">
                                        <p:cTn id="47" dur="450" fill="hold" decel="100000"/>
                                        <p:tgtEl>
                                          <p:spTgt spid="91"/>
                                        </p:tgtEl>
                                        <p:attrNameLst>
                                          <p:attrName>ppt_x</p:attrName>
                                        </p:attrNameLst>
                                      </p:cBhvr>
                                      <p:tavLst>
                                        <p:tav tm="0">
                                          <p:val>
                                            <p:strVal val="#ppt_x"/>
                                          </p:val>
                                        </p:tav>
                                        <p:tav tm="100000">
                                          <p:val>
                                            <p:strVal val="#ppt_x"/>
                                          </p:val>
                                        </p:tav>
                                      </p:tavLst>
                                    </p:anim>
                                    <p:anim calcmode="lin" valueType="num">
                                      <p:cBhvr additive="base">
                                        <p:cTn id="48" dur="450" fill="hold" decel="100000"/>
                                        <p:tgtEl>
                                          <p:spTgt spid="91"/>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360"/>
                                  </p:stCondLst>
                                  <p:childTnLst>
                                    <p:set>
                                      <p:cBhvr>
                                        <p:cTn id="50" dur="1" fill="hold">
                                          <p:stCondLst>
                                            <p:cond delay="0"/>
                                          </p:stCondLst>
                                        </p:cTn>
                                        <p:tgtEl>
                                          <p:spTgt spid="95"/>
                                        </p:tgtEl>
                                        <p:attrNameLst>
                                          <p:attrName>style.visibility</p:attrName>
                                        </p:attrNameLst>
                                      </p:cBhvr>
                                      <p:to>
                                        <p:strVal val="visible"/>
                                      </p:to>
                                    </p:set>
                                    <p:animEffect transition="in" filter="fade">
                                      <p:cBhvr>
                                        <p:cTn id="51" dur="450"/>
                                        <p:tgtEl>
                                          <p:spTgt spid="95"/>
                                        </p:tgtEl>
                                      </p:cBhvr>
                                    </p:animEffect>
                                    <p:anim calcmode="lin" valueType="num">
                                      <p:cBhvr additive="base">
                                        <p:cTn id="52" dur="450" fill="hold" decel="100000"/>
                                        <p:tgtEl>
                                          <p:spTgt spid="95"/>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95"/>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470"/>
                                  </p:stCondLst>
                                  <p:childTnLst>
                                    <p:set>
                                      <p:cBhvr>
                                        <p:cTn id="55" dur="1" fill="hold">
                                          <p:stCondLst>
                                            <p:cond delay="0"/>
                                          </p:stCondLst>
                                        </p:cTn>
                                        <p:tgtEl>
                                          <p:spTgt spid="99"/>
                                        </p:tgtEl>
                                        <p:attrNameLst>
                                          <p:attrName>style.visibility</p:attrName>
                                        </p:attrNameLst>
                                      </p:cBhvr>
                                      <p:to>
                                        <p:strVal val="visible"/>
                                      </p:to>
                                    </p:set>
                                    <p:animEffect transition="in" filter="fade">
                                      <p:cBhvr>
                                        <p:cTn id="56" dur="450"/>
                                        <p:tgtEl>
                                          <p:spTgt spid="99"/>
                                        </p:tgtEl>
                                      </p:cBhvr>
                                    </p:animEffect>
                                    <p:anim calcmode="lin" valueType="num">
                                      <p:cBhvr additive="base">
                                        <p:cTn id="57" dur="450" fill="hold" decel="100000"/>
                                        <p:tgtEl>
                                          <p:spTgt spid="99"/>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99"/>
                                        </p:tgtEl>
                                        <p:attrNameLst>
                                          <p:attrName>ppt_y</p:attrName>
                                        </p:attrNameLst>
                                      </p:cBhvr>
                                      <p:tavLst>
                                        <p:tav tm="0">
                                          <p:val>
                                            <p:strVal val="#ppt_y+0.025"/>
                                          </p:val>
                                        </p:tav>
                                        <p:tav tm="100000">
                                          <p:val>
                                            <p:strVal val="#ppt_y"/>
                                          </p:val>
                                        </p:tav>
                                      </p:tavLst>
                                    </p:anim>
                                  </p:childTnLst>
                                </p:cTn>
                              </p:par>
                              <p:par>
                                <p:cTn id="59" presetID="42" presetClass="entr" presetSubtype="0" fill="hold" grpId="0" nodeType="withEffect">
                                  <p:stCondLst>
                                    <p:cond delay="1580"/>
                                  </p:stCondLst>
                                  <p:childTnLst>
                                    <p:set>
                                      <p:cBhvr>
                                        <p:cTn id="60" dur="1" fill="hold">
                                          <p:stCondLst>
                                            <p:cond delay="0"/>
                                          </p:stCondLst>
                                        </p:cTn>
                                        <p:tgtEl>
                                          <p:spTgt spid="103"/>
                                        </p:tgtEl>
                                        <p:attrNameLst>
                                          <p:attrName>style.visibility</p:attrName>
                                        </p:attrNameLst>
                                      </p:cBhvr>
                                      <p:to>
                                        <p:strVal val="visible"/>
                                      </p:to>
                                    </p:set>
                                    <p:animEffect transition="in" filter="fade">
                                      <p:cBhvr>
                                        <p:cTn id="61" dur="450"/>
                                        <p:tgtEl>
                                          <p:spTgt spid="103"/>
                                        </p:tgtEl>
                                      </p:cBhvr>
                                    </p:animEffect>
                                    <p:anim calcmode="lin" valueType="num">
                                      <p:cBhvr additive="base">
                                        <p:cTn id="62" dur="450" fill="hold" decel="100000"/>
                                        <p:tgtEl>
                                          <p:spTgt spid="103"/>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03"/>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7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BUILT FOR AGENTS · MANUFACT TRACK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6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7315017"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566928"/>
          </a:xfrm>
          <a:prstGeom prst="rect">
            <a:avLst/>
          </a:prstGeom>
          <a:noFill/>
        </p:spPr>
        <p:txBody>
          <a:bodyPr wrap="square" lIns="0" rIns="0" tIns="0" bIns="0" anchor="t">
            <a:noAutofit/>
          </a:bodyPr>
          <a:lstStyle/>
          <a:p>
            <a:pPr algn="l">
              <a:lnSpc>
                <a:spcPct val="98000"/>
              </a:lnSpc>
            </a:pPr>
            <a:r>
              <a:rPr sz="3400" b="1" i="0" spc="-80">
                <a:solidFill>
                  <a:srgbClr val="0E0E10"/>
                </a:solidFill>
                <a:latin typeface="Inter" panose="020B0502030000000004" pitchFamily="34" charset="0"/>
              </a:rPr>
              <a:t>One MCP server. Two calls. </a:t>
            </a:r>
            <a:r>
              <a:rPr sz="3400" b="1" i="0" spc="-80">
                <a:solidFill>
                  <a:srgbClr val="5D5D66"/>
                </a:solidFill>
                <a:latin typeface="Inter" panose="020B0502030000000004" pitchFamily="34" charset="0"/>
              </a:rPr>
              <a:t>Every client.</a:t>
            </a:r>
          </a:p>
        </p:txBody>
      </p:sp>
      <p:grpSp>
        <p:nvGrpSpPr>
          <p:cNvPr id="13" name="Group 12"/>
          <p:cNvGrpSpPr/>
          <p:nvPr/>
        </p:nvGrpSpPr>
        <p:grpSpPr>
          <a:xfrm>
            <a:off x="685800" y="1600200"/>
            <a:ext cx="4846320" cy="4645152"/>
            <a:chOff x="685800" y="1600200"/>
            <a:chExt cx="4846320" cy="4645152"/>
          </a:xfrm>
        </p:grpSpPr>
        <p:sp>
          <p:nvSpPr>
            <p:cNvPr id="14" name="Rounded Rectangle 13"/>
            <p:cNvSpPr/>
            <p:nvPr/>
          </p:nvSpPr>
          <p:spPr>
            <a:xfrm>
              <a:off x="685800" y="1600200"/>
              <a:ext cx="4846320" cy="4645152"/>
            </a:xfrm>
            <a:prstGeom prst="roundRect">
              <a:avLst>
                <a:gd name="adj" fmla="val 236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5" name="TextBox 14"/>
            <p:cNvSpPr txBox="1"/>
            <p:nvPr/>
          </p:nvSpPr>
          <p:spPr>
            <a:xfrm>
              <a:off x="914400" y="1737360"/>
              <a:ext cx="438912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The MCP surface</a:t>
              </a:r>
            </a:p>
          </p:txBody>
        </p:sp>
        <p:sp>
          <p:nvSpPr>
            <p:cNvPr id="16" name="TextBox 15"/>
            <p:cNvSpPr txBox="1"/>
            <p:nvPr/>
          </p:nvSpPr>
          <p:spPr>
            <a:xfrm>
              <a:off x="914400" y="2084832"/>
              <a:ext cx="1463040" cy="640080"/>
            </a:xfrm>
            <a:prstGeom prst="rect">
              <a:avLst/>
            </a:prstGeom>
            <a:noFill/>
          </p:spPr>
          <p:txBody>
            <a:bodyPr wrap="square" lIns="0" rIns="0" tIns="0" bIns="0" anchor="ctr">
              <a:noAutofit/>
            </a:bodyPr>
            <a:lstStyle/>
            <a:p>
              <a:pPr algn="l"/>
              <a:r>
                <a:rPr sz="3000" b="1" i="0">
                  <a:solidFill>
                    <a:srgbClr val="0E0E10"/>
                  </a:solidFill>
                  <a:latin typeface="Inter" panose="020B0502030000000004" pitchFamily="34" charset="0"/>
                </a:rPr>
                <a:t>12</a:t>
              </a:r>
              <a:r>
                <a:rPr sz="1100" b="0" i="0">
                  <a:solidFill>
                    <a:srgbClr val="5D5D66"/>
                  </a:solidFill>
                  <a:latin typeface="Inter" panose="020B0502030000000004" pitchFamily="34" charset="0"/>
                </a:rPr>
                <a:t>  tools</a:t>
              </a:r>
            </a:p>
          </p:txBody>
        </p:sp>
        <p:sp>
          <p:nvSpPr>
            <p:cNvPr id="17" name="Rectangle 16"/>
            <p:cNvSpPr/>
            <p:nvPr/>
          </p:nvSpPr>
          <p:spPr>
            <a:xfrm>
              <a:off x="2240280" y="2148840"/>
              <a:ext cx="9144" cy="502920"/>
            </a:xfrm>
            <a:prstGeom prst="rect">
              <a:avLst/>
            </a:prstGeom>
            <a:solidFill>
              <a:srgbClr val="E9E8E3"/>
            </a:solidFill>
            <a:ln>
              <a:noFill/>
            </a:ln>
          </p:spPr>
          <p:txBody>
            <a:bodyPr rtlCol="0" anchor="ctr"/>
            <a:lstStyle/>
            <a:p>
              <a:pPr algn="ctr"/>
            </a:p>
          </p:txBody>
        </p:sp>
        <p:sp>
          <p:nvSpPr>
            <p:cNvPr id="18" name="TextBox 17"/>
            <p:cNvSpPr txBox="1"/>
            <p:nvPr/>
          </p:nvSpPr>
          <p:spPr>
            <a:xfrm>
              <a:off x="2423160" y="2084832"/>
              <a:ext cx="1463040" cy="640080"/>
            </a:xfrm>
            <a:prstGeom prst="rect">
              <a:avLst/>
            </a:prstGeom>
            <a:noFill/>
          </p:spPr>
          <p:txBody>
            <a:bodyPr wrap="square" lIns="0" rIns="0" tIns="0" bIns="0" anchor="ctr">
              <a:noAutofit/>
            </a:bodyPr>
            <a:lstStyle/>
            <a:p>
              <a:pPr algn="l"/>
              <a:r>
                <a:rPr sz="3000" b="1" i="0">
                  <a:solidFill>
                    <a:srgbClr val="0E0E10"/>
                  </a:solidFill>
                  <a:latin typeface="Inter" panose="020B0502030000000004" pitchFamily="34" charset="0"/>
                </a:rPr>
                <a:t>3</a:t>
              </a:r>
              <a:r>
                <a:rPr sz="1100" b="0" i="0">
                  <a:solidFill>
                    <a:srgbClr val="5D5D66"/>
                  </a:solidFill>
                  <a:latin typeface="Inter" panose="020B0502030000000004" pitchFamily="34" charset="0"/>
                </a:rPr>
                <a:t>  resources</a:t>
              </a:r>
            </a:p>
          </p:txBody>
        </p:sp>
        <p:sp>
          <p:nvSpPr>
            <p:cNvPr id="19" name="Rectangle 18"/>
            <p:cNvSpPr/>
            <p:nvPr/>
          </p:nvSpPr>
          <p:spPr>
            <a:xfrm>
              <a:off x="3749040" y="2148840"/>
              <a:ext cx="9144" cy="502920"/>
            </a:xfrm>
            <a:prstGeom prst="rect">
              <a:avLst/>
            </a:prstGeom>
            <a:solidFill>
              <a:srgbClr val="E9E8E3"/>
            </a:solidFill>
            <a:ln>
              <a:noFill/>
            </a:ln>
          </p:spPr>
          <p:txBody>
            <a:bodyPr rtlCol="0" anchor="ctr"/>
            <a:lstStyle/>
            <a:p>
              <a:pPr algn="ctr"/>
            </a:p>
          </p:txBody>
        </p:sp>
        <p:sp>
          <p:nvSpPr>
            <p:cNvPr id="20" name="TextBox 19"/>
            <p:cNvSpPr txBox="1"/>
            <p:nvPr/>
          </p:nvSpPr>
          <p:spPr>
            <a:xfrm>
              <a:off x="3931920" y="2084832"/>
              <a:ext cx="1463040" cy="640080"/>
            </a:xfrm>
            <a:prstGeom prst="rect">
              <a:avLst/>
            </a:prstGeom>
            <a:noFill/>
          </p:spPr>
          <p:txBody>
            <a:bodyPr wrap="square" lIns="0" rIns="0" tIns="0" bIns="0" anchor="ctr">
              <a:noAutofit/>
            </a:bodyPr>
            <a:lstStyle/>
            <a:p>
              <a:pPr algn="l"/>
              <a:r>
                <a:rPr sz="3000" b="1" i="0">
                  <a:solidFill>
                    <a:srgbClr val="0E0E10"/>
                  </a:solidFill>
                  <a:latin typeface="Inter" panose="020B0502030000000004" pitchFamily="34" charset="0"/>
                </a:rPr>
                <a:t>2</a:t>
              </a:r>
              <a:r>
                <a:rPr sz="1100" b="0" i="0">
                  <a:solidFill>
                    <a:srgbClr val="5D5D66"/>
                  </a:solidFill>
                  <a:latin typeface="Inter" panose="020B0502030000000004" pitchFamily="34" charset="0"/>
                </a:rPr>
                <a:t>  prompts</a:t>
              </a:r>
            </a:p>
          </p:txBody>
        </p:sp>
      </p:grpSp>
      <p:sp>
        <p:nvSpPr>
          <p:cNvPr id="21" name="TextBox 20"/>
          <p:cNvSpPr txBox="1"/>
          <p:nvPr/>
        </p:nvSpPr>
        <p:spPr>
          <a:xfrm>
            <a:off x="914400" y="2852928"/>
            <a:ext cx="4389120" cy="219456"/>
          </a:xfrm>
          <a:prstGeom prst="rect">
            <a:avLst/>
          </a:prstGeom>
          <a:noFill/>
        </p:spPr>
        <p:txBody>
          <a:bodyPr wrap="square" lIns="0" rIns="0" tIns="0" bIns="0" anchor="ctr">
            <a:noAutofit/>
          </a:bodyPr>
          <a:lstStyle/>
          <a:p>
            <a:pPr algn="l"/>
            <a:r>
              <a:rPr sz="950" b="1" i="0">
                <a:solidFill>
                  <a:srgbClr val="5D5D66"/>
                </a:solidFill>
                <a:latin typeface="Inter" panose="020B0502030000000004" pitchFamily="34" charset="0"/>
              </a:rPr>
              <a:t>Buyer agents · 8</a:t>
            </a:r>
          </a:p>
        </p:txBody>
      </p:sp>
      <p:grpSp>
        <p:nvGrpSpPr>
          <p:cNvPr id="22" name="Group 21"/>
          <p:cNvGrpSpPr/>
          <p:nvPr/>
        </p:nvGrpSpPr>
        <p:grpSpPr>
          <a:xfrm>
            <a:off x="914400" y="3127248"/>
            <a:ext cx="1015746" cy="265176"/>
            <a:chOff x="914400" y="3127248"/>
            <a:chExt cx="1015746" cy="265176"/>
          </a:xfrm>
        </p:grpSpPr>
        <p:sp>
          <p:nvSpPr>
            <p:cNvPr id="23" name="Rounded Rectangle 22"/>
            <p:cNvSpPr/>
            <p:nvPr/>
          </p:nvSpPr>
          <p:spPr>
            <a:xfrm>
              <a:off x="914400" y="3127248"/>
              <a:ext cx="1015746" cy="265176"/>
            </a:xfrm>
            <a:prstGeom prst="roundRect">
              <a:avLst>
                <a:gd name="adj" fmla="val 50000"/>
              </a:avLst>
            </a:prstGeom>
            <a:solidFill>
              <a:srgbClr val="EDF2FF"/>
            </a:solidFill>
            <a:ln>
              <a:noFill/>
            </a:ln>
          </p:spPr>
          <p:txBody>
            <a:bodyPr rtlCol="0" anchor="ctr"/>
            <a:lstStyle/>
            <a:p>
              <a:pPr algn="ctr"/>
            </a:p>
          </p:txBody>
        </p:sp>
        <p:sp>
          <p:nvSpPr>
            <p:cNvPr id="24" name="TextBox 23"/>
            <p:cNvSpPr txBox="1"/>
            <p:nvPr/>
          </p:nvSpPr>
          <p:spPr>
            <a:xfrm>
              <a:off x="914400" y="3127248"/>
              <a:ext cx="101574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find_offers</a:t>
              </a:r>
            </a:p>
          </p:txBody>
        </p:sp>
      </p:grpSp>
      <p:grpSp>
        <p:nvGrpSpPr>
          <p:cNvPr id="25" name="Group 24"/>
          <p:cNvGrpSpPr/>
          <p:nvPr/>
        </p:nvGrpSpPr>
        <p:grpSpPr>
          <a:xfrm>
            <a:off x="2003298" y="3127248"/>
            <a:ext cx="943356" cy="265176"/>
            <a:chOff x="2003298" y="3127248"/>
            <a:chExt cx="943356" cy="265176"/>
          </a:xfrm>
        </p:grpSpPr>
        <p:sp>
          <p:nvSpPr>
            <p:cNvPr id="26" name="Rounded Rectangle 25"/>
            <p:cNvSpPr/>
            <p:nvPr/>
          </p:nvSpPr>
          <p:spPr>
            <a:xfrm>
              <a:off x="2003298" y="3127248"/>
              <a:ext cx="943356" cy="265176"/>
            </a:xfrm>
            <a:prstGeom prst="roundRect">
              <a:avLst>
                <a:gd name="adj" fmla="val 50000"/>
              </a:avLst>
            </a:prstGeom>
            <a:solidFill>
              <a:srgbClr val="EDF2FF"/>
            </a:solidFill>
            <a:ln>
              <a:noFill/>
            </a:ln>
          </p:spPr>
          <p:txBody>
            <a:bodyPr rtlCol="0" anchor="ctr"/>
            <a:lstStyle/>
            <a:p>
              <a:pPr algn="ctr"/>
            </a:p>
          </p:txBody>
        </p:sp>
        <p:sp>
          <p:nvSpPr>
            <p:cNvPr id="27" name="TextBox 26"/>
            <p:cNvSpPr txBox="1"/>
            <p:nvPr/>
          </p:nvSpPr>
          <p:spPr>
            <a:xfrm>
              <a:off x="2003298" y="3127248"/>
              <a:ext cx="94335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get_offers</a:t>
              </a:r>
            </a:p>
          </p:txBody>
        </p:sp>
      </p:grpSp>
      <p:grpSp>
        <p:nvGrpSpPr>
          <p:cNvPr id="28" name="Group 27"/>
          <p:cNvGrpSpPr/>
          <p:nvPr/>
        </p:nvGrpSpPr>
        <p:grpSpPr>
          <a:xfrm>
            <a:off x="3019806" y="3127248"/>
            <a:ext cx="870966" cy="265176"/>
            <a:chOff x="3019806" y="3127248"/>
            <a:chExt cx="870966" cy="265176"/>
          </a:xfrm>
        </p:grpSpPr>
        <p:sp>
          <p:nvSpPr>
            <p:cNvPr id="29" name="Rounded Rectangle 28"/>
            <p:cNvSpPr/>
            <p:nvPr/>
          </p:nvSpPr>
          <p:spPr>
            <a:xfrm>
              <a:off x="3019806" y="3127248"/>
              <a:ext cx="870966" cy="265176"/>
            </a:xfrm>
            <a:prstGeom prst="roundRect">
              <a:avLst>
                <a:gd name="adj" fmla="val 50000"/>
              </a:avLst>
            </a:prstGeom>
            <a:solidFill>
              <a:srgbClr val="EDF2FF"/>
            </a:solidFill>
            <a:ln>
              <a:noFill/>
            </a:ln>
          </p:spPr>
          <p:txBody>
            <a:bodyPr rtlCol="0" anchor="ctr"/>
            <a:lstStyle/>
            <a:p>
              <a:pPr algn="ctr"/>
            </a:p>
          </p:txBody>
        </p:sp>
        <p:sp>
          <p:nvSpPr>
            <p:cNvPr id="30" name="TextBox 29"/>
            <p:cNvSpPr txBox="1"/>
            <p:nvPr/>
          </p:nvSpPr>
          <p:spPr>
            <a:xfrm>
              <a:off x="3019806" y="3127248"/>
              <a:ext cx="87096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buy_offer</a:t>
              </a:r>
            </a:p>
          </p:txBody>
        </p:sp>
      </p:grpSp>
      <p:grpSp>
        <p:nvGrpSpPr>
          <p:cNvPr id="31" name="Group 30"/>
          <p:cNvGrpSpPr/>
          <p:nvPr/>
        </p:nvGrpSpPr>
        <p:grpSpPr>
          <a:xfrm>
            <a:off x="3963924" y="3127248"/>
            <a:ext cx="1232916" cy="265176"/>
            <a:chOff x="3963924" y="3127248"/>
            <a:chExt cx="1232916" cy="265176"/>
          </a:xfrm>
        </p:grpSpPr>
        <p:sp>
          <p:nvSpPr>
            <p:cNvPr id="32" name="Rounded Rectangle 31"/>
            <p:cNvSpPr/>
            <p:nvPr/>
          </p:nvSpPr>
          <p:spPr>
            <a:xfrm>
              <a:off x="3963924" y="3127248"/>
              <a:ext cx="1232916" cy="265176"/>
            </a:xfrm>
            <a:prstGeom prst="roundRect">
              <a:avLst>
                <a:gd name="adj" fmla="val 50000"/>
              </a:avLst>
            </a:prstGeom>
            <a:solidFill>
              <a:srgbClr val="EDF2FF"/>
            </a:solidFill>
            <a:ln>
              <a:noFill/>
            </a:ln>
          </p:spPr>
          <p:txBody>
            <a:bodyPr rtlCol="0" anchor="ctr"/>
            <a:lstStyle/>
            <a:p>
              <a:pPr algn="ctr"/>
            </a:p>
          </p:txBody>
        </p:sp>
        <p:sp>
          <p:nvSpPr>
            <p:cNvPr id="33" name="TextBox 32"/>
            <p:cNvSpPr txBox="1"/>
            <p:nvPr/>
          </p:nvSpPr>
          <p:spPr>
            <a:xfrm>
              <a:off x="3963924" y="3127248"/>
              <a:ext cx="123291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check_approval</a:t>
              </a:r>
            </a:p>
          </p:txBody>
        </p:sp>
      </p:grpSp>
      <p:grpSp>
        <p:nvGrpSpPr>
          <p:cNvPr id="34" name="Group 33"/>
          <p:cNvGrpSpPr/>
          <p:nvPr/>
        </p:nvGrpSpPr>
        <p:grpSpPr>
          <a:xfrm>
            <a:off x="914400" y="3465576"/>
            <a:ext cx="870966" cy="265176"/>
            <a:chOff x="914400" y="3465576"/>
            <a:chExt cx="870966" cy="265176"/>
          </a:xfrm>
        </p:grpSpPr>
        <p:sp>
          <p:nvSpPr>
            <p:cNvPr id="35" name="Rounded Rectangle 34"/>
            <p:cNvSpPr/>
            <p:nvPr/>
          </p:nvSpPr>
          <p:spPr>
            <a:xfrm>
              <a:off x="914400" y="3465576"/>
              <a:ext cx="870966" cy="265176"/>
            </a:xfrm>
            <a:prstGeom prst="roundRect">
              <a:avLst>
                <a:gd name="adj" fmla="val 50000"/>
              </a:avLst>
            </a:prstGeom>
            <a:solidFill>
              <a:srgbClr val="EDF2FF"/>
            </a:solidFill>
            <a:ln>
              <a:noFill/>
            </a:ln>
          </p:spPr>
          <p:txBody>
            <a:bodyPr rtlCol="0" anchor="ctr"/>
            <a:lstStyle/>
            <a:p>
              <a:pPr algn="ctr"/>
            </a:p>
          </p:txBody>
        </p:sp>
        <p:sp>
          <p:nvSpPr>
            <p:cNvPr id="36" name="TextBox 35"/>
            <p:cNvSpPr txBox="1"/>
            <p:nvPr/>
          </p:nvSpPr>
          <p:spPr>
            <a:xfrm>
              <a:off x="914400" y="3465576"/>
              <a:ext cx="87096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get_order</a:t>
              </a:r>
            </a:p>
          </p:txBody>
        </p:sp>
      </p:grpSp>
      <p:grpSp>
        <p:nvGrpSpPr>
          <p:cNvPr id="37" name="Group 36"/>
          <p:cNvGrpSpPr/>
          <p:nvPr/>
        </p:nvGrpSpPr>
        <p:grpSpPr>
          <a:xfrm>
            <a:off x="1858518" y="3465576"/>
            <a:ext cx="943356" cy="265176"/>
            <a:chOff x="1858518" y="3465576"/>
            <a:chExt cx="943356" cy="265176"/>
          </a:xfrm>
        </p:grpSpPr>
        <p:sp>
          <p:nvSpPr>
            <p:cNvPr id="38" name="Rounded Rectangle 37"/>
            <p:cNvSpPr/>
            <p:nvPr/>
          </p:nvSpPr>
          <p:spPr>
            <a:xfrm>
              <a:off x="1858518" y="3465576"/>
              <a:ext cx="943356" cy="265176"/>
            </a:xfrm>
            <a:prstGeom prst="roundRect">
              <a:avLst>
                <a:gd name="adj" fmla="val 50000"/>
              </a:avLst>
            </a:prstGeom>
            <a:solidFill>
              <a:srgbClr val="EDF2FF"/>
            </a:solidFill>
            <a:ln>
              <a:noFill/>
            </a:ln>
          </p:spPr>
          <p:txBody>
            <a:bodyPr rtlCol="0" anchor="ctr"/>
            <a:lstStyle/>
            <a:p>
              <a:pPr algn="ctr"/>
            </a:p>
          </p:txBody>
        </p:sp>
        <p:sp>
          <p:nvSpPr>
            <p:cNvPr id="39" name="TextBox 38"/>
            <p:cNvSpPr txBox="1"/>
            <p:nvPr/>
          </p:nvSpPr>
          <p:spPr>
            <a:xfrm>
              <a:off x="1858518" y="3465576"/>
              <a:ext cx="94335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get_wallet</a:t>
              </a:r>
            </a:p>
          </p:txBody>
        </p:sp>
      </p:grpSp>
      <p:grpSp>
        <p:nvGrpSpPr>
          <p:cNvPr id="40" name="Group 39"/>
          <p:cNvGrpSpPr/>
          <p:nvPr/>
        </p:nvGrpSpPr>
        <p:grpSpPr>
          <a:xfrm>
            <a:off x="2875026" y="3465576"/>
            <a:ext cx="1088136" cy="265176"/>
            <a:chOff x="2875026" y="3465576"/>
            <a:chExt cx="1088136" cy="265176"/>
          </a:xfrm>
        </p:grpSpPr>
        <p:sp>
          <p:nvSpPr>
            <p:cNvPr id="41" name="Rounded Rectangle 40"/>
            <p:cNvSpPr/>
            <p:nvPr/>
          </p:nvSpPr>
          <p:spPr>
            <a:xfrm>
              <a:off x="2875026" y="3465576"/>
              <a:ext cx="1088136" cy="265176"/>
            </a:xfrm>
            <a:prstGeom prst="roundRect">
              <a:avLst>
                <a:gd name="adj" fmla="val 50000"/>
              </a:avLst>
            </a:prstGeom>
            <a:solidFill>
              <a:srgbClr val="EDF2FF"/>
            </a:solidFill>
            <a:ln>
              <a:noFill/>
            </a:ln>
          </p:spPr>
          <p:txBody>
            <a:bodyPr rtlCol="0" anchor="ctr"/>
            <a:lstStyle/>
            <a:p>
              <a:pPr algn="ctr"/>
            </a:p>
          </p:txBody>
        </p:sp>
        <p:sp>
          <p:nvSpPr>
            <p:cNvPr id="42" name="TextBox 41"/>
            <p:cNvSpPr txBox="1"/>
            <p:nvPr/>
          </p:nvSpPr>
          <p:spPr>
            <a:xfrm>
              <a:off x="2875026" y="3465576"/>
              <a:ext cx="108813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report_offer</a:t>
              </a:r>
            </a:p>
          </p:txBody>
        </p:sp>
      </p:grpSp>
      <p:grpSp>
        <p:nvGrpSpPr>
          <p:cNvPr id="43" name="Group 42"/>
          <p:cNvGrpSpPr/>
          <p:nvPr/>
        </p:nvGrpSpPr>
        <p:grpSpPr>
          <a:xfrm>
            <a:off x="4036314" y="3465576"/>
            <a:ext cx="1160526" cy="265176"/>
            <a:chOff x="4036314" y="3465576"/>
            <a:chExt cx="1160526" cy="265176"/>
          </a:xfrm>
        </p:grpSpPr>
        <p:sp>
          <p:nvSpPr>
            <p:cNvPr id="44" name="Rounded Rectangle 43"/>
            <p:cNvSpPr/>
            <p:nvPr/>
          </p:nvSpPr>
          <p:spPr>
            <a:xfrm>
              <a:off x="4036314" y="3465576"/>
              <a:ext cx="1160526" cy="265176"/>
            </a:xfrm>
            <a:prstGeom prst="roundRect">
              <a:avLst>
                <a:gd name="adj" fmla="val 50000"/>
              </a:avLst>
            </a:prstGeom>
            <a:solidFill>
              <a:srgbClr val="EDF2FF"/>
            </a:solidFill>
            <a:ln>
              <a:noFill/>
            </a:ln>
          </p:spPr>
          <p:txBody>
            <a:bodyPr rtlCol="0" anchor="ctr"/>
            <a:lstStyle/>
            <a:p>
              <a:pPr algn="ctr"/>
            </a:p>
          </p:txBody>
        </p:sp>
        <p:sp>
          <p:nvSpPr>
            <p:cNvPr id="45" name="TextBox 44"/>
            <p:cNvSpPr txBox="1"/>
            <p:nvPr/>
          </p:nvSpPr>
          <p:spPr>
            <a:xfrm>
              <a:off x="4036314" y="3465576"/>
              <a:ext cx="1160526" cy="265176"/>
            </a:xfrm>
            <a:prstGeom prst="rect">
              <a:avLst/>
            </a:prstGeom>
            <a:noFill/>
          </p:spPr>
          <p:txBody>
            <a:bodyPr wrap="square" lIns="0" rIns="0" tIns="0" bIns="0" anchor="ctr">
              <a:noAutofit/>
            </a:bodyPr>
            <a:lstStyle/>
            <a:p>
              <a:pPr algn="ctr"/>
              <a:r>
                <a:rPr sz="950" b="0" i="0">
                  <a:solidFill>
                    <a:srgbClr val="2F5BEA"/>
                  </a:solidFill>
                  <a:latin typeface="JetBrains Mono" panose="02000009000000000000" pitchFamily="49" charset="0"/>
                </a:rPr>
                <a:t>explain_offer</a:t>
              </a:r>
            </a:p>
          </p:txBody>
        </p:sp>
      </p:grpSp>
      <p:sp>
        <p:nvSpPr>
          <p:cNvPr id="46" name="TextBox 45"/>
          <p:cNvSpPr txBox="1"/>
          <p:nvPr/>
        </p:nvSpPr>
        <p:spPr>
          <a:xfrm>
            <a:off x="914400" y="3858768"/>
            <a:ext cx="4389120" cy="219456"/>
          </a:xfrm>
          <a:prstGeom prst="rect">
            <a:avLst/>
          </a:prstGeom>
          <a:noFill/>
        </p:spPr>
        <p:txBody>
          <a:bodyPr wrap="square" lIns="0" rIns="0" tIns="0" bIns="0" anchor="ctr">
            <a:noAutofit/>
          </a:bodyPr>
          <a:lstStyle/>
          <a:p>
            <a:pPr algn="l"/>
            <a:r>
              <a:rPr sz="950" b="1" i="0">
                <a:solidFill>
                  <a:srgbClr val="5D5D66"/>
                </a:solidFill>
                <a:latin typeface="Inter" panose="020B0502030000000004" pitchFamily="34" charset="0"/>
              </a:rPr>
              <a:t>Merchant agents · 4</a:t>
            </a:r>
          </a:p>
        </p:txBody>
      </p:sp>
      <p:grpSp>
        <p:nvGrpSpPr>
          <p:cNvPr id="47" name="Group 46"/>
          <p:cNvGrpSpPr/>
          <p:nvPr/>
        </p:nvGrpSpPr>
        <p:grpSpPr>
          <a:xfrm>
            <a:off x="914400" y="4133088"/>
            <a:ext cx="1450086" cy="265176"/>
            <a:chOff x="914400" y="4133088"/>
            <a:chExt cx="1450086" cy="265176"/>
          </a:xfrm>
        </p:grpSpPr>
        <p:sp>
          <p:nvSpPr>
            <p:cNvPr id="48" name="Rounded Rectangle 47"/>
            <p:cNvSpPr/>
            <p:nvPr/>
          </p:nvSpPr>
          <p:spPr>
            <a:xfrm>
              <a:off x="914400" y="4133088"/>
              <a:ext cx="1450086" cy="265176"/>
            </a:xfrm>
            <a:prstGeom prst="roundRect">
              <a:avLst>
                <a:gd name="adj" fmla="val 50000"/>
              </a:avLst>
            </a:prstGeom>
            <a:solidFill>
              <a:srgbClr val="F4F4F1"/>
            </a:solidFill>
            <a:ln>
              <a:noFill/>
            </a:ln>
          </p:spPr>
          <p:txBody>
            <a:bodyPr rtlCol="0" anchor="ctr"/>
            <a:lstStyle/>
            <a:p>
              <a:pPr algn="ctr"/>
            </a:p>
          </p:txBody>
        </p:sp>
        <p:sp>
          <p:nvSpPr>
            <p:cNvPr id="49" name="TextBox 48"/>
            <p:cNvSpPr txBox="1"/>
            <p:nvPr/>
          </p:nvSpPr>
          <p:spPr>
            <a:xfrm>
              <a:off x="914400" y="4133088"/>
              <a:ext cx="145008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register_merchant</a:t>
              </a:r>
            </a:p>
          </p:txBody>
        </p:sp>
      </p:grpSp>
      <p:grpSp>
        <p:nvGrpSpPr>
          <p:cNvPr id="50" name="Group 49"/>
          <p:cNvGrpSpPr/>
          <p:nvPr/>
        </p:nvGrpSpPr>
        <p:grpSpPr>
          <a:xfrm>
            <a:off x="2437638" y="4133088"/>
            <a:ext cx="1522476" cy="265176"/>
            <a:chOff x="2437638" y="4133088"/>
            <a:chExt cx="1522476" cy="265176"/>
          </a:xfrm>
        </p:grpSpPr>
        <p:sp>
          <p:nvSpPr>
            <p:cNvPr id="51" name="Rounded Rectangle 50"/>
            <p:cNvSpPr/>
            <p:nvPr/>
          </p:nvSpPr>
          <p:spPr>
            <a:xfrm>
              <a:off x="2437638" y="4133088"/>
              <a:ext cx="1522476" cy="265176"/>
            </a:xfrm>
            <a:prstGeom prst="roundRect">
              <a:avLst>
                <a:gd name="adj" fmla="val 50000"/>
              </a:avLst>
            </a:prstGeom>
            <a:solidFill>
              <a:srgbClr val="F4F4F1"/>
            </a:solidFill>
            <a:ln>
              <a:noFill/>
            </a:ln>
          </p:spPr>
          <p:txBody>
            <a:bodyPr rtlCol="0" anchor="ctr"/>
            <a:lstStyle/>
            <a:p>
              <a:pPr algn="ctr"/>
            </a:p>
          </p:txBody>
        </p:sp>
        <p:sp>
          <p:nvSpPr>
            <p:cNvPr id="52" name="TextBox 51"/>
            <p:cNvSpPr txBox="1"/>
            <p:nvPr/>
          </p:nvSpPr>
          <p:spPr>
            <a:xfrm>
              <a:off x="2437638" y="4133088"/>
              <a:ext cx="152247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list_open_requests</a:t>
              </a:r>
            </a:p>
          </p:txBody>
        </p:sp>
      </p:grpSp>
      <p:grpSp>
        <p:nvGrpSpPr>
          <p:cNvPr id="53" name="Group 52"/>
          <p:cNvGrpSpPr/>
          <p:nvPr/>
        </p:nvGrpSpPr>
        <p:grpSpPr>
          <a:xfrm>
            <a:off x="4033266" y="4133088"/>
            <a:ext cx="870966" cy="265176"/>
            <a:chOff x="4033266" y="4133088"/>
            <a:chExt cx="870966" cy="265176"/>
          </a:xfrm>
        </p:grpSpPr>
        <p:sp>
          <p:nvSpPr>
            <p:cNvPr id="54" name="Rounded Rectangle 53"/>
            <p:cNvSpPr/>
            <p:nvPr/>
          </p:nvSpPr>
          <p:spPr>
            <a:xfrm>
              <a:off x="4033266" y="4133088"/>
              <a:ext cx="870966" cy="265176"/>
            </a:xfrm>
            <a:prstGeom prst="roundRect">
              <a:avLst>
                <a:gd name="adj" fmla="val 50000"/>
              </a:avLst>
            </a:prstGeom>
            <a:solidFill>
              <a:srgbClr val="F4F4F1"/>
            </a:solidFill>
            <a:ln>
              <a:noFill/>
            </a:ln>
          </p:spPr>
          <p:txBody>
            <a:bodyPr rtlCol="0" anchor="ctr"/>
            <a:lstStyle/>
            <a:p>
              <a:pPr algn="ctr"/>
            </a:p>
          </p:txBody>
        </p:sp>
        <p:sp>
          <p:nvSpPr>
            <p:cNvPr id="55" name="TextBox 54"/>
            <p:cNvSpPr txBox="1"/>
            <p:nvPr/>
          </p:nvSpPr>
          <p:spPr>
            <a:xfrm>
              <a:off x="4033266" y="4133088"/>
              <a:ext cx="87096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place_bid</a:t>
              </a:r>
            </a:p>
          </p:txBody>
        </p:sp>
      </p:grpSp>
      <p:grpSp>
        <p:nvGrpSpPr>
          <p:cNvPr id="56" name="Group 55"/>
          <p:cNvGrpSpPr/>
          <p:nvPr/>
        </p:nvGrpSpPr>
        <p:grpSpPr>
          <a:xfrm>
            <a:off x="914400" y="4471416"/>
            <a:ext cx="1232916" cy="265176"/>
            <a:chOff x="914400" y="4471416"/>
            <a:chExt cx="1232916" cy="265176"/>
          </a:xfrm>
        </p:grpSpPr>
        <p:sp>
          <p:nvSpPr>
            <p:cNvPr id="57" name="Rounded Rectangle 56"/>
            <p:cNvSpPr/>
            <p:nvPr/>
          </p:nvSpPr>
          <p:spPr>
            <a:xfrm>
              <a:off x="914400" y="4471416"/>
              <a:ext cx="1232916" cy="265176"/>
            </a:xfrm>
            <a:prstGeom prst="roundRect">
              <a:avLst>
                <a:gd name="adj" fmla="val 50000"/>
              </a:avLst>
            </a:prstGeom>
            <a:solidFill>
              <a:srgbClr val="F4F4F1"/>
            </a:solidFill>
            <a:ln>
              <a:noFill/>
            </a:ln>
          </p:spPr>
          <p:txBody>
            <a:bodyPr rtlCol="0" anchor="ctr"/>
            <a:lstStyle/>
            <a:p>
              <a:pPr algn="ctr"/>
            </a:p>
          </p:txBody>
        </p:sp>
        <p:sp>
          <p:nvSpPr>
            <p:cNvPr id="58" name="TextBox 57"/>
            <p:cNvSpPr txBox="1"/>
            <p:nvPr/>
          </p:nvSpPr>
          <p:spPr>
            <a:xfrm>
              <a:off x="914400" y="4471416"/>
              <a:ext cx="123291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get_my_results</a:t>
              </a:r>
            </a:p>
          </p:txBody>
        </p:sp>
      </p:grpSp>
      <p:sp>
        <p:nvSpPr>
          <p:cNvPr id="59" name="TextBox 58"/>
          <p:cNvSpPr txBox="1"/>
          <p:nvPr/>
        </p:nvSpPr>
        <p:spPr>
          <a:xfrm>
            <a:off x="914400" y="4864608"/>
            <a:ext cx="4389120" cy="219456"/>
          </a:xfrm>
          <a:prstGeom prst="rect">
            <a:avLst/>
          </a:prstGeom>
          <a:noFill/>
        </p:spPr>
        <p:txBody>
          <a:bodyPr wrap="square" lIns="0" rIns="0" tIns="0" bIns="0" anchor="ctr">
            <a:noAutofit/>
          </a:bodyPr>
          <a:lstStyle/>
          <a:p>
            <a:pPr algn="l"/>
            <a:r>
              <a:rPr sz="950" b="1" i="0">
                <a:solidFill>
                  <a:srgbClr val="5D5D66"/>
                </a:solidFill>
                <a:latin typeface="Inter" panose="020B0502030000000004" pitchFamily="34" charset="0"/>
              </a:rPr>
              <a:t>Resources and prompts</a:t>
            </a:r>
          </a:p>
        </p:txBody>
      </p:sp>
      <p:grpSp>
        <p:nvGrpSpPr>
          <p:cNvPr id="60" name="Group 59"/>
          <p:cNvGrpSpPr/>
          <p:nvPr/>
        </p:nvGrpSpPr>
        <p:grpSpPr>
          <a:xfrm>
            <a:off x="914400" y="5138928"/>
            <a:ext cx="1956816" cy="265176"/>
            <a:chOff x="914400" y="5138928"/>
            <a:chExt cx="1956816" cy="265176"/>
          </a:xfrm>
        </p:grpSpPr>
        <p:sp>
          <p:nvSpPr>
            <p:cNvPr id="61" name="Rounded Rectangle 60"/>
            <p:cNvSpPr/>
            <p:nvPr/>
          </p:nvSpPr>
          <p:spPr>
            <a:xfrm>
              <a:off x="914400" y="5138928"/>
              <a:ext cx="1956816" cy="265176"/>
            </a:xfrm>
            <a:prstGeom prst="roundRect">
              <a:avLst>
                <a:gd name="adj" fmla="val 50000"/>
              </a:avLst>
            </a:prstGeom>
            <a:solidFill>
              <a:srgbClr val="FFFFFF"/>
            </a:solidFill>
            <a:ln w="9525">
              <a:solidFill>
                <a:srgbClr val="D9D8D1"/>
              </a:solidFill>
            </a:ln>
          </p:spPr>
          <p:txBody>
            <a:bodyPr rtlCol="0" anchor="ctr"/>
            <a:lstStyle/>
            <a:p>
              <a:pPr algn="ctr"/>
            </a:p>
          </p:txBody>
        </p:sp>
        <p:sp>
          <p:nvSpPr>
            <p:cNvPr id="62" name="TextBox 61"/>
            <p:cNvSpPr txBox="1"/>
            <p:nvPr/>
          </p:nvSpPr>
          <p:spPr>
            <a:xfrm>
              <a:off x="914400" y="5138928"/>
              <a:ext cx="195681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bidwire://ranking-policy</a:t>
              </a:r>
            </a:p>
          </p:txBody>
        </p:sp>
      </p:grpSp>
      <p:grpSp>
        <p:nvGrpSpPr>
          <p:cNvPr id="63" name="Group 62"/>
          <p:cNvGrpSpPr/>
          <p:nvPr/>
        </p:nvGrpSpPr>
        <p:grpSpPr>
          <a:xfrm>
            <a:off x="2944368" y="5138928"/>
            <a:ext cx="1667256" cy="265176"/>
            <a:chOff x="2944368" y="5138928"/>
            <a:chExt cx="1667256" cy="265176"/>
          </a:xfrm>
        </p:grpSpPr>
        <p:sp>
          <p:nvSpPr>
            <p:cNvPr id="64" name="Rounded Rectangle 63"/>
            <p:cNvSpPr/>
            <p:nvPr/>
          </p:nvSpPr>
          <p:spPr>
            <a:xfrm>
              <a:off x="2944368" y="5138928"/>
              <a:ext cx="1667256" cy="265176"/>
            </a:xfrm>
            <a:prstGeom prst="roundRect">
              <a:avLst>
                <a:gd name="adj" fmla="val 50000"/>
              </a:avLst>
            </a:prstGeom>
            <a:solidFill>
              <a:srgbClr val="FFFFFF"/>
            </a:solidFill>
            <a:ln w="9525">
              <a:solidFill>
                <a:srgbClr val="D9D8D1"/>
              </a:solidFill>
            </a:ln>
          </p:spPr>
          <p:txBody>
            <a:bodyPr rtlCol="0" anchor="ctr"/>
            <a:lstStyle/>
            <a:p>
              <a:pPr algn="ctr"/>
            </a:p>
          </p:txBody>
        </p:sp>
        <p:sp>
          <p:nvSpPr>
            <p:cNvPr id="65" name="TextBox 64"/>
            <p:cNvSpPr txBox="1"/>
            <p:nvPr/>
          </p:nvSpPr>
          <p:spPr>
            <a:xfrm>
              <a:off x="2944368" y="5138928"/>
              <a:ext cx="166725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bidwire://categories</a:t>
              </a:r>
            </a:p>
          </p:txBody>
        </p:sp>
      </p:grpSp>
      <p:grpSp>
        <p:nvGrpSpPr>
          <p:cNvPr id="66" name="Group 65"/>
          <p:cNvGrpSpPr/>
          <p:nvPr/>
        </p:nvGrpSpPr>
        <p:grpSpPr>
          <a:xfrm>
            <a:off x="914400" y="5477256"/>
            <a:ext cx="1739646" cy="265176"/>
            <a:chOff x="914400" y="5477256"/>
            <a:chExt cx="1739646" cy="265176"/>
          </a:xfrm>
        </p:grpSpPr>
        <p:sp>
          <p:nvSpPr>
            <p:cNvPr id="67" name="Rounded Rectangle 66"/>
            <p:cNvSpPr/>
            <p:nvPr/>
          </p:nvSpPr>
          <p:spPr>
            <a:xfrm>
              <a:off x="914400" y="5477256"/>
              <a:ext cx="1739646" cy="265176"/>
            </a:xfrm>
            <a:prstGeom prst="roundRect">
              <a:avLst>
                <a:gd name="adj" fmla="val 50000"/>
              </a:avLst>
            </a:prstGeom>
            <a:solidFill>
              <a:srgbClr val="FFFFFF"/>
            </a:solidFill>
            <a:ln w="9525">
              <a:solidFill>
                <a:srgbClr val="D9D8D1"/>
              </a:solidFill>
            </a:ln>
          </p:spPr>
          <p:txBody>
            <a:bodyPr rtlCol="0" anchor="ctr"/>
            <a:lstStyle/>
            <a:p>
              <a:pPr algn="ctr"/>
            </a:p>
          </p:txBody>
        </p:sp>
        <p:sp>
          <p:nvSpPr>
            <p:cNvPr id="68" name="TextBox 67"/>
            <p:cNvSpPr txBox="1"/>
            <p:nvPr/>
          </p:nvSpPr>
          <p:spPr>
            <a:xfrm>
              <a:off x="914400" y="5477256"/>
              <a:ext cx="173964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bidwire://agent-guide</a:t>
              </a:r>
            </a:p>
          </p:txBody>
        </p:sp>
      </p:grpSp>
      <p:grpSp>
        <p:nvGrpSpPr>
          <p:cNvPr id="69" name="Group 68"/>
          <p:cNvGrpSpPr/>
          <p:nvPr/>
        </p:nvGrpSpPr>
        <p:grpSpPr>
          <a:xfrm>
            <a:off x="2727198" y="5477256"/>
            <a:ext cx="1015746" cy="265176"/>
            <a:chOff x="2727198" y="5477256"/>
            <a:chExt cx="1015746" cy="265176"/>
          </a:xfrm>
        </p:grpSpPr>
        <p:sp>
          <p:nvSpPr>
            <p:cNvPr id="70" name="Rounded Rectangle 69"/>
            <p:cNvSpPr/>
            <p:nvPr/>
          </p:nvSpPr>
          <p:spPr>
            <a:xfrm>
              <a:off x="2727198" y="5477256"/>
              <a:ext cx="1015746" cy="265176"/>
            </a:xfrm>
            <a:prstGeom prst="roundRect">
              <a:avLst>
                <a:gd name="adj" fmla="val 50000"/>
              </a:avLst>
            </a:prstGeom>
            <a:solidFill>
              <a:srgbClr val="FFFFFF"/>
            </a:solidFill>
            <a:ln w="9525">
              <a:solidFill>
                <a:srgbClr val="D9D8D1"/>
              </a:solidFill>
            </a:ln>
          </p:spPr>
          <p:txBody>
            <a:bodyPr rtlCol="0" anchor="ctr"/>
            <a:lstStyle/>
            <a:p>
              <a:pPr algn="ctr"/>
            </a:p>
          </p:txBody>
        </p:sp>
        <p:sp>
          <p:nvSpPr>
            <p:cNvPr id="71" name="TextBox 70"/>
            <p:cNvSpPr txBox="1"/>
            <p:nvPr/>
          </p:nvSpPr>
          <p:spPr>
            <a:xfrm>
              <a:off x="2727198" y="5477256"/>
              <a:ext cx="101574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shop_for_me</a:t>
              </a:r>
            </a:p>
          </p:txBody>
        </p:sp>
      </p:grpSp>
      <p:grpSp>
        <p:nvGrpSpPr>
          <p:cNvPr id="72" name="Group 71"/>
          <p:cNvGrpSpPr/>
          <p:nvPr/>
        </p:nvGrpSpPr>
        <p:grpSpPr>
          <a:xfrm>
            <a:off x="3816096" y="5477256"/>
            <a:ext cx="1305306" cy="265176"/>
            <a:chOff x="3816096" y="5477256"/>
            <a:chExt cx="1305306" cy="265176"/>
          </a:xfrm>
        </p:grpSpPr>
        <p:sp>
          <p:nvSpPr>
            <p:cNvPr id="73" name="Rounded Rectangle 72"/>
            <p:cNvSpPr/>
            <p:nvPr/>
          </p:nvSpPr>
          <p:spPr>
            <a:xfrm>
              <a:off x="3816096" y="5477256"/>
              <a:ext cx="1305306" cy="265176"/>
            </a:xfrm>
            <a:prstGeom prst="roundRect">
              <a:avLst>
                <a:gd name="adj" fmla="val 50000"/>
              </a:avLst>
            </a:prstGeom>
            <a:solidFill>
              <a:srgbClr val="FFFFFF"/>
            </a:solidFill>
            <a:ln w="9525">
              <a:solidFill>
                <a:srgbClr val="D9D8D1"/>
              </a:solidFill>
            </a:ln>
          </p:spPr>
          <p:txBody>
            <a:bodyPr rtlCol="0" anchor="ctr"/>
            <a:lstStyle/>
            <a:p>
              <a:pPr algn="ctr"/>
            </a:p>
          </p:txBody>
        </p:sp>
        <p:sp>
          <p:nvSpPr>
            <p:cNvPr id="74" name="TextBox 73"/>
            <p:cNvSpPr txBox="1"/>
            <p:nvPr/>
          </p:nvSpPr>
          <p:spPr>
            <a:xfrm>
              <a:off x="3816096" y="5477256"/>
              <a:ext cx="1305306" cy="265176"/>
            </a:xfrm>
            <a:prstGeom prst="rect">
              <a:avLst/>
            </a:prstGeom>
            <a:noFill/>
          </p:spPr>
          <p:txBody>
            <a:bodyPr wrap="square" lIns="0" rIns="0" tIns="0" bIns="0" anchor="ctr">
              <a:noAutofit/>
            </a:bodyPr>
            <a:lstStyle/>
            <a:p>
              <a:pPr algn="ctr"/>
              <a:r>
                <a:rPr sz="950" b="0" i="0">
                  <a:solidFill>
                    <a:srgbClr val="5D5D66"/>
                  </a:solidFill>
                  <a:latin typeface="JetBrains Mono" panose="02000009000000000000" pitchFamily="49" charset="0"/>
                </a:rPr>
                <a:t>sell_on_bidwire</a:t>
              </a:r>
            </a:p>
          </p:txBody>
        </p:sp>
      </p:grpSp>
      <p:sp>
        <p:nvSpPr>
          <p:cNvPr id="75" name="TextBox 74"/>
          <p:cNvSpPr txBox="1"/>
          <p:nvPr/>
        </p:nvSpPr>
        <p:spPr>
          <a:xfrm>
            <a:off x="914400" y="5833872"/>
            <a:ext cx="4389120" cy="274320"/>
          </a:xfrm>
          <a:prstGeom prst="rect">
            <a:avLst/>
          </a:prstGeom>
          <a:noFill/>
        </p:spPr>
        <p:txBody>
          <a:bodyPr wrap="square" lIns="0" rIns="0" tIns="0" bIns="0" anchor="ctr">
            <a:noAutofit/>
          </a:bodyPr>
          <a:lstStyle/>
          <a:p>
            <a:pPr algn="l"/>
            <a:r>
              <a:rPr sz="900" b="0" i="0">
                <a:solidFill>
                  <a:srgbClr val="9A9AA3"/>
                </a:solidFill>
                <a:latin typeface="Inter" panose="020B0502030000000004" pitchFamily="34" charset="0"/>
              </a:rPr>
              <a:t>Built on mcp-use (Manufact) · TypeScript · streamable HTTP at /mcp</a:t>
            </a:r>
          </a:p>
        </p:txBody>
      </p:sp>
      <p:grpSp>
        <p:nvGrpSpPr>
          <p:cNvPr id="76" name="Group 75"/>
          <p:cNvGrpSpPr/>
          <p:nvPr/>
        </p:nvGrpSpPr>
        <p:grpSpPr>
          <a:xfrm>
            <a:off x="5760720" y="1600200"/>
            <a:ext cx="5745175" cy="2377440"/>
            <a:chOff x="5760720" y="1600200"/>
            <a:chExt cx="5745175" cy="2377440"/>
          </a:xfrm>
        </p:grpSpPr>
        <p:sp>
          <p:nvSpPr>
            <p:cNvPr id="77" name="Rounded Rectangle 76"/>
            <p:cNvSpPr/>
            <p:nvPr/>
          </p:nvSpPr>
          <p:spPr>
            <a:xfrm>
              <a:off x="5760720" y="1600200"/>
              <a:ext cx="5745175" cy="2377440"/>
            </a:xfrm>
            <a:prstGeom prst="roundRect">
              <a:avLst>
                <a:gd name="adj" fmla="val 5384"/>
              </a:avLst>
            </a:prstGeom>
            <a:solidFill>
              <a:srgbClr val="0E0E10"/>
            </a:solidFill>
            <a:ln>
              <a:noFill/>
            </a:ln>
            <a:effectLst>
              <a:outerShdw blurRad="384048" dist="109728" dir="5400000" algn="t" rotWithShape="0">
                <a:srgbClr val="0E0E10">
                  <a:alpha val="13000"/>
                </a:srgbClr>
              </a:outerShdw>
            </a:effectLst>
          </p:spPr>
          <p:txBody>
            <a:bodyPr rtlCol="0" anchor="ctr"/>
            <a:lstStyle/>
            <a:p>
              <a:pPr algn="ctr"/>
            </a:p>
          </p:txBody>
        </p:sp>
        <p:sp>
          <p:nvSpPr>
            <p:cNvPr id="78" name="TextBox 77"/>
            <p:cNvSpPr txBox="1"/>
            <p:nvPr/>
          </p:nvSpPr>
          <p:spPr>
            <a:xfrm>
              <a:off x="5989320" y="1664208"/>
              <a:ext cx="5287975" cy="310896"/>
            </a:xfrm>
            <a:prstGeom prst="rect">
              <a:avLst/>
            </a:prstGeom>
            <a:noFill/>
          </p:spPr>
          <p:txBody>
            <a:bodyPr wrap="square" lIns="0" rIns="0" tIns="0" bIns="0" anchor="ctr">
              <a:noAutofit/>
            </a:bodyPr>
            <a:lstStyle/>
            <a:p>
              <a:pPr algn="l"/>
              <a:r>
                <a:rPr sz="950" b="1" i="0">
                  <a:solidFill>
                    <a:srgbClr val="8B8B94"/>
                  </a:solidFill>
                  <a:latin typeface="Inter" panose="020B0502030000000004" pitchFamily="34" charset="0"/>
                </a:rPr>
                <a:t>Two calls from any MCP client</a:t>
              </a:r>
            </a:p>
          </p:txBody>
        </p:sp>
        <p:sp>
          <p:nvSpPr>
            <p:cNvPr id="79" name="Rectangle 78"/>
            <p:cNvSpPr/>
            <p:nvPr/>
          </p:nvSpPr>
          <p:spPr>
            <a:xfrm>
              <a:off x="5760720" y="2011680"/>
              <a:ext cx="5745175" cy="9144"/>
            </a:xfrm>
            <a:prstGeom prst="rect">
              <a:avLst/>
            </a:prstGeom>
            <a:solidFill>
              <a:srgbClr val="2A2A30"/>
            </a:solidFill>
            <a:ln>
              <a:noFill/>
            </a:ln>
          </p:spPr>
          <p:txBody>
            <a:bodyPr rtlCol="0" anchor="ctr"/>
            <a:lstStyle/>
            <a:p>
              <a:pPr algn="ctr"/>
            </a:p>
          </p:txBody>
        </p:sp>
      </p:grpSp>
      <p:sp>
        <p:nvSpPr>
          <p:cNvPr id="80" name="TextBox 79"/>
          <p:cNvSpPr txBox="1"/>
          <p:nvPr/>
        </p:nvSpPr>
        <p:spPr>
          <a:xfrm>
            <a:off x="5989320" y="2148840"/>
            <a:ext cx="5379415" cy="310896"/>
          </a:xfrm>
          <a:prstGeom prst="rect">
            <a:avLst/>
          </a:prstGeom>
          <a:noFill/>
        </p:spPr>
        <p:txBody>
          <a:bodyPr wrap="none" lIns="0" rIns="0" tIns="0" bIns="0" anchor="ctr">
            <a:noAutofit/>
          </a:bodyPr>
          <a:lstStyle/>
          <a:p>
            <a:pPr algn="l"/>
            <a:r>
              <a:rPr sz="1050" b="0" i="0">
                <a:solidFill>
                  <a:srgbClr val="8B8B94"/>
                </a:solidFill>
                <a:latin typeface="JetBrains Mono" panose="02000009000000000000" pitchFamily="49" charset="0"/>
              </a:rPr>
              <a:t>→</a:t>
            </a:r>
            <a:r>
              <a:rPr sz="1050" b="0" i="0">
                <a:solidFill>
                  <a:srgbClr val="E6E6E9"/>
                </a:solidFill>
                <a:latin typeface="JetBrains Mono" panose="02000009000000000000" pitchFamily="49" charset="0"/>
              </a:rPr>
              <a:t> </a:t>
            </a:r>
            <a:r>
              <a:rPr sz="1050" b="1" i="0">
                <a:solidFill>
                  <a:srgbClr val="9DB7FF"/>
                </a:solidFill>
                <a:latin typeface="JetBrains Mono" panose="02000009000000000000" pitchFamily="49" charset="0"/>
              </a:rPr>
              <a:t>find_offers</a:t>
            </a:r>
            <a:r>
              <a:rPr sz="1050" b="0" i="0">
                <a:solidFill>
                  <a:srgbClr val="E6E6E9"/>
                </a:solidFill>
                <a:latin typeface="JetBrains Mono" panose="02000009000000000000" pitchFamily="49" charset="0"/>
              </a:rPr>
              <a:t>({ need: </a:t>
            </a:r>
            <a:r>
              <a:rPr sz="1050" b="0" i="0">
                <a:solidFill>
                  <a:srgbClr val="7EE2B8"/>
                </a:solidFill>
                <a:latin typeface="JetBrains Mono" panose="02000009000000000000" pitchFamily="49" charset="0"/>
              </a:rPr>
              <a:t>"noise cancelling headphones"</a:t>
            </a:r>
            <a:r>
              <a:rPr sz="1050" b="0" i="0">
                <a:solidFill>
                  <a:srgbClr val="E6E6E9"/>
                </a:solidFill>
                <a:latin typeface="JetBrains Mono" panose="02000009000000000000" pitchFamily="49" charset="0"/>
              </a:rPr>
              <a:t>,</a:t>
            </a:r>
          </a:p>
        </p:txBody>
      </p:sp>
      <p:sp>
        <p:nvSpPr>
          <p:cNvPr id="81" name="TextBox 80"/>
          <p:cNvSpPr txBox="1"/>
          <p:nvPr/>
        </p:nvSpPr>
        <p:spPr>
          <a:xfrm>
            <a:off x="5989320" y="2496312"/>
            <a:ext cx="5379415" cy="310896"/>
          </a:xfrm>
          <a:prstGeom prst="rect">
            <a:avLst/>
          </a:prstGeom>
          <a:noFill/>
        </p:spPr>
        <p:txBody>
          <a:bodyPr wrap="none" lIns="0" rIns="0" tIns="0" bIns="0" anchor="ctr">
            <a:noAutofit/>
          </a:bodyPr>
          <a:lstStyle/>
          <a:p>
            <a:pPr algn="l"/>
            <a:r>
              <a:rPr sz="1050" b="0" i="0">
                <a:solidFill>
                  <a:srgbClr val="E6E6E9"/>
                </a:solidFill>
                <a:latin typeface="JetBrains Mono" panose="02000009000000000000" pitchFamily="49" charset="0"/>
              </a:rPr>
              <a:t>                budget_usd: </a:t>
            </a:r>
            <a:r>
              <a:rPr sz="1050" b="0" i="0">
                <a:solidFill>
                  <a:srgbClr val="FFB08F"/>
                </a:solidFill>
                <a:latin typeface="JetBrains Mono" panose="02000009000000000000" pitchFamily="49" charset="0"/>
              </a:rPr>
              <a:t>400</a:t>
            </a:r>
            <a:r>
              <a:rPr sz="1050" b="0" i="0">
                <a:solidFill>
                  <a:srgbClr val="E6E6E9"/>
                </a:solidFill>
                <a:latin typeface="JetBrains Mono" panose="02000009000000000000" pitchFamily="49" charset="0"/>
              </a:rPr>
              <a:t>, deliver_within_days: </a:t>
            </a:r>
            <a:r>
              <a:rPr sz="1050" b="0" i="0">
                <a:solidFill>
                  <a:srgbClr val="FFB08F"/>
                </a:solidFill>
                <a:latin typeface="JetBrains Mono" panose="02000009000000000000" pitchFamily="49" charset="0"/>
              </a:rPr>
              <a:t>5</a:t>
            </a:r>
            <a:r>
              <a:rPr sz="1050" b="0" i="0">
                <a:solidFill>
                  <a:srgbClr val="E6E6E9"/>
                </a:solidFill>
                <a:latin typeface="JetBrains Mono" panose="02000009000000000000" pitchFamily="49" charset="0"/>
              </a:rPr>
              <a:t> })</a:t>
            </a:r>
          </a:p>
        </p:txBody>
      </p:sp>
      <p:sp>
        <p:nvSpPr>
          <p:cNvPr id="82" name="TextBox 81"/>
          <p:cNvSpPr txBox="1"/>
          <p:nvPr/>
        </p:nvSpPr>
        <p:spPr>
          <a:xfrm>
            <a:off x="5989320" y="2843784"/>
            <a:ext cx="5379415" cy="310896"/>
          </a:xfrm>
          <a:prstGeom prst="rect">
            <a:avLst/>
          </a:prstGeom>
          <a:noFill/>
        </p:spPr>
        <p:txBody>
          <a:bodyPr wrap="none" lIns="0" rIns="0" tIns="0" bIns="0" anchor="ctr">
            <a:noAutofit/>
          </a:bodyPr>
          <a:lstStyle/>
          <a:p>
            <a:pPr algn="l"/>
            <a:r>
              <a:rPr sz="1050" b="0" i="0">
                <a:solidFill>
                  <a:srgbClr val="8B8B94"/>
                </a:solidFill>
                <a:latin typeface="JetBrains Mono" panose="02000009000000000000" pitchFamily="49" charset="0"/>
              </a:rPr>
              <a:t>← 7 bids → 5 verified · 2 excluded for lying · ranked</a:t>
            </a:r>
          </a:p>
        </p:txBody>
      </p:sp>
      <p:sp>
        <p:nvSpPr>
          <p:cNvPr id="83" name="TextBox 82"/>
          <p:cNvSpPr txBox="1"/>
          <p:nvPr/>
        </p:nvSpPr>
        <p:spPr>
          <a:xfrm>
            <a:off x="5989320" y="3191256"/>
            <a:ext cx="5379415" cy="310896"/>
          </a:xfrm>
          <a:prstGeom prst="rect">
            <a:avLst/>
          </a:prstGeom>
          <a:noFill/>
        </p:spPr>
        <p:txBody>
          <a:bodyPr wrap="none" lIns="0" rIns="0" tIns="0" bIns="0" anchor="ctr">
            <a:noAutofit/>
          </a:bodyPr>
          <a:lstStyle/>
          <a:p>
            <a:pPr algn="l"/>
            <a:r>
              <a:rPr sz="1050" b="0" i="0">
                <a:solidFill>
                  <a:srgbClr val="8B8B94"/>
                </a:solidFill>
                <a:latin typeface="JetBrains Mono" panose="02000009000000000000" pitchFamily="49" charset="0"/>
              </a:rPr>
              <a:t>→</a:t>
            </a:r>
            <a:r>
              <a:rPr sz="1050" b="0" i="0">
                <a:solidFill>
                  <a:srgbClr val="E6E6E9"/>
                </a:solidFill>
                <a:latin typeface="JetBrains Mono" panose="02000009000000000000" pitchFamily="49" charset="0"/>
              </a:rPr>
              <a:t> </a:t>
            </a:r>
            <a:r>
              <a:rPr sz="1050" b="1" i="0">
                <a:solidFill>
                  <a:srgbClr val="9DB7FF"/>
                </a:solidFill>
                <a:latin typeface="JetBrains Mono" panose="02000009000000000000" pitchFamily="49" charset="0"/>
              </a:rPr>
              <a:t>buy_offer</a:t>
            </a:r>
            <a:r>
              <a:rPr sz="1050" b="0" i="0">
                <a:solidFill>
                  <a:srgbClr val="E6E6E9"/>
                </a:solidFill>
                <a:latin typeface="JetBrains Mono" panose="02000009000000000000" pitchFamily="49" charset="0"/>
              </a:rPr>
              <a:t>({ offer_id: </a:t>
            </a:r>
            <a:r>
              <a:rPr sz="1050" b="0" i="0">
                <a:solidFill>
                  <a:srgbClr val="7EE2B8"/>
                </a:solidFill>
                <a:latin typeface="JetBrains Mono" panose="02000009000000000000" pitchFamily="49" charset="0"/>
              </a:rPr>
              <a:t>"bid_…"</a:t>
            </a:r>
            <a:r>
              <a:rPr sz="1050" b="0" i="0">
                <a:solidFill>
                  <a:srgbClr val="E6E6E9"/>
                </a:solidFill>
                <a:latin typeface="JetBrains Mono" panose="02000009000000000000" pitchFamily="49" charset="0"/>
              </a:rPr>
              <a:t> })</a:t>
            </a:r>
          </a:p>
        </p:txBody>
      </p:sp>
      <p:sp>
        <p:nvSpPr>
          <p:cNvPr id="84" name="TextBox 83"/>
          <p:cNvSpPr txBox="1"/>
          <p:nvPr/>
        </p:nvSpPr>
        <p:spPr>
          <a:xfrm>
            <a:off x="5989320" y="3538728"/>
            <a:ext cx="5379415" cy="310896"/>
          </a:xfrm>
          <a:prstGeom prst="rect">
            <a:avLst/>
          </a:prstGeom>
          <a:noFill/>
        </p:spPr>
        <p:txBody>
          <a:bodyPr wrap="none" lIns="0" rIns="0" tIns="0" bIns="0" anchor="ctr">
            <a:noAutofit/>
          </a:bodyPr>
          <a:lstStyle/>
          <a:p>
            <a:pPr algn="l"/>
            <a:r>
              <a:rPr sz="1050" b="0" i="0">
                <a:solidFill>
                  <a:srgbClr val="8B8B94"/>
                </a:solidFill>
                <a:latin typeface="JetBrains Mono" panose="02000009000000000000" pitchFamily="49" charset="0"/>
              </a:rPr>
              <a:t>← approval_required → human texts YES →</a:t>
            </a:r>
            <a:r>
              <a:rPr sz="1050" b="0" i="0">
                <a:solidFill>
                  <a:srgbClr val="E6E6E9"/>
                </a:solidFill>
                <a:latin typeface="JetBrains Mono" panose="02000009000000000000" pitchFamily="49" charset="0"/>
              </a:rPr>
              <a:t> </a:t>
            </a:r>
            <a:r>
              <a:rPr sz="1050" b="1" i="0">
                <a:solidFill>
                  <a:srgbClr val="7EE2B8"/>
                </a:solidFill>
                <a:latin typeface="JetBrains Mono" panose="02000009000000000000" pitchFamily="49" charset="0"/>
              </a:rPr>
              <a:t>purchased ✓</a:t>
            </a:r>
          </a:p>
        </p:txBody>
      </p:sp>
      <p:grpSp>
        <p:nvGrpSpPr>
          <p:cNvPr id="85" name="Group 84"/>
          <p:cNvGrpSpPr/>
          <p:nvPr/>
        </p:nvGrpSpPr>
        <p:grpSpPr>
          <a:xfrm>
            <a:off x="5760720" y="4160520"/>
            <a:ext cx="1841906" cy="969264"/>
            <a:chOff x="5760720" y="4160520"/>
            <a:chExt cx="1841906" cy="969264"/>
          </a:xfrm>
        </p:grpSpPr>
        <p:sp>
          <p:nvSpPr>
            <p:cNvPr id="86" name="Rounded Rectangle 85"/>
            <p:cNvSpPr/>
            <p:nvPr/>
          </p:nvSpPr>
          <p:spPr>
            <a:xfrm>
              <a:off x="5760720" y="4160520"/>
              <a:ext cx="1841906" cy="969264"/>
            </a:xfrm>
            <a:prstGeom prst="roundRect">
              <a:avLst>
                <a:gd name="adj" fmla="val 113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87" name="TextBox 86"/>
            <p:cNvSpPr txBox="1"/>
            <p:nvPr/>
          </p:nvSpPr>
          <p:spPr>
            <a:xfrm>
              <a:off x="5907024" y="4270248"/>
              <a:ext cx="1567586"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Zero-config first call</a:t>
              </a:r>
            </a:p>
          </p:txBody>
        </p:sp>
        <p:sp>
          <p:nvSpPr>
            <p:cNvPr id="88" name="TextBox 87"/>
            <p:cNvSpPr txBox="1"/>
            <p:nvPr/>
          </p:nvSpPr>
          <p:spPr>
            <a:xfrm>
              <a:off x="5907024" y="4553712"/>
              <a:ext cx="1567586" cy="54864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No key = guest agent. Claude, ChatGPT and Codex auto-map to demo agents.</a:t>
              </a:r>
            </a:p>
          </p:txBody>
        </p:sp>
      </p:grpSp>
      <p:grpSp>
        <p:nvGrpSpPr>
          <p:cNvPr id="89" name="Group 88"/>
          <p:cNvGrpSpPr/>
          <p:nvPr/>
        </p:nvGrpSpPr>
        <p:grpSpPr>
          <a:xfrm>
            <a:off x="7712354" y="4160520"/>
            <a:ext cx="1841906" cy="969264"/>
            <a:chOff x="7712354" y="4160520"/>
            <a:chExt cx="1841906" cy="969264"/>
          </a:xfrm>
        </p:grpSpPr>
        <p:sp>
          <p:nvSpPr>
            <p:cNvPr id="90" name="Rounded Rectangle 89"/>
            <p:cNvSpPr/>
            <p:nvPr/>
          </p:nvSpPr>
          <p:spPr>
            <a:xfrm>
              <a:off x="7712354" y="4160520"/>
              <a:ext cx="1841906" cy="969264"/>
            </a:xfrm>
            <a:prstGeom prst="roundRect">
              <a:avLst>
                <a:gd name="adj" fmla="val 113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91" name="TextBox 90"/>
            <p:cNvSpPr txBox="1"/>
            <p:nvPr/>
          </p:nvSpPr>
          <p:spPr>
            <a:xfrm>
              <a:off x="7858658" y="4270248"/>
              <a:ext cx="1567586"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Errors with hints</a:t>
              </a:r>
            </a:p>
          </p:txBody>
        </p:sp>
        <p:sp>
          <p:nvSpPr>
            <p:cNvPr id="92" name="TextBox 91"/>
            <p:cNvSpPr txBox="1"/>
            <p:nvPr/>
          </p:nvSpPr>
          <p:spPr>
            <a:xfrm>
              <a:off x="7858658" y="4553712"/>
              <a:ext cx="1567586" cy="54864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 error, message, hint } tells the agent what to call next.</a:t>
              </a:r>
            </a:p>
          </p:txBody>
        </p:sp>
      </p:grpSp>
      <p:grpSp>
        <p:nvGrpSpPr>
          <p:cNvPr id="93" name="Group 92"/>
          <p:cNvGrpSpPr/>
          <p:nvPr/>
        </p:nvGrpSpPr>
        <p:grpSpPr>
          <a:xfrm>
            <a:off x="9663989" y="4160520"/>
            <a:ext cx="1841906" cy="969264"/>
            <a:chOff x="9663989" y="4160520"/>
            <a:chExt cx="1841906" cy="969264"/>
          </a:xfrm>
        </p:grpSpPr>
        <p:sp>
          <p:nvSpPr>
            <p:cNvPr id="94" name="Rounded Rectangle 93"/>
            <p:cNvSpPr/>
            <p:nvPr/>
          </p:nvSpPr>
          <p:spPr>
            <a:xfrm>
              <a:off x="9663989" y="4160520"/>
              <a:ext cx="1841906" cy="969264"/>
            </a:xfrm>
            <a:prstGeom prst="roundRect">
              <a:avLst>
                <a:gd name="adj" fmla="val 113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95" name="TextBox 94"/>
            <p:cNvSpPr txBox="1"/>
            <p:nvPr/>
          </p:nvSpPr>
          <p:spPr>
            <a:xfrm>
              <a:off x="9810293" y="4270248"/>
              <a:ext cx="1567586"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Idempotency keys</a:t>
              </a:r>
            </a:p>
          </p:txBody>
        </p:sp>
        <p:sp>
          <p:nvSpPr>
            <p:cNvPr id="96" name="TextBox 95"/>
            <p:cNvSpPr txBox="1"/>
            <p:nvPr/>
          </p:nvSpPr>
          <p:spPr>
            <a:xfrm>
              <a:off x="9810293" y="4553712"/>
              <a:ext cx="1567586" cy="54864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Retries never double-buy. Same offer twice returns the same order.</a:t>
              </a:r>
            </a:p>
          </p:txBody>
        </p:sp>
      </p:grpSp>
      <p:grpSp>
        <p:nvGrpSpPr>
          <p:cNvPr id="97" name="Group 96"/>
          <p:cNvGrpSpPr/>
          <p:nvPr/>
        </p:nvGrpSpPr>
        <p:grpSpPr>
          <a:xfrm>
            <a:off x="5760720" y="5230368"/>
            <a:ext cx="1841906" cy="969264"/>
            <a:chOff x="5760720" y="5230368"/>
            <a:chExt cx="1841906" cy="969264"/>
          </a:xfrm>
        </p:grpSpPr>
        <p:sp>
          <p:nvSpPr>
            <p:cNvPr id="98" name="Rounded Rectangle 97"/>
            <p:cNvSpPr/>
            <p:nvPr/>
          </p:nvSpPr>
          <p:spPr>
            <a:xfrm>
              <a:off x="5760720" y="5230368"/>
              <a:ext cx="1841906" cy="969264"/>
            </a:xfrm>
            <a:prstGeom prst="roundRect">
              <a:avLst>
                <a:gd name="adj" fmla="val 113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99" name="TextBox 98"/>
            <p:cNvSpPr txBox="1"/>
            <p:nvPr/>
          </p:nvSpPr>
          <p:spPr>
            <a:xfrm>
              <a:off x="5907024" y="5340096"/>
              <a:ext cx="1567586"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Per-caller keys</a:t>
              </a:r>
            </a:p>
          </p:txBody>
        </p:sp>
        <p:sp>
          <p:nvSpPr>
            <p:cNvPr id="100" name="TextBox 99"/>
            <p:cNvSpPr txBox="1"/>
            <p:nvPr/>
          </p:nvSpPr>
          <p:spPr>
            <a:xfrm>
              <a:off x="5907024" y="5623560"/>
              <a:ext cx="1567586" cy="54864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Bearer bw_buy_… for shoppers, bw_mer_… for merchant agents.</a:t>
              </a:r>
            </a:p>
          </p:txBody>
        </p:sp>
      </p:grpSp>
      <p:grpSp>
        <p:nvGrpSpPr>
          <p:cNvPr id="101" name="Group 100"/>
          <p:cNvGrpSpPr/>
          <p:nvPr/>
        </p:nvGrpSpPr>
        <p:grpSpPr>
          <a:xfrm>
            <a:off x="7712354" y="5230368"/>
            <a:ext cx="1841906" cy="969264"/>
            <a:chOff x="7712354" y="5230368"/>
            <a:chExt cx="1841906" cy="969264"/>
          </a:xfrm>
        </p:grpSpPr>
        <p:sp>
          <p:nvSpPr>
            <p:cNvPr id="102" name="Rounded Rectangle 101"/>
            <p:cNvSpPr/>
            <p:nvPr/>
          </p:nvSpPr>
          <p:spPr>
            <a:xfrm>
              <a:off x="7712354" y="5230368"/>
              <a:ext cx="1841906" cy="969264"/>
            </a:xfrm>
            <a:prstGeom prst="roundRect">
              <a:avLst>
                <a:gd name="adj" fmla="val 113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03" name="TextBox 102"/>
            <p:cNvSpPr txBox="1"/>
            <p:nvPr/>
          </p:nvSpPr>
          <p:spPr>
            <a:xfrm>
              <a:off x="7858658" y="5340096"/>
              <a:ext cx="1567586"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Waits, doesn't poll</a:t>
              </a:r>
            </a:p>
          </p:txBody>
        </p:sp>
        <p:sp>
          <p:nvSpPr>
            <p:cNvPr id="104" name="TextBox 103"/>
            <p:cNvSpPr txBox="1"/>
            <p:nvPr/>
          </p:nvSpPr>
          <p:spPr>
            <a:xfrm>
              <a:off x="7858658" y="5623560"/>
              <a:ext cx="1567586" cy="54864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find_offers waits for the auction; buy_offer waits for the human's YES.</a:t>
              </a:r>
            </a:p>
          </p:txBody>
        </p:sp>
      </p:grpSp>
      <p:grpSp>
        <p:nvGrpSpPr>
          <p:cNvPr id="105" name="Group 104"/>
          <p:cNvGrpSpPr/>
          <p:nvPr/>
        </p:nvGrpSpPr>
        <p:grpSpPr>
          <a:xfrm>
            <a:off x="9663989" y="5230368"/>
            <a:ext cx="1841906" cy="969264"/>
            <a:chOff x="9663989" y="5230368"/>
            <a:chExt cx="1841906" cy="969264"/>
          </a:xfrm>
        </p:grpSpPr>
        <p:sp>
          <p:nvSpPr>
            <p:cNvPr id="106" name="Rounded Rectangle 105"/>
            <p:cNvSpPr/>
            <p:nvPr/>
          </p:nvSpPr>
          <p:spPr>
            <a:xfrm>
              <a:off x="9663989" y="5230368"/>
              <a:ext cx="1841906" cy="969264"/>
            </a:xfrm>
            <a:prstGeom prst="roundRect">
              <a:avLst>
                <a:gd name="adj" fmla="val 1132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07" name="TextBox 106"/>
            <p:cNvSpPr txBox="1"/>
            <p:nvPr/>
          </p:nvSpPr>
          <p:spPr>
            <a:xfrm>
              <a:off x="9810293" y="5340096"/>
              <a:ext cx="1567586"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Every client</a:t>
              </a:r>
            </a:p>
          </p:txBody>
        </p:sp>
        <p:sp>
          <p:nvSpPr>
            <p:cNvPr id="108" name="TextBox 107"/>
            <p:cNvSpPr txBox="1"/>
            <p:nvPr/>
          </p:nvSpPr>
          <p:spPr>
            <a:xfrm>
              <a:off x="9810293" y="5623560"/>
              <a:ext cx="1567586" cy="54864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Claude Code · Claude Desktop · ChatGPT · Codex · Cursor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anim calcmode="lin" valueType="num">
                                      <p:cBhvr additive="base">
                                        <p:cTn id="16"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3"/>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21"/>
                                        </p:tgtEl>
                                        <p:attrNameLst>
                                          <p:attrName>style.visibility</p:attrName>
                                        </p:attrNameLst>
                                      </p:cBhvr>
                                      <p:to>
                                        <p:strVal val="visible"/>
                                      </p:to>
                                    </p:set>
                                    <p:animEffect transition="in" filter="fade">
                                      <p:cBhvr>
                                        <p:cTn id="20" dur="300"/>
                                        <p:tgtEl>
                                          <p:spTgt spid="21"/>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250"/>
                                        <p:tgtEl>
                                          <p:spTgt spid="22"/>
                                        </p:tgtEl>
                                      </p:cBhvr>
                                    </p:animEffect>
                                  </p:childTnLst>
                                </p:cTn>
                              </p:par>
                              <p:par>
                                <p:cTn id="24" presetID="10" presetClass="entr" presetSubtype="0" fill="hold" grpId="0" nodeType="withEffect">
                                  <p:stCondLst>
                                    <p:cond delay="485"/>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250"/>
                                        <p:tgtEl>
                                          <p:spTgt spid="25"/>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250"/>
                                        <p:tgtEl>
                                          <p:spTgt spid="28"/>
                                        </p:tgtEl>
                                      </p:cBhvr>
                                    </p:animEffect>
                                  </p:childTnLst>
                                </p:cTn>
                              </p:par>
                              <p:par>
                                <p:cTn id="30" presetID="10" presetClass="entr" presetSubtype="0" fill="hold" grpId="0" nodeType="withEffect">
                                  <p:stCondLst>
                                    <p:cond delay="555"/>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250"/>
                                        <p:tgtEl>
                                          <p:spTgt spid="31"/>
                                        </p:tgtEl>
                                      </p:cBhvr>
                                    </p:animEffect>
                                  </p:childTnLst>
                                </p:cTn>
                              </p:par>
                              <p:par>
                                <p:cTn id="33" presetID="10" presetClass="entr" presetSubtype="0" fill="hold" grpId="0" nodeType="withEffect">
                                  <p:stCondLst>
                                    <p:cond delay="590"/>
                                  </p:stCondLst>
                                  <p:childTnLst>
                                    <p:set>
                                      <p:cBhvr>
                                        <p:cTn id="34" dur="1" fill="hold">
                                          <p:stCondLst>
                                            <p:cond delay="0"/>
                                          </p:stCondLst>
                                        </p:cTn>
                                        <p:tgtEl>
                                          <p:spTgt spid="34"/>
                                        </p:tgtEl>
                                        <p:attrNameLst>
                                          <p:attrName>style.visibility</p:attrName>
                                        </p:attrNameLst>
                                      </p:cBhvr>
                                      <p:to>
                                        <p:strVal val="visible"/>
                                      </p:to>
                                    </p:set>
                                    <p:animEffect transition="in" filter="fade">
                                      <p:cBhvr>
                                        <p:cTn id="35" dur="250"/>
                                        <p:tgtEl>
                                          <p:spTgt spid="34"/>
                                        </p:tgtEl>
                                      </p:cBhvr>
                                    </p:animEffect>
                                  </p:childTnLst>
                                </p:cTn>
                              </p:par>
                              <p:par>
                                <p:cTn id="36" presetID="10" presetClass="entr" presetSubtype="0" fill="hold" grpId="0" nodeType="withEffect">
                                  <p:stCondLst>
                                    <p:cond delay="625"/>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250"/>
                                        <p:tgtEl>
                                          <p:spTgt spid="37"/>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250"/>
                                        <p:tgtEl>
                                          <p:spTgt spid="40"/>
                                        </p:tgtEl>
                                      </p:cBhvr>
                                    </p:animEffect>
                                  </p:childTnLst>
                                </p:cTn>
                              </p:par>
                              <p:par>
                                <p:cTn id="42" presetID="10" presetClass="entr" presetSubtype="0" fill="hold" grpId="0" nodeType="withEffect">
                                  <p:stCondLst>
                                    <p:cond delay="695"/>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250"/>
                                        <p:tgtEl>
                                          <p:spTgt spid="43"/>
                                        </p:tgtEl>
                                      </p:cBhvr>
                                    </p:animEffect>
                                  </p:childTnLst>
                                </p:cTn>
                              </p:par>
                              <p:par>
                                <p:cTn id="45" presetID="10" presetClass="entr" presetSubtype="0" fill="hold" grpId="0" nodeType="withEffect">
                                  <p:stCondLst>
                                    <p:cond delay="75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00"/>
                                        <p:tgtEl>
                                          <p:spTgt spid="46"/>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250"/>
                                        <p:tgtEl>
                                          <p:spTgt spid="47"/>
                                        </p:tgtEl>
                                      </p:cBhvr>
                                    </p:animEffect>
                                  </p:childTnLst>
                                </p:cTn>
                              </p:par>
                              <p:par>
                                <p:cTn id="51" presetID="10" presetClass="entr" presetSubtype="0" fill="hold" grpId="0" nodeType="withEffect">
                                  <p:stCondLst>
                                    <p:cond delay="835"/>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250"/>
                                        <p:tgtEl>
                                          <p:spTgt spid="50"/>
                                        </p:tgtEl>
                                      </p:cBhvr>
                                    </p:animEffect>
                                  </p:childTnLst>
                                </p:cTn>
                              </p:par>
                              <p:par>
                                <p:cTn id="54" presetID="10" presetClass="entr" presetSubtype="0" fill="hold" grpId="0" nodeType="withEffect">
                                  <p:stCondLst>
                                    <p:cond delay="87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250"/>
                                        <p:tgtEl>
                                          <p:spTgt spid="53"/>
                                        </p:tgtEl>
                                      </p:cBhvr>
                                    </p:animEffect>
                                  </p:childTnLst>
                                </p:cTn>
                              </p:par>
                              <p:par>
                                <p:cTn id="57" presetID="10" presetClass="entr" presetSubtype="0" fill="hold" grpId="0" nodeType="withEffect">
                                  <p:stCondLst>
                                    <p:cond delay="905"/>
                                  </p:stCondLst>
                                  <p:childTnLst>
                                    <p:set>
                                      <p:cBhvr>
                                        <p:cTn id="58" dur="1" fill="hold">
                                          <p:stCondLst>
                                            <p:cond delay="0"/>
                                          </p:stCondLst>
                                        </p:cTn>
                                        <p:tgtEl>
                                          <p:spTgt spid="56"/>
                                        </p:tgtEl>
                                        <p:attrNameLst>
                                          <p:attrName>style.visibility</p:attrName>
                                        </p:attrNameLst>
                                      </p:cBhvr>
                                      <p:to>
                                        <p:strVal val="visible"/>
                                      </p:to>
                                    </p:set>
                                    <p:animEffect transition="in" filter="fade">
                                      <p:cBhvr>
                                        <p:cTn id="59" dur="250"/>
                                        <p:tgtEl>
                                          <p:spTgt spid="56"/>
                                        </p:tgtEl>
                                      </p:cBhvr>
                                    </p:animEffect>
                                  </p:childTnLst>
                                </p:cTn>
                              </p:par>
                              <p:par>
                                <p:cTn id="60" presetID="10" presetClass="entr" presetSubtype="0" fill="hold" grpId="0" nodeType="withEffect">
                                  <p:stCondLst>
                                    <p:cond delay="95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300"/>
                                        <p:tgtEl>
                                          <p:spTgt spid="59"/>
                                        </p:tgtEl>
                                      </p:cBhvr>
                                    </p:animEffect>
                                  </p:childTnLst>
                                </p:cTn>
                              </p:par>
                              <p:par>
                                <p:cTn id="63" presetID="10" presetClass="entr" presetSubtype="0" fill="hold" grpId="0" nodeType="withEffect">
                                  <p:stCondLst>
                                    <p:cond delay="1000"/>
                                  </p:stCondLst>
                                  <p:childTnLst>
                                    <p:set>
                                      <p:cBhvr>
                                        <p:cTn id="64" dur="1" fill="hold">
                                          <p:stCondLst>
                                            <p:cond delay="0"/>
                                          </p:stCondLst>
                                        </p:cTn>
                                        <p:tgtEl>
                                          <p:spTgt spid="60"/>
                                        </p:tgtEl>
                                        <p:attrNameLst>
                                          <p:attrName>style.visibility</p:attrName>
                                        </p:attrNameLst>
                                      </p:cBhvr>
                                      <p:to>
                                        <p:strVal val="visible"/>
                                      </p:to>
                                    </p:set>
                                    <p:animEffect transition="in" filter="fade">
                                      <p:cBhvr>
                                        <p:cTn id="65" dur="250"/>
                                        <p:tgtEl>
                                          <p:spTgt spid="60"/>
                                        </p:tgtEl>
                                      </p:cBhvr>
                                    </p:animEffect>
                                  </p:childTnLst>
                                </p:cTn>
                              </p:par>
                              <p:par>
                                <p:cTn id="66" presetID="10" presetClass="entr" presetSubtype="0" fill="hold" grpId="0" nodeType="withEffect">
                                  <p:stCondLst>
                                    <p:cond delay="1035"/>
                                  </p:stCondLst>
                                  <p:childTnLst>
                                    <p:set>
                                      <p:cBhvr>
                                        <p:cTn id="67" dur="1" fill="hold">
                                          <p:stCondLst>
                                            <p:cond delay="0"/>
                                          </p:stCondLst>
                                        </p:cTn>
                                        <p:tgtEl>
                                          <p:spTgt spid="63"/>
                                        </p:tgtEl>
                                        <p:attrNameLst>
                                          <p:attrName>style.visibility</p:attrName>
                                        </p:attrNameLst>
                                      </p:cBhvr>
                                      <p:to>
                                        <p:strVal val="visible"/>
                                      </p:to>
                                    </p:set>
                                    <p:animEffect transition="in" filter="fade">
                                      <p:cBhvr>
                                        <p:cTn id="68" dur="250"/>
                                        <p:tgtEl>
                                          <p:spTgt spid="63"/>
                                        </p:tgtEl>
                                      </p:cBhvr>
                                    </p:animEffect>
                                  </p:childTnLst>
                                </p:cTn>
                              </p:par>
                              <p:par>
                                <p:cTn id="69" presetID="10" presetClass="entr" presetSubtype="0" fill="hold" grpId="0" nodeType="withEffect">
                                  <p:stCondLst>
                                    <p:cond delay="1070"/>
                                  </p:stCondLst>
                                  <p:childTnLst>
                                    <p:set>
                                      <p:cBhvr>
                                        <p:cTn id="70" dur="1" fill="hold">
                                          <p:stCondLst>
                                            <p:cond delay="0"/>
                                          </p:stCondLst>
                                        </p:cTn>
                                        <p:tgtEl>
                                          <p:spTgt spid="66"/>
                                        </p:tgtEl>
                                        <p:attrNameLst>
                                          <p:attrName>style.visibility</p:attrName>
                                        </p:attrNameLst>
                                      </p:cBhvr>
                                      <p:to>
                                        <p:strVal val="visible"/>
                                      </p:to>
                                    </p:set>
                                    <p:animEffect transition="in" filter="fade">
                                      <p:cBhvr>
                                        <p:cTn id="71" dur="250"/>
                                        <p:tgtEl>
                                          <p:spTgt spid="66"/>
                                        </p:tgtEl>
                                      </p:cBhvr>
                                    </p:animEffect>
                                  </p:childTnLst>
                                </p:cTn>
                              </p:par>
                              <p:par>
                                <p:cTn id="72" presetID="10" presetClass="entr" presetSubtype="0" fill="hold" grpId="0" nodeType="withEffect">
                                  <p:stCondLst>
                                    <p:cond delay="1105"/>
                                  </p:stCondLst>
                                  <p:childTnLst>
                                    <p:set>
                                      <p:cBhvr>
                                        <p:cTn id="73" dur="1" fill="hold">
                                          <p:stCondLst>
                                            <p:cond delay="0"/>
                                          </p:stCondLst>
                                        </p:cTn>
                                        <p:tgtEl>
                                          <p:spTgt spid="69"/>
                                        </p:tgtEl>
                                        <p:attrNameLst>
                                          <p:attrName>style.visibility</p:attrName>
                                        </p:attrNameLst>
                                      </p:cBhvr>
                                      <p:to>
                                        <p:strVal val="visible"/>
                                      </p:to>
                                    </p:set>
                                    <p:animEffect transition="in" filter="fade">
                                      <p:cBhvr>
                                        <p:cTn id="74" dur="250"/>
                                        <p:tgtEl>
                                          <p:spTgt spid="69"/>
                                        </p:tgtEl>
                                      </p:cBhvr>
                                    </p:animEffect>
                                  </p:childTnLst>
                                </p:cTn>
                              </p:par>
                              <p:par>
                                <p:cTn id="75" presetID="10" presetClass="entr" presetSubtype="0" fill="hold" grpId="0" nodeType="withEffect">
                                  <p:stCondLst>
                                    <p:cond delay="114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250"/>
                                        <p:tgtEl>
                                          <p:spTgt spid="72"/>
                                        </p:tgtEl>
                                      </p:cBhvr>
                                    </p:animEffect>
                                  </p:childTnLst>
                                </p:cTn>
                              </p:par>
                              <p:par>
                                <p:cTn id="78" presetID="10" presetClass="entr" presetSubtype="0" fill="hold" grpId="0" nodeType="withEffect">
                                  <p:stCondLst>
                                    <p:cond delay="1200"/>
                                  </p:stCondLst>
                                  <p:childTnLst>
                                    <p:set>
                                      <p:cBhvr>
                                        <p:cTn id="79" dur="1" fill="hold">
                                          <p:stCondLst>
                                            <p:cond delay="0"/>
                                          </p:stCondLst>
                                        </p:cTn>
                                        <p:tgtEl>
                                          <p:spTgt spid="75"/>
                                        </p:tgtEl>
                                        <p:attrNameLst>
                                          <p:attrName>style.visibility</p:attrName>
                                        </p:attrNameLst>
                                      </p:cBhvr>
                                      <p:to>
                                        <p:strVal val="visible"/>
                                      </p:to>
                                    </p:set>
                                    <p:animEffect transition="in" filter="fade">
                                      <p:cBhvr>
                                        <p:cTn id="80" dur="400"/>
                                        <p:tgtEl>
                                          <p:spTgt spid="75"/>
                                        </p:tgtEl>
                                      </p:cBhvr>
                                    </p:animEffect>
                                  </p:childTnLst>
                                </p:cTn>
                              </p:par>
                              <p:par>
                                <p:cTn id="81" presetID="42" presetClass="entr" presetSubtype="0" fill="hold" grpId="0" nodeType="withEffect">
                                  <p:stCondLst>
                                    <p:cond delay="300"/>
                                  </p:stCondLst>
                                  <p:childTnLst>
                                    <p:set>
                                      <p:cBhvr>
                                        <p:cTn id="82" dur="1" fill="hold">
                                          <p:stCondLst>
                                            <p:cond delay="0"/>
                                          </p:stCondLst>
                                        </p:cTn>
                                        <p:tgtEl>
                                          <p:spTgt spid="76"/>
                                        </p:tgtEl>
                                        <p:attrNameLst>
                                          <p:attrName>style.visibility</p:attrName>
                                        </p:attrNameLst>
                                      </p:cBhvr>
                                      <p:to>
                                        <p:strVal val="visible"/>
                                      </p:to>
                                    </p:set>
                                    <p:animEffect transition="in" filter="fade">
                                      <p:cBhvr>
                                        <p:cTn id="83" dur="500"/>
                                        <p:tgtEl>
                                          <p:spTgt spid="76"/>
                                        </p:tgtEl>
                                      </p:cBhvr>
                                    </p:animEffect>
                                    <p:anim calcmode="lin" valueType="num">
                                      <p:cBhvr additive="base">
                                        <p:cTn id="84" dur="500" fill="hold" decel="100000"/>
                                        <p:tgtEl>
                                          <p:spTgt spid="76"/>
                                        </p:tgtEl>
                                        <p:attrNameLst>
                                          <p:attrName>ppt_x</p:attrName>
                                        </p:attrNameLst>
                                      </p:cBhvr>
                                      <p:tavLst>
                                        <p:tav tm="0">
                                          <p:val>
                                            <p:strVal val="#ppt_x"/>
                                          </p:val>
                                        </p:tav>
                                        <p:tav tm="100000">
                                          <p:val>
                                            <p:strVal val="#ppt_x"/>
                                          </p:val>
                                        </p:tav>
                                      </p:tavLst>
                                    </p:anim>
                                    <p:anim calcmode="lin" valueType="num">
                                      <p:cBhvr additive="base">
                                        <p:cTn id="85" dur="500" fill="hold" decel="100000"/>
                                        <p:tgtEl>
                                          <p:spTgt spid="76"/>
                                        </p:tgtEl>
                                        <p:attrNameLst>
                                          <p:attrName>ppt_y</p:attrName>
                                        </p:attrNameLst>
                                      </p:cBhvr>
                                      <p:tavLst>
                                        <p:tav tm="0">
                                          <p:val>
                                            <p:strVal val="#ppt_y+0.025"/>
                                          </p:val>
                                        </p:tav>
                                        <p:tav tm="100000">
                                          <p:val>
                                            <p:strVal val="#ppt_y"/>
                                          </p:val>
                                        </p:tav>
                                      </p:tavLst>
                                    </p:anim>
                                  </p:childTnLst>
                                </p:cTn>
                              </p:par>
                              <p:par>
                                <p:cTn id="86" presetID="22" presetClass="entr" presetSubtype="8" fill="hold" grpId="0" nodeType="withEffect">
                                  <p:stCondLst>
                                    <p:cond delay="800"/>
                                  </p:stCondLst>
                                  <p:childTnLst>
                                    <p:set>
                                      <p:cBhvr>
                                        <p:cTn id="87" dur="1" fill="hold">
                                          <p:stCondLst>
                                            <p:cond delay="0"/>
                                          </p:stCondLst>
                                        </p:cTn>
                                        <p:tgtEl>
                                          <p:spTgt spid="80"/>
                                        </p:tgtEl>
                                        <p:attrNameLst>
                                          <p:attrName>style.visibility</p:attrName>
                                        </p:attrNameLst>
                                      </p:cBhvr>
                                      <p:to>
                                        <p:strVal val="visible"/>
                                      </p:to>
                                    </p:set>
                                    <p:animEffect transition="in" filter="wipe(left)">
                                      <p:cBhvr>
                                        <p:cTn id="88" dur="380"/>
                                        <p:tgtEl>
                                          <p:spTgt spid="80"/>
                                        </p:tgtEl>
                                      </p:cBhvr>
                                    </p:animEffect>
                                  </p:childTnLst>
                                </p:cTn>
                              </p:par>
                              <p:par>
                                <p:cTn id="89" presetID="22" presetClass="entr" presetSubtype="8" fill="hold" grpId="0" nodeType="withEffect">
                                  <p:stCondLst>
                                    <p:cond delay="1030"/>
                                  </p:stCondLst>
                                  <p:childTnLst>
                                    <p:set>
                                      <p:cBhvr>
                                        <p:cTn id="90" dur="1" fill="hold">
                                          <p:stCondLst>
                                            <p:cond delay="0"/>
                                          </p:stCondLst>
                                        </p:cTn>
                                        <p:tgtEl>
                                          <p:spTgt spid="81"/>
                                        </p:tgtEl>
                                        <p:attrNameLst>
                                          <p:attrName>style.visibility</p:attrName>
                                        </p:attrNameLst>
                                      </p:cBhvr>
                                      <p:to>
                                        <p:strVal val="visible"/>
                                      </p:to>
                                    </p:set>
                                    <p:animEffect transition="in" filter="wipe(left)">
                                      <p:cBhvr>
                                        <p:cTn id="91" dur="380"/>
                                        <p:tgtEl>
                                          <p:spTgt spid="81"/>
                                        </p:tgtEl>
                                      </p:cBhvr>
                                    </p:animEffect>
                                  </p:childTnLst>
                                </p:cTn>
                              </p:par>
                              <p:par>
                                <p:cTn id="92" presetID="22" presetClass="entr" presetSubtype="8" fill="hold" grpId="0" nodeType="withEffect">
                                  <p:stCondLst>
                                    <p:cond delay="1260"/>
                                  </p:stCondLst>
                                  <p:childTnLst>
                                    <p:set>
                                      <p:cBhvr>
                                        <p:cTn id="93" dur="1" fill="hold">
                                          <p:stCondLst>
                                            <p:cond delay="0"/>
                                          </p:stCondLst>
                                        </p:cTn>
                                        <p:tgtEl>
                                          <p:spTgt spid="82"/>
                                        </p:tgtEl>
                                        <p:attrNameLst>
                                          <p:attrName>style.visibility</p:attrName>
                                        </p:attrNameLst>
                                      </p:cBhvr>
                                      <p:to>
                                        <p:strVal val="visible"/>
                                      </p:to>
                                    </p:set>
                                    <p:animEffect transition="in" filter="wipe(left)">
                                      <p:cBhvr>
                                        <p:cTn id="94" dur="380"/>
                                        <p:tgtEl>
                                          <p:spTgt spid="82"/>
                                        </p:tgtEl>
                                      </p:cBhvr>
                                    </p:animEffect>
                                  </p:childTnLst>
                                </p:cTn>
                              </p:par>
                              <p:par>
                                <p:cTn id="95" presetID="22" presetClass="entr" presetSubtype="8" fill="hold" grpId="0" nodeType="withEffect">
                                  <p:stCondLst>
                                    <p:cond delay="1490"/>
                                  </p:stCondLst>
                                  <p:childTnLst>
                                    <p:set>
                                      <p:cBhvr>
                                        <p:cTn id="96" dur="1" fill="hold">
                                          <p:stCondLst>
                                            <p:cond delay="0"/>
                                          </p:stCondLst>
                                        </p:cTn>
                                        <p:tgtEl>
                                          <p:spTgt spid="83"/>
                                        </p:tgtEl>
                                        <p:attrNameLst>
                                          <p:attrName>style.visibility</p:attrName>
                                        </p:attrNameLst>
                                      </p:cBhvr>
                                      <p:to>
                                        <p:strVal val="visible"/>
                                      </p:to>
                                    </p:set>
                                    <p:animEffect transition="in" filter="wipe(left)">
                                      <p:cBhvr>
                                        <p:cTn id="97" dur="380"/>
                                        <p:tgtEl>
                                          <p:spTgt spid="83"/>
                                        </p:tgtEl>
                                      </p:cBhvr>
                                    </p:animEffect>
                                  </p:childTnLst>
                                </p:cTn>
                              </p:par>
                              <p:par>
                                <p:cTn id="98" presetID="22" presetClass="entr" presetSubtype="8" fill="hold" grpId="0" nodeType="withEffect">
                                  <p:stCondLst>
                                    <p:cond delay="1720"/>
                                  </p:stCondLst>
                                  <p:childTnLst>
                                    <p:set>
                                      <p:cBhvr>
                                        <p:cTn id="99" dur="1" fill="hold">
                                          <p:stCondLst>
                                            <p:cond delay="0"/>
                                          </p:stCondLst>
                                        </p:cTn>
                                        <p:tgtEl>
                                          <p:spTgt spid="84"/>
                                        </p:tgtEl>
                                        <p:attrNameLst>
                                          <p:attrName>style.visibility</p:attrName>
                                        </p:attrNameLst>
                                      </p:cBhvr>
                                      <p:to>
                                        <p:strVal val="visible"/>
                                      </p:to>
                                    </p:set>
                                    <p:animEffect transition="in" filter="wipe(left)">
                                      <p:cBhvr>
                                        <p:cTn id="100" dur="380"/>
                                        <p:tgtEl>
                                          <p:spTgt spid="84"/>
                                        </p:tgtEl>
                                      </p:cBhvr>
                                    </p:animEffect>
                                  </p:childTnLst>
                                </p:cTn>
                              </p:par>
                              <p:par>
                                <p:cTn id="101" presetID="42" presetClass="entr" presetSubtype="0" fill="hold" grpId="0" nodeType="withEffect">
                                  <p:stCondLst>
                                    <p:cond delay="1900"/>
                                  </p:stCondLst>
                                  <p:childTnLst>
                                    <p:set>
                                      <p:cBhvr>
                                        <p:cTn id="102" dur="1" fill="hold">
                                          <p:stCondLst>
                                            <p:cond delay="0"/>
                                          </p:stCondLst>
                                        </p:cTn>
                                        <p:tgtEl>
                                          <p:spTgt spid="85"/>
                                        </p:tgtEl>
                                        <p:attrNameLst>
                                          <p:attrName>style.visibility</p:attrName>
                                        </p:attrNameLst>
                                      </p:cBhvr>
                                      <p:to>
                                        <p:strVal val="visible"/>
                                      </p:to>
                                    </p:set>
                                    <p:animEffect transition="in" filter="fade">
                                      <p:cBhvr>
                                        <p:cTn id="103" dur="400"/>
                                        <p:tgtEl>
                                          <p:spTgt spid="85"/>
                                        </p:tgtEl>
                                      </p:cBhvr>
                                    </p:animEffect>
                                    <p:anim calcmode="lin" valueType="num">
                                      <p:cBhvr additive="base">
                                        <p:cTn id="104" dur="400" fill="hold" decel="100000"/>
                                        <p:tgtEl>
                                          <p:spTgt spid="85"/>
                                        </p:tgtEl>
                                        <p:attrNameLst>
                                          <p:attrName>ppt_x</p:attrName>
                                        </p:attrNameLst>
                                      </p:cBhvr>
                                      <p:tavLst>
                                        <p:tav tm="0">
                                          <p:val>
                                            <p:strVal val="#ppt_x"/>
                                          </p:val>
                                        </p:tav>
                                        <p:tav tm="100000">
                                          <p:val>
                                            <p:strVal val="#ppt_x"/>
                                          </p:val>
                                        </p:tav>
                                      </p:tavLst>
                                    </p:anim>
                                    <p:anim calcmode="lin" valueType="num">
                                      <p:cBhvr additive="base">
                                        <p:cTn id="105" dur="400" fill="hold" decel="100000"/>
                                        <p:tgtEl>
                                          <p:spTgt spid="85"/>
                                        </p:tgtEl>
                                        <p:attrNameLst>
                                          <p:attrName>ppt_y</p:attrName>
                                        </p:attrNameLst>
                                      </p:cBhvr>
                                      <p:tavLst>
                                        <p:tav tm="0">
                                          <p:val>
                                            <p:strVal val="#ppt_y+0.025"/>
                                          </p:val>
                                        </p:tav>
                                        <p:tav tm="100000">
                                          <p:val>
                                            <p:strVal val="#ppt_y"/>
                                          </p:val>
                                        </p:tav>
                                      </p:tavLst>
                                    </p:anim>
                                  </p:childTnLst>
                                </p:cTn>
                              </p:par>
                              <p:par>
                                <p:cTn id="106" presetID="42" presetClass="entr" presetSubtype="0" fill="hold" grpId="0" nodeType="withEffect">
                                  <p:stCondLst>
                                    <p:cond delay="1990"/>
                                  </p:stCondLst>
                                  <p:childTnLst>
                                    <p:set>
                                      <p:cBhvr>
                                        <p:cTn id="107" dur="1" fill="hold">
                                          <p:stCondLst>
                                            <p:cond delay="0"/>
                                          </p:stCondLst>
                                        </p:cTn>
                                        <p:tgtEl>
                                          <p:spTgt spid="89"/>
                                        </p:tgtEl>
                                        <p:attrNameLst>
                                          <p:attrName>style.visibility</p:attrName>
                                        </p:attrNameLst>
                                      </p:cBhvr>
                                      <p:to>
                                        <p:strVal val="visible"/>
                                      </p:to>
                                    </p:set>
                                    <p:animEffect transition="in" filter="fade">
                                      <p:cBhvr>
                                        <p:cTn id="108" dur="400"/>
                                        <p:tgtEl>
                                          <p:spTgt spid="89"/>
                                        </p:tgtEl>
                                      </p:cBhvr>
                                    </p:animEffect>
                                    <p:anim calcmode="lin" valueType="num">
                                      <p:cBhvr additive="base">
                                        <p:cTn id="109" dur="400" fill="hold" decel="100000"/>
                                        <p:tgtEl>
                                          <p:spTgt spid="89"/>
                                        </p:tgtEl>
                                        <p:attrNameLst>
                                          <p:attrName>ppt_x</p:attrName>
                                        </p:attrNameLst>
                                      </p:cBhvr>
                                      <p:tavLst>
                                        <p:tav tm="0">
                                          <p:val>
                                            <p:strVal val="#ppt_x"/>
                                          </p:val>
                                        </p:tav>
                                        <p:tav tm="100000">
                                          <p:val>
                                            <p:strVal val="#ppt_x"/>
                                          </p:val>
                                        </p:tav>
                                      </p:tavLst>
                                    </p:anim>
                                    <p:anim calcmode="lin" valueType="num">
                                      <p:cBhvr additive="base">
                                        <p:cTn id="110" dur="400" fill="hold" decel="100000"/>
                                        <p:tgtEl>
                                          <p:spTgt spid="89"/>
                                        </p:tgtEl>
                                        <p:attrNameLst>
                                          <p:attrName>ppt_y</p:attrName>
                                        </p:attrNameLst>
                                      </p:cBhvr>
                                      <p:tavLst>
                                        <p:tav tm="0">
                                          <p:val>
                                            <p:strVal val="#ppt_y+0.025"/>
                                          </p:val>
                                        </p:tav>
                                        <p:tav tm="100000">
                                          <p:val>
                                            <p:strVal val="#ppt_y"/>
                                          </p:val>
                                        </p:tav>
                                      </p:tavLst>
                                    </p:anim>
                                  </p:childTnLst>
                                </p:cTn>
                              </p:par>
                              <p:par>
                                <p:cTn id="111" presetID="42" presetClass="entr" presetSubtype="0" fill="hold" grpId="0" nodeType="withEffect">
                                  <p:stCondLst>
                                    <p:cond delay="2080"/>
                                  </p:stCondLst>
                                  <p:childTnLst>
                                    <p:set>
                                      <p:cBhvr>
                                        <p:cTn id="112" dur="1" fill="hold">
                                          <p:stCondLst>
                                            <p:cond delay="0"/>
                                          </p:stCondLst>
                                        </p:cTn>
                                        <p:tgtEl>
                                          <p:spTgt spid="93"/>
                                        </p:tgtEl>
                                        <p:attrNameLst>
                                          <p:attrName>style.visibility</p:attrName>
                                        </p:attrNameLst>
                                      </p:cBhvr>
                                      <p:to>
                                        <p:strVal val="visible"/>
                                      </p:to>
                                    </p:set>
                                    <p:animEffect transition="in" filter="fade">
                                      <p:cBhvr>
                                        <p:cTn id="113" dur="400"/>
                                        <p:tgtEl>
                                          <p:spTgt spid="93"/>
                                        </p:tgtEl>
                                      </p:cBhvr>
                                    </p:animEffect>
                                    <p:anim calcmode="lin" valueType="num">
                                      <p:cBhvr additive="base">
                                        <p:cTn id="114" dur="400" fill="hold" decel="100000"/>
                                        <p:tgtEl>
                                          <p:spTgt spid="93"/>
                                        </p:tgtEl>
                                        <p:attrNameLst>
                                          <p:attrName>ppt_x</p:attrName>
                                        </p:attrNameLst>
                                      </p:cBhvr>
                                      <p:tavLst>
                                        <p:tav tm="0">
                                          <p:val>
                                            <p:strVal val="#ppt_x"/>
                                          </p:val>
                                        </p:tav>
                                        <p:tav tm="100000">
                                          <p:val>
                                            <p:strVal val="#ppt_x"/>
                                          </p:val>
                                        </p:tav>
                                      </p:tavLst>
                                    </p:anim>
                                    <p:anim calcmode="lin" valueType="num">
                                      <p:cBhvr additive="base">
                                        <p:cTn id="115" dur="400" fill="hold" decel="100000"/>
                                        <p:tgtEl>
                                          <p:spTgt spid="93"/>
                                        </p:tgtEl>
                                        <p:attrNameLst>
                                          <p:attrName>ppt_y</p:attrName>
                                        </p:attrNameLst>
                                      </p:cBhvr>
                                      <p:tavLst>
                                        <p:tav tm="0">
                                          <p:val>
                                            <p:strVal val="#ppt_y+0.025"/>
                                          </p:val>
                                        </p:tav>
                                        <p:tav tm="100000">
                                          <p:val>
                                            <p:strVal val="#ppt_y"/>
                                          </p:val>
                                        </p:tav>
                                      </p:tavLst>
                                    </p:anim>
                                  </p:childTnLst>
                                </p:cTn>
                              </p:par>
                              <p:par>
                                <p:cTn id="116" presetID="42" presetClass="entr" presetSubtype="0" fill="hold" grpId="0" nodeType="withEffect">
                                  <p:stCondLst>
                                    <p:cond delay="2170"/>
                                  </p:stCondLst>
                                  <p:childTnLst>
                                    <p:set>
                                      <p:cBhvr>
                                        <p:cTn id="117" dur="1" fill="hold">
                                          <p:stCondLst>
                                            <p:cond delay="0"/>
                                          </p:stCondLst>
                                        </p:cTn>
                                        <p:tgtEl>
                                          <p:spTgt spid="97"/>
                                        </p:tgtEl>
                                        <p:attrNameLst>
                                          <p:attrName>style.visibility</p:attrName>
                                        </p:attrNameLst>
                                      </p:cBhvr>
                                      <p:to>
                                        <p:strVal val="visible"/>
                                      </p:to>
                                    </p:set>
                                    <p:animEffect transition="in" filter="fade">
                                      <p:cBhvr>
                                        <p:cTn id="118" dur="400"/>
                                        <p:tgtEl>
                                          <p:spTgt spid="97"/>
                                        </p:tgtEl>
                                      </p:cBhvr>
                                    </p:animEffect>
                                    <p:anim calcmode="lin" valueType="num">
                                      <p:cBhvr additive="base">
                                        <p:cTn id="119" dur="400" fill="hold" decel="100000"/>
                                        <p:tgtEl>
                                          <p:spTgt spid="97"/>
                                        </p:tgtEl>
                                        <p:attrNameLst>
                                          <p:attrName>ppt_x</p:attrName>
                                        </p:attrNameLst>
                                      </p:cBhvr>
                                      <p:tavLst>
                                        <p:tav tm="0">
                                          <p:val>
                                            <p:strVal val="#ppt_x"/>
                                          </p:val>
                                        </p:tav>
                                        <p:tav tm="100000">
                                          <p:val>
                                            <p:strVal val="#ppt_x"/>
                                          </p:val>
                                        </p:tav>
                                      </p:tavLst>
                                    </p:anim>
                                    <p:anim calcmode="lin" valueType="num">
                                      <p:cBhvr additive="base">
                                        <p:cTn id="120" dur="400" fill="hold" decel="100000"/>
                                        <p:tgtEl>
                                          <p:spTgt spid="97"/>
                                        </p:tgtEl>
                                        <p:attrNameLst>
                                          <p:attrName>ppt_y</p:attrName>
                                        </p:attrNameLst>
                                      </p:cBhvr>
                                      <p:tavLst>
                                        <p:tav tm="0">
                                          <p:val>
                                            <p:strVal val="#ppt_y+0.025"/>
                                          </p:val>
                                        </p:tav>
                                        <p:tav tm="100000">
                                          <p:val>
                                            <p:strVal val="#ppt_y"/>
                                          </p:val>
                                        </p:tav>
                                      </p:tavLst>
                                    </p:anim>
                                  </p:childTnLst>
                                </p:cTn>
                              </p:par>
                              <p:par>
                                <p:cTn id="121" presetID="42" presetClass="entr" presetSubtype="0" fill="hold" grpId="0" nodeType="withEffect">
                                  <p:stCondLst>
                                    <p:cond delay="2260"/>
                                  </p:stCondLst>
                                  <p:childTnLst>
                                    <p:set>
                                      <p:cBhvr>
                                        <p:cTn id="122" dur="1" fill="hold">
                                          <p:stCondLst>
                                            <p:cond delay="0"/>
                                          </p:stCondLst>
                                        </p:cTn>
                                        <p:tgtEl>
                                          <p:spTgt spid="101"/>
                                        </p:tgtEl>
                                        <p:attrNameLst>
                                          <p:attrName>style.visibility</p:attrName>
                                        </p:attrNameLst>
                                      </p:cBhvr>
                                      <p:to>
                                        <p:strVal val="visible"/>
                                      </p:to>
                                    </p:set>
                                    <p:animEffect transition="in" filter="fade">
                                      <p:cBhvr>
                                        <p:cTn id="123" dur="400"/>
                                        <p:tgtEl>
                                          <p:spTgt spid="101"/>
                                        </p:tgtEl>
                                      </p:cBhvr>
                                    </p:animEffect>
                                    <p:anim calcmode="lin" valueType="num">
                                      <p:cBhvr additive="base">
                                        <p:cTn id="124" dur="400" fill="hold" decel="100000"/>
                                        <p:tgtEl>
                                          <p:spTgt spid="101"/>
                                        </p:tgtEl>
                                        <p:attrNameLst>
                                          <p:attrName>ppt_x</p:attrName>
                                        </p:attrNameLst>
                                      </p:cBhvr>
                                      <p:tavLst>
                                        <p:tav tm="0">
                                          <p:val>
                                            <p:strVal val="#ppt_x"/>
                                          </p:val>
                                        </p:tav>
                                        <p:tav tm="100000">
                                          <p:val>
                                            <p:strVal val="#ppt_x"/>
                                          </p:val>
                                        </p:tav>
                                      </p:tavLst>
                                    </p:anim>
                                    <p:anim calcmode="lin" valueType="num">
                                      <p:cBhvr additive="base">
                                        <p:cTn id="125" dur="400" fill="hold" decel="100000"/>
                                        <p:tgtEl>
                                          <p:spTgt spid="101"/>
                                        </p:tgtEl>
                                        <p:attrNameLst>
                                          <p:attrName>ppt_y</p:attrName>
                                        </p:attrNameLst>
                                      </p:cBhvr>
                                      <p:tavLst>
                                        <p:tav tm="0">
                                          <p:val>
                                            <p:strVal val="#ppt_y+0.025"/>
                                          </p:val>
                                        </p:tav>
                                        <p:tav tm="100000">
                                          <p:val>
                                            <p:strVal val="#ppt_y"/>
                                          </p:val>
                                        </p:tav>
                                      </p:tavLst>
                                    </p:anim>
                                  </p:childTnLst>
                                </p:cTn>
                              </p:par>
                              <p:par>
                                <p:cTn id="126" presetID="42" presetClass="entr" presetSubtype="0" fill="hold" grpId="0" nodeType="withEffect">
                                  <p:stCondLst>
                                    <p:cond delay="2350"/>
                                  </p:stCondLst>
                                  <p:childTnLst>
                                    <p:set>
                                      <p:cBhvr>
                                        <p:cTn id="127" dur="1" fill="hold">
                                          <p:stCondLst>
                                            <p:cond delay="0"/>
                                          </p:stCondLst>
                                        </p:cTn>
                                        <p:tgtEl>
                                          <p:spTgt spid="105"/>
                                        </p:tgtEl>
                                        <p:attrNameLst>
                                          <p:attrName>style.visibility</p:attrName>
                                        </p:attrNameLst>
                                      </p:cBhvr>
                                      <p:to>
                                        <p:strVal val="visible"/>
                                      </p:to>
                                    </p:set>
                                    <p:animEffect transition="in" filter="fade">
                                      <p:cBhvr>
                                        <p:cTn id="128" dur="400"/>
                                        <p:tgtEl>
                                          <p:spTgt spid="105"/>
                                        </p:tgtEl>
                                      </p:cBhvr>
                                    </p:animEffect>
                                    <p:anim calcmode="lin" valueType="num">
                                      <p:cBhvr additive="base">
                                        <p:cTn id="129"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130" dur="400" fill="hold" decel="100000"/>
                                        <p:tgtEl>
                                          <p:spTgt spid="105"/>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1" grpId="0" animBg="1"/>
      <p:bldP spid="46" grpId="0" animBg="1"/>
      <p:bldP spid="59" grpId="0" animBg="1"/>
      <p:bldP spid="75" grpId="0" animBg="1"/>
      <p:bldP spid="80" grpId="0" animBg="1"/>
      <p:bldP spid="81" grpId="0" animBg="1"/>
      <p:bldP spid="82" grpId="0" animBg="1"/>
      <p:bldP spid="83" grpId="0" animBg="1"/>
      <p:bldP spid="84"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TRUST &amp; SAFETY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7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8534187"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566928"/>
          </a:xfrm>
          <a:prstGeom prst="rect">
            <a:avLst/>
          </a:prstGeom>
          <a:noFill/>
        </p:spPr>
        <p:txBody>
          <a:bodyPr wrap="square" lIns="0" rIns="0" tIns="0" bIns="0" anchor="t">
            <a:noAutofit/>
          </a:bodyPr>
          <a:lstStyle/>
          <a:p>
            <a:pPr algn="l">
              <a:lnSpc>
                <a:spcPct val="98000"/>
              </a:lnSpc>
            </a:pPr>
            <a:r>
              <a:rPr sz="3600" b="1" i="0" spc="-80">
                <a:solidFill>
                  <a:srgbClr val="0E0E10"/>
                </a:solidFill>
                <a:latin typeface="Inter" panose="020B0502030000000004" pitchFamily="34" charset="0"/>
              </a:rPr>
              <a:t>Trust is enforced in code.</a:t>
            </a:r>
          </a:p>
        </p:txBody>
      </p:sp>
      <p:sp>
        <p:nvSpPr>
          <p:cNvPr id="13" name="TextBox 12"/>
          <p:cNvSpPr txBox="1"/>
          <p:nvPr/>
        </p:nvSpPr>
        <p:spPr>
          <a:xfrm>
            <a:off x="685800" y="1426464"/>
            <a:ext cx="10835640" cy="411480"/>
          </a:xfrm>
          <a:prstGeom prst="rect">
            <a:avLst/>
          </a:prstGeom>
          <a:noFill/>
        </p:spPr>
        <p:txBody>
          <a:bodyPr wrap="square" lIns="0" rIns="0" tIns="0" bIns="0" anchor="t">
            <a:noAutofit/>
          </a:bodyPr>
          <a:lstStyle/>
          <a:p>
            <a:pPr algn="l"/>
            <a:r>
              <a:rPr sz="1700" b="0" i="0">
                <a:solidFill>
                  <a:srgbClr val="5D5D66"/>
                </a:solidFill>
                <a:latin typeface="Inter" panose="020B0502030000000004" pitchFamily="34" charset="0"/>
              </a:rPr>
              <a:t>Every claim checked. Every cent balanced. Every call logged.</a:t>
            </a:r>
          </a:p>
        </p:txBody>
      </p:sp>
      <p:grpSp>
        <p:nvGrpSpPr>
          <p:cNvPr id="14" name="Group 13"/>
          <p:cNvGrpSpPr/>
          <p:nvPr/>
        </p:nvGrpSpPr>
        <p:grpSpPr>
          <a:xfrm>
            <a:off x="685800" y="2011680"/>
            <a:ext cx="5120640" cy="4261104"/>
            <a:chOff x="685800" y="2011680"/>
            <a:chExt cx="5120640" cy="4261104"/>
          </a:xfrm>
        </p:grpSpPr>
        <p:sp>
          <p:nvSpPr>
            <p:cNvPr id="15" name="Rounded Rectangle 14"/>
            <p:cNvSpPr/>
            <p:nvPr/>
          </p:nvSpPr>
          <p:spPr>
            <a:xfrm>
              <a:off x="685800" y="2011680"/>
              <a:ext cx="5120640" cy="4261104"/>
            </a:xfrm>
            <a:prstGeom prst="roundRect">
              <a:avLst>
                <a:gd name="adj" fmla="val 2575"/>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6" name="TextBox 15"/>
            <p:cNvSpPr txBox="1"/>
            <p:nvPr/>
          </p:nvSpPr>
          <p:spPr>
            <a:xfrm>
              <a:off x="914400" y="2157984"/>
              <a:ext cx="457200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5 checks on every bid</a:t>
              </a:r>
            </a:p>
          </p:txBody>
        </p:sp>
      </p:grpSp>
      <p:grpSp>
        <p:nvGrpSpPr>
          <p:cNvPr id="17" name="Group 16"/>
          <p:cNvGrpSpPr/>
          <p:nvPr/>
        </p:nvGrpSpPr>
        <p:grpSpPr>
          <a:xfrm>
            <a:off x="914400" y="2551176"/>
            <a:ext cx="4736592" cy="484632"/>
            <a:chOff x="914400" y="2551176"/>
            <a:chExt cx="4736592" cy="484632"/>
          </a:xfrm>
        </p:grpSpPr>
        <p:sp>
          <p:nvSpPr>
            <p:cNvPr id="18" name="Oval 17"/>
            <p:cNvSpPr/>
            <p:nvPr/>
          </p:nvSpPr>
          <p:spPr>
            <a:xfrm>
              <a:off x="914400" y="2596896"/>
              <a:ext cx="365760" cy="365760"/>
            </a:xfrm>
            <a:prstGeom prst="ellipse">
              <a:avLst/>
            </a:prstGeom>
            <a:solidFill>
              <a:srgbClr val="E7F6EF"/>
            </a:solidFill>
            <a:ln>
              <a:noFill/>
            </a:ln>
          </p:spPr>
          <p:txBody>
            <a:bodyPr rtlCol="0" anchor="ctr"/>
            <a:lstStyle/>
            <a:p>
              <a:pPr algn="ctr"/>
            </a:p>
          </p:txBody>
        </p:sp>
        <p:sp>
          <p:nvSpPr>
            <p:cNvPr id="19" name="TextBox 18"/>
            <p:cNvSpPr txBox="1"/>
            <p:nvPr/>
          </p:nvSpPr>
          <p:spPr>
            <a:xfrm>
              <a:off x="914400" y="2596896"/>
              <a:ext cx="365760" cy="365760"/>
            </a:xfrm>
            <a:prstGeom prst="rect">
              <a:avLst/>
            </a:prstGeom>
            <a:noFill/>
          </p:spPr>
          <p:txBody>
            <a:bodyPr wrap="square" lIns="0" rIns="0" tIns="0" bIns="0" anchor="ctr">
              <a:noAutofit/>
            </a:bodyPr>
            <a:lstStyle/>
            <a:p>
              <a:pPr algn="ctr"/>
              <a:r>
                <a:rPr sz="1200" b="1" i="0">
                  <a:solidFill>
                    <a:srgbClr val="12805C"/>
                  </a:solidFill>
                  <a:latin typeface="Inter" panose="020B0502030000000004" pitchFamily="34" charset="0"/>
                </a:rPr>
                <a:t>✓</a:t>
              </a:r>
            </a:p>
          </p:txBody>
        </p:sp>
        <p:sp>
          <p:nvSpPr>
            <p:cNvPr id="20" name="TextBox 19"/>
            <p:cNvSpPr txBox="1"/>
            <p:nvPr/>
          </p:nvSpPr>
          <p:spPr>
            <a:xfrm>
              <a:off x="1444752" y="2551176"/>
              <a:ext cx="4114800" cy="256032"/>
            </a:xfrm>
            <a:prstGeom prst="rect">
              <a:avLst/>
            </a:prstGeom>
            <a:noFill/>
          </p:spPr>
          <p:txBody>
            <a:bodyPr wrap="square" lIns="0" rIns="0" tIns="0" bIns="0" anchor="ctr">
              <a:noAutofit/>
            </a:bodyPr>
            <a:lstStyle/>
            <a:p>
              <a:pPr algn="l"/>
              <a:r>
                <a:rPr sz="1350" b="1" i="0">
                  <a:solidFill>
                    <a:srgbClr val="0E0E10"/>
                  </a:solidFill>
                  <a:latin typeface="Inter" panose="020B0502030000000004" pitchFamily="34" charset="0"/>
                </a:rPr>
                <a:t>1. Product page</a:t>
              </a:r>
            </a:p>
          </p:txBody>
        </p:sp>
        <p:sp>
          <p:nvSpPr>
            <p:cNvPr id="21" name="TextBox 20"/>
            <p:cNvSpPr txBox="1"/>
            <p:nvPr/>
          </p:nvSpPr>
          <p:spPr>
            <a:xfrm>
              <a:off x="1444752" y="2798064"/>
              <a:ext cx="4206240" cy="237744"/>
            </a:xfrm>
            <a:prstGeom prst="rect">
              <a:avLst/>
            </a:prstGeom>
            <a:noFill/>
          </p:spPr>
          <p:txBody>
            <a:bodyPr wrap="square" lIns="0" rIns="0" tIns="0" bIns="0" anchor="ctr">
              <a:noAutofit/>
            </a:bodyPr>
            <a:lstStyle/>
            <a:p>
              <a:pPr algn="l"/>
              <a:r>
                <a:rPr sz="1050" b="0" i="0">
                  <a:solidFill>
                    <a:srgbClr val="5D5D66"/>
                  </a:solidFill>
                  <a:latin typeface="Inter" panose="020B0502030000000004" pitchFamily="34" charset="0"/>
                </a:rPr>
                <a:t>schema.org Offer found on the merchant's own page</a:t>
              </a:r>
            </a:p>
          </p:txBody>
        </p:sp>
      </p:grpSp>
      <p:grpSp>
        <p:nvGrpSpPr>
          <p:cNvPr id="22" name="Group 21"/>
          <p:cNvGrpSpPr/>
          <p:nvPr/>
        </p:nvGrpSpPr>
        <p:grpSpPr>
          <a:xfrm>
            <a:off x="914400" y="3136392"/>
            <a:ext cx="4736592" cy="484632"/>
            <a:chOff x="914400" y="3136392"/>
            <a:chExt cx="4736592" cy="484632"/>
          </a:xfrm>
        </p:grpSpPr>
        <p:sp>
          <p:nvSpPr>
            <p:cNvPr id="23" name="Oval 22"/>
            <p:cNvSpPr/>
            <p:nvPr/>
          </p:nvSpPr>
          <p:spPr>
            <a:xfrm>
              <a:off x="914400" y="3182112"/>
              <a:ext cx="365760" cy="365760"/>
            </a:xfrm>
            <a:prstGeom prst="ellipse">
              <a:avLst/>
            </a:prstGeom>
            <a:solidFill>
              <a:srgbClr val="E7F6EF"/>
            </a:solidFill>
            <a:ln>
              <a:noFill/>
            </a:ln>
          </p:spPr>
          <p:txBody>
            <a:bodyPr rtlCol="0" anchor="ctr"/>
            <a:lstStyle/>
            <a:p>
              <a:pPr algn="ctr"/>
            </a:p>
          </p:txBody>
        </p:sp>
        <p:sp>
          <p:nvSpPr>
            <p:cNvPr id="24" name="TextBox 23"/>
            <p:cNvSpPr txBox="1"/>
            <p:nvPr/>
          </p:nvSpPr>
          <p:spPr>
            <a:xfrm>
              <a:off x="914400" y="3182112"/>
              <a:ext cx="365760" cy="365760"/>
            </a:xfrm>
            <a:prstGeom prst="rect">
              <a:avLst/>
            </a:prstGeom>
            <a:noFill/>
          </p:spPr>
          <p:txBody>
            <a:bodyPr wrap="square" lIns="0" rIns="0" tIns="0" bIns="0" anchor="ctr">
              <a:noAutofit/>
            </a:bodyPr>
            <a:lstStyle/>
            <a:p>
              <a:pPr algn="ctr"/>
              <a:r>
                <a:rPr sz="1200" b="1" i="0">
                  <a:solidFill>
                    <a:srgbClr val="12805C"/>
                  </a:solidFill>
                  <a:latin typeface="Inter" panose="020B0502030000000004" pitchFamily="34" charset="0"/>
                </a:rPr>
                <a:t>✓</a:t>
              </a:r>
            </a:p>
          </p:txBody>
        </p:sp>
        <p:sp>
          <p:nvSpPr>
            <p:cNvPr id="25" name="TextBox 24"/>
            <p:cNvSpPr txBox="1"/>
            <p:nvPr/>
          </p:nvSpPr>
          <p:spPr>
            <a:xfrm>
              <a:off x="1444752" y="3136392"/>
              <a:ext cx="4114800" cy="256032"/>
            </a:xfrm>
            <a:prstGeom prst="rect">
              <a:avLst/>
            </a:prstGeom>
            <a:noFill/>
          </p:spPr>
          <p:txBody>
            <a:bodyPr wrap="square" lIns="0" rIns="0" tIns="0" bIns="0" anchor="ctr">
              <a:noAutofit/>
            </a:bodyPr>
            <a:lstStyle/>
            <a:p>
              <a:pPr algn="l"/>
              <a:r>
                <a:rPr sz="1350" b="1" i="0">
                  <a:solidFill>
                    <a:srgbClr val="0E0E10"/>
                  </a:solidFill>
                  <a:latin typeface="Inter" panose="020B0502030000000004" pitchFamily="34" charset="0"/>
                </a:rPr>
                <a:t>2. Checkout total</a:t>
              </a:r>
            </a:p>
          </p:txBody>
        </p:sp>
        <p:sp>
          <p:nvSpPr>
            <p:cNvPr id="26" name="TextBox 25"/>
            <p:cNvSpPr txBox="1"/>
            <p:nvPr/>
          </p:nvSpPr>
          <p:spPr>
            <a:xfrm>
              <a:off x="1444752" y="3383280"/>
              <a:ext cx="4206240" cy="237744"/>
            </a:xfrm>
            <a:prstGeom prst="rect">
              <a:avLst/>
            </a:prstGeom>
            <a:noFill/>
          </p:spPr>
          <p:txBody>
            <a:bodyPr wrap="square" lIns="0" rIns="0" tIns="0" bIns="0" anchor="ctr">
              <a:noAutofit/>
            </a:bodyPr>
            <a:lstStyle/>
            <a:p>
              <a:pPr algn="l"/>
              <a:r>
                <a:rPr sz="1050" b="0" i="0">
                  <a:solidFill>
                    <a:srgbClr val="5D5D66"/>
                  </a:solidFill>
                  <a:latin typeface="Inter" panose="020B0502030000000004" pitchFamily="34" charset="0"/>
                </a:rPr>
                <a:t>claimed delivered price ≥ the real checkout total</a:t>
              </a:r>
            </a:p>
          </p:txBody>
        </p:sp>
      </p:grpSp>
      <p:grpSp>
        <p:nvGrpSpPr>
          <p:cNvPr id="27" name="Group 26"/>
          <p:cNvGrpSpPr/>
          <p:nvPr/>
        </p:nvGrpSpPr>
        <p:grpSpPr>
          <a:xfrm>
            <a:off x="914400" y="3721608"/>
            <a:ext cx="4736592" cy="484632"/>
            <a:chOff x="914400" y="3721608"/>
            <a:chExt cx="4736592" cy="484632"/>
          </a:xfrm>
        </p:grpSpPr>
        <p:sp>
          <p:nvSpPr>
            <p:cNvPr id="28" name="Oval 27"/>
            <p:cNvSpPr/>
            <p:nvPr/>
          </p:nvSpPr>
          <p:spPr>
            <a:xfrm>
              <a:off x="914400" y="3767328"/>
              <a:ext cx="365760" cy="365760"/>
            </a:xfrm>
            <a:prstGeom prst="ellipse">
              <a:avLst/>
            </a:prstGeom>
            <a:solidFill>
              <a:srgbClr val="E7F6EF"/>
            </a:solidFill>
            <a:ln>
              <a:noFill/>
            </a:ln>
          </p:spPr>
          <p:txBody>
            <a:bodyPr rtlCol="0" anchor="ctr"/>
            <a:lstStyle/>
            <a:p>
              <a:pPr algn="ctr"/>
            </a:p>
          </p:txBody>
        </p:sp>
        <p:sp>
          <p:nvSpPr>
            <p:cNvPr id="29" name="TextBox 28"/>
            <p:cNvSpPr txBox="1"/>
            <p:nvPr/>
          </p:nvSpPr>
          <p:spPr>
            <a:xfrm>
              <a:off x="914400" y="3767328"/>
              <a:ext cx="365760" cy="365760"/>
            </a:xfrm>
            <a:prstGeom prst="rect">
              <a:avLst/>
            </a:prstGeom>
            <a:noFill/>
          </p:spPr>
          <p:txBody>
            <a:bodyPr wrap="square" lIns="0" rIns="0" tIns="0" bIns="0" anchor="ctr">
              <a:noAutofit/>
            </a:bodyPr>
            <a:lstStyle/>
            <a:p>
              <a:pPr algn="ctr"/>
              <a:r>
                <a:rPr sz="1200" b="1" i="0">
                  <a:solidFill>
                    <a:srgbClr val="12805C"/>
                  </a:solidFill>
                  <a:latin typeface="Inter" panose="020B0502030000000004" pitchFamily="34" charset="0"/>
                </a:rPr>
                <a:t>✓</a:t>
              </a:r>
            </a:p>
          </p:txBody>
        </p:sp>
        <p:sp>
          <p:nvSpPr>
            <p:cNvPr id="30" name="TextBox 29"/>
            <p:cNvSpPr txBox="1"/>
            <p:nvPr/>
          </p:nvSpPr>
          <p:spPr>
            <a:xfrm>
              <a:off x="1444752" y="3721608"/>
              <a:ext cx="4114800" cy="256032"/>
            </a:xfrm>
            <a:prstGeom prst="rect">
              <a:avLst/>
            </a:prstGeom>
            <a:noFill/>
          </p:spPr>
          <p:txBody>
            <a:bodyPr wrap="square" lIns="0" rIns="0" tIns="0" bIns="0" anchor="ctr">
              <a:noAutofit/>
            </a:bodyPr>
            <a:lstStyle/>
            <a:p>
              <a:pPr algn="l"/>
              <a:r>
                <a:rPr sz="1350" b="1" i="0">
                  <a:solidFill>
                    <a:srgbClr val="0E0E10"/>
                  </a:solidFill>
                  <a:latin typeface="Inter" panose="020B0502030000000004" pitchFamily="34" charset="0"/>
                </a:rPr>
                <a:t>3. Delivery time</a:t>
              </a:r>
            </a:p>
          </p:txBody>
        </p:sp>
        <p:sp>
          <p:nvSpPr>
            <p:cNvPr id="31" name="TextBox 30"/>
            <p:cNvSpPr txBox="1"/>
            <p:nvPr/>
          </p:nvSpPr>
          <p:spPr>
            <a:xfrm>
              <a:off x="1444752" y="3968496"/>
              <a:ext cx="4206240" cy="237744"/>
            </a:xfrm>
            <a:prstGeom prst="rect">
              <a:avLst/>
            </a:prstGeom>
            <a:noFill/>
          </p:spPr>
          <p:txBody>
            <a:bodyPr wrap="square" lIns="0" rIns="0" tIns="0" bIns="0" anchor="ctr">
              <a:noAutofit/>
            </a:bodyPr>
            <a:lstStyle/>
            <a:p>
              <a:pPr algn="l"/>
              <a:r>
                <a:rPr sz="1050" b="0" i="0">
                  <a:solidFill>
                    <a:srgbClr val="5D5D66"/>
                  </a:solidFill>
                  <a:latin typeface="Inter" panose="020B0502030000000004" pitchFamily="34" charset="0"/>
                </a:rPr>
                <a:t>claimed days ≥ the store's real ship days</a:t>
              </a:r>
            </a:p>
          </p:txBody>
        </p:sp>
      </p:grpSp>
      <p:grpSp>
        <p:nvGrpSpPr>
          <p:cNvPr id="32" name="Group 31"/>
          <p:cNvGrpSpPr/>
          <p:nvPr/>
        </p:nvGrpSpPr>
        <p:grpSpPr>
          <a:xfrm>
            <a:off x="914400" y="4306824"/>
            <a:ext cx="4736592" cy="484632"/>
            <a:chOff x="914400" y="4306824"/>
            <a:chExt cx="4736592" cy="484632"/>
          </a:xfrm>
        </p:grpSpPr>
        <p:sp>
          <p:nvSpPr>
            <p:cNvPr id="33" name="Oval 32"/>
            <p:cNvSpPr/>
            <p:nvPr/>
          </p:nvSpPr>
          <p:spPr>
            <a:xfrm>
              <a:off x="914400" y="4352544"/>
              <a:ext cx="365760" cy="365760"/>
            </a:xfrm>
            <a:prstGeom prst="ellipse">
              <a:avLst/>
            </a:prstGeom>
            <a:solidFill>
              <a:srgbClr val="E7F6EF"/>
            </a:solidFill>
            <a:ln>
              <a:noFill/>
            </a:ln>
          </p:spPr>
          <p:txBody>
            <a:bodyPr rtlCol="0" anchor="ctr"/>
            <a:lstStyle/>
            <a:p>
              <a:pPr algn="ctr"/>
            </a:p>
          </p:txBody>
        </p:sp>
        <p:sp>
          <p:nvSpPr>
            <p:cNvPr id="34" name="TextBox 33"/>
            <p:cNvSpPr txBox="1"/>
            <p:nvPr/>
          </p:nvSpPr>
          <p:spPr>
            <a:xfrm>
              <a:off x="914400" y="4352544"/>
              <a:ext cx="365760" cy="365760"/>
            </a:xfrm>
            <a:prstGeom prst="rect">
              <a:avLst/>
            </a:prstGeom>
            <a:noFill/>
          </p:spPr>
          <p:txBody>
            <a:bodyPr wrap="square" lIns="0" rIns="0" tIns="0" bIns="0" anchor="ctr">
              <a:noAutofit/>
            </a:bodyPr>
            <a:lstStyle/>
            <a:p>
              <a:pPr algn="ctr"/>
              <a:r>
                <a:rPr sz="1200" b="1" i="0">
                  <a:solidFill>
                    <a:srgbClr val="12805C"/>
                  </a:solidFill>
                  <a:latin typeface="Inter" panose="020B0502030000000004" pitchFamily="34" charset="0"/>
                </a:rPr>
                <a:t>✓</a:t>
              </a:r>
            </a:p>
          </p:txBody>
        </p:sp>
        <p:sp>
          <p:nvSpPr>
            <p:cNvPr id="35" name="TextBox 34"/>
            <p:cNvSpPr txBox="1"/>
            <p:nvPr/>
          </p:nvSpPr>
          <p:spPr>
            <a:xfrm>
              <a:off x="1444752" y="4306824"/>
              <a:ext cx="4114800" cy="256032"/>
            </a:xfrm>
            <a:prstGeom prst="rect">
              <a:avLst/>
            </a:prstGeom>
            <a:noFill/>
          </p:spPr>
          <p:txBody>
            <a:bodyPr wrap="square" lIns="0" rIns="0" tIns="0" bIns="0" anchor="ctr">
              <a:noAutofit/>
            </a:bodyPr>
            <a:lstStyle/>
            <a:p>
              <a:pPr algn="l"/>
              <a:r>
                <a:rPr sz="1350" b="1" i="0">
                  <a:solidFill>
                    <a:srgbClr val="0E0E10"/>
                  </a:solidFill>
                  <a:latin typeface="Inter" panose="020B0502030000000004" pitchFamily="34" charset="0"/>
                </a:rPr>
                <a:t>4. Features</a:t>
              </a:r>
            </a:p>
          </p:txBody>
        </p:sp>
        <p:sp>
          <p:nvSpPr>
            <p:cNvPr id="36" name="TextBox 35"/>
            <p:cNvSpPr txBox="1"/>
            <p:nvPr/>
          </p:nvSpPr>
          <p:spPr>
            <a:xfrm>
              <a:off x="1444752" y="4553712"/>
              <a:ext cx="4206240" cy="237744"/>
            </a:xfrm>
            <a:prstGeom prst="rect">
              <a:avLst/>
            </a:prstGeom>
            <a:noFill/>
          </p:spPr>
          <p:txBody>
            <a:bodyPr wrap="square" lIns="0" rIns="0" tIns="0" bIns="0" anchor="ctr">
              <a:noAutofit/>
            </a:bodyPr>
            <a:lstStyle/>
            <a:p>
              <a:pPr algn="l"/>
              <a:r>
                <a:rPr sz="1050" b="0" i="0">
                  <a:solidFill>
                    <a:srgbClr val="5D5D66"/>
                  </a:solidFill>
                  <a:latin typeface="Inter" panose="020B0502030000000004" pitchFamily="34" charset="0"/>
                </a:rPr>
                <a:t>every claimed feature is listed on the page</a:t>
              </a:r>
            </a:p>
          </p:txBody>
        </p:sp>
      </p:grpSp>
      <p:grpSp>
        <p:nvGrpSpPr>
          <p:cNvPr id="37" name="Group 36"/>
          <p:cNvGrpSpPr/>
          <p:nvPr/>
        </p:nvGrpSpPr>
        <p:grpSpPr>
          <a:xfrm>
            <a:off x="914400" y="4892040"/>
            <a:ext cx="4736592" cy="484632"/>
            <a:chOff x="914400" y="4892040"/>
            <a:chExt cx="4736592" cy="484632"/>
          </a:xfrm>
        </p:grpSpPr>
        <p:sp>
          <p:nvSpPr>
            <p:cNvPr id="38" name="Oval 37"/>
            <p:cNvSpPr/>
            <p:nvPr/>
          </p:nvSpPr>
          <p:spPr>
            <a:xfrm>
              <a:off x="914400" y="4937760"/>
              <a:ext cx="365760" cy="365760"/>
            </a:xfrm>
            <a:prstGeom prst="ellipse">
              <a:avLst/>
            </a:prstGeom>
            <a:solidFill>
              <a:srgbClr val="E7F6EF"/>
            </a:solidFill>
            <a:ln>
              <a:noFill/>
            </a:ln>
          </p:spPr>
          <p:txBody>
            <a:bodyPr rtlCol="0" anchor="ctr"/>
            <a:lstStyle/>
            <a:p>
              <a:pPr algn="ctr"/>
            </a:p>
          </p:txBody>
        </p:sp>
        <p:sp>
          <p:nvSpPr>
            <p:cNvPr id="39" name="TextBox 38"/>
            <p:cNvSpPr txBox="1"/>
            <p:nvPr/>
          </p:nvSpPr>
          <p:spPr>
            <a:xfrm>
              <a:off x="914400" y="4937760"/>
              <a:ext cx="365760" cy="365760"/>
            </a:xfrm>
            <a:prstGeom prst="rect">
              <a:avLst/>
            </a:prstGeom>
            <a:noFill/>
          </p:spPr>
          <p:txBody>
            <a:bodyPr wrap="square" lIns="0" rIns="0" tIns="0" bIns="0" anchor="ctr">
              <a:noAutofit/>
            </a:bodyPr>
            <a:lstStyle/>
            <a:p>
              <a:pPr algn="ctr"/>
              <a:r>
                <a:rPr sz="1200" b="1" i="0">
                  <a:solidFill>
                    <a:srgbClr val="12805C"/>
                  </a:solidFill>
                  <a:latin typeface="Inter" panose="020B0502030000000004" pitchFamily="34" charset="0"/>
                </a:rPr>
                <a:t>✓</a:t>
              </a:r>
            </a:p>
          </p:txBody>
        </p:sp>
        <p:sp>
          <p:nvSpPr>
            <p:cNvPr id="40" name="TextBox 39"/>
            <p:cNvSpPr txBox="1"/>
            <p:nvPr/>
          </p:nvSpPr>
          <p:spPr>
            <a:xfrm>
              <a:off x="1444752" y="4892040"/>
              <a:ext cx="4114800" cy="256032"/>
            </a:xfrm>
            <a:prstGeom prst="rect">
              <a:avLst/>
            </a:prstGeom>
            <a:noFill/>
          </p:spPr>
          <p:txBody>
            <a:bodyPr wrap="square" lIns="0" rIns="0" tIns="0" bIns="0" anchor="ctr">
              <a:noAutofit/>
            </a:bodyPr>
            <a:lstStyle/>
            <a:p>
              <a:pPr algn="l"/>
              <a:r>
                <a:rPr sz="1350" b="1" i="0">
                  <a:solidFill>
                    <a:srgbClr val="0E0E10"/>
                  </a:solidFill>
                  <a:latin typeface="Inter" panose="020B0502030000000004" pitchFamily="34" charset="0"/>
                </a:rPr>
                <a:t>5. In stock</a:t>
              </a:r>
            </a:p>
          </p:txBody>
        </p:sp>
        <p:sp>
          <p:nvSpPr>
            <p:cNvPr id="41" name="TextBox 40"/>
            <p:cNvSpPr txBox="1"/>
            <p:nvPr/>
          </p:nvSpPr>
          <p:spPr>
            <a:xfrm>
              <a:off x="1444752" y="5138928"/>
              <a:ext cx="4206240" cy="237744"/>
            </a:xfrm>
            <a:prstGeom prst="rect">
              <a:avLst/>
            </a:prstGeom>
            <a:noFill/>
          </p:spPr>
          <p:txBody>
            <a:bodyPr wrap="square" lIns="0" rIns="0" tIns="0" bIns="0" anchor="ctr">
              <a:noAutofit/>
            </a:bodyPr>
            <a:lstStyle/>
            <a:p>
              <a:pPr algn="l"/>
              <a:r>
                <a:rPr sz="1050" b="0" i="0">
                  <a:solidFill>
                    <a:srgbClr val="5D5D66"/>
                  </a:solidFill>
                  <a:latin typeface="Inter" panose="020B0502030000000004" pitchFamily="34" charset="0"/>
                </a:rPr>
                <a:t>available on the page and at checkout</a:t>
              </a:r>
            </a:p>
          </p:txBody>
        </p:sp>
      </p:grpSp>
      <p:grpSp>
        <p:nvGrpSpPr>
          <p:cNvPr id="42" name="Group 41"/>
          <p:cNvGrpSpPr/>
          <p:nvPr/>
        </p:nvGrpSpPr>
        <p:grpSpPr>
          <a:xfrm>
            <a:off x="914400" y="5559552"/>
            <a:ext cx="4663440" cy="530352"/>
            <a:chOff x="914400" y="5559552"/>
            <a:chExt cx="4663440" cy="530352"/>
          </a:xfrm>
        </p:grpSpPr>
        <p:sp>
          <p:nvSpPr>
            <p:cNvPr id="43" name="Rounded Rectangle 42"/>
            <p:cNvSpPr/>
            <p:nvPr/>
          </p:nvSpPr>
          <p:spPr>
            <a:xfrm>
              <a:off x="914400" y="5559552"/>
              <a:ext cx="4663440" cy="530352"/>
            </a:xfrm>
            <a:prstGeom prst="roundRect">
              <a:avLst>
                <a:gd name="adj" fmla="val 17241"/>
              </a:avLst>
            </a:prstGeom>
            <a:solidFill>
              <a:srgbClr val="FDECEC"/>
            </a:solidFill>
            <a:ln>
              <a:noFill/>
            </a:ln>
          </p:spPr>
          <p:txBody>
            <a:bodyPr rtlCol="0" anchor="ctr"/>
            <a:lstStyle/>
            <a:p>
              <a:pPr algn="ctr"/>
            </a:p>
          </p:txBody>
        </p:sp>
        <p:sp>
          <p:nvSpPr>
            <p:cNvPr id="44" name="TextBox 43"/>
            <p:cNvSpPr txBox="1"/>
            <p:nvPr/>
          </p:nvSpPr>
          <p:spPr>
            <a:xfrm>
              <a:off x="1078992" y="5559552"/>
              <a:ext cx="4434840" cy="530352"/>
            </a:xfrm>
            <a:prstGeom prst="rect">
              <a:avLst/>
            </a:prstGeom>
            <a:noFill/>
          </p:spPr>
          <p:txBody>
            <a:bodyPr wrap="square" lIns="0" rIns="0" tIns="0" bIns="0" anchor="ctr">
              <a:noAutofit/>
            </a:bodyPr>
            <a:lstStyle/>
            <a:p>
              <a:pPr algn="l"/>
              <a:r>
                <a:rPr sz="1050" b="1" i="0">
                  <a:solidFill>
                    <a:srgbClr val="D93036"/>
                  </a:solidFill>
                  <a:latin typeface="Inter" panose="020B0502030000000004" pitchFamily="34" charset="0"/>
                </a:rPr>
                <a:t>Fail checks 1–4: excluded.</a:t>
              </a:r>
              <a:r>
                <a:rPr sz="1050" b="0" i="0">
                  <a:solidFill>
                    <a:srgbClr val="0E0E10"/>
                  </a:solidFill>
                  <a:latin typeface="Inter" panose="020B0502030000000004" pitchFamily="34" charset="0"/>
                </a:rPr>
                <a:t> Trust −12, visible to every agent on the exchange.</a:t>
              </a:r>
            </a:p>
          </p:txBody>
        </p:sp>
      </p:grpSp>
      <p:grpSp>
        <p:nvGrpSpPr>
          <p:cNvPr id="45" name="Group 44"/>
          <p:cNvGrpSpPr/>
          <p:nvPr/>
        </p:nvGrpSpPr>
        <p:grpSpPr>
          <a:xfrm>
            <a:off x="6035040" y="2011680"/>
            <a:ext cx="5468112" cy="1627632"/>
            <a:chOff x="6035040" y="2011680"/>
            <a:chExt cx="5468112" cy="1627632"/>
          </a:xfrm>
        </p:grpSpPr>
        <p:sp>
          <p:nvSpPr>
            <p:cNvPr id="46" name="Rounded Rectangle 45"/>
            <p:cNvSpPr/>
            <p:nvPr/>
          </p:nvSpPr>
          <p:spPr>
            <a:xfrm>
              <a:off x="6035040" y="2011680"/>
              <a:ext cx="5468112" cy="1627632"/>
            </a:xfrm>
            <a:prstGeom prst="roundRect">
              <a:avLst>
                <a:gd name="adj" fmla="val 6741"/>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47" name="TextBox 46"/>
            <p:cNvSpPr txBox="1"/>
            <p:nvPr/>
          </p:nvSpPr>
          <p:spPr>
            <a:xfrm>
              <a:off x="6263640" y="2157984"/>
              <a:ext cx="502920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Merit, not money · public weights</a:t>
              </a:r>
            </a:p>
          </p:txBody>
        </p:sp>
      </p:grpSp>
      <p:grpSp>
        <p:nvGrpSpPr>
          <p:cNvPr id="48" name="Group 47"/>
          <p:cNvGrpSpPr/>
          <p:nvPr/>
        </p:nvGrpSpPr>
        <p:grpSpPr>
          <a:xfrm>
            <a:off x="6263640" y="2542032"/>
            <a:ext cx="1981505" cy="384048"/>
            <a:chOff x="6263640" y="2542032"/>
            <a:chExt cx="1981505" cy="384048"/>
          </a:xfrm>
        </p:grpSpPr>
        <p:sp>
          <p:nvSpPr>
            <p:cNvPr id="49" name="Rounded Rectangle 48"/>
            <p:cNvSpPr/>
            <p:nvPr/>
          </p:nvSpPr>
          <p:spPr>
            <a:xfrm>
              <a:off x="6263640" y="2542032"/>
              <a:ext cx="1981505" cy="384048"/>
            </a:xfrm>
            <a:prstGeom prst="roundRect">
              <a:avLst>
                <a:gd name="adj" fmla="val 7142"/>
              </a:avLst>
            </a:prstGeom>
            <a:solidFill>
              <a:srgbClr val="0E0E10"/>
            </a:solidFill>
            <a:ln>
              <a:noFill/>
            </a:ln>
          </p:spPr>
          <p:txBody>
            <a:bodyPr rtlCol="0" anchor="ctr"/>
            <a:lstStyle/>
            <a:p>
              <a:pPr algn="ctr"/>
            </a:p>
          </p:txBody>
        </p:sp>
        <p:sp>
          <p:nvSpPr>
            <p:cNvPr id="50" name="TextBox 49"/>
            <p:cNvSpPr txBox="1"/>
            <p:nvPr/>
          </p:nvSpPr>
          <p:spPr>
            <a:xfrm>
              <a:off x="6263640" y="2542032"/>
              <a:ext cx="1981505" cy="384048"/>
            </a:xfrm>
            <a:prstGeom prst="rect">
              <a:avLst/>
            </a:prstGeom>
            <a:noFill/>
          </p:spPr>
          <p:txBody>
            <a:bodyPr wrap="square" lIns="0" rIns="0" tIns="0" bIns="0" anchor="ctr">
              <a:noAutofit/>
            </a:bodyPr>
            <a:lstStyle/>
            <a:p>
              <a:pPr algn="ctr"/>
              <a:r>
                <a:rPr sz="900" b="1" i="0">
                  <a:solidFill>
                    <a:srgbClr val="FFFFFF"/>
                  </a:solidFill>
                  <a:latin typeface="Inter" panose="020B0502030000000004" pitchFamily="34" charset="0"/>
                </a:rPr>
                <a:t>Price 40</a:t>
              </a:r>
            </a:p>
          </p:txBody>
        </p:sp>
      </p:grpSp>
      <p:grpSp>
        <p:nvGrpSpPr>
          <p:cNvPr id="51" name="Group 50"/>
          <p:cNvGrpSpPr/>
          <p:nvPr/>
        </p:nvGrpSpPr>
        <p:grpSpPr>
          <a:xfrm>
            <a:off x="8268005" y="2542032"/>
            <a:ext cx="1229868" cy="384048"/>
            <a:chOff x="8268005" y="2542032"/>
            <a:chExt cx="1229868" cy="384048"/>
          </a:xfrm>
        </p:grpSpPr>
        <p:sp>
          <p:nvSpPr>
            <p:cNvPr id="52" name="Rounded Rectangle 51"/>
            <p:cNvSpPr/>
            <p:nvPr/>
          </p:nvSpPr>
          <p:spPr>
            <a:xfrm>
              <a:off x="8268005" y="2542032"/>
              <a:ext cx="1229868" cy="384048"/>
            </a:xfrm>
            <a:prstGeom prst="roundRect">
              <a:avLst>
                <a:gd name="adj" fmla="val 7142"/>
              </a:avLst>
            </a:prstGeom>
            <a:solidFill>
              <a:srgbClr val="3A3A41"/>
            </a:solidFill>
            <a:ln>
              <a:noFill/>
            </a:ln>
          </p:spPr>
          <p:txBody>
            <a:bodyPr rtlCol="0" anchor="ctr"/>
            <a:lstStyle/>
            <a:p>
              <a:pPr algn="ctr"/>
            </a:p>
          </p:txBody>
        </p:sp>
        <p:sp>
          <p:nvSpPr>
            <p:cNvPr id="53" name="TextBox 52"/>
            <p:cNvSpPr txBox="1"/>
            <p:nvPr/>
          </p:nvSpPr>
          <p:spPr>
            <a:xfrm>
              <a:off x="8268005" y="2542032"/>
              <a:ext cx="1229868" cy="384048"/>
            </a:xfrm>
            <a:prstGeom prst="rect">
              <a:avLst/>
            </a:prstGeom>
            <a:noFill/>
          </p:spPr>
          <p:txBody>
            <a:bodyPr wrap="square" lIns="0" rIns="0" tIns="0" bIns="0" anchor="ctr">
              <a:noAutofit/>
            </a:bodyPr>
            <a:lstStyle/>
            <a:p>
              <a:pPr algn="ctr"/>
              <a:r>
                <a:rPr sz="900" b="1" i="0">
                  <a:solidFill>
                    <a:srgbClr val="FFFFFF"/>
                  </a:solidFill>
                  <a:latin typeface="Inter" panose="020B0502030000000004" pitchFamily="34" charset="0"/>
                </a:rPr>
                <a:t>Must-haves 25</a:t>
              </a:r>
            </a:p>
          </p:txBody>
        </p:sp>
      </p:grpSp>
      <p:grpSp>
        <p:nvGrpSpPr>
          <p:cNvPr id="54" name="Group 53"/>
          <p:cNvGrpSpPr/>
          <p:nvPr/>
        </p:nvGrpSpPr>
        <p:grpSpPr>
          <a:xfrm>
            <a:off x="9520733" y="2542032"/>
            <a:ext cx="728777" cy="384048"/>
            <a:chOff x="9520733" y="2542032"/>
            <a:chExt cx="728777" cy="384048"/>
          </a:xfrm>
        </p:grpSpPr>
        <p:sp>
          <p:nvSpPr>
            <p:cNvPr id="55" name="Rounded Rectangle 54"/>
            <p:cNvSpPr/>
            <p:nvPr/>
          </p:nvSpPr>
          <p:spPr>
            <a:xfrm>
              <a:off x="9520733" y="2542032"/>
              <a:ext cx="728777" cy="384048"/>
            </a:xfrm>
            <a:prstGeom prst="roundRect">
              <a:avLst>
                <a:gd name="adj" fmla="val 7142"/>
              </a:avLst>
            </a:prstGeom>
            <a:solidFill>
              <a:srgbClr val="6E6E78"/>
            </a:solidFill>
            <a:ln>
              <a:noFill/>
            </a:ln>
          </p:spPr>
          <p:txBody>
            <a:bodyPr rtlCol="0" anchor="ctr"/>
            <a:lstStyle/>
            <a:p>
              <a:pPr algn="ctr"/>
            </a:p>
          </p:txBody>
        </p:sp>
        <p:sp>
          <p:nvSpPr>
            <p:cNvPr id="56" name="TextBox 55"/>
            <p:cNvSpPr txBox="1"/>
            <p:nvPr/>
          </p:nvSpPr>
          <p:spPr>
            <a:xfrm>
              <a:off x="9520733" y="2542032"/>
              <a:ext cx="728777" cy="384048"/>
            </a:xfrm>
            <a:prstGeom prst="rect">
              <a:avLst/>
            </a:prstGeom>
            <a:noFill/>
          </p:spPr>
          <p:txBody>
            <a:bodyPr wrap="square" lIns="0" rIns="0" tIns="0" bIns="0" anchor="ctr">
              <a:noAutofit/>
            </a:bodyPr>
            <a:lstStyle/>
            <a:p>
              <a:pPr algn="ctr"/>
              <a:r>
                <a:rPr sz="900" b="1" i="0">
                  <a:solidFill>
                    <a:srgbClr val="FFFFFF"/>
                  </a:solidFill>
                  <a:latin typeface="Inter" panose="020B0502030000000004" pitchFamily="34" charset="0"/>
                </a:rPr>
                <a:t>15</a:t>
              </a:r>
            </a:p>
          </p:txBody>
        </p:sp>
      </p:grpSp>
      <p:grpSp>
        <p:nvGrpSpPr>
          <p:cNvPr id="57" name="Group 56"/>
          <p:cNvGrpSpPr/>
          <p:nvPr/>
        </p:nvGrpSpPr>
        <p:grpSpPr>
          <a:xfrm>
            <a:off x="10272370" y="2542032"/>
            <a:ext cx="728777" cy="384048"/>
            <a:chOff x="10272370" y="2542032"/>
            <a:chExt cx="728777" cy="384048"/>
          </a:xfrm>
        </p:grpSpPr>
        <p:sp>
          <p:nvSpPr>
            <p:cNvPr id="58" name="Rounded Rectangle 57"/>
            <p:cNvSpPr/>
            <p:nvPr/>
          </p:nvSpPr>
          <p:spPr>
            <a:xfrm>
              <a:off x="10272370" y="2542032"/>
              <a:ext cx="728777" cy="384048"/>
            </a:xfrm>
            <a:prstGeom prst="roundRect">
              <a:avLst>
                <a:gd name="adj" fmla="val 7142"/>
              </a:avLst>
            </a:prstGeom>
            <a:solidFill>
              <a:srgbClr val="A3A3AC"/>
            </a:solidFill>
            <a:ln>
              <a:noFill/>
            </a:ln>
          </p:spPr>
          <p:txBody>
            <a:bodyPr rtlCol="0" anchor="ctr"/>
            <a:lstStyle/>
            <a:p>
              <a:pPr algn="ctr"/>
            </a:p>
          </p:txBody>
        </p:sp>
        <p:sp>
          <p:nvSpPr>
            <p:cNvPr id="59" name="TextBox 58"/>
            <p:cNvSpPr txBox="1"/>
            <p:nvPr/>
          </p:nvSpPr>
          <p:spPr>
            <a:xfrm>
              <a:off x="10272370" y="2542032"/>
              <a:ext cx="728777" cy="384048"/>
            </a:xfrm>
            <a:prstGeom prst="rect">
              <a:avLst/>
            </a:prstGeom>
            <a:noFill/>
          </p:spPr>
          <p:txBody>
            <a:bodyPr wrap="square" lIns="0" rIns="0" tIns="0" bIns="0" anchor="ctr">
              <a:noAutofit/>
            </a:bodyPr>
            <a:lstStyle/>
            <a:p>
              <a:pPr algn="ctr"/>
              <a:r>
                <a:rPr sz="900" b="1" i="0">
                  <a:solidFill>
                    <a:srgbClr val="0E0E10"/>
                  </a:solidFill>
                  <a:latin typeface="Inter" panose="020B0502030000000004" pitchFamily="34" charset="0"/>
                </a:rPr>
                <a:t>15</a:t>
              </a:r>
            </a:p>
          </p:txBody>
        </p:sp>
      </p:grpSp>
      <p:grpSp>
        <p:nvGrpSpPr>
          <p:cNvPr id="60" name="Group 59"/>
          <p:cNvGrpSpPr/>
          <p:nvPr/>
        </p:nvGrpSpPr>
        <p:grpSpPr>
          <a:xfrm>
            <a:off x="11024006" y="2542032"/>
            <a:ext cx="227686" cy="384048"/>
            <a:chOff x="11024006" y="2542032"/>
            <a:chExt cx="227686" cy="384048"/>
          </a:xfrm>
        </p:grpSpPr>
        <p:sp>
          <p:nvSpPr>
            <p:cNvPr id="61" name="Rounded Rectangle 60"/>
            <p:cNvSpPr/>
            <p:nvPr/>
          </p:nvSpPr>
          <p:spPr>
            <a:xfrm>
              <a:off x="11024006" y="2542032"/>
              <a:ext cx="227686" cy="384048"/>
            </a:xfrm>
            <a:prstGeom prst="roundRect">
              <a:avLst>
                <a:gd name="adj" fmla="val 12048"/>
              </a:avLst>
            </a:prstGeom>
            <a:solidFill>
              <a:srgbClr val="D6D6DB"/>
            </a:solidFill>
            <a:ln>
              <a:noFill/>
            </a:ln>
          </p:spPr>
          <p:txBody>
            <a:bodyPr rtlCol="0" anchor="ctr"/>
            <a:lstStyle/>
            <a:p>
              <a:pPr algn="ctr"/>
            </a:p>
          </p:txBody>
        </p:sp>
        <p:sp>
          <p:nvSpPr>
            <p:cNvPr id="62" name="TextBox 61"/>
            <p:cNvSpPr txBox="1"/>
            <p:nvPr/>
          </p:nvSpPr>
          <p:spPr>
            <a:xfrm>
              <a:off x="11024006" y="2542032"/>
              <a:ext cx="227686" cy="384048"/>
            </a:xfrm>
            <a:prstGeom prst="rect">
              <a:avLst/>
            </a:prstGeom>
            <a:noFill/>
          </p:spPr>
          <p:txBody>
            <a:bodyPr wrap="square" lIns="0" rIns="0" tIns="0" bIns="0" anchor="ctr">
              <a:noAutofit/>
            </a:bodyPr>
            <a:lstStyle/>
            <a:p>
              <a:pPr algn="ctr"/>
              <a:r>
                <a:rPr sz="900" b="1" i="0">
                  <a:solidFill>
                    <a:srgbClr val="0E0E10"/>
                  </a:solidFill>
                  <a:latin typeface="Inter" panose="020B0502030000000004" pitchFamily="34" charset="0"/>
                </a:rPr>
                <a:t>5</a:t>
              </a:r>
            </a:p>
          </p:txBody>
        </p:sp>
      </p:grpSp>
      <p:grpSp>
        <p:nvGrpSpPr>
          <p:cNvPr id="63" name="Group 62"/>
          <p:cNvGrpSpPr/>
          <p:nvPr/>
        </p:nvGrpSpPr>
        <p:grpSpPr>
          <a:xfrm>
            <a:off x="6263640" y="3026664"/>
            <a:ext cx="5056632" cy="274320"/>
            <a:chOff x="6263640" y="3026664"/>
            <a:chExt cx="5056632" cy="274320"/>
          </a:xfrm>
        </p:grpSpPr>
        <p:sp>
          <p:nvSpPr>
            <p:cNvPr id="64" name="Rounded Rectangle 63"/>
            <p:cNvSpPr/>
            <p:nvPr/>
          </p:nvSpPr>
          <p:spPr>
            <a:xfrm>
              <a:off x="6263640" y="3072384"/>
              <a:ext cx="457200" cy="182880"/>
            </a:xfrm>
            <a:prstGeom prst="roundRect">
              <a:avLst>
                <a:gd name="adj" fmla="val 20000"/>
              </a:avLst>
            </a:prstGeom>
            <a:solidFill>
              <a:srgbClr val="FFFFFF"/>
            </a:solidFill>
            <a:ln w="12700">
              <a:solidFill>
                <a:srgbClr val="A15C07"/>
              </a:solidFill>
              <a:prstDash val="dash"/>
            </a:ln>
          </p:spPr>
          <p:txBody>
            <a:bodyPr rtlCol="0" anchor="ctr"/>
            <a:lstStyle/>
            <a:p>
              <a:pPr algn="ctr"/>
            </a:p>
          </p:txBody>
        </p:sp>
        <p:sp>
          <p:nvSpPr>
            <p:cNvPr id="65" name="TextBox 64"/>
            <p:cNvSpPr txBox="1"/>
            <p:nvPr/>
          </p:nvSpPr>
          <p:spPr>
            <a:xfrm>
              <a:off x="6839712" y="3026664"/>
              <a:ext cx="4480560" cy="274320"/>
            </a:xfrm>
            <a:prstGeom prst="rect">
              <a:avLst/>
            </a:prstGeom>
            <a:noFill/>
          </p:spPr>
          <p:txBody>
            <a:bodyPr wrap="square" lIns="0" rIns="0" tIns="0" bIns="0" anchor="ctr">
              <a:noAutofit/>
            </a:bodyPr>
            <a:lstStyle/>
            <a:p>
              <a:pPr algn="l"/>
              <a:r>
                <a:rPr sz="1000" b="1" i="0">
                  <a:solidFill>
                    <a:srgbClr val="A15C07"/>
                  </a:solidFill>
                  <a:latin typeface="Inter" panose="020B0502030000000004" pitchFamily="34" charset="0"/>
                </a:rPr>
                <a:t>Merchant fee: 0.</a:t>
              </a:r>
              <a:r>
                <a:rPr sz="1000" b="0" i="0">
                  <a:solidFill>
                    <a:srgbClr val="5D5D66"/>
                  </a:solidFill>
                  <a:latin typeface="Inter" panose="020B0502030000000004" pitchFamily="34" charset="0"/>
                </a:rPr>
                <a:t> Paid only on a sale; only breaks ties under 0.5 points.</a:t>
              </a:r>
            </a:p>
          </p:txBody>
        </p:sp>
      </p:grpSp>
      <p:grpSp>
        <p:nvGrpSpPr>
          <p:cNvPr id="66" name="Group 65"/>
          <p:cNvGrpSpPr/>
          <p:nvPr/>
        </p:nvGrpSpPr>
        <p:grpSpPr>
          <a:xfrm>
            <a:off x="6035040" y="3822192"/>
            <a:ext cx="3401568" cy="2186559"/>
            <a:chOff x="6035040" y="3822192"/>
            <a:chExt cx="3401568" cy="2186559"/>
          </a:xfrm>
        </p:grpSpPr>
        <p:sp>
          <p:nvSpPr>
            <p:cNvPr id="67" name="Rounded Rectangle 66"/>
            <p:cNvSpPr/>
            <p:nvPr/>
          </p:nvSpPr>
          <p:spPr>
            <a:xfrm>
              <a:off x="6035040" y="3822192"/>
              <a:ext cx="3401568" cy="2186559"/>
            </a:xfrm>
            <a:prstGeom prst="roundRect">
              <a:avLst>
                <a:gd name="adj" fmla="val 5018"/>
              </a:avLst>
            </a:prstGeom>
            <a:solidFill>
              <a:srgbClr val="FFFFFF"/>
            </a:solidFill>
            <a:ln w="9525">
              <a:solidFill>
                <a:srgbClr val="E9E8E3"/>
              </a:solidFill>
            </a:ln>
            <a:effectLst>
              <a:outerShdw blurRad="384048" dist="109728" dir="5400000" algn="t" rotWithShape="0">
                <a:srgbClr val="0E0E10">
                  <a:alpha val="13000"/>
                </a:srgbClr>
              </a:outerShdw>
            </a:effectLst>
          </p:spPr>
          <p:txBody>
            <a:bodyPr rtlCol="0" anchor="ctr"/>
            <a:lstStyle/>
            <a:p>
              <a:pPr algn="ctr"/>
            </a:p>
          </p:txBody>
        </p:sp>
        <p:sp>
          <p:nvSpPr>
            <p:cNvPr id="68" name="Oval 67"/>
            <p:cNvSpPr/>
            <p:nvPr/>
          </p:nvSpPr>
          <p:spPr>
            <a:xfrm>
              <a:off x="6181344" y="3922776"/>
              <a:ext cx="73152" cy="73152"/>
            </a:xfrm>
            <a:prstGeom prst="ellipse">
              <a:avLst/>
            </a:prstGeom>
            <a:solidFill>
              <a:srgbClr val="D9D8D1"/>
            </a:solidFill>
            <a:ln>
              <a:noFill/>
            </a:ln>
          </p:spPr>
          <p:txBody>
            <a:bodyPr rtlCol="0" anchor="ctr"/>
            <a:lstStyle/>
            <a:p>
              <a:pPr algn="ctr"/>
            </a:p>
          </p:txBody>
        </p:sp>
        <p:sp>
          <p:nvSpPr>
            <p:cNvPr id="69" name="Oval 68"/>
            <p:cNvSpPr/>
            <p:nvPr/>
          </p:nvSpPr>
          <p:spPr>
            <a:xfrm>
              <a:off x="6318504" y="3922776"/>
              <a:ext cx="73152" cy="73152"/>
            </a:xfrm>
            <a:prstGeom prst="ellipse">
              <a:avLst/>
            </a:prstGeom>
            <a:solidFill>
              <a:srgbClr val="D9D8D1"/>
            </a:solidFill>
            <a:ln>
              <a:noFill/>
            </a:ln>
          </p:spPr>
          <p:txBody>
            <a:bodyPr rtlCol="0" anchor="ctr"/>
            <a:lstStyle/>
            <a:p>
              <a:pPr algn="ctr"/>
            </a:p>
          </p:txBody>
        </p:sp>
        <p:sp>
          <p:nvSpPr>
            <p:cNvPr id="70" name="Oval 69"/>
            <p:cNvSpPr/>
            <p:nvPr/>
          </p:nvSpPr>
          <p:spPr>
            <a:xfrm>
              <a:off x="6455664" y="3922776"/>
              <a:ext cx="73152" cy="73152"/>
            </a:xfrm>
            <a:prstGeom prst="ellipse">
              <a:avLst/>
            </a:prstGeom>
            <a:solidFill>
              <a:srgbClr val="D9D8D1"/>
            </a:solidFill>
            <a:ln>
              <a:noFill/>
            </a:ln>
          </p:spPr>
          <p:txBody>
            <a:bodyPr rtlCol="0" anchor="ctr"/>
            <a:lstStyle/>
            <a:p>
              <a:pPr algn="ctr"/>
            </a:p>
          </p:txBody>
        </p:sp>
        <p:sp>
          <p:nvSpPr>
            <p:cNvPr id="71" name="Rounded Rectangle 70"/>
            <p:cNvSpPr/>
            <p:nvPr/>
          </p:nvSpPr>
          <p:spPr>
            <a:xfrm>
              <a:off x="7055510" y="3881628"/>
              <a:ext cx="1360627" cy="155448"/>
            </a:xfrm>
            <a:prstGeom prst="roundRect">
              <a:avLst>
                <a:gd name="adj" fmla="val 50000"/>
              </a:avLst>
            </a:prstGeom>
            <a:solidFill>
              <a:srgbClr val="F4F4F1"/>
            </a:solidFill>
            <a:ln>
              <a:noFill/>
            </a:ln>
          </p:spPr>
          <p:txBody>
            <a:bodyPr rtlCol="0" anchor="ctr"/>
            <a:lstStyle/>
            <a:p>
              <a:pPr algn="ctr"/>
            </a:p>
          </p:txBody>
        </p:sp>
        <p:sp>
          <p:nvSpPr>
            <p:cNvPr id="72" name="TextBox 71"/>
            <p:cNvSpPr txBox="1"/>
            <p:nvPr/>
          </p:nvSpPr>
          <p:spPr>
            <a:xfrm>
              <a:off x="7055510" y="3881628"/>
              <a:ext cx="1360627" cy="155448"/>
            </a:xfrm>
            <a:prstGeom prst="rect">
              <a:avLst/>
            </a:prstGeom>
            <a:noFill/>
          </p:spPr>
          <p:txBody>
            <a:bodyPr wrap="square" lIns="0" rIns="0" tIns="0" bIns="0" anchor="ctr">
              <a:noAutofit/>
            </a:bodyPr>
            <a:lstStyle/>
            <a:p>
              <a:pPr algn="ctr"/>
              <a:r>
                <a:rPr sz="750" b="0" i="0">
                  <a:solidFill>
                    <a:srgbClr val="5D5D66"/>
                  </a:solidFill>
                  <a:latin typeface="Inter" panose="020B0502030000000004" pitchFamily="34" charset="0"/>
                </a:rPr>
                <a:t>localhost:8787/ledger</a:t>
              </a:r>
            </a:p>
          </p:txBody>
        </p:sp>
        <p:sp>
          <p:nvSpPr>
            <p:cNvPr id="73" name="Rectangle 72"/>
            <p:cNvSpPr/>
            <p:nvPr/>
          </p:nvSpPr>
          <p:spPr>
            <a:xfrm>
              <a:off x="6044184" y="4087368"/>
              <a:ext cx="3383280" cy="9144"/>
            </a:xfrm>
            <a:prstGeom prst="rect">
              <a:avLst/>
            </a:prstGeom>
            <a:solidFill>
              <a:srgbClr val="E9E8E3"/>
            </a:solidFill>
            <a:ln>
              <a:noFill/>
            </a:ln>
          </p:spPr>
          <p:txBody>
            <a:bodyPr rtlCol="0" anchor="ctr"/>
            <a:lstStyle/>
            <a:p>
              <a:pPr algn="ctr"/>
            </a:p>
          </p:txBody>
        </p:sp>
        <p:sp>
          <p:nvSpPr>
            <p:cNvPr id="74" name="Rounded Rectangle 73"/>
            <p:cNvSpPr/>
            <p:nvPr/>
          </p:nvSpPr>
          <p:spPr>
            <a:xfrm>
              <a:off x="6044184" y="4096512"/>
              <a:ext cx="3383280" cy="1903095"/>
            </a:xfrm>
            <a:prstGeom prst="roundRect">
              <a:avLst>
                <a:gd name="adj" fmla="val 1921"/>
              </a:avLst>
            </a:prstGeom>
            <a:solidFill>
              <a:srgbClr val="FFFFFF"/>
            </a:solidFill>
            <a:ln>
              <a:noFill/>
            </a:ln>
          </p:spPr>
          <p:txBody>
            <a:bodyPr rtlCol="0" anchor="ctr"/>
            <a:lstStyle/>
            <a:p>
              <a:pPr algn="ctr"/>
            </a:p>
          </p:txBody>
        </p:sp>
        <p:sp>
          <p:nvSpPr>
            <p:cNvPr id="75" name="Rectangle 74"/>
            <p:cNvSpPr/>
            <p:nvPr/>
          </p:nvSpPr>
          <p:spPr>
            <a:xfrm>
              <a:off x="6044184" y="4096512"/>
              <a:ext cx="3383280" cy="274320"/>
            </a:xfrm>
            <a:prstGeom prst="rect">
              <a:avLst/>
            </a:prstGeom>
            <a:solidFill>
              <a:srgbClr val="F4F4F1"/>
            </a:solidFill>
            <a:ln>
              <a:noFill/>
            </a:ln>
          </p:spPr>
          <p:txBody>
            <a:bodyPr rtlCol="0" anchor="ctr"/>
            <a:lstStyle/>
            <a:p>
              <a:pPr algn="ctr"/>
            </a:p>
          </p:txBody>
        </p:sp>
        <p:sp>
          <p:nvSpPr>
            <p:cNvPr id="76" name="TextBox 75"/>
            <p:cNvSpPr txBox="1"/>
            <p:nvPr/>
          </p:nvSpPr>
          <p:spPr>
            <a:xfrm>
              <a:off x="6153912" y="4096512"/>
              <a:ext cx="3163824" cy="274320"/>
            </a:xfrm>
            <a:prstGeom prst="rect">
              <a:avLst/>
            </a:prstGeom>
            <a:noFill/>
          </p:spPr>
          <p:txBody>
            <a:bodyPr wrap="square" lIns="0" rIns="0" tIns="0" bIns="0" anchor="ctr">
              <a:noAutofit/>
            </a:bodyPr>
            <a:lstStyle/>
            <a:p>
              <a:pPr algn="l"/>
              <a:r>
                <a:rPr sz="700" b="1" i="0">
                  <a:solidFill>
                    <a:srgbClr val="5D5D66"/>
                  </a:solidFill>
                  <a:latin typeface="Inter" panose="020B0502030000000004" pitchFamily="34" charset="0"/>
                </a:rPr>
                <a:t>Ledger · every transaction sums to $0.00</a:t>
              </a:r>
            </a:p>
          </p:txBody>
        </p:sp>
        <p:sp>
          <p:nvSpPr>
            <p:cNvPr id="77" name="TextBox 76"/>
            <p:cNvSpPr txBox="1"/>
            <p:nvPr/>
          </p:nvSpPr>
          <p:spPr>
            <a:xfrm>
              <a:off x="6181344" y="4407408"/>
              <a:ext cx="2232965" cy="384334"/>
            </a:xfrm>
            <a:prstGeom prst="rect">
              <a:avLst/>
            </a:prstGeom>
            <a:noFill/>
          </p:spPr>
          <p:txBody>
            <a:bodyPr wrap="square" lIns="0" rIns="0" tIns="0" bIns="0" anchor="ctr">
              <a:noAutofit/>
            </a:bodyPr>
            <a:lstStyle/>
            <a:p>
              <a:pPr algn="l"/>
              <a:r>
                <a:rPr sz="650" b="0" i="0">
                  <a:solidFill>
                    <a:srgbClr val="0E0E10"/>
                  </a:solidFill>
                  <a:latin typeface="JetBrains Mono" panose="02000009000000000000" pitchFamily="49" charset="0"/>
                </a:rPr>
                <a:t>buyer:b_claude:wallet</a:t>
              </a:r>
            </a:p>
          </p:txBody>
        </p:sp>
        <p:sp>
          <p:nvSpPr>
            <p:cNvPr id="78" name="TextBox 77"/>
            <p:cNvSpPr txBox="1"/>
            <p:nvPr/>
          </p:nvSpPr>
          <p:spPr>
            <a:xfrm>
              <a:off x="8513064" y="4407408"/>
              <a:ext cx="777240" cy="384334"/>
            </a:xfrm>
            <a:prstGeom prst="rect">
              <a:avLst/>
            </a:prstGeom>
            <a:noFill/>
          </p:spPr>
          <p:txBody>
            <a:bodyPr wrap="square" lIns="0" rIns="0" tIns="0" bIns="0" anchor="ctr">
              <a:noAutofit/>
            </a:bodyPr>
            <a:lstStyle/>
            <a:p>
              <a:pPr algn="r"/>
              <a:r>
                <a:rPr sz="700" b="1" i="0">
                  <a:solidFill>
                    <a:srgbClr val="D93036"/>
                  </a:solidFill>
                  <a:latin typeface="Inter" panose="020B0502030000000004" pitchFamily="34" charset="0"/>
                </a:rPr>
                <a:t>−$319.99</a:t>
              </a:r>
            </a:p>
          </p:txBody>
        </p:sp>
        <p:sp>
          <p:nvSpPr>
            <p:cNvPr id="79" name="Rectangle 78"/>
            <p:cNvSpPr/>
            <p:nvPr/>
          </p:nvSpPr>
          <p:spPr>
            <a:xfrm>
              <a:off x="6135624" y="4791742"/>
              <a:ext cx="3200400" cy="7315"/>
            </a:xfrm>
            <a:prstGeom prst="rect">
              <a:avLst/>
            </a:prstGeom>
            <a:solidFill>
              <a:srgbClr val="E9E8E3"/>
            </a:solidFill>
            <a:ln>
              <a:noFill/>
            </a:ln>
          </p:spPr>
          <p:txBody>
            <a:bodyPr rtlCol="0" anchor="ctr"/>
            <a:lstStyle/>
            <a:p>
              <a:pPr algn="ctr"/>
            </a:p>
          </p:txBody>
        </p:sp>
        <p:sp>
          <p:nvSpPr>
            <p:cNvPr id="80" name="TextBox 79"/>
            <p:cNvSpPr txBox="1"/>
            <p:nvPr/>
          </p:nvSpPr>
          <p:spPr>
            <a:xfrm>
              <a:off x="6181344" y="4791742"/>
              <a:ext cx="2232965" cy="384334"/>
            </a:xfrm>
            <a:prstGeom prst="rect">
              <a:avLst/>
            </a:prstGeom>
            <a:noFill/>
          </p:spPr>
          <p:txBody>
            <a:bodyPr wrap="square" lIns="0" rIns="0" tIns="0" bIns="0" anchor="ctr">
              <a:noAutofit/>
            </a:bodyPr>
            <a:lstStyle/>
            <a:p>
              <a:pPr algn="l"/>
              <a:r>
                <a:rPr sz="650" b="0" i="0">
                  <a:solidFill>
                    <a:srgbClr val="0E0E10"/>
                  </a:solidFill>
                  <a:latin typeface="JetBrains Mono" panose="02000009000000000000" pitchFamily="49" charset="0"/>
                </a:rPr>
                <a:t>merchant:last-unit:revenue</a:t>
              </a:r>
            </a:p>
          </p:txBody>
        </p:sp>
        <p:sp>
          <p:nvSpPr>
            <p:cNvPr id="81" name="TextBox 80"/>
            <p:cNvSpPr txBox="1"/>
            <p:nvPr/>
          </p:nvSpPr>
          <p:spPr>
            <a:xfrm>
              <a:off x="8513064" y="4791742"/>
              <a:ext cx="777240" cy="384334"/>
            </a:xfrm>
            <a:prstGeom prst="rect">
              <a:avLst/>
            </a:prstGeom>
            <a:noFill/>
          </p:spPr>
          <p:txBody>
            <a:bodyPr wrap="square" lIns="0" rIns="0" tIns="0" bIns="0" anchor="ctr">
              <a:noAutofit/>
            </a:bodyPr>
            <a:lstStyle/>
            <a:p>
              <a:pPr algn="r"/>
              <a:r>
                <a:rPr sz="700" b="1" i="0">
                  <a:solidFill>
                    <a:srgbClr val="12805C"/>
                  </a:solidFill>
                  <a:latin typeface="Inter" panose="020B0502030000000004" pitchFamily="34" charset="0"/>
                </a:rPr>
                <a:t>+$319.99</a:t>
              </a:r>
            </a:p>
          </p:txBody>
        </p:sp>
        <p:sp>
          <p:nvSpPr>
            <p:cNvPr id="82" name="Rectangle 81"/>
            <p:cNvSpPr/>
            <p:nvPr/>
          </p:nvSpPr>
          <p:spPr>
            <a:xfrm>
              <a:off x="6135624" y="5176076"/>
              <a:ext cx="3200400" cy="7315"/>
            </a:xfrm>
            <a:prstGeom prst="rect">
              <a:avLst/>
            </a:prstGeom>
            <a:solidFill>
              <a:srgbClr val="E9E8E3"/>
            </a:solidFill>
            <a:ln>
              <a:noFill/>
            </a:ln>
          </p:spPr>
          <p:txBody>
            <a:bodyPr rtlCol="0" anchor="ctr"/>
            <a:lstStyle/>
            <a:p>
              <a:pPr algn="ctr"/>
            </a:p>
          </p:txBody>
        </p:sp>
        <p:sp>
          <p:nvSpPr>
            <p:cNvPr id="83" name="TextBox 82"/>
            <p:cNvSpPr txBox="1"/>
            <p:nvPr/>
          </p:nvSpPr>
          <p:spPr>
            <a:xfrm>
              <a:off x="6181344" y="5176076"/>
              <a:ext cx="2232965" cy="384334"/>
            </a:xfrm>
            <a:prstGeom prst="rect">
              <a:avLst/>
            </a:prstGeom>
            <a:noFill/>
          </p:spPr>
          <p:txBody>
            <a:bodyPr wrap="square" lIns="0" rIns="0" tIns="0" bIns="0" anchor="ctr">
              <a:noAutofit/>
            </a:bodyPr>
            <a:lstStyle/>
            <a:p>
              <a:pPr algn="l"/>
              <a:r>
                <a:rPr sz="650" b="0" i="0">
                  <a:solidFill>
                    <a:srgbClr val="0E0E10"/>
                  </a:solidFill>
                  <a:latin typeface="JetBrains Mono" panose="02000009000000000000" pitchFamily="49" charset="0"/>
                </a:rPr>
                <a:t>merchant:last-unit:revenue</a:t>
              </a:r>
            </a:p>
          </p:txBody>
        </p:sp>
        <p:sp>
          <p:nvSpPr>
            <p:cNvPr id="84" name="TextBox 83"/>
            <p:cNvSpPr txBox="1"/>
            <p:nvPr/>
          </p:nvSpPr>
          <p:spPr>
            <a:xfrm>
              <a:off x="8513064" y="5176076"/>
              <a:ext cx="777240" cy="384334"/>
            </a:xfrm>
            <a:prstGeom prst="rect">
              <a:avLst/>
            </a:prstGeom>
            <a:noFill/>
          </p:spPr>
          <p:txBody>
            <a:bodyPr wrap="square" lIns="0" rIns="0" tIns="0" bIns="0" anchor="ctr">
              <a:noAutofit/>
            </a:bodyPr>
            <a:lstStyle/>
            <a:p>
              <a:pPr algn="r"/>
              <a:r>
                <a:rPr sz="700" b="1" i="0">
                  <a:solidFill>
                    <a:srgbClr val="D93036"/>
                  </a:solidFill>
                  <a:latin typeface="Inter" panose="020B0502030000000004" pitchFamily="34" charset="0"/>
                </a:rPr>
                <a:t>−$5.00</a:t>
              </a:r>
            </a:p>
          </p:txBody>
        </p:sp>
        <p:sp>
          <p:nvSpPr>
            <p:cNvPr id="85" name="Rectangle 84"/>
            <p:cNvSpPr/>
            <p:nvPr/>
          </p:nvSpPr>
          <p:spPr>
            <a:xfrm>
              <a:off x="6135624" y="5560409"/>
              <a:ext cx="3200400" cy="7315"/>
            </a:xfrm>
            <a:prstGeom prst="rect">
              <a:avLst/>
            </a:prstGeom>
            <a:solidFill>
              <a:srgbClr val="E9E8E3"/>
            </a:solidFill>
            <a:ln>
              <a:noFill/>
            </a:ln>
          </p:spPr>
          <p:txBody>
            <a:bodyPr rtlCol="0" anchor="ctr"/>
            <a:lstStyle/>
            <a:p>
              <a:pPr algn="ctr"/>
            </a:p>
          </p:txBody>
        </p:sp>
        <p:sp>
          <p:nvSpPr>
            <p:cNvPr id="86" name="TextBox 85"/>
            <p:cNvSpPr txBox="1"/>
            <p:nvPr/>
          </p:nvSpPr>
          <p:spPr>
            <a:xfrm>
              <a:off x="6181344" y="5560409"/>
              <a:ext cx="2232965" cy="384334"/>
            </a:xfrm>
            <a:prstGeom prst="rect">
              <a:avLst/>
            </a:prstGeom>
            <a:noFill/>
          </p:spPr>
          <p:txBody>
            <a:bodyPr wrap="square" lIns="0" rIns="0" tIns="0" bIns="0" anchor="ctr">
              <a:noAutofit/>
            </a:bodyPr>
            <a:lstStyle/>
            <a:p>
              <a:pPr algn="l"/>
              <a:r>
                <a:rPr sz="650" b="0" i="0">
                  <a:solidFill>
                    <a:srgbClr val="0E0E10"/>
                  </a:solidFill>
                  <a:latin typeface="JetBrains Mono" panose="02000009000000000000" pitchFamily="49" charset="0"/>
                </a:rPr>
                <a:t>platform:fees</a:t>
              </a:r>
            </a:p>
          </p:txBody>
        </p:sp>
        <p:sp>
          <p:nvSpPr>
            <p:cNvPr id="87" name="TextBox 86"/>
            <p:cNvSpPr txBox="1"/>
            <p:nvPr/>
          </p:nvSpPr>
          <p:spPr>
            <a:xfrm>
              <a:off x="8513064" y="5560409"/>
              <a:ext cx="777240" cy="384334"/>
            </a:xfrm>
            <a:prstGeom prst="rect">
              <a:avLst/>
            </a:prstGeom>
            <a:noFill/>
          </p:spPr>
          <p:txBody>
            <a:bodyPr wrap="square" lIns="0" rIns="0" tIns="0" bIns="0" anchor="ctr">
              <a:noAutofit/>
            </a:bodyPr>
            <a:lstStyle/>
            <a:p>
              <a:pPr algn="r"/>
              <a:r>
                <a:rPr sz="700" b="1" i="0">
                  <a:solidFill>
                    <a:srgbClr val="12805C"/>
                  </a:solidFill>
                  <a:latin typeface="Inter" panose="020B0502030000000004" pitchFamily="34" charset="0"/>
                </a:rPr>
                <a:t>+$5.00</a:t>
              </a:r>
            </a:p>
          </p:txBody>
        </p:sp>
        <p:sp>
          <p:nvSpPr>
            <p:cNvPr id="88" name="TextBox 87"/>
            <p:cNvSpPr txBox="1"/>
            <p:nvPr/>
          </p:nvSpPr>
          <p:spPr>
            <a:xfrm>
              <a:off x="6126480" y="5780151"/>
              <a:ext cx="3218688" cy="182880"/>
            </a:xfrm>
            <a:prstGeom prst="rect">
              <a:avLst/>
            </a:prstGeom>
            <a:noFill/>
          </p:spPr>
          <p:txBody>
            <a:bodyPr wrap="square" lIns="0" rIns="0" tIns="0" bIns="0" anchor="ctr">
              <a:noAutofit/>
            </a:bodyPr>
            <a:lstStyle/>
            <a:p>
              <a:pPr algn="r"/>
              <a:r>
                <a:rPr sz="700" b="0" i="0">
                  <a:solidFill>
                    <a:srgbClr val="9A9AA3"/>
                  </a:solidFill>
                  <a:latin typeface="JetBrains Mono" panose="02000009000000000000" pitchFamily="49" charset="0"/>
                </a:rPr>
                <a:t>Placeholder: screenshots/ledger.png</a:t>
              </a:r>
            </a:p>
          </p:txBody>
        </p:sp>
      </p:grpSp>
      <p:sp>
        <p:nvSpPr>
          <p:cNvPr id="89" name="TextBox 88"/>
          <p:cNvSpPr txBox="1"/>
          <p:nvPr/>
        </p:nvSpPr>
        <p:spPr>
          <a:xfrm>
            <a:off x="6035040" y="5989320"/>
            <a:ext cx="3401568" cy="274320"/>
          </a:xfrm>
          <a:prstGeom prst="rect">
            <a:avLst/>
          </a:prstGeom>
          <a:noFill/>
        </p:spPr>
        <p:txBody>
          <a:bodyPr wrap="square" lIns="0" rIns="0" tIns="0" bIns="0" anchor="ctr">
            <a:noAutofit/>
          </a:bodyPr>
          <a:lstStyle/>
          <a:p>
            <a:pPr algn="l"/>
            <a:r>
              <a:rPr sz="950" b="1" i="0">
                <a:solidFill>
                  <a:srgbClr val="12805C"/>
                </a:solidFill>
                <a:latin typeface="Inter" panose="020B0502030000000004" pitchFamily="34" charset="0"/>
              </a:rPr>
              <a:t>Double-entry ledger:</a:t>
            </a:r>
            <a:r>
              <a:rPr sz="950" b="0" i="0">
                <a:solidFill>
                  <a:srgbClr val="5D5D66"/>
                </a:solidFill>
                <a:latin typeface="Inter" panose="020B0502030000000004" pitchFamily="34" charset="0"/>
              </a:rPr>
              <a:t> every transaction sums to $0</a:t>
            </a:r>
          </a:p>
        </p:txBody>
      </p:sp>
      <p:grpSp>
        <p:nvGrpSpPr>
          <p:cNvPr id="90" name="Group 89"/>
          <p:cNvGrpSpPr/>
          <p:nvPr/>
        </p:nvGrpSpPr>
        <p:grpSpPr>
          <a:xfrm>
            <a:off x="9601200" y="3822192"/>
            <a:ext cx="1901952" cy="1143000"/>
            <a:chOff x="9601200" y="3822192"/>
            <a:chExt cx="1901952" cy="1143000"/>
          </a:xfrm>
        </p:grpSpPr>
        <p:sp>
          <p:nvSpPr>
            <p:cNvPr id="91" name="Rounded Rectangle 90"/>
            <p:cNvSpPr/>
            <p:nvPr/>
          </p:nvSpPr>
          <p:spPr>
            <a:xfrm>
              <a:off x="9601200" y="3822192"/>
              <a:ext cx="1901952" cy="1143000"/>
            </a:xfrm>
            <a:prstGeom prst="roundRect">
              <a:avLst>
                <a:gd name="adj" fmla="val 960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92" name="Rectangle 91"/>
            <p:cNvSpPr/>
            <p:nvPr/>
          </p:nvSpPr>
          <p:spPr>
            <a:xfrm>
              <a:off x="9601200" y="4005072"/>
              <a:ext cx="41148" cy="777240"/>
            </a:xfrm>
            <a:prstGeom prst="rect">
              <a:avLst/>
            </a:prstGeom>
            <a:solidFill>
              <a:srgbClr val="A15C07"/>
            </a:solidFill>
            <a:ln>
              <a:noFill/>
            </a:ln>
          </p:spPr>
          <p:txBody>
            <a:bodyPr rtlCol="0" anchor="ctr"/>
            <a:lstStyle/>
            <a:p>
              <a:pPr algn="ctr"/>
            </a:p>
          </p:txBody>
        </p:sp>
        <p:sp>
          <p:nvSpPr>
            <p:cNvPr id="93" name="TextBox 92"/>
            <p:cNvSpPr txBox="1"/>
            <p:nvPr/>
          </p:nvSpPr>
          <p:spPr>
            <a:xfrm>
              <a:off x="9784080" y="3941064"/>
              <a:ext cx="1673352"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Spending policy</a:t>
              </a:r>
            </a:p>
          </p:txBody>
        </p:sp>
        <p:sp>
          <p:nvSpPr>
            <p:cNvPr id="94" name="TextBox 93"/>
            <p:cNvSpPr txBox="1"/>
            <p:nvPr/>
          </p:nvSpPr>
          <p:spPr>
            <a:xfrm>
              <a:off x="9784080" y="4215384"/>
              <a:ext cx="1645920" cy="73152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Per-purchase and daily limits from the human. Above them: SMS “Reply YES 1234”.</a:t>
              </a:r>
            </a:p>
          </p:txBody>
        </p:sp>
      </p:grpSp>
      <p:grpSp>
        <p:nvGrpSpPr>
          <p:cNvPr id="95" name="Group 94"/>
          <p:cNvGrpSpPr/>
          <p:nvPr/>
        </p:nvGrpSpPr>
        <p:grpSpPr>
          <a:xfrm>
            <a:off x="9601200" y="5065776"/>
            <a:ext cx="1901952" cy="1143000"/>
            <a:chOff x="9601200" y="5065776"/>
            <a:chExt cx="1901952" cy="1143000"/>
          </a:xfrm>
        </p:grpSpPr>
        <p:sp>
          <p:nvSpPr>
            <p:cNvPr id="96" name="Rounded Rectangle 95"/>
            <p:cNvSpPr/>
            <p:nvPr/>
          </p:nvSpPr>
          <p:spPr>
            <a:xfrm>
              <a:off x="9601200" y="5065776"/>
              <a:ext cx="1901952" cy="1143000"/>
            </a:xfrm>
            <a:prstGeom prst="roundRect">
              <a:avLst>
                <a:gd name="adj" fmla="val 960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97" name="Rectangle 96"/>
            <p:cNvSpPr/>
            <p:nvPr/>
          </p:nvSpPr>
          <p:spPr>
            <a:xfrm>
              <a:off x="9601200" y="5248656"/>
              <a:ext cx="41148" cy="777240"/>
            </a:xfrm>
            <a:prstGeom prst="rect">
              <a:avLst/>
            </a:prstGeom>
            <a:solidFill>
              <a:srgbClr val="2F5BEA"/>
            </a:solidFill>
            <a:ln>
              <a:noFill/>
            </a:ln>
          </p:spPr>
          <p:txBody>
            <a:bodyPr rtlCol="0" anchor="ctr"/>
            <a:lstStyle/>
            <a:p>
              <a:pPr algn="ctr"/>
            </a:p>
          </p:txBody>
        </p:sp>
        <p:sp>
          <p:nvSpPr>
            <p:cNvPr id="98" name="TextBox 97"/>
            <p:cNvSpPr txBox="1"/>
            <p:nvPr/>
          </p:nvSpPr>
          <p:spPr>
            <a:xfrm>
              <a:off x="9784080" y="5184648"/>
              <a:ext cx="1673352"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Keys + Agent Wire</a:t>
              </a:r>
            </a:p>
          </p:txBody>
        </p:sp>
        <p:sp>
          <p:nvSpPr>
            <p:cNvPr id="99" name="TextBox 98"/>
            <p:cNvSpPr txBox="1"/>
            <p:nvPr/>
          </p:nvSpPr>
          <p:spPr>
            <a:xfrm>
              <a:off x="9784080" y="5458968"/>
              <a:ext cx="1645920" cy="731520"/>
            </a:xfrm>
            <a:prstGeom prst="rect">
              <a:avLst/>
            </a:prstGeom>
            <a:noFill/>
          </p:spPr>
          <p:txBody>
            <a:bodyPr wrap="square" lIns="0" rIns="0" tIns="0" bIns="0" anchor="t">
              <a:noAutofit/>
            </a:bodyPr>
            <a:lstStyle/>
            <a:p>
              <a:pPr algn="l">
                <a:lnSpc>
                  <a:spcPct val="103000"/>
                </a:lnSpc>
              </a:pPr>
              <a:r>
                <a:rPr sz="900" b="0" i="0">
                  <a:solidFill>
                    <a:srgbClr val="5D5D66"/>
                  </a:solidFill>
                  <a:latin typeface="Inter" panose="020B0502030000000004" pitchFamily="34" charset="0"/>
                </a:rPr>
                <a:t>Per-caller keys. Every tool call logged: client, tool, args, ms, tokens.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6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additive="base">
                                        <p:cTn id="19" dur="500" fill="hold" decel="100000"/>
                                        <p:tgtEl>
                                          <p:spTgt spid="14"/>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4"/>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5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anim calcmode="lin" valueType="num">
                                      <p:cBhvr additive="base">
                                        <p:cTn id="24" dur="400" fill="hold" decel="100000"/>
                                        <p:tgtEl>
                                          <p:spTgt spid="17"/>
                                        </p:tgtEl>
                                        <p:attrNameLst>
                                          <p:attrName>ppt_x</p:attrName>
                                        </p:attrNameLst>
                                      </p:cBhvr>
                                      <p:tavLst>
                                        <p:tav tm="0">
                                          <p:val>
                                            <p:strVal val="#ppt_x-0.02"/>
                                          </p:val>
                                        </p:tav>
                                        <p:tav tm="100000">
                                          <p:val>
                                            <p:strVal val="#ppt_x"/>
                                          </p:val>
                                        </p:tav>
                                      </p:tavLst>
                                    </p:anim>
                                    <p:anim calcmode="lin" valueType="num">
                                      <p:cBhvr additive="base">
                                        <p:cTn id="25" dur="400" fill="hold" decel="100000"/>
                                        <p:tgtEl>
                                          <p:spTgt spid="17"/>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57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anim calcmode="lin" valueType="num">
                                      <p:cBhvr additive="base">
                                        <p:cTn id="29" dur="400" fill="hold" decel="100000"/>
                                        <p:tgtEl>
                                          <p:spTgt spid="22"/>
                                        </p:tgtEl>
                                        <p:attrNameLst>
                                          <p:attrName>ppt_x</p:attrName>
                                        </p:attrNameLst>
                                      </p:cBhvr>
                                      <p:tavLst>
                                        <p:tav tm="0">
                                          <p:val>
                                            <p:strVal val="#ppt_x-0.02"/>
                                          </p:val>
                                        </p:tav>
                                        <p:tav tm="100000">
                                          <p:val>
                                            <p:strVal val="#ppt_x"/>
                                          </p:val>
                                        </p:tav>
                                      </p:tavLst>
                                    </p:anim>
                                    <p:anim calcmode="lin" valueType="num">
                                      <p:cBhvr additive="base">
                                        <p:cTn id="30" dur="400" fill="hold" decel="100000"/>
                                        <p:tgtEl>
                                          <p:spTgt spid="22"/>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9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anim calcmode="lin" valueType="num">
                                      <p:cBhvr additive="base">
                                        <p:cTn id="34" dur="400" fill="hold" decel="100000"/>
                                        <p:tgtEl>
                                          <p:spTgt spid="27"/>
                                        </p:tgtEl>
                                        <p:attrNameLst>
                                          <p:attrName>ppt_x</p:attrName>
                                        </p:attrNameLst>
                                      </p:cBhvr>
                                      <p:tavLst>
                                        <p:tav tm="0">
                                          <p:val>
                                            <p:strVal val="#ppt_x-0.02"/>
                                          </p:val>
                                        </p:tav>
                                        <p:tav tm="100000">
                                          <p:val>
                                            <p:strVal val="#ppt_x"/>
                                          </p:val>
                                        </p:tav>
                                      </p:tavLst>
                                    </p:anim>
                                    <p:anim calcmode="lin" valueType="num">
                                      <p:cBhvr additive="base">
                                        <p:cTn id="35" dur="400" fill="hold" decel="100000"/>
                                        <p:tgtEl>
                                          <p:spTgt spid="2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81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anim calcmode="lin" valueType="num">
                                      <p:cBhvr additive="base">
                                        <p:cTn id="39" dur="400" fill="hold" decel="100000"/>
                                        <p:tgtEl>
                                          <p:spTgt spid="32"/>
                                        </p:tgtEl>
                                        <p:attrNameLst>
                                          <p:attrName>ppt_x</p:attrName>
                                        </p:attrNameLst>
                                      </p:cBhvr>
                                      <p:tavLst>
                                        <p:tav tm="0">
                                          <p:val>
                                            <p:strVal val="#ppt_x-0.02"/>
                                          </p:val>
                                        </p:tav>
                                        <p:tav tm="100000">
                                          <p:val>
                                            <p:strVal val="#ppt_x"/>
                                          </p:val>
                                        </p:tav>
                                      </p:tavLst>
                                    </p:anim>
                                    <p:anim calcmode="lin" valueType="num">
                                      <p:cBhvr additive="base">
                                        <p:cTn id="40" dur="400" fill="hold" decel="100000"/>
                                        <p:tgtEl>
                                          <p:spTgt spid="32"/>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93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anim calcmode="lin" valueType="num">
                                      <p:cBhvr additive="base">
                                        <p:cTn id="44" dur="400" fill="hold" decel="100000"/>
                                        <p:tgtEl>
                                          <p:spTgt spid="37"/>
                                        </p:tgtEl>
                                        <p:attrNameLst>
                                          <p:attrName>ppt_x</p:attrName>
                                        </p:attrNameLst>
                                      </p:cBhvr>
                                      <p:tavLst>
                                        <p:tav tm="0">
                                          <p:val>
                                            <p:strVal val="#ppt_x-0.02"/>
                                          </p:val>
                                        </p:tav>
                                        <p:tav tm="100000">
                                          <p:val>
                                            <p:strVal val="#ppt_x"/>
                                          </p:val>
                                        </p:tav>
                                      </p:tavLst>
                                    </p:anim>
                                    <p:anim calcmode="lin" valueType="num">
                                      <p:cBhvr additive="base">
                                        <p:cTn id="45" dur="400" fill="hold" decel="100000"/>
                                        <p:tgtEl>
                                          <p:spTgt spid="37"/>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150"/>
                                  </p:stCondLst>
                                  <p:childTnLst>
                                    <p:set>
                                      <p:cBhvr>
                                        <p:cTn id="47" dur="1" fill="hold">
                                          <p:stCondLst>
                                            <p:cond delay="0"/>
                                          </p:stCondLst>
                                        </p:cTn>
                                        <p:tgtEl>
                                          <p:spTgt spid="42"/>
                                        </p:tgtEl>
                                        <p:attrNameLst>
                                          <p:attrName>style.visibility</p:attrName>
                                        </p:attrNameLst>
                                      </p:cBhvr>
                                      <p:to>
                                        <p:strVal val="visible"/>
                                      </p:to>
                                    </p:set>
                                    <p:animEffect transition="in" filter="fade">
                                      <p:cBhvr>
                                        <p:cTn id="48" dur="400"/>
                                        <p:tgtEl>
                                          <p:spTgt spid="42"/>
                                        </p:tgtEl>
                                      </p:cBhvr>
                                    </p:animEffect>
                                    <p:anim calcmode="lin" valueType="num">
                                      <p:cBhvr additive="base">
                                        <p:cTn id="49" dur="400" fill="hold" decel="100000"/>
                                        <p:tgtEl>
                                          <p:spTgt spid="42"/>
                                        </p:tgtEl>
                                        <p:attrNameLst>
                                          <p:attrName>ppt_x</p:attrName>
                                        </p:attrNameLst>
                                      </p:cBhvr>
                                      <p:tavLst>
                                        <p:tav tm="0">
                                          <p:val>
                                            <p:strVal val="#ppt_x"/>
                                          </p:val>
                                        </p:tav>
                                        <p:tav tm="100000">
                                          <p:val>
                                            <p:strVal val="#ppt_x"/>
                                          </p:val>
                                        </p:tav>
                                      </p:tavLst>
                                    </p:anim>
                                    <p:anim calcmode="lin" valueType="num">
                                      <p:cBhvr additive="base">
                                        <p:cTn id="50" dur="400" fill="hold" decel="100000"/>
                                        <p:tgtEl>
                                          <p:spTgt spid="42"/>
                                        </p:tgtEl>
                                        <p:attrNameLst>
                                          <p:attrName>ppt_y</p:attrName>
                                        </p:attrNameLst>
                                      </p:cBhvr>
                                      <p:tavLst>
                                        <p:tav tm="0">
                                          <p:val>
                                            <p:strVal val="#ppt_y+0.025"/>
                                          </p:val>
                                        </p:tav>
                                        <p:tav tm="100000">
                                          <p:val>
                                            <p:strVal val="#ppt_y"/>
                                          </p:val>
                                        </p:tav>
                                      </p:tavLst>
                                    </p:anim>
                                  </p:childTnLst>
                                </p:cTn>
                              </p:par>
                              <p:par>
                                <p:cTn id="51" presetID="42" presetClass="entr" presetSubtype="0" fill="hold" grpId="0" nodeType="withEffect">
                                  <p:stCondLst>
                                    <p:cond delay="40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500"/>
                                        <p:tgtEl>
                                          <p:spTgt spid="45"/>
                                        </p:tgtEl>
                                      </p:cBhvr>
                                    </p:animEffect>
                                    <p:anim calcmode="lin" valueType="num">
                                      <p:cBhvr additive="base">
                                        <p:cTn id="54" dur="500" fill="hold" decel="100000"/>
                                        <p:tgtEl>
                                          <p:spTgt spid="45"/>
                                        </p:tgtEl>
                                        <p:attrNameLst>
                                          <p:attrName>ppt_x</p:attrName>
                                        </p:attrNameLst>
                                      </p:cBhvr>
                                      <p:tavLst>
                                        <p:tav tm="0">
                                          <p:val>
                                            <p:strVal val="#ppt_x"/>
                                          </p:val>
                                        </p:tav>
                                        <p:tav tm="100000">
                                          <p:val>
                                            <p:strVal val="#ppt_x"/>
                                          </p:val>
                                        </p:tav>
                                      </p:tavLst>
                                    </p:anim>
                                    <p:anim calcmode="lin" valueType="num">
                                      <p:cBhvr additive="base">
                                        <p:cTn id="55" dur="500" fill="hold" decel="100000"/>
                                        <p:tgtEl>
                                          <p:spTgt spid="45"/>
                                        </p:tgtEl>
                                        <p:attrNameLst>
                                          <p:attrName>ppt_y</p:attrName>
                                        </p:attrNameLst>
                                      </p:cBhvr>
                                      <p:tavLst>
                                        <p:tav tm="0">
                                          <p:val>
                                            <p:strVal val="#ppt_y+0.025"/>
                                          </p:val>
                                        </p:tav>
                                        <p:tav tm="100000">
                                          <p:val>
                                            <p:strVal val="#ppt_y"/>
                                          </p:val>
                                        </p:tav>
                                      </p:tavLst>
                                    </p:anim>
                                  </p:childTnLst>
                                </p:cTn>
                              </p:par>
                              <p:par>
                                <p:cTn id="56" presetID="22" presetClass="entr" presetSubtype="8" fill="hold" grpId="0" nodeType="withEffect">
                                  <p:stCondLst>
                                    <p:cond delay="800"/>
                                  </p:stCondLst>
                                  <p:childTnLst>
                                    <p:set>
                                      <p:cBhvr>
                                        <p:cTn id="57" dur="1" fill="hold">
                                          <p:stCondLst>
                                            <p:cond delay="0"/>
                                          </p:stCondLst>
                                        </p:cTn>
                                        <p:tgtEl>
                                          <p:spTgt spid="48"/>
                                        </p:tgtEl>
                                        <p:attrNameLst>
                                          <p:attrName>style.visibility</p:attrName>
                                        </p:attrNameLst>
                                      </p:cBhvr>
                                      <p:to>
                                        <p:strVal val="visible"/>
                                      </p:to>
                                    </p:set>
                                    <p:animEffect transition="in" filter="wipe(left)">
                                      <p:cBhvr>
                                        <p:cTn id="58" dur="400"/>
                                        <p:tgtEl>
                                          <p:spTgt spid="48"/>
                                        </p:tgtEl>
                                      </p:cBhvr>
                                    </p:animEffect>
                                  </p:childTnLst>
                                </p:cTn>
                              </p:par>
                              <p:par>
                                <p:cTn id="59" presetID="22" presetClass="entr" presetSubtype="8" fill="hold" grpId="0" nodeType="withEffect">
                                  <p:stCondLst>
                                    <p:cond delay="92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400"/>
                                        <p:tgtEl>
                                          <p:spTgt spid="51"/>
                                        </p:tgtEl>
                                      </p:cBhvr>
                                    </p:animEffect>
                                  </p:childTnLst>
                                </p:cTn>
                              </p:par>
                              <p:par>
                                <p:cTn id="62" presetID="22" presetClass="entr" presetSubtype="8" fill="hold" grpId="0" nodeType="withEffect">
                                  <p:stCondLst>
                                    <p:cond delay="1040"/>
                                  </p:stCondLst>
                                  <p:childTnLst>
                                    <p:set>
                                      <p:cBhvr>
                                        <p:cTn id="63" dur="1" fill="hold">
                                          <p:stCondLst>
                                            <p:cond delay="0"/>
                                          </p:stCondLst>
                                        </p:cTn>
                                        <p:tgtEl>
                                          <p:spTgt spid="54"/>
                                        </p:tgtEl>
                                        <p:attrNameLst>
                                          <p:attrName>style.visibility</p:attrName>
                                        </p:attrNameLst>
                                      </p:cBhvr>
                                      <p:to>
                                        <p:strVal val="visible"/>
                                      </p:to>
                                    </p:set>
                                    <p:animEffect transition="in" filter="wipe(left)">
                                      <p:cBhvr>
                                        <p:cTn id="64" dur="400"/>
                                        <p:tgtEl>
                                          <p:spTgt spid="54"/>
                                        </p:tgtEl>
                                      </p:cBhvr>
                                    </p:animEffect>
                                  </p:childTnLst>
                                </p:cTn>
                              </p:par>
                              <p:par>
                                <p:cTn id="65" presetID="22" presetClass="entr" presetSubtype="8" fill="hold" grpId="0" nodeType="withEffect">
                                  <p:stCondLst>
                                    <p:cond delay="1160"/>
                                  </p:stCondLst>
                                  <p:childTnLst>
                                    <p:set>
                                      <p:cBhvr>
                                        <p:cTn id="66" dur="1" fill="hold">
                                          <p:stCondLst>
                                            <p:cond delay="0"/>
                                          </p:stCondLst>
                                        </p:cTn>
                                        <p:tgtEl>
                                          <p:spTgt spid="57"/>
                                        </p:tgtEl>
                                        <p:attrNameLst>
                                          <p:attrName>style.visibility</p:attrName>
                                        </p:attrNameLst>
                                      </p:cBhvr>
                                      <p:to>
                                        <p:strVal val="visible"/>
                                      </p:to>
                                    </p:set>
                                    <p:animEffect transition="in" filter="wipe(left)">
                                      <p:cBhvr>
                                        <p:cTn id="67" dur="400"/>
                                        <p:tgtEl>
                                          <p:spTgt spid="57"/>
                                        </p:tgtEl>
                                      </p:cBhvr>
                                    </p:animEffect>
                                  </p:childTnLst>
                                </p:cTn>
                              </p:par>
                              <p:par>
                                <p:cTn id="68" presetID="22" presetClass="entr" presetSubtype="8" fill="hold" grpId="0" nodeType="withEffect">
                                  <p:stCondLst>
                                    <p:cond delay="1280"/>
                                  </p:stCondLst>
                                  <p:childTnLst>
                                    <p:set>
                                      <p:cBhvr>
                                        <p:cTn id="69" dur="1" fill="hold">
                                          <p:stCondLst>
                                            <p:cond delay="0"/>
                                          </p:stCondLst>
                                        </p:cTn>
                                        <p:tgtEl>
                                          <p:spTgt spid="60"/>
                                        </p:tgtEl>
                                        <p:attrNameLst>
                                          <p:attrName>style.visibility</p:attrName>
                                        </p:attrNameLst>
                                      </p:cBhvr>
                                      <p:to>
                                        <p:strVal val="visible"/>
                                      </p:to>
                                    </p:set>
                                    <p:animEffect transition="in" filter="wipe(left)">
                                      <p:cBhvr>
                                        <p:cTn id="70" dur="400"/>
                                        <p:tgtEl>
                                          <p:spTgt spid="60"/>
                                        </p:tgtEl>
                                      </p:cBhvr>
                                    </p:animEffect>
                                  </p:childTnLst>
                                </p:cTn>
                              </p:par>
                              <p:par>
                                <p:cTn id="71" presetID="10" presetClass="entr" presetSubtype="0" fill="hold" grpId="0" nodeType="withEffect">
                                  <p:stCondLst>
                                    <p:cond delay="1450"/>
                                  </p:stCondLst>
                                  <p:childTnLst>
                                    <p:set>
                                      <p:cBhvr>
                                        <p:cTn id="72" dur="1" fill="hold">
                                          <p:stCondLst>
                                            <p:cond delay="0"/>
                                          </p:stCondLst>
                                        </p:cTn>
                                        <p:tgtEl>
                                          <p:spTgt spid="63"/>
                                        </p:tgtEl>
                                        <p:attrNameLst>
                                          <p:attrName>style.visibility</p:attrName>
                                        </p:attrNameLst>
                                      </p:cBhvr>
                                      <p:to>
                                        <p:strVal val="visible"/>
                                      </p:to>
                                    </p:set>
                                    <p:animEffect transition="in" filter="fade">
                                      <p:cBhvr>
                                        <p:cTn id="73" dur="400"/>
                                        <p:tgtEl>
                                          <p:spTgt spid="63"/>
                                        </p:tgtEl>
                                      </p:cBhvr>
                                    </p:animEffect>
                                  </p:childTnLst>
                                </p:cTn>
                              </p:par>
                              <p:par>
                                <p:cTn id="74" presetID="42" presetClass="entr" presetSubtype="0" fill="hold" grpId="0" nodeType="withEffect">
                                  <p:stCondLst>
                                    <p:cond delay="900"/>
                                  </p:stCondLst>
                                  <p:childTnLst>
                                    <p:set>
                                      <p:cBhvr>
                                        <p:cTn id="75" dur="1" fill="hold">
                                          <p:stCondLst>
                                            <p:cond delay="0"/>
                                          </p:stCondLst>
                                        </p:cTn>
                                        <p:tgtEl>
                                          <p:spTgt spid="66"/>
                                        </p:tgtEl>
                                        <p:attrNameLst>
                                          <p:attrName>style.visibility</p:attrName>
                                        </p:attrNameLst>
                                      </p:cBhvr>
                                      <p:to>
                                        <p:strVal val="visible"/>
                                      </p:to>
                                    </p:set>
                                    <p:animEffect transition="in" filter="fade">
                                      <p:cBhvr>
                                        <p:cTn id="76" dur="550"/>
                                        <p:tgtEl>
                                          <p:spTgt spid="66"/>
                                        </p:tgtEl>
                                      </p:cBhvr>
                                    </p:animEffect>
                                    <p:anim calcmode="lin" valueType="num">
                                      <p:cBhvr additive="base">
                                        <p:cTn id="77" dur="550" fill="hold" decel="100000"/>
                                        <p:tgtEl>
                                          <p:spTgt spid="66"/>
                                        </p:tgtEl>
                                        <p:attrNameLst>
                                          <p:attrName>ppt_x</p:attrName>
                                        </p:attrNameLst>
                                      </p:cBhvr>
                                      <p:tavLst>
                                        <p:tav tm="0">
                                          <p:val>
                                            <p:strVal val="#ppt_x"/>
                                          </p:val>
                                        </p:tav>
                                        <p:tav tm="100000">
                                          <p:val>
                                            <p:strVal val="#ppt_x"/>
                                          </p:val>
                                        </p:tav>
                                      </p:tavLst>
                                    </p:anim>
                                    <p:anim calcmode="lin" valueType="num">
                                      <p:cBhvr additive="base">
                                        <p:cTn id="78" dur="550" fill="hold" decel="100000"/>
                                        <p:tgtEl>
                                          <p:spTgt spid="66"/>
                                        </p:tgtEl>
                                        <p:attrNameLst>
                                          <p:attrName>ppt_y</p:attrName>
                                        </p:attrNameLst>
                                      </p:cBhvr>
                                      <p:tavLst>
                                        <p:tav tm="0">
                                          <p:val>
                                            <p:strVal val="#ppt_y+0.025"/>
                                          </p:val>
                                        </p:tav>
                                        <p:tav tm="100000">
                                          <p:val>
                                            <p:strVal val="#ppt_y"/>
                                          </p:val>
                                        </p:tav>
                                      </p:tavLst>
                                    </p:anim>
                                  </p:childTnLst>
                                </p:cTn>
                              </p:par>
                              <p:par>
                                <p:cTn id="79" presetID="10" presetClass="entr" presetSubtype="0" fill="hold" grpId="0" nodeType="withEffect">
                                  <p:stCondLst>
                                    <p:cond delay="1350"/>
                                  </p:stCondLst>
                                  <p:childTnLst>
                                    <p:set>
                                      <p:cBhvr>
                                        <p:cTn id="80" dur="1" fill="hold">
                                          <p:stCondLst>
                                            <p:cond delay="0"/>
                                          </p:stCondLst>
                                        </p:cTn>
                                        <p:tgtEl>
                                          <p:spTgt spid="89"/>
                                        </p:tgtEl>
                                        <p:attrNameLst>
                                          <p:attrName>style.visibility</p:attrName>
                                        </p:attrNameLst>
                                      </p:cBhvr>
                                      <p:to>
                                        <p:strVal val="visible"/>
                                      </p:to>
                                    </p:set>
                                    <p:animEffect transition="in" filter="fade">
                                      <p:cBhvr>
                                        <p:cTn id="81" dur="400"/>
                                        <p:tgtEl>
                                          <p:spTgt spid="89"/>
                                        </p:tgtEl>
                                      </p:cBhvr>
                                    </p:animEffect>
                                  </p:childTnLst>
                                </p:cTn>
                              </p:par>
                              <p:par>
                                <p:cTn id="82" presetID="42" presetClass="entr" presetSubtype="0" fill="hold" grpId="0" nodeType="withEffect">
                                  <p:stCondLst>
                                    <p:cond delay="1100"/>
                                  </p:stCondLst>
                                  <p:childTnLst>
                                    <p:set>
                                      <p:cBhvr>
                                        <p:cTn id="83" dur="1" fill="hold">
                                          <p:stCondLst>
                                            <p:cond delay="0"/>
                                          </p:stCondLst>
                                        </p:cTn>
                                        <p:tgtEl>
                                          <p:spTgt spid="90"/>
                                        </p:tgtEl>
                                        <p:attrNameLst>
                                          <p:attrName>style.visibility</p:attrName>
                                        </p:attrNameLst>
                                      </p:cBhvr>
                                      <p:to>
                                        <p:strVal val="visible"/>
                                      </p:to>
                                    </p:set>
                                    <p:animEffect transition="in" filter="fade">
                                      <p:cBhvr>
                                        <p:cTn id="84" dur="400"/>
                                        <p:tgtEl>
                                          <p:spTgt spid="90"/>
                                        </p:tgtEl>
                                      </p:cBhvr>
                                    </p:animEffect>
                                    <p:anim calcmode="lin" valueType="num">
                                      <p:cBhvr additive="base">
                                        <p:cTn id="85" dur="400" fill="hold" decel="100000"/>
                                        <p:tgtEl>
                                          <p:spTgt spid="90"/>
                                        </p:tgtEl>
                                        <p:attrNameLst>
                                          <p:attrName>ppt_x</p:attrName>
                                        </p:attrNameLst>
                                      </p:cBhvr>
                                      <p:tavLst>
                                        <p:tav tm="0">
                                          <p:val>
                                            <p:strVal val="#ppt_x"/>
                                          </p:val>
                                        </p:tav>
                                        <p:tav tm="100000">
                                          <p:val>
                                            <p:strVal val="#ppt_x"/>
                                          </p:val>
                                        </p:tav>
                                      </p:tavLst>
                                    </p:anim>
                                    <p:anim calcmode="lin" valueType="num">
                                      <p:cBhvr additive="base">
                                        <p:cTn id="86" dur="400" fill="hold" decel="100000"/>
                                        <p:tgtEl>
                                          <p:spTgt spid="90"/>
                                        </p:tgtEl>
                                        <p:attrNameLst>
                                          <p:attrName>ppt_y</p:attrName>
                                        </p:attrNameLst>
                                      </p:cBhvr>
                                      <p:tavLst>
                                        <p:tav tm="0">
                                          <p:val>
                                            <p:strVal val="#ppt_y+0.025"/>
                                          </p:val>
                                        </p:tav>
                                        <p:tav tm="100000">
                                          <p:val>
                                            <p:strVal val="#ppt_y"/>
                                          </p:val>
                                        </p:tav>
                                      </p:tavLst>
                                    </p:anim>
                                  </p:childTnLst>
                                </p:cTn>
                              </p:par>
                              <p:par>
                                <p:cTn id="87" presetID="42" presetClass="entr" presetSubtype="0" fill="hold" grpId="0" nodeType="withEffect">
                                  <p:stCondLst>
                                    <p:cond delay="1230"/>
                                  </p:stCondLst>
                                  <p:childTnLst>
                                    <p:set>
                                      <p:cBhvr>
                                        <p:cTn id="88" dur="1" fill="hold">
                                          <p:stCondLst>
                                            <p:cond delay="0"/>
                                          </p:stCondLst>
                                        </p:cTn>
                                        <p:tgtEl>
                                          <p:spTgt spid="95"/>
                                        </p:tgtEl>
                                        <p:attrNameLst>
                                          <p:attrName>style.visibility</p:attrName>
                                        </p:attrNameLst>
                                      </p:cBhvr>
                                      <p:to>
                                        <p:strVal val="visible"/>
                                      </p:to>
                                    </p:set>
                                    <p:animEffect transition="in" filter="fade">
                                      <p:cBhvr>
                                        <p:cTn id="89" dur="400"/>
                                        <p:tgtEl>
                                          <p:spTgt spid="95"/>
                                        </p:tgtEl>
                                      </p:cBhvr>
                                    </p:animEffect>
                                    <p:anim calcmode="lin" valueType="num">
                                      <p:cBhvr additive="base">
                                        <p:cTn id="90" dur="400" fill="hold" decel="100000"/>
                                        <p:tgtEl>
                                          <p:spTgt spid="95"/>
                                        </p:tgtEl>
                                        <p:attrNameLst>
                                          <p:attrName>ppt_x</p:attrName>
                                        </p:attrNameLst>
                                      </p:cBhvr>
                                      <p:tavLst>
                                        <p:tav tm="0">
                                          <p:val>
                                            <p:strVal val="#ppt_x"/>
                                          </p:val>
                                        </p:tav>
                                        <p:tav tm="100000">
                                          <p:val>
                                            <p:strVal val="#ppt_x"/>
                                          </p:val>
                                        </p:tav>
                                      </p:tavLst>
                                    </p:anim>
                                    <p:anim calcmode="lin" valueType="num">
                                      <p:cBhvr additive="base">
                                        <p:cTn id="91" dur="400" fill="hold" decel="100000"/>
                                        <p:tgtEl>
                                          <p:spTgt spid="95"/>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8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BUSINESS MODEL · WHY NOW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8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9753356"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566928"/>
          </a:xfrm>
          <a:prstGeom prst="rect">
            <a:avLst/>
          </a:prstGeom>
          <a:noFill/>
        </p:spPr>
        <p:txBody>
          <a:bodyPr wrap="square" lIns="0" rIns="0" tIns="0" bIns="0" anchor="t">
            <a:noAutofit/>
          </a:bodyPr>
          <a:lstStyle/>
          <a:p>
            <a:pPr algn="l">
              <a:lnSpc>
                <a:spcPct val="98000"/>
              </a:lnSpc>
            </a:pPr>
            <a:r>
              <a:rPr sz="3600" b="1" i="0" spc="-80">
                <a:solidFill>
                  <a:srgbClr val="0E0E10"/>
                </a:solidFill>
                <a:latin typeface="Inter" panose="020B0502030000000004" pitchFamily="34" charset="0"/>
              </a:rPr>
              <a:t>Merchants pay </a:t>
            </a:r>
            <a:r>
              <a:rPr sz="3600" b="1" i="0" spc="-80">
                <a:solidFill>
                  <a:srgbClr val="5D5D66"/>
                </a:solidFill>
                <a:latin typeface="Inter" panose="020B0502030000000004" pitchFamily="34" charset="0"/>
              </a:rPr>
              <a:t>only when an agent buys.</a:t>
            </a:r>
          </a:p>
        </p:txBody>
      </p:sp>
      <p:grpSp>
        <p:nvGrpSpPr>
          <p:cNvPr id="13" name="Group 12"/>
          <p:cNvGrpSpPr/>
          <p:nvPr/>
        </p:nvGrpSpPr>
        <p:grpSpPr>
          <a:xfrm>
            <a:off x="685800" y="1627632"/>
            <a:ext cx="5440680" cy="4645152"/>
            <a:chOff x="685800" y="1627632"/>
            <a:chExt cx="5440680" cy="4645152"/>
          </a:xfrm>
        </p:grpSpPr>
        <p:sp>
          <p:nvSpPr>
            <p:cNvPr id="14" name="Rounded Rectangle 13"/>
            <p:cNvSpPr/>
            <p:nvPr/>
          </p:nvSpPr>
          <p:spPr>
            <a:xfrm>
              <a:off x="685800" y="1627632"/>
              <a:ext cx="5440680" cy="4645152"/>
            </a:xfrm>
            <a:prstGeom prst="roundRect">
              <a:avLst>
                <a:gd name="adj" fmla="val 236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5" name="TextBox 14"/>
            <p:cNvSpPr txBox="1"/>
            <p:nvPr/>
          </p:nvSpPr>
          <p:spPr>
            <a:xfrm>
              <a:off x="914400" y="1783080"/>
              <a:ext cx="493776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Business model</a:t>
              </a:r>
            </a:p>
          </p:txBody>
        </p:sp>
      </p:grpSp>
      <p:grpSp>
        <p:nvGrpSpPr>
          <p:cNvPr id="16" name="Group 15"/>
          <p:cNvGrpSpPr/>
          <p:nvPr/>
        </p:nvGrpSpPr>
        <p:grpSpPr>
          <a:xfrm>
            <a:off x="914400" y="2212848"/>
            <a:ext cx="1371600" cy="548640"/>
            <a:chOff x="914400" y="2212848"/>
            <a:chExt cx="1371600" cy="548640"/>
          </a:xfrm>
        </p:grpSpPr>
        <p:sp>
          <p:nvSpPr>
            <p:cNvPr id="17" name="Rounded Rectangle 16"/>
            <p:cNvSpPr/>
            <p:nvPr/>
          </p:nvSpPr>
          <p:spPr>
            <a:xfrm>
              <a:off x="914400" y="2212848"/>
              <a:ext cx="1371600" cy="548640"/>
            </a:xfrm>
            <a:prstGeom prst="roundRect">
              <a:avLst>
                <a:gd name="adj" fmla="val 50000"/>
              </a:avLst>
            </a:prstGeom>
            <a:solidFill>
              <a:srgbClr val="EDF2FF"/>
            </a:solidFill>
            <a:ln>
              <a:noFill/>
            </a:ln>
          </p:spPr>
          <p:txBody>
            <a:bodyPr rtlCol="0" anchor="ctr"/>
            <a:lstStyle/>
            <a:p>
              <a:pPr algn="ctr"/>
            </a:p>
          </p:txBody>
        </p:sp>
        <p:sp>
          <p:nvSpPr>
            <p:cNvPr id="18" name="TextBox 17"/>
            <p:cNvSpPr txBox="1"/>
            <p:nvPr/>
          </p:nvSpPr>
          <p:spPr>
            <a:xfrm>
              <a:off x="914400" y="2212848"/>
              <a:ext cx="1371600" cy="548640"/>
            </a:xfrm>
            <a:prstGeom prst="rect">
              <a:avLst/>
            </a:prstGeom>
            <a:noFill/>
          </p:spPr>
          <p:txBody>
            <a:bodyPr wrap="square" lIns="0" rIns="0" tIns="0" bIns="0" anchor="ctr">
              <a:noAutofit/>
            </a:bodyPr>
            <a:lstStyle/>
            <a:p>
              <a:pPr algn="ctr"/>
              <a:r>
                <a:rPr sz="1200" b="1" i="0">
                  <a:solidFill>
                    <a:srgbClr val="2F5BEA"/>
                  </a:solidFill>
                  <a:latin typeface="Inter" panose="020B0502030000000004" pitchFamily="34" charset="0"/>
                </a:rPr>
                <a:t>Agent wallet</a:t>
              </a:r>
            </a:p>
          </p:txBody>
        </p:sp>
      </p:grpSp>
      <p:cxnSp>
        <p:nvCxnSpPr>
          <p:cNvPr id="19" name="Connector 18"/>
          <p:cNvCxnSpPr/>
          <p:nvPr/>
        </p:nvCxnSpPr>
        <p:spPr>
          <a:xfrm>
            <a:off x="2313432" y="2487168"/>
            <a:ext cx="310896" cy="0"/>
          </a:xfrm>
          <a:prstGeom prst="line">
            <a:avLst/>
          </a:prstGeom>
          <a:ln w="19050">
            <a:solidFill>
              <a:srgbClr val="D9D8D1"/>
            </a:solidFill>
            <a:tailEnd type="triangle" w="med" len="med"/>
          </a:ln>
        </p:spPr>
      </p:cxnSp>
      <p:sp>
        <p:nvSpPr>
          <p:cNvPr id="20" name="TextBox 19"/>
          <p:cNvSpPr txBox="1"/>
          <p:nvPr/>
        </p:nvSpPr>
        <p:spPr>
          <a:xfrm>
            <a:off x="2157984" y="2798064"/>
            <a:ext cx="603504" cy="219456"/>
          </a:xfrm>
          <a:prstGeom prst="rect">
            <a:avLst/>
          </a:prstGeom>
          <a:noFill/>
        </p:spPr>
        <p:txBody>
          <a:bodyPr wrap="square" lIns="0" rIns="0" tIns="0" bIns="0" anchor="ctr">
            <a:noAutofit/>
          </a:bodyPr>
          <a:lstStyle/>
          <a:p>
            <a:pPr algn="ctr"/>
            <a:r>
              <a:rPr sz="900" b="1" i="0">
                <a:solidFill>
                  <a:srgbClr val="5D5D66"/>
                </a:solidFill>
                <a:latin typeface="Inter" panose="020B0502030000000004" pitchFamily="34" charset="0"/>
              </a:rPr>
              <a:t>price</a:t>
            </a:r>
          </a:p>
        </p:txBody>
      </p:sp>
      <p:grpSp>
        <p:nvGrpSpPr>
          <p:cNvPr id="21" name="Group 20"/>
          <p:cNvGrpSpPr/>
          <p:nvPr/>
        </p:nvGrpSpPr>
        <p:grpSpPr>
          <a:xfrm>
            <a:off x="2651760" y="2212848"/>
            <a:ext cx="1371600" cy="548640"/>
            <a:chOff x="2651760" y="2212848"/>
            <a:chExt cx="1371600" cy="548640"/>
          </a:xfrm>
        </p:grpSpPr>
        <p:sp>
          <p:nvSpPr>
            <p:cNvPr id="22" name="Rounded Rectangle 21"/>
            <p:cNvSpPr/>
            <p:nvPr/>
          </p:nvSpPr>
          <p:spPr>
            <a:xfrm>
              <a:off x="2651760" y="2212848"/>
              <a:ext cx="1371600" cy="548640"/>
            </a:xfrm>
            <a:prstGeom prst="roundRect">
              <a:avLst>
                <a:gd name="adj" fmla="val 50000"/>
              </a:avLst>
            </a:prstGeom>
            <a:solidFill>
              <a:srgbClr val="F4F4F1"/>
            </a:solidFill>
            <a:ln>
              <a:noFill/>
            </a:ln>
          </p:spPr>
          <p:txBody>
            <a:bodyPr rtlCol="0" anchor="ctr"/>
            <a:lstStyle/>
            <a:p>
              <a:pPr algn="ctr"/>
            </a:p>
          </p:txBody>
        </p:sp>
        <p:sp>
          <p:nvSpPr>
            <p:cNvPr id="23" name="TextBox 22"/>
            <p:cNvSpPr txBox="1"/>
            <p:nvPr/>
          </p:nvSpPr>
          <p:spPr>
            <a:xfrm>
              <a:off x="2651760" y="2212848"/>
              <a:ext cx="1371600" cy="548640"/>
            </a:xfrm>
            <a:prstGeom prst="rect">
              <a:avLst/>
            </a:prstGeom>
            <a:noFill/>
          </p:spPr>
          <p:txBody>
            <a:bodyPr wrap="square" lIns="0" rIns="0" tIns="0" bIns="0" anchor="ctr">
              <a:noAutofit/>
            </a:bodyPr>
            <a:lstStyle/>
            <a:p>
              <a:pPr algn="ctr"/>
              <a:r>
                <a:rPr sz="1200" b="1" i="0">
                  <a:solidFill>
                    <a:srgbClr val="0E0E10"/>
                  </a:solidFill>
                  <a:latin typeface="Inter" panose="020B0502030000000004" pitchFamily="34" charset="0"/>
                </a:rPr>
                <a:t>Merchant</a:t>
              </a:r>
            </a:p>
          </p:txBody>
        </p:sp>
      </p:grpSp>
      <p:cxnSp>
        <p:nvCxnSpPr>
          <p:cNvPr id="24" name="Connector 23"/>
          <p:cNvCxnSpPr/>
          <p:nvPr/>
        </p:nvCxnSpPr>
        <p:spPr>
          <a:xfrm>
            <a:off x="4050792" y="2487168"/>
            <a:ext cx="310896" cy="0"/>
          </a:xfrm>
          <a:prstGeom prst="line">
            <a:avLst/>
          </a:prstGeom>
          <a:ln w="19050">
            <a:solidFill>
              <a:srgbClr val="D9D8D1"/>
            </a:solidFill>
            <a:tailEnd type="triangle" w="med" len="med"/>
          </a:ln>
        </p:spPr>
      </p:cxnSp>
      <p:sp>
        <p:nvSpPr>
          <p:cNvPr id="25" name="TextBox 24"/>
          <p:cNvSpPr txBox="1"/>
          <p:nvPr/>
        </p:nvSpPr>
        <p:spPr>
          <a:xfrm>
            <a:off x="3895344" y="2798064"/>
            <a:ext cx="603504" cy="219456"/>
          </a:xfrm>
          <a:prstGeom prst="rect">
            <a:avLst/>
          </a:prstGeom>
          <a:noFill/>
        </p:spPr>
        <p:txBody>
          <a:bodyPr wrap="square" lIns="0" rIns="0" tIns="0" bIns="0" anchor="ctr">
            <a:noAutofit/>
          </a:bodyPr>
          <a:lstStyle/>
          <a:p>
            <a:pPr algn="ctr"/>
            <a:r>
              <a:rPr sz="900" b="1" i="0">
                <a:solidFill>
                  <a:srgbClr val="A15C07"/>
                </a:solidFill>
                <a:latin typeface="Inter" panose="020B0502030000000004" pitchFamily="34" charset="0"/>
              </a:rPr>
              <a:t>fee</a:t>
            </a:r>
          </a:p>
        </p:txBody>
      </p:sp>
      <p:grpSp>
        <p:nvGrpSpPr>
          <p:cNvPr id="26" name="Group 25"/>
          <p:cNvGrpSpPr/>
          <p:nvPr/>
        </p:nvGrpSpPr>
        <p:grpSpPr>
          <a:xfrm>
            <a:off x="4389120" y="2212848"/>
            <a:ext cx="1371600" cy="548640"/>
            <a:chOff x="4389120" y="2212848"/>
            <a:chExt cx="1371600" cy="548640"/>
          </a:xfrm>
        </p:grpSpPr>
        <p:sp>
          <p:nvSpPr>
            <p:cNvPr id="27" name="Rounded Rectangle 26"/>
            <p:cNvSpPr/>
            <p:nvPr/>
          </p:nvSpPr>
          <p:spPr>
            <a:xfrm>
              <a:off x="4389120" y="2212848"/>
              <a:ext cx="1371600" cy="548640"/>
            </a:xfrm>
            <a:prstGeom prst="roundRect">
              <a:avLst>
                <a:gd name="adj" fmla="val 50000"/>
              </a:avLst>
            </a:prstGeom>
            <a:solidFill>
              <a:srgbClr val="0E0E10"/>
            </a:solidFill>
            <a:ln>
              <a:noFill/>
            </a:ln>
          </p:spPr>
          <p:txBody>
            <a:bodyPr rtlCol="0" anchor="ctr"/>
            <a:lstStyle/>
            <a:p>
              <a:pPr algn="ctr"/>
            </a:p>
          </p:txBody>
        </p:sp>
        <p:sp>
          <p:nvSpPr>
            <p:cNvPr id="28" name="TextBox 27"/>
            <p:cNvSpPr txBox="1"/>
            <p:nvPr/>
          </p:nvSpPr>
          <p:spPr>
            <a:xfrm>
              <a:off x="4389120" y="2212848"/>
              <a:ext cx="1371600" cy="548640"/>
            </a:xfrm>
            <a:prstGeom prst="rect">
              <a:avLst/>
            </a:prstGeom>
            <a:noFill/>
          </p:spPr>
          <p:txBody>
            <a:bodyPr wrap="square" lIns="0" rIns="0" tIns="0" bIns="0" anchor="ctr">
              <a:noAutofit/>
            </a:bodyPr>
            <a:lstStyle/>
            <a:p>
              <a:pPr algn="ctr"/>
              <a:r>
                <a:rPr sz="1200" b="1" i="0">
                  <a:solidFill>
                    <a:srgbClr val="FFFFFF"/>
                  </a:solidFill>
                  <a:latin typeface="Inter" panose="020B0502030000000004" pitchFamily="34" charset="0"/>
                </a:rPr>
                <a:t>Bidwire</a:t>
              </a:r>
            </a:p>
          </p:txBody>
        </p:sp>
      </p:grpSp>
      <p:sp>
        <p:nvSpPr>
          <p:cNvPr id="29" name="TextBox 28"/>
          <p:cNvSpPr txBox="1"/>
          <p:nvPr/>
        </p:nvSpPr>
        <p:spPr>
          <a:xfrm>
            <a:off x="914400" y="3017520"/>
            <a:ext cx="4983480" cy="237744"/>
          </a:xfrm>
          <a:prstGeom prst="rect">
            <a:avLst/>
          </a:prstGeom>
          <a:noFill/>
        </p:spPr>
        <p:txBody>
          <a:bodyPr wrap="square" lIns="0" rIns="0" tIns="0" bIns="0" anchor="ctr">
            <a:noAutofit/>
          </a:bodyPr>
          <a:lstStyle/>
          <a:p>
            <a:pPr algn="r"/>
            <a:r>
              <a:rPr sz="950" b="0" i="0">
                <a:solidFill>
                  <a:srgbClr val="A15C07"/>
                </a:solidFill>
                <a:latin typeface="Inter" panose="020B0502030000000004" pitchFamily="34" charset="0"/>
              </a:rPr>
              <a:t>The fee is charged only on a verified sale.</a:t>
            </a:r>
          </a:p>
        </p:txBody>
      </p:sp>
      <p:grpSp>
        <p:nvGrpSpPr>
          <p:cNvPr id="30" name="Group 29"/>
          <p:cNvGrpSpPr/>
          <p:nvPr/>
        </p:nvGrpSpPr>
        <p:grpSpPr>
          <a:xfrm>
            <a:off x="914400" y="3456432"/>
            <a:ext cx="4983480" cy="640080"/>
            <a:chOff x="914400" y="3456432"/>
            <a:chExt cx="4983480" cy="640080"/>
          </a:xfrm>
        </p:grpSpPr>
        <p:sp>
          <p:nvSpPr>
            <p:cNvPr id="31" name="Oval 30"/>
            <p:cNvSpPr/>
            <p:nvPr/>
          </p:nvSpPr>
          <p:spPr>
            <a:xfrm>
              <a:off x="914400" y="3547872"/>
              <a:ext cx="91440" cy="91440"/>
            </a:xfrm>
            <a:prstGeom prst="ellipse">
              <a:avLst/>
            </a:prstGeom>
            <a:solidFill>
              <a:srgbClr val="12805C"/>
            </a:solidFill>
            <a:ln>
              <a:noFill/>
            </a:ln>
          </p:spPr>
          <p:txBody>
            <a:bodyPr rtlCol="0" anchor="ctr"/>
            <a:lstStyle/>
            <a:p>
              <a:pPr algn="ctr"/>
            </a:p>
          </p:txBody>
        </p:sp>
        <p:sp>
          <p:nvSpPr>
            <p:cNvPr id="32" name="TextBox 31"/>
            <p:cNvSpPr txBox="1"/>
            <p:nvPr/>
          </p:nvSpPr>
          <p:spPr>
            <a:xfrm>
              <a:off x="1143000" y="3456432"/>
              <a:ext cx="4754880" cy="640080"/>
            </a:xfrm>
            <a:prstGeom prst="rect">
              <a:avLst/>
            </a:prstGeom>
            <a:noFill/>
          </p:spPr>
          <p:txBody>
            <a:bodyPr wrap="square" lIns="0" rIns="0" tIns="0" bIns="0" anchor="t">
              <a:noAutofit/>
            </a:bodyPr>
            <a:lstStyle/>
            <a:p>
              <a:pPr algn="l">
                <a:lnSpc>
                  <a:spcPct val="108000"/>
                </a:lnSpc>
              </a:pPr>
              <a:r>
                <a:rPr sz="1250" b="1" i="0">
                  <a:solidFill>
                    <a:srgbClr val="0E0E10"/>
                  </a:solidFill>
                  <a:latin typeface="Inter" panose="020B0502030000000004" pitchFamily="34" charset="0"/>
                </a:rPr>
                <a:t>CPA, not CPM.</a:t>
              </a:r>
              <a:r>
                <a:rPr sz="1250" b="0" i="0">
                  <a:solidFill>
                    <a:srgbClr val="5D5D66"/>
                  </a:solidFill>
                  <a:latin typeface="Inter" panose="020B0502030000000004" pitchFamily="34" charset="0"/>
                </a:rPr>
                <a:t> The fee a merchant bids is charged only when an agent buys a verified offer.</a:t>
              </a:r>
            </a:p>
          </p:txBody>
        </p:sp>
      </p:grpSp>
      <p:grpSp>
        <p:nvGrpSpPr>
          <p:cNvPr id="33" name="Group 32"/>
          <p:cNvGrpSpPr/>
          <p:nvPr/>
        </p:nvGrpSpPr>
        <p:grpSpPr>
          <a:xfrm>
            <a:off x="914400" y="4133088"/>
            <a:ext cx="4983480" cy="640080"/>
            <a:chOff x="914400" y="4133088"/>
            <a:chExt cx="4983480" cy="640080"/>
          </a:xfrm>
        </p:grpSpPr>
        <p:sp>
          <p:nvSpPr>
            <p:cNvPr id="34" name="Oval 33"/>
            <p:cNvSpPr/>
            <p:nvPr/>
          </p:nvSpPr>
          <p:spPr>
            <a:xfrm>
              <a:off x="914400" y="4224528"/>
              <a:ext cx="91440" cy="91440"/>
            </a:xfrm>
            <a:prstGeom prst="ellipse">
              <a:avLst/>
            </a:prstGeom>
            <a:solidFill>
              <a:srgbClr val="A15C07"/>
            </a:solidFill>
            <a:ln>
              <a:noFill/>
            </a:ln>
          </p:spPr>
          <p:txBody>
            <a:bodyPr rtlCol="0" anchor="ctr"/>
            <a:lstStyle/>
            <a:p>
              <a:pPr algn="ctr"/>
            </a:p>
          </p:txBody>
        </p:sp>
        <p:sp>
          <p:nvSpPr>
            <p:cNvPr id="35" name="TextBox 34"/>
            <p:cNvSpPr txBox="1"/>
            <p:nvPr/>
          </p:nvSpPr>
          <p:spPr>
            <a:xfrm>
              <a:off x="1143000" y="4133088"/>
              <a:ext cx="4754880" cy="640080"/>
            </a:xfrm>
            <a:prstGeom prst="rect">
              <a:avLst/>
            </a:prstGeom>
            <a:noFill/>
          </p:spPr>
          <p:txBody>
            <a:bodyPr wrap="square" lIns="0" rIns="0" tIns="0" bIns="0" anchor="t">
              <a:noAutofit/>
            </a:bodyPr>
            <a:lstStyle/>
            <a:p>
              <a:pPr algn="l">
                <a:lnSpc>
                  <a:spcPct val="108000"/>
                </a:lnSpc>
              </a:pPr>
              <a:r>
                <a:rPr sz="1250" b="1" i="0">
                  <a:solidFill>
                    <a:srgbClr val="0E0E10"/>
                  </a:solidFill>
                  <a:latin typeface="Inter" panose="020B0502030000000004" pitchFamily="34" charset="0"/>
                </a:rPr>
                <a:t>That fee is our take rate.</a:t>
              </a:r>
              <a:r>
                <a:rPr sz="1250" b="0" i="0">
                  <a:solidFill>
                    <a:srgbClr val="5D5D66"/>
                  </a:solidFill>
                  <a:latin typeface="Inter" panose="020B0502030000000004" pitchFamily="34" charset="0"/>
                </a:rPr>
                <a:t> No impressions. No clicks. No pay-to-rank.</a:t>
              </a:r>
            </a:p>
          </p:txBody>
        </p:sp>
      </p:grpSp>
      <p:grpSp>
        <p:nvGrpSpPr>
          <p:cNvPr id="36" name="Group 35"/>
          <p:cNvGrpSpPr/>
          <p:nvPr/>
        </p:nvGrpSpPr>
        <p:grpSpPr>
          <a:xfrm>
            <a:off x="914400" y="4809744"/>
            <a:ext cx="4983480" cy="640080"/>
            <a:chOff x="914400" y="4809744"/>
            <a:chExt cx="4983480" cy="640080"/>
          </a:xfrm>
        </p:grpSpPr>
        <p:sp>
          <p:nvSpPr>
            <p:cNvPr id="37" name="Oval 36"/>
            <p:cNvSpPr/>
            <p:nvPr/>
          </p:nvSpPr>
          <p:spPr>
            <a:xfrm>
              <a:off x="914400" y="4901184"/>
              <a:ext cx="91440" cy="91440"/>
            </a:xfrm>
            <a:prstGeom prst="ellipse">
              <a:avLst/>
            </a:prstGeom>
            <a:solidFill>
              <a:srgbClr val="2F5BEA"/>
            </a:solidFill>
            <a:ln>
              <a:noFill/>
            </a:ln>
          </p:spPr>
          <p:txBody>
            <a:bodyPr rtlCol="0" anchor="ctr"/>
            <a:lstStyle/>
            <a:p>
              <a:pPr algn="ctr"/>
            </a:p>
          </p:txBody>
        </p:sp>
        <p:sp>
          <p:nvSpPr>
            <p:cNvPr id="38" name="TextBox 37"/>
            <p:cNvSpPr txBox="1"/>
            <p:nvPr/>
          </p:nvSpPr>
          <p:spPr>
            <a:xfrm>
              <a:off x="1143000" y="4809744"/>
              <a:ext cx="4754880" cy="640080"/>
            </a:xfrm>
            <a:prstGeom prst="rect">
              <a:avLst/>
            </a:prstGeom>
            <a:noFill/>
          </p:spPr>
          <p:txBody>
            <a:bodyPr wrap="square" lIns="0" rIns="0" tIns="0" bIns="0" anchor="t">
              <a:noAutofit/>
            </a:bodyPr>
            <a:lstStyle/>
            <a:p>
              <a:pPr algn="l">
                <a:lnSpc>
                  <a:spcPct val="108000"/>
                </a:lnSpc>
              </a:pPr>
              <a:r>
                <a:rPr sz="1250" b="1" i="0">
                  <a:solidFill>
                    <a:srgbClr val="0E0E10"/>
                  </a:solidFill>
                  <a:latin typeface="Inter" panose="020B0502030000000004" pitchFamily="34" charset="0"/>
                </a:rPr>
                <a:t>Wedge:</a:t>
              </a:r>
              <a:r>
                <a:rPr sz="1250" b="0" i="0">
                  <a:solidFill>
                    <a:srgbClr val="5D5D66"/>
                  </a:solidFill>
                  <a:latin typeface="Inter" panose="020B0502030000000004" pitchFamily="34" charset="0"/>
                </a:rPr>
                <a:t> DTC merchants and agent shopping apps.</a:t>
              </a:r>
            </a:p>
          </p:txBody>
        </p:sp>
      </p:grpSp>
      <p:grpSp>
        <p:nvGrpSpPr>
          <p:cNvPr id="39" name="Group 38"/>
          <p:cNvGrpSpPr/>
          <p:nvPr/>
        </p:nvGrpSpPr>
        <p:grpSpPr>
          <a:xfrm>
            <a:off x="914400" y="5486400"/>
            <a:ext cx="4983480" cy="640080"/>
            <a:chOff x="914400" y="5486400"/>
            <a:chExt cx="4983480" cy="640080"/>
          </a:xfrm>
        </p:grpSpPr>
        <p:sp>
          <p:nvSpPr>
            <p:cNvPr id="40" name="Oval 39"/>
            <p:cNvSpPr/>
            <p:nvPr/>
          </p:nvSpPr>
          <p:spPr>
            <a:xfrm>
              <a:off x="914400" y="5577840"/>
              <a:ext cx="91440" cy="91440"/>
            </a:xfrm>
            <a:prstGeom prst="ellipse">
              <a:avLst/>
            </a:prstGeom>
            <a:solidFill>
              <a:srgbClr val="F2561D"/>
            </a:solidFill>
            <a:ln>
              <a:noFill/>
            </a:ln>
          </p:spPr>
          <p:txBody>
            <a:bodyPr rtlCol="0" anchor="ctr"/>
            <a:lstStyle/>
            <a:p>
              <a:pPr algn="ctr"/>
            </a:p>
          </p:txBody>
        </p:sp>
        <p:sp>
          <p:nvSpPr>
            <p:cNvPr id="41" name="TextBox 40"/>
            <p:cNvSpPr txBox="1"/>
            <p:nvPr/>
          </p:nvSpPr>
          <p:spPr>
            <a:xfrm>
              <a:off x="1143000" y="5486400"/>
              <a:ext cx="4754880" cy="640080"/>
            </a:xfrm>
            <a:prstGeom prst="rect">
              <a:avLst/>
            </a:prstGeom>
            <a:noFill/>
          </p:spPr>
          <p:txBody>
            <a:bodyPr wrap="square" lIns="0" rIns="0" tIns="0" bIns="0" anchor="t">
              <a:noAutofit/>
            </a:bodyPr>
            <a:lstStyle/>
            <a:p>
              <a:pPr algn="l">
                <a:lnSpc>
                  <a:spcPct val="108000"/>
                </a:lnSpc>
              </a:pPr>
              <a:r>
                <a:rPr sz="1250" b="1" i="0">
                  <a:solidFill>
                    <a:srgbClr val="0E0E10"/>
                  </a:solidFill>
                  <a:latin typeface="Inter" panose="020B0502030000000004" pitchFamily="34" charset="0"/>
                </a:rPr>
                <a:t>Long game:</a:t>
              </a:r>
              <a:r>
                <a:rPr sz="1250" b="0" i="0">
                  <a:solidFill>
                    <a:srgbClr val="5D5D66"/>
                  </a:solidFill>
                  <a:latin typeface="Inter" panose="020B0502030000000004" pitchFamily="34" charset="0"/>
                </a:rPr>
                <a:t> the trust and reputation layer for agent commerce.</a:t>
              </a:r>
            </a:p>
          </p:txBody>
        </p:sp>
      </p:grpSp>
      <p:grpSp>
        <p:nvGrpSpPr>
          <p:cNvPr id="42" name="Group 41"/>
          <p:cNvGrpSpPr/>
          <p:nvPr/>
        </p:nvGrpSpPr>
        <p:grpSpPr>
          <a:xfrm>
            <a:off x="6355080" y="1627632"/>
            <a:ext cx="5148072" cy="4645152"/>
            <a:chOff x="6355080" y="1627632"/>
            <a:chExt cx="5148072" cy="4645152"/>
          </a:xfrm>
        </p:grpSpPr>
        <p:sp>
          <p:nvSpPr>
            <p:cNvPr id="43" name="Rounded Rectangle 42"/>
            <p:cNvSpPr/>
            <p:nvPr/>
          </p:nvSpPr>
          <p:spPr>
            <a:xfrm>
              <a:off x="6355080" y="1627632"/>
              <a:ext cx="5148072" cy="4645152"/>
            </a:xfrm>
            <a:prstGeom prst="roundRect">
              <a:avLst>
                <a:gd name="adj" fmla="val 2362"/>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44" name="TextBox 43"/>
            <p:cNvSpPr txBox="1"/>
            <p:nvPr/>
          </p:nvSpPr>
          <p:spPr>
            <a:xfrm>
              <a:off x="6583680" y="1783080"/>
              <a:ext cx="475488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Why now</a:t>
              </a:r>
            </a:p>
          </p:txBody>
        </p:sp>
      </p:grpSp>
      <p:sp>
        <p:nvSpPr>
          <p:cNvPr id="45" name="Rectangle 44"/>
          <p:cNvSpPr/>
          <p:nvPr/>
        </p:nvSpPr>
        <p:spPr>
          <a:xfrm>
            <a:off x="6688836" y="2331720"/>
            <a:ext cx="18288" cy="2011680"/>
          </a:xfrm>
          <a:prstGeom prst="rect">
            <a:avLst/>
          </a:prstGeom>
          <a:solidFill>
            <a:srgbClr val="E9E8E3"/>
          </a:solidFill>
          <a:ln>
            <a:noFill/>
          </a:ln>
        </p:spPr>
        <p:txBody>
          <a:bodyPr rtlCol="0" anchor="ctr"/>
          <a:lstStyle/>
          <a:p>
            <a:pPr algn="ctr"/>
          </a:p>
        </p:txBody>
      </p:sp>
      <p:grpSp>
        <p:nvGrpSpPr>
          <p:cNvPr id="46" name="Group 45"/>
          <p:cNvGrpSpPr/>
          <p:nvPr/>
        </p:nvGrpSpPr>
        <p:grpSpPr>
          <a:xfrm>
            <a:off x="6611112" y="2194560"/>
            <a:ext cx="4700016" cy="914400"/>
            <a:chOff x="6611112" y="2194560"/>
            <a:chExt cx="4700016" cy="914400"/>
          </a:xfrm>
        </p:grpSpPr>
        <p:sp>
          <p:nvSpPr>
            <p:cNvPr id="47" name="Oval 46"/>
            <p:cNvSpPr/>
            <p:nvPr/>
          </p:nvSpPr>
          <p:spPr>
            <a:xfrm>
              <a:off x="6611112" y="2249424"/>
              <a:ext cx="173736" cy="173736"/>
            </a:xfrm>
            <a:prstGeom prst="ellipse">
              <a:avLst/>
            </a:prstGeom>
            <a:solidFill>
              <a:srgbClr val="D9D8D1"/>
            </a:solidFill>
            <a:ln w="25400">
              <a:solidFill>
                <a:srgbClr val="FFFFFF"/>
              </a:solidFill>
            </a:ln>
          </p:spPr>
          <p:txBody>
            <a:bodyPr rtlCol="0" anchor="ctr"/>
            <a:lstStyle/>
            <a:p>
              <a:pPr algn="ctr"/>
            </a:p>
          </p:txBody>
        </p:sp>
        <p:sp>
          <p:nvSpPr>
            <p:cNvPr id="48" name="TextBox 47"/>
            <p:cNvSpPr txBox="1"/>
            <p:nvPr/>
          </p:nvSpPr>
          <p:spPr>
            <a:xfrm>
              <a:off x="6967728" y="2194560"/>
              <a:ext cx="4297680"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18 months ago   </a:t>
              </a:r>
              <a:r>
                <a:rPr sz="1100" b="0" i="0">
                  <a:solidFill>
                    <a:srgbClr val="9A9AA3"/>
                  </a:solidFill>
                  <a:latin typeface="Inter" panose="020B0502030000000004" pitchFamily="34" charset="0"/>
                </a:rPr>
                <a:t>YC kickoff</a:t>
              </a:r>
            </a:p>
          </p:txBody>
        </p:sp>
        <p:sp>
          <p:nvSpPr>
            <p:cNvPr id="49" name="TextBox 48"/>
            <p:cNvSpPr txBox="1"/>
            <p:nvPr/>
          </p:nvSpPr>
          <p:spPr>
            <a:xfrm>
              <a:off x="6967728" y="2468880"/>
              <a:ext cx="4343400" cy="640080"/>
            </a:xfrm>
            <a:prstGeom prst="rect">
              <a:avLst/>
            </a:prstGeom>
            <a:noFill/>
          </p:spPr>
          <p:txBody>
            <a:bodyPr wrap="square" lIns="0" rIns="0" tIns="0" bIns="0" anchor="t">
              <a:noAutofit/>
            </a:bodyPr>
            <a:lstStyle/>
            <a:p>
              <a:pPr algn="l">
                <a:lnSpc>
                  <a:spcPct val="106000"/>
                </a:lnSpc>
              </a:pPr>
              <a:r>
                <a:rPr sz="1150" b="0" i="0">
                  <a:solidFill>
                    <a:srgbClr val="5D5D66"/>
                  </a:solidFill>
                  <a:latin typeface="Inter" panose="020B0502030000000004" pitchFamily="34" charset="0"/>
                </a:rPr>
                <a:t>No MCP. No ACP. No agent had a credit card or a login.</a:t>
              </a:r>
            </a:p>
          </p:txBody>
        </p:sp>
      </p:grpSp>
      <p:grpSp>
        <p:nvGrpSpPr>
          <p:cNvPr id="50" name="Group 49"/>
          <p:cNvGrpSpPr/>
          <p:nvPr/>
        </p:nvGrpSpPr>
        <p:grpSpPr>
          <a:xfrm>
            <a:off x="6611112" y="3127248"/>
            <a:ext cx="4700016" cy="914400"/>
            <a:chOff x="6611112" y="3127248"/>
            <a:chExt cx="4700016" cy="914400"/>
          </a:xfrm>
        </p:grpSpPr>
        <p:sp>
          <p:nvSpPr>
            <p:cNvPr id="51" name="Oval 50"/>
            <p:cNvSpPr/>
            <p:nvPr/>
          </p:nvSpPr>
          <p:spPr>
            <a:xfrm>
              <a:off x="6611112" y="3182112"/>
              <a:ext cx="173736" cy="173736"/>
            </a:xfrm>
            <a:prstGeom prst="ellipse">
              <a:avLst/>
            </a:prstGeom>
            <a:solidFill>
              <a:srgbClr val="2F5BEA"/>
            </a:solidFill>
            <a:ln w="25400">
              <a:solidFill>
                <a:srgbClr val="FFFFFF"/>
              </a:solidFill>
            </a:ln>
          </p:spPr>
          <p:txBody>
            <a:bodyPr rtlCol="0" anchor="ctr"/>
            <a:lstStyle/>
            <a:p>
              <a:pPr algn="ctr"/>
            </a:p>
          </p:txBody>
        </p:sp>
        <p:sp>
          <p:nvSpPr>
            <p:cNvPr id="52" name="TextBox 51"/>
            <p:cNvSpPr txBox="1"/>
            <p:nvPr/>
          </p:nvSpPr>
          <p:spPr>
            <a:xfrm>
              <a:off x="6967728" y="3127248"/>
              <a:ext cx="4297680"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This year</a:t>
              </a:r>
            </a:p>
          </p:txBody>
        </p:sp>
        <p:sp>
          <p:nvSpPr>
            <p:cNvPr id="53" name="TextBox 52"/>
            <p:cNvSpPr txBox="1"/>
            <p:nvPr/>
          </p:nvSpPr>
          <p:spPr>
            <a:xfrm>
              <a:off x="6967728" y="3401568"/>
              <a:ext cx="4343400" cy="640080"/>
            </a:xfrm>
            <a:prstGeom prst="rect">
              <a:avLst/>
            </a:prstGeom>
            <a:noFill/>
          </p:spPr>
          <p:txBody>
            <a:bodyPr wrap="square" lIns="0" rIns="0" tIns="0" bIns="0" anchor="t">
              <a:noAutofit/>
            </a:bodyPr>
            <a:lstStyle/>
            <a:p>
              <a:pPr algn="l">
                <a:lnSpc>
                  <a:spcPct val="106000"/>
                </a:lnSpc>
              </a:pPr>
              <a:r>
                <a:rPr sz="1150" b="0" i="0">
                  <a:solidFill>
                    <a:srgbClr val="5D5D66"/>
                  </a:solidFill>
                  <a:latin typeface="Inter" panose="020B0502030000000004" pitchFamily="34" charset="0"/>
                </a:rPr>
                <a:t>Agents got wallets and protocols: MCP and ACP.</a:t>
              </a:r>
            </a:p>
          </p:txBody>
        </p:sp>
      </p:grpSp>
      <p:grpSp>
        <p:nvGrpSpPr>
          <p:cNvPr id="54" name="Group 53"/>
          <p:cNvGrpSpPr/>
          <p:nvPr/>
        </p:nvGrpSpPr>
        <p:grpSpPr>
          <a:xfrm>
            <a:off x="6611112" y="4059936"/>
            <a:ext cx="4700016" cy="914400"/>
            <a:chOff x="6611112" y="4059936"/>
            <a:chExt cx="4700016" cy="914400"/>
          </a:xfrm>
        </p:grpSpPr>
        <p:sp>
          <p:nvSpPr>
            <p:cNvPr id="55" name="Oval 54"/>
            <p:cNvSpPr/>
            <p:nvPr/>
          </p:nvSpPr>
          <p:spPr>
            <a:xfrm>
              <a:off x="6611112" y="4114800"/>
              <a:ext cx="173736" cy="173736"/>
            </a:xfrm>
            <a:prstGeom prst="ellipse">
              <a:avLst/>
            </a:prstGeom>
            <a:solidFill>
              <a:srgbClr val="F2561D"/>
            </a:solidFill>
            <a:ln w="25400">
              <a:solidFill>
                <a:srgbClr val="FFFFFF"/>
              </a:solidFill>
            </a:ln>
          </p:spPr>
          <p:txBody>
            <a:bodyPr rtlCol="0" anchor="ctr"/>
            <a:lstStyle/>
            <a:p>
              <a:pPr algn="ctr"/>
            </a:p>
          </p:txBody>
        </p:sp>
        <p:sp>
          <p:nvSpPr>
            <p:cNvPr id="56" name="TextBox 55"/>
            <p:cNvSpPr txBox="1"/>
            <p:nvPr/>
          </p:nvSpPr>
          <p:spPr>
            <a:xfrm>
              <a:off x="6967728" y="4059936"/>
              <a:ext cx="4297680" cy="274320"/>
            </a:xfrm>
            <a:prstGeom prst="rect">
              <a:avLst/>
            </a:prstGeom>
            <a:noFill/>
          </p:spPr>
          <p:txBody>
            <a:bodyPr wrap="square" lIns="0" rIns="0" tIns="0" bIns="0" anchor="ctr">
              <a:noAutofit/>
            </a:bodyPr>
            <a:lstStyle/>
            <a:p>
              <a:pPr algn="l"/>
              <a:r>
                <a:rPr sz="1100" b="1" i="0">
                  <a:solidFill>
                    <a:srgbClr val="0E0E10"/>
                  </a:solidFill>
                  <a:latin typeface="Inter" panose="020B0502030000000004" pitchFamily="34" charset="0"/>
                </a:rPr>
                <a:t>Now   </a:t>
              </a:r>
              <a:r>
                <a:rPr sz="1100" b="0" i="0">
                  <a:solidFill>
                    <a:srgbClr val="9A9AA3"/>
                  </a:solidFill>
                  <a:latin typeface="Inter" panose="020B0502030000000004" pitchFamily="34" charset="0"/>
                </a:rPr>
                <a:t>paraphrased</a:t>
              </a:r>
            </a:p>
          </p:txBody>
        </p:sp>
        <p:sp>
          <p:nvSpPr>
            <p:cNvPr id="57" name="TextBox 56"/>
            <p:cNvSpPr txBox="1"/>
            <p:nvPr/>
          </p:nvSpPr>
          <p:spPr>
            <a:xfrm>
              <a:off x="6967728" y="4334256"/>
              <a:ext cx="4343400" cy="640080"/>
            </a:xfrm>
            <a:prstGeom prst="rect">
              <a:avLst/>
            </a:prstGeom>
            <a:noFill/>
          </p:spPr>
          <p:txBody>
            <a:bodyPr wrap="square" lIns="0" rIns="0" tIns="0" bIns="0" anchor="t">
              <a:noAutofit/>
            </a:bodyPr>
            <a:lstStyle/>
            <a:p>
              <a:pPr algn="l">
                <a:lnSpc>
                  <a:spcPct val="106000"/>
                </a:lnSpc>
              </a:pPr>
              <a:r>
                <a:rPr sz="1150" b="0" i="0">
                  <a:solidFill>
                    <a:srgbClr val="5D5D66"/>
                  </a:solidFill>
                  <a:latin typeface="Inter" panose="020B0502030000000004" pitchFamily="34" charset="0"/>
                </a:rPr>
                <a:t>Paul Graham: Amazon banning agents is the biggest opening since Amazon. People will want agents to buy things for them.</a:t>
              </a:r>
            </a:p>
          </p:txBody>
        </p:sp>
      </p:grpSp>
      <p:grpSp>
        <p:nvGrpSpPr>
          <p:cNvPr id="58" name="Group 57"/>
          <p:cNvGrpSpPr/>
          <p:nvPr/>
        </p:nvGrpSpPr>
        <p:grpSpPr>
          <a:xfrm>
            <a:off x="6583680" y="5074920"/>
            <a:ext cx="4690872" cy="987552"/>
            <a:chOff x="6583680" y="5074920"/>
            <a:chExt cx="4690872" cy="987552"/>
          </a:xfrm>
        </p:grpSpPr>
        <p:sp>
          <p:nvSpPr>
            <p:cNvPr id="59" name="Rounded Rectangle 58"/>
            <p:cNvSpPr/>
            <p:nvPr/>
          </p:nvSpPr>
          <p:spPr>
            <a:xfrm>
              <a:off x="6583680" y="5074920"/>
              <a:ext cx="4690872" cy="987552"/>
            </a:xfrm>
            <a:prstGeom prst="roundRect">
              <a:avLst>
                <a:gd name="adj" fmla="val 11111"/>
              </a:avLst>
            </a:prstGeom>
            <a:solidFill>
              <a:srgbClr val="FFF4E2"/>
            </a:solidFill>
            <a:ln>
              <a:noFill/>
            </a:ln>
          </p:spPr>
          <p:txBody>
            <a:bodyPr rtlCol="0" anchor="ctr"/>
            <a:lstStyle/>
            <a:p>
              <a:pPr algn="ctr"/>
            </a:p>
          </p:txBody>
        </p:sp>
        <p:sp>
          <p:nvSpPr>
            <p:cNvPr id="60" name="TextBox 59"/>
            <p:cNvSpPr txBox="1"/>
            <p:nvPr/>
          </p:nvSpPr>
          <p:spPr>
            <a:xfrm>
              <a:off x="6784848" y="5120640"/>
              <a:ext cx="4343400" cy="896112"/>
            </a:xfrm>
            <a:prstGeom prst="rect">
              <a:avLst/>
            </a:prstGeom>
            <a:noFill/>
          </p:spPr>
          <p:txBody>
            <a:bodyPr wrap="square" lIns="0" rIns="0" tIns="0" bIns="0" anchor="ctr">
              <a:noAutofit/>
            </a:bodyPr>
            <a:lstStyle/>
            <a:p>
              <a:pPr algn="l">
                <a:lnSpc>
                  <a:spcPct val="108000"/>
                </a:lnSpc>
              </a:pPr>
              <a:r>
                <a:rPr sz="1100" b="1" i="0">
                  <a:solidFill>
                    <a:srgbClr val="A15C07"/>
                  </a:solidFill>
                  <a:latin typeface="Inter" panose="020B0502030000000004" pitchFamily="34" charset="0"/>
                </a:rPr>
                <a:t>Search ads are a ~$200B+/yr business</a:t>
              </a:r>
              <a:r>
                <a:rPr sz="1100" b="0" i="0">
                  <a:solidFill>
                    <a:srgbClr val="0E0E10"/>
                  </a:solidFill>
                  <a:latin typeface="Inter" panose="020B0502030000000004" pitchFamily="34" charset="0"/>
                </a:rPr>
                <a:t> built on human attention. Agents don't look at ads, so that spend has to compete on verifiable offers.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anim calcmode="lin" valueType="num">
                                      <p:cBhvr additive="base">
                                        <p:cTn id="16"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3"/>
                                        </p:tgtEl>
                                        <p:attrNameLst>
                                          <p:attrName>ppt_y</p:attrName>
                                        </p:attrNameLst>
                                      </p:cBhvr>
                                      <p:tavLst>
                                        <p:tav tm="0">
                                          <p:val>
                                            <p:strVal val="#ppt_y+0.025"/>
                                          </p:val>
                                        </p:tav>
                                        <p:tav tm="100000">
                                          <p:val>
                                            <p:strVal val="#ppt_y"/>
                                          </p:val>
                                        </p:tav>
                                      </p:tavLst>
                                    </p:anim>
                                  </p:childTnLst>
                                </p:cTn>
                              </p:par>
                              <p:par>
                                <p:cTn id="18" presetID="53" presetClass="entr" presetSubtype="16" fill="hold" grpId="0" nodeType="withEffect">
                                  <p:stCondLst>
                                    <p:cond delay="4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210"/>
                                        <p:tgtEl>
                                          <p:spTgt spid="16"/>
                                        </p:tgtEl>
                                      </p:cBhvr>
                                    </p:animEffect>
                                    <p:anim calcmode="lin" valueType="num">
                                      <p:cBhvr additive="base">
                                        <p:cTn id="21" dur="350" fill="hold" decel="100000"/>
                                        <p:tgtEl>
                                          <p:spTgt spid="16"/>
                                        </p:tgtEl>
                                        <p:attrNameLst>
                                          <p:attrName>ppt_w</p:attrName>
                                        </p:attrNameLst>
                                      </p:cBhvr>
                                      <p:tavLst>
                                        <p:tav tm="0">
                                          <p:val>
                                            <p:strVal val="#ppt_w*0.85"/>
                                          </p:val>
                                        </p:tav>
                                        <p:tav tm="100000">
                                          <p:val>
                                            <p:strVal val="#ppt_w"/>
                                          </p:val>
                                        </p:tav>
                                      </p:tavLst>
                                    </p:anim>
                                    <p:anim calcmode="lin" valueType="num">
                                      <p:cBhvr additive="base">
                                        <p:cTn id="22" dur="350" fill="hold" decel="100000"/>
                                        <p:tgtEl>
                                          <p:spTgt spid="16"/>
                                        </p:tgtEl>
                                        <p:attrNameLst>
                                          <p:attrName>ppt_h</p:attrName>
                                        </p:attrNameLst>
                                      </p:cBhvr>
                                      <p:tavLst>
                                        <p:tav tm="0">
                                          <p:val>
                                            <p:strVal val="#ppt_h*0.85"/>
                                          </p:val>
                                        </p:tav>
                                        <p:tav tm="100000">
                                          <p:val>
                                            <p:strVal val="#ppt_h"/>
                                          </p:val>
                                        </p:tav>
                                      </p:tavLst>
                                    </p:anim>
                                  </p:childTnLst>
                                </p:cTn>
                              </p:par>
                              <p:par>
                                <p:cTn id="23" presetID="22" presetClass="entr" presetSubtype="8" fill="hold" grpId="0" nodeType="withEffect">
                                  <p:stCondLst>
                                    <p:cond delay="580"/>
                                  </p:stCondLst>
                                  <p:childTnLst>
                                    <p:set>
                                      <p:cBhvr>
                                        <p:cTn id="24" dur="1" fill="hold">
                                          <p:stCondLst>
                                            <p:cond delay="0"/>
                                          </p:stCondLst>
                                        </p:cTn>
                                        <p:tgtEl>
                                          <p:spTgt spid="19"/>
                                        </p:tgtEl>
                                        <p:attrNameLst>
                                          <p:attrName>style.visibility</p:attrName>
                                        </p:attrNameLst>
                                      </p:cBhvr>
                                      <p:to>
                                        <p:strVal val="visible"/>
                                      </p:to>
                                    </p:set>
                                    <p:animEffect transition="in" filter="wipe(left)">
                                      <p:cBhvr>
                                        <p:cTn id="25" dur="220"/>
                                        <p:tgtEl>
                                          <p:spTgt spid="19"/>
                                        </p:tgtEl>
                                      </p:cBhvr>
                                    </p:animEffect>
                                  </p:childTnLst>
                                </p:cTn>
                              </p:par>
                              <p:par>
                                <p:cTn id="26" presetID="53" presetClass="entr" presetSubtype="16" fill="hold" grpId="0" nodeType="withEffect">
                                  <p:stCondLst>
                                    <p:cond delay="67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210"/>
                                        <p:tgtEl>
                                          <p:spTgt spid="21"/>
                                        </p:tgtEl>
                                      </p:cBhvr>
                                    </p:animEffect>
                                    <p:anim calcmode="lin" valueType="num">
                                      <p:cBhvr additive="base">
                                        <p:cTn id="29" dur="350" fill="hold" decel="100000"/>
                                        <p:tgtEl>
                                          <p:spTgt spid="21"/>
                                        </p:tgtEl>
                                        <p:attrNameLst>
                                          <p:attrName>ppt_w</p:attrName>
                                        </p:attrNameLst>
                                      </p:cBhvr>
                                      <p:tavLst>
                                        <p:tav tm="0">
                                          <p:val>
                                            <p:strVal val="#ppt_w*0.85"/>
                                          </p:val>
                                        </p:tav>
                                        <p:tav tm="100000">
                                          <p:val>
                                            <p:strVal val="#ppt_w"/>
                                          </p:val>
                                        </p:tav>
                                      </p:tavLst>
                                    </p:anim>
                                    <p:anim calcmode="lin" valueType="num">
                                      <p:cBhvr additive="base">
                                        <p:cTn id="30" dur="350" fill="hold" decel="100000"/>
                                        <p:tgtEl>
                                          <p:spTgt spid="21"/>
                                        </p:tgtEl>
                                        <p:attrNameLst>
                                          <p:attrName>ppt_h</p:attrName>
                                        </p:attrNameLst>
                                      </p:cBhvr>
                                      <p:tavLst>
                                        <p:tav tm="0">
                                          <p:val>
                                            <p:strVal val="#ppt_h*0.85"/>
                                          </p:val>
                                        </p:tav>
                                        <p:tav tm="100000">
                                          <p:val>
                                            <p:strVal val="#ppt_h"/>
                                          </p:val>
                                        </p:tav>
                                      </p:tavLst>
                                    </p:anim>
                                  </p:childTnLst>
                                </p:cTn>
                              </p:par>
                              <p:par>
                                <p:cTn id="31" presetID="22" presetClass="entr" presetSubtype="8" fill="hold" grpId="0" nodeType="withEffect">
                                  <p:stCondLst>
                                    <p:cond delay="800"/>
                                  </p:stCondLst>
                                  <p:childTnLst>
                                    <p:set>
                                      <p:cBhvr>
                                        <p:cTn id="32" dur="1" fill="hold">
                                          <p:stCondLst>
                                            <p:cond delay="0"/>
                                          </p:stCondLst>
                                        </p:cTn>
                                        <p:tgtEl>
                                          <p:spTgt spid="24"/>
                                        </p:tgtEl>
                                        <p:attrNameLst>
                                          <p:attrName>style.visibility</p:attrName>
                                        </p:attrNameLst>
                                      </p:cBhvr>
                                      <p:to>
                                        <p:strVal val="visible"/>
                                      </p:to>
                                    </p:set>
                                    <p:animEffect transition="in" filter="wipe(left)">
                                      <p:cBhvr>
                                        <p:cTn id="33" dur="220"/>
                                        <p:tgtEl>
                                          <p:spTgt spid="24"/>
                                        </p:tgtEl>
                                      </p:cBhvr>
                                    </p:animEffect>
                                  </p:childTnLst>
                                </p:cTn>
                              </p:par>
                              <p:par>
                                <p:cTn id="34" presetID="53" presetClass="entr" presetSubtype="16" fill="hold" grpId="0" nodeType="withEffect">
                                  <p:stCondLst>
                                    <p:cond delay="89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210"/>
                                        <p:tgtEl>
                                          <p:spTgt spid="26"/>
                                        </p:tgtEl>
                                      </p:cBhvr>
                                    </p:animEffect>
                                    <p:anim calcmode="lin" valueType="num">
                                      <p:cBhvr additive="base">
                                        <p:cTn id="37" dur="350" fill="hold" decel="100000"/>
                                        <p:tgtEl>
                                          <p:spTgt spid="26"/>
                                        </p:tgtEl>
                                        <p:attrNameLst>
                                          <p:attrName>ppt_w</p:attrName>
                                        </p:attrNameLst>
                                      </p:cBhvr>
                                      <p:tavLst>
                                        <p:tav tm="0">
                                          <p:val>
                                            <p:strVal val="#ppt_w*0.85"/>
                                          </p:val>
                                        </p:tav>
                                        <p:tav tm="100000">
                                          <p:val>
                                            <p:strVal val="#ppt_w"/>
                                          </p:val>
                                        </p:tav>
                                      </p:tavLst>
                                    </p:anim>
                                    <p:anim calcmode="lin" valueType="num">
                                      <p:cBhvr additive="base">
                                        <p:cTn id="38" dur="350" fill="hold" decel="100000"/>
                                        <p:tgtEl>
                                          <p:spTgt spid="26"/>
                                        </p:tgtEl>
                                        <p:attrNameLst>
                                          <p:attrName>ppt_h</p:attrName>
                                        </p:attrNameLst>
                                      </p:cBhvr>
                                      <p:tavLst>
                                        <p:tav tm="0">
                                          <p:val>
                                            <p:strVal val="#ppt_h*0.85"/>
                                          </p:val>
                                        </p:tav>
                                        <p:tav tm="100000">
                                          <p:val>
                                            <p:strVal val="#ppt_h"/>
                                          </p:val>
                                        </p:tav>
                                      </p:tavLst>
                                    </p:anim>
                                  </p:childTnLst>
                                </p:cTn>
                              </p:par>
                              <p:par>
                                <p:cTn id="39" presetID="10" presetClass="entr" presetSubtype="0" fill="hold" grpId="0" nodeType="withEffect">
                                  <p:stCondLst>
                                    <p:cond delay="100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42" presetClass="entr" presetSubtype="0" fill="hold" grpId="0" nodeType="withEffect">
                                  <p:stCondLst>
                                    <p:cond delay="110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anim calcmode="lin" valueType="num">
                                      <p:cBhvr additive="base">
                                        <p:cTn id="45" dur="400" fill="hold" decel="100000"/>
                                        <p:tgtEl>
                                          <p:spTgt spid="30"/>
                                        </p:tgtEl>
                                        <p:attrNameLst>
                                          <p:attrName>ppt_x</p:attrName>
                                        </p:attrNameLst>
                                      </p:cBhvr>
                                      <p:tavLst>
                                        <p:tav tm="0">
                                          <p:val>
                                            <p:strVal val="#ppt_x"/>
                                          </p:val>
                                        </p:tav>
                                        <p:tav tm="100000">
                                          <p:val>
                                            <p:strVal val="#ppt_x"/>
                                          </p:val>
                                        </p:tav>
                                      </p:tavLst>
                                    </p:anim>
                                    <p:anim calcmode="lin" valueType="num">
                                      <p:cBhvr additive="base">
                                        <p:cTn id="46" dur="400" fill="hold" decel="100000"/>
                                        <p:tgtEl>
                                          <p:spTgt spid="30"/>
                                        </p:tgtEl>
                                        <p:attrNameLst>
                                          <p:attrName>ppt_y</p:attrName>
                                        </p:attrNameLst>
                                      </p:cBhvr>
                                      <p:tavLst>
                                        <p:tav tm="0">
                                          <p:val>
                                            <p:strVal val="#ppt_y+0.025"/>
                                          </p:val>
                                        </p:tav>
                                        <p:tav tm="100000">
                                          <p:val>
                                            <p:strVal val="#ppt_y"/>
                                          </p:val>
                                        </p:tav>
                                      </p:tavLst>
                                    </p:anim>
                                  </p:childTnLst>
                                </p:cTn>
                              </p:par>
                              <p:par>
                                <p:cTn id="47" presetID="42" presetClass="entr" presetSubtype="0" fill="hold" grpId="0" nodeType="withEffect">
                                  <p:stCondLst>
                                    <p:cond delay="122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anim calcmode="lin" valueType="num">
                                      <p:cBhvr additive="base">
                                        <p:cTn id="50" dur="400" fill="hold" decel="100000"/>
                                        <p:tgtEl>
                                          <p:spTgt spid="33"/>
                                        </p:tgtEl>
                                        <p:attrNameLst>
                                          <p:attrName>ppt_x</p:attrName>
                                        </p:attrNameLst>
                                      </p:cBhvr>
                                      <p:tavLst>
                                        <p:tav tm="0">
                                          <p:val>
                                            <p:strVal val="#ppt_x"/>
                                          </p:val>
                                        </p:tav>
                                        <p:tav tm="100000">
                                          <p:val>
                                            <p:strVal val="#ppt_x"/>
                                          </p:val>
                                        </p:tav>
                                      </p:tavLst>
                                    </p:anim>
                                    <p:anim calcmode="lin" valueType="num">
                                      <p:cBhvr additive="base">
                                        <p:cTn id="51" dur="400" fill="hold" decel="100000"/>
                                        <p:tgtEl>
                                          <p:spTgt spid="33"/>
                                        </p:tgtEl>
                                        <p:attrNameLst>
                                          <p:attrName>ppt_y</p:attrName>
                                        </p:attrNameLst>
                                      </p:cBhvr>
                                      <p:tavLst>
                                        <p:tav tm="0">
                                          <p:val>
                                            <p:strVal val="#ppt_y+0.025"/>
                                          </p:val>
                                        </p:tav>
                                        <p:tav tm="100000">
                                          <p:val>
                                            <p:strVal val="#ppt_y"/>
                                          </p:val>
                                        </p:tav>
                                      </p:tavLst>
                                    </p:anim>
                                  </p:childTnLst>
                                </p:cTn>
                              </p:par>
                              <p:par>
                                <p:cTn id="52" presetID="42" presetClass="entr" presetSubtype="0" fill="hold" grpId="0" nodeType="withEffect">
                                  <p:stCondLst>
                                    <p:cond delay="134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00"/>
                                        <p:tgtEl>
                                          <p:spTgt spid="36"/>
                                        </p:tgtEl>
                                      </p:cBhvr>
                                    </p:animEffect>
                                    <p:anim calcmode="lin" valueType="num">
                                      <p:cBhvr additive="base">
                                        <p:cTn id="55" dur="400" fill="hold" decel="100000"/>
                                        <p:tgtEl>
                                          <p:spTgt spid="36"/>
                                        </p:tgtEl>
                                        <p:attrNameLst>
                                          <p:attrName>ppt_x</p:attrName>
                                        </p:attrNameLst>
                                      </p:cBhvr>
                                      <p:tavLst>
                                        <p:tav tm="0">
                                          <p:val>
                                            <p:strVal val="#ppt_x"/>
                                          </p:val>
                                        </p:tav>
                                        <p:tav tm="100000">
                                          <p:val>
                                            <p:strVal val="#ppt_x"/>
                                          </p:val>
                                        </p:tav>
                                      </p:tavLst>
                                    </p:anim>
                                    <p:anim calcmode="lin" valueType="num">
                                      <p:cBhvr additive="base">
                                        <p:cTn id="56" dur="400" fill="hold" decel="100000"/>
                                        <p:tgtEl>
                                          <p:spTgt spid="36"/>
                                        </p:tgtEl>
                                        <p:attrNameLst>
                                          <p:attrName>ppt_y</p:attrName>
                                        </p:attrNameLst>
                                      </p:cBhvr>
                                      <p:tavLst>
                                        <p:tav tm="0">
                                          <p:val>
                                            <p:strVal val="#ppt_y+0.025"/>
                                          </p:val>
                                        </p:tav>
                                        <p:tav tm="100000">
                                          <p:val>
                                            <p:strVal val="#ppt_y"/>
                                          </p:val>
                                        </p:tav>
                                      </p:tavLst>
                                    </p:anim>
                                  </p:childTnLst>
                                </p:cTn>
                              </p:par>
                              <p:par>
                                <p:cTn id="57" presetID="42" presetClass="entr" presetSubtype="0" fill="hold" grpId="0" nodeType="withEffect">
                                  <p:stCondLst>
                                    <p:cond delay="146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anim calcmode="lin" valueType="num">
                                      <p:cBhvr additive="base">
                                        <p:cTn id="60" dur="400" fill="hold" decel="100000"/>
                                        <p:tgtEl>
                                          <p:spTgt spid="39"/>
                                        </p:tgtEl>
                                        <p:attrNameLst>
                                          <p:attrName>ppt_x</p:attrName>
                                        </p:attrNameLst>
                                      </p:cBhvr>
                                      <p:tavLst>
                                        <p:tav tm="0">
                                          <p:val>
                                            <p:strVal val="#ppt_x"/>
                                          </p:val>
                                        </p:tav>
                                        <p:tav tm="100000">
                                          <p:val>
                                            <p:strVal val="#ppt_x"/>
                                          </p:val>
                                        </p:tav>
                                      </p:tavLst>
                                    </p:anim>
                                    <p:anim calcmode="lin" valueType="num">
                                      <p:cBhvr additive="base">
                                        <p:cTn id="61" dur="400" fill="hold" decel="100000"/>
                                        <p:tgtEl>
                                          <p:spTgt spid="39"/>
                                        </p:tgtEl>
                                        <p:attrNameLst>
                                          <p:attrName>ppt_y</p:attrName>
                                        </p:attrNameLst>
                                      </p:cBhvr>
                                      <p:tavLst>
                                        <p:tav tm="0">
                                          <p:val>
                                            <p:strVal val="#ppt_y+0.025"/>
                                          </p:val>
                                        </p:tav>
                                        <p:tav tm="100000">
                                          <p:val>
                                            <p:strVal val="#ppt_y"/>
                                          </p:val>
                                        </p:tav>
                                      </p:tavLst>
                                    </p:anim>
                                  </p:childTnLst>
                                </p:cTn>
                              </p:par>
                              <p:par>
                                <p:cTn id="62" presetID="42" presetClass="entr" presetSubtype="0" fill="hold" grpId="0" nodeType="withEffect">
                                  <p:stCondLst>
                                    <p:cond delay="35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anim calcmode="lin" valueType="num">
                                      <p:cBhvr additive="base">
                                        <p:cTn id="65" dur="500" fill="hold" decel="100000"/>
                                        <p:tgtEl>
                                          <p:spTgt spid="42"/>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42"/>
                                        </p:tgtEl>
                                        <p:attrNameLst>
                                          <p:attrName>ppt_y</p:attrName>
                                        </p:attrNameLst>
                                      </p:cBhvr>
                                      <p:tavLst>
                                        <p:tav tm="0">
                                          <p:val>
                                            <p:strVal val="#ppt_y+0.025"/>
                                          </p:val>
                                        </p:tav>
                                        <p:tav tm="100000">
                                          <p:val>
                                            <p:strVal val="#ppt_y"/>
                                          </p:val>
                                        </p:tav>
                                      </p:tavLst>
                                    </p:anim>
                                  </p:childTnLst>
                                </p:cTn>
                              </p:par>
                              <p:par>
                                <p:cTn id="67" presetID="10" presetClass="entr" presetSubtype="0" fill="hold" grpId="0" nodeType="withEffect">
                                  <p:stCondLst>
                                    <p:cond delay="600"/>
                                  </p:stCondLst>
                                  <p:childTnLst>
                                    <p:set>
                                      <p:cBhvr>
                                        <p:cTn id="68" dur="1" fill="hold">
                                          <p:stCondLst>
                                            <p:cond delay="0"/>
                                          </p:stCondLst>
                                        </p:cTn>
                                        <p:tgtEl>
                                          <p:spTgt spid="45"/>
                                        </p:tgtEl>
                                        <p:attrNameLst>
                                          <p:attrName>style.visibility</p:attrName>
                                        </p:attrNameLst>
                                      </p:cBhvr>
                                      <p:to>
                                        <p:strVal val="visible"/>
                                      </p:to>
                                    </p:set>
                                    <p:animEffect transition="in" filter="fade">
                                      <p:cBhvr>
                                        <p:cTn id="69" dur="300"/>
                                        <p:tgtEl>
                                          <p:spTgt spid="45"/>
                                        </p:tgtEl>
                                      </p:cBhvr>
                                    </p:animEffect>
                                  </p:childTnLst>
                                </p:cTn>
                              </p:par>
                              <p:par>
                                <p:cTn id="70" presetID="42" presetClass="entr" presetSubtype="0" fill="hold" grpId="0" nodeType="withEffect">
                                  <p:stCondLst>
                                    <p:cond delay="70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50"/>
                                        <p:tgtEl>
                                          <p:spTgt spid="46"/>
                                        </p:tgtEl>
                                      </p:cBhvr>
                                    </p:animEffect>
                                    <p:anim calcmode="lin" valueType="num">
                                      <p:cBhvr additive="base">
                                        <p:cTn id="73" dur="450" fill="hold" decel="100000"/>
                                        <p:tgtEl>
                                          <p:spTgt spid="46"/>
                                        </p:tgtEl>
                                        <p:attrNameLst>
                                          <p:attrName>ppt_x</p:attrName>
                                        </p:attrNameLst>
                                      </p:cBhvr>
                                      <p:tavLst>
                                        <p:tav tm="0">
                                          <p:val>
                                            <p:strVal val="#ppt_x"/>
                                          </p:val>
                                        </p:tav>
                                        <p:tav tm="100000">
                                          <p:val>
                                            <p:strVal val="#ppt_x"/>
                                          </p:val>
                                        </p:tav>
                                      </p:tavLst>
                                    </p:anim>
                                    <p:anim calcmode="lin" valueType="num">
                                      <p:cBhvr additive="base">
                                        <p:cTn id="74" dur="450" fill="hold" decel="100000"/>
                                        <p:tgtEl>
                                          <p:spTgt spid="46"/>
                                        </p:tgtEl>
                                        <p:attrNameLst>
                                          <p:attrName>ppt_y</p:attrName>
                                        </p:attrNameLst>
                                      </p:cBhvr>
                                      <p:tavLst>
                                        <p:tav tm="0">
                                          <p:val>
                                            <p:strVal val="#ppt_y+0.025"/>
                                          </p:val>
                                        </p:tav>
                                        <p:tav tm="100000">
                                          <p:val>
                                            <p:strVal val="#ppt_y"/>
                                          </p:val>
                                        </p:tav>
                                      </p:tavLst>
                                    </p:anim>
                                  </p:childTnLst>
                                </p:cTn>
                              </p:par>
                              <p:par>
                                <p:cTn id="75" presetID="42" presetClass="entr" presetSubtype="0" fill="hold" grpId="0" nodeType="withEffect">
                                  <p:stCondLst>
                                    <p:cond delay="900"/>
                                  </p:stCondLst>
                                  <p:childTnLst>
                                    <p:set>
                                      <p:cBhvr>
                                        <p:cTn id="76" dur="1" fill="hold">
                                          <p:stCondLst>
                                            <p:cond delay="0"/>
                                          </p:stCondLst>
                                        </p:cTn>
                                        <p:tgtEl>
                                          <p:spTgt spid="50"/>
                                        </p:tgtEl>
                                        <p:attrNameLst>
                                          <p:attrName>style.visibility</p:attrName>
                                        </p:attrNameLst>
                                      </p:cBhvr>
                                      <p:to>
                                        <p:strVal val="visible"/>
                                      </p:to>
                                    </p:set>
                                    <p:animEffect transition="in" filter="fade">
                                      <p:cBhvr>
                                        <p:cTn id="77" dur="450"/>
                                        <p:tgtEl>
                                          <p:spTgt spid="50"/>
                                        </p:tgtEl>
                                      </p:cBhvr>
                                    </p:animEffect>
                                    <p:anim calcmode="lin" valueType="num">
                                      <p:cBhvr additive="base">
                                        <p:cTn id="78" dur="450" fill="hold" decel="100000"/>
                                        <p:tgtEl>
                                          <p:spTgt spid="50"/>
                                        </p:tgtEl>
                                        <p:attrNameLst>
                                          <p:attrName>ppt_x</p:attrName>
                                        </p:attrNameLst>
                                      </p:cBhvr>
                                      <p:tavLst>
                                        <p:tav tm="0">
                                          <p:val>
                                            <p:strVal val="#ppt_x"/>
                                          </p:val>
                                        </p:tav>
                                        <p:tav tm="100000">
                                          <p:val>
                                            <p:strVal val="#ppt_x"/>
                                          </p:val>
                                        </p:tav>
                                      </p:tavLst>
                                    </p:anim>
                                    <p:anim calcmode="lin" valueType="num">
                                      <p:cBhvr additive="base">
                                        <p:cTn id="79" dur="450" fill="hold" decel="100000"/>
                                        <p:tgtEl>
                                          <p:spTgt spid="50"/>
                                        </p:tgtEl>
                                        <p:attrNameLst>
                                          <p:attrName>ppt_y</p:attrName>
                                        </p:attrNameLst>
                                      </p:cBhvr>
                                      <p:tavLst>
                                        <p:tav tm="0">
                                          <p:val>
                                            <p:strVal val="#ppt_y+0.025"/>
                                          </p:val>
                                        </p:tav>
                                        <p:tav tm="100000">
                                          <p:val>
                                            <p:strVal val="#ppt_y"/>
                                          </p:val>
                                        </p:tav>
                                      </p:tavLst>
                                    </p:anim>
                                  </p:childTnLst>
                                </p:cTn>
                              </p:par>
                              <p:par>
                                <p:cTn id="80" presetID="42" presetClass="entr" presetSubtype="0" fill="hold" grpId="0" nodeType="withEffect">
                                  <p:stCondLst>
                                    <p:cond delay="1100"/>
                                  </p:stCondLst>
                                  <p:childTnLst>
                                    <p:set>
                                      <p:cBhvr>
                                        <p:cTn id="81" dur="1" fill="hold">
                                          <p:stCondLst>
                                            <p:cond delay="0"/>
                                          </p:stCondLst>
                                        </p:cTn>
                                        <p:tgtEl>
                                          <p:spTgt spid="54"/>
                                        </p:tgtEl>
                                        <p:attrNameLst>
                                          <p:attrName>style.visibility</p:attrName>
                                        </p:attrNameLst>
                                      </p:cBhvr>
                                      <p:to>
                                        <p:strVal val="visible"/>
                                      </p:to>
                                    </p:set>
                                    <p:animEffect transition="in" filter="fade">
                                      <p:cBhvr>
                                        <p:cTn id="82" dur="450"/>
                                        <p:tgtEl>
                                          <p:spTgt spid="54"/>
                                        </p:tgtEl>
                                      </p:cBhvr>
                                    </p:animEffect>
                                    <p:anim calcmode="lin" valueType="num">
                                      <p:cBhvr additive="base">
                                        <p:cTn id="83" dur="450" fill="hold" decel="100000"/>
                                        <p:tgtEl>
                                          <p:spTgt spid="54"/>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54"/>
                                        </p:tgtEl>
                                        <p:attrNameLst>
                                          <p:attrName>ppt_y</p:attrName>
                                        </p:attrNameLst>
                                      </p:cBhvr>
                                      <p:tavLst>
                                        <p:tav tm="0">
                                          <p:val>
                                            <p:strVal val="#ppt_y+0.025"/>
                                          </p:val>
                                        </p:tav>
                                        <p:tav tm="100000">
                                          <p:val>
                                            <p:strVal val="#ppt_y"/>
                                          </p:val>
                                        </p:tav>
                                      </p:tavLst>
                                    </p:anim>
                                  </p:childTnLst>
                                </p:cTn>
                              </p:par>
                              <p:par>
                                <p:cTn id="85" presetID="42" presetClass="entr" presetSubtype="0" fill="hold" grpId="0" nodeType="withEffect">
                                  <p:stCondLst>
                                    <p:cond delay="1450"/>
                                  </p:stCondLst>
                                  <p:childTnLst>
                                    <p:set>
                                      <p:cBhvr>
                                        <p:cTn id="86" dur="1" fill="hold">
                                          <p:stCondLst>
                                            <p:cond delay="0"/>
                                          </p:stCondLst>
                                        </p:cTn>
                                        <p:tgtEl>
                                          <p:spTgt spid="58"/>
                                        </p:tgtEl>
                                        <p:attrNameLst>
                                          <p:attrName>style.visibility</p:attrName>
                                        </p:attrNameLst>
                                      </p:cBhvr>
                                      <p:to>
                                        <p:strVal val="visible"/>
                                      </p:to>
                                    </p:set>
                                    <p:animEffect transition="in" filter="fade">
                                      <p:cBhvr>
                                        <p:cTn id="87" dur="450"/>
                                        <p:tgtEl>
                                          <p:spTgt spid="58"/>
                                        </p:tgtEl>
                                      </p:cBhvr>
                                    </p:animEffect>
                                    <p:anim calcmode="lin" valueType="num">
                                      <p:cBhvr additive="base">
                                        <p:cTn id="88" dur="450" fill="hold" decel="100000"/>
                                        <p:tgtEl>
                                          <p:spTgt spid="58"/>
                                        </p:tgtEl>
                                        <p:attrNameLst>
                                          <p:attrName>ppt_x</p:attrName>
                                        </p:attrNameLst>
                                      </p:cBhvr>
                                      <p:tavLst>
                                        <p:tav tm="0">
                                          <p:val>
                                            <p:strVal val="#ppt_x"/>
                                          </p:val>
                                        </p:tav>
                                        <p:tav tm="100000">
                                          <p:val>
                                            <p:strVal val="#ppt_x"/>
                                          </p:val>
                                        </p:tav>
                                      </p:tavLst>
                                    </p:anim>
                                    <p:anim calcmode="lin" valueType="num">
                                      <p:cBhvr additive="base">
                                        <p:cTn id="89" dur="450" fill="hold" decel="100000"/>
                                        <p:tgtEl>
                                          <p:spTgt spid="5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9" grpId="0" animBg="1"/>
      <p:bldP spid="4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693801" y="410337"/>
            <a:ext cx="240030" cy="240030"/>
            <a:chOff x="693801" y="410337"/>
            <a:chExt cx="240030" cy="240030"/>
          </a:xfrm>
        </p:grpSpPr>
        <p:sp>
          <p:nvSpPr>
            <p:cNvPr id="3" name="Rounded Rectangle 2"/>
            <p:cNvSpPr/>
            <p:nvPr/>
          </p:nvSpPr>
          <p:spPr>
            <a:xfrm>
              <a:off x="693801" y="410337"/>
              <a:ext cx="240030" cy="240030"/>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741807" y="490347"/>
              <a:ext cx="144018" cy="88011"/>
            </a:xfrm>
            <a:custGeom>
              <a:avLst/>
              <a:gdLst/>
              <a:ahLst/>
              <a:cxnLst/>
              <a:rect l="l" t="t" r="r" b="b"/>
              <a:pathLst>
                <a:path w="18" h="11">
                  <a:moveTo>
                    <a:pt x="0" y="11"/>
                  </a:moveTo>
                  <a:lnTo>
                    <a:pt x="5" y="4"/>
                  </a:lnTo>
                  <a:lnTo>
                    <a:pt x="9" y="7"/>
                  </a:lnTo>
                  <a:lnTo>
                    <a:pt x="13" y="0"/>
                  </a:lnTo>
                  <a:lnTo>
                    <a:pt x="18" y="0"/>
                  </a:lnTo>
                </a:path>
              </a:pathLst>
            </a:custGeom>
            <a:noFill/>
            <a:ln w="20802" cap="rnd">
              <a:solidFill>
                <a:srgbClr val="FFFFFF"/>
              </a:solidFill>
              <a:round/>
            </a:ln>
          </p:spPr>
          <p:txBody>
            <a:bodyPr rtlCol="0" anchor="ctr"/>
            <a:lstStyle/>
            <a:p>
              <a:pPr algn="ctr"/>
            </a:p>
          </p:txBody>
        </p:sp>
        <p:sp>
          <p:nvSpPr>
            <p:cNvPr id="5" name="Oval 4"/>
            <p:cNvSpPr/>
            <p:nvPr/>
          </p:nvSpPr>
          <p:spPr>
            <a:xfrm>
              <a:off x="859422" y="463944"/>
              <a:ext cx="52807" cy="52807"/>
            </a:xfrm>
            <a:prstGeom prst="ellipse">
              <a:avLst/>
            </a:prstGeom>
            <a:solidFill>
              <a:srgbClr val="F2561D"/>
            </a:solidFill>
            <a:ln>
              <a:noFill/>
            </a:ln>
          </p:spPr>
          <p:txBody>
            <a:bodyPr rtlCol="0" anchor="ctr"/>
            <a:lstStyle/>
            <a:p>
              <a:pPr algn="ctr"/>
            </a:p>
          </p:txBody>
        </p:sp>
      </p:grpSp>
      <p:sp>
        <p:nvSpPr>
          <p:cNvPr id="6" name="TextBox 5"/>
          <p:cNvSpPr txBox="1"/>
          <p:nvPr/>
        </p:nvSpPr>
        <p:spPr>
          <a:xfrm>
            <a:off x="1014984" y="365760"/>
            <a:ext cx="2286000" cy="329184"/>
          </a:xfrm>
          <a:prstGeom prst="rect">
            <a:avLst/>
          </a:prstGeom>
          <a:noFill/>
        </p:spPr>
        <p:txBody>
          <a:bodyPr wrap="square" lIns="0" rIns="0" tIns="0" bIns="0" anchor="ctr">
            <a:noAutofit/>
          </a:bodyPr>
          <a:lstStyle/>
          <a:p>
            <a:pPr algn="l"/>
            <a:r>
              <a:rPr sz="1300" b="1" i="0" spc="-20">
                <a:solidFill>
                  <a:srgbClr val="0E0E10"/>
                </a:solidFill>
                <a:latin typeface="Inter" panose="020B0502030000000004" pitchFamily="34" charset="0"/>
              </a:rPr>
              <a:t>Bidwire</a:t>
            </a:r>
          </a:p>
        </p:txBody>
      </p:sp>
      <p:sp>
        <p:nvSpPr>
          <p:cNvPr id="7" name="TextBox 6"/>
          <p:cNvSpPr txBox="1"/>
          <p:nvPr/>
        </p:nvSpPr>
        <p:spPr>
          <a:xfrm>
            <a:off x="6019495" y="365760"/>
            <a:ext cx="5486400" cy="329184"/>
          </a:xfrm>
          <a:prstGeom prst="rect">
            <a:avLst/>
          </a:prstGeom>
          <a:noFill/>
        </p:spPr>
        <p:txBody>
          <a:bodyPr wrap="square" lIns="0" rIns="0" tIns="0" bIns="0" anchor="ctr">
            <a:noAutofit/>
          </a:bodyPr>
          <a:lstStyle/>
          <a:p>
            <a:pPr algn="r"/>
            <a:r>
              <a:rPr sz="850" b="1" i="0" spc="90">
                <a:solidFill>
                  <a:srgbClr val="5D5D66"/>
                </a:solidFill>
                <a:latin typeface="Inter" panose="020B0502030000000004" pitchFamily="34" charset="0"/>
              </a:rPr>
              <a:t>WHAT WE BUILT IN 24H   </a:t>
            </a:r>
            <a:r>
              <a:rPr sz="850" b="1" i="0" spc="90">
                <a:solidFill>
                  <a:srgbClr val="D9D8D1"/>
                </a:solidFill>
                <a:latin typeface="Inter" panose="020B0502030000000004" pitchFamily="34" charset="0"/>
              </a:rPr>
              <a:t>|</a:t>
            </a:r>
            <a:r>
              <a:rPr sz="850" b="1" i="0" spc="90">
                <a:solidFill>
                  <a:srgbClr val="5D5D66"/>
                </a:solidFill>
                <a:latin typeface="Inter" panose="020B0502030000000004" pitchFamily="34" charset="0"/>
              </a:rPr>
              <a:t>   </a:t>
            </a:r>
            <a:r>
              <a:rPr sz="850" b="0" i="0" spc="90">
                <a:solidFill>
                  <a:srgbClr val="9A9AA3"/>
                </a:solidFill>
                <a:latin typeface="Inter" panose="020B0502030000000004" pitchFamily="34" charset="0"/>
              </a:rPr>
              <a:t>9 / 10</a:t>
            </a:r>
          </a:p>
        </p:txBody>
      </p:sp>
      <p:sp>
        <p:nvSpPr>
          <p:cNvPr id="8" name="TextBox 7"/>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A9AA3"/>
                </a:solidFill>
                <a:latin typeface="Inter" panose="020B0502030000000004" pitchFamily="34" charset="0"/>
              </a:rPr>
              <a:t>Bidwire · YC Make Something Agents Want · Oct 18, 2026</a:t>
            </a:r>
          </a:p>
        </p:txBody>
      </p:sp>
      <p:sp>
        <p:nvSpPr>
          <p:cNvPr id="9" name="TextBox 8"/>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A9AA3"/>
                </a:solidFill>
                <a:latin typeface="Inter" panose="020B0502030000000004" pitchFamily="34" charset="0"/>
              </a:rPr>
              <a:t>github.com/vnmoorthy/bidwire</a:t>
            </a:r>
          </a:p>
        </p:txBody>
      </p:sp>
      <p:sp>
        <p:nvSpPr>
          <p:cNvPr id="10" name="Rectangle 9"/>
          <p:cNvSpPr/>
          <p:nvPr/>
        </p:nvSpPr>
        <p:spPr>
          <a:xfrm>
            <a:off x="0" y="6825996"/>
            <a:ext cx="12191695" cy="32004"/>
          </a:xfrm>
          <a:prstGeom prst="rect">
            <a:avLst/>
          </a:prstGeom>
          <a:solidFill>
            <a:srgbClr val="E9E8E3"/>
          </a:solidFill>
          <a:ln>
            <a:noFill/>
          </a:ln>
        </p:spPr>
        <p:txBody>
          <a:bodyPr rtlCol="0" anchor="ctr"/>
          <a:lstStyle/>
          <a:p>
            <a:pPr algn="ctr"/>
          </a:p>
        </p:txBody>
      </p:sp>
      <p:sp>
        <p:nvSpPr>
          <p:cNvPr id="11" name="Rectangle 10"/>
          <p:cNvSpPr/>
          <p:nvPr/>
        </p:nvSpPr>
        <p:spPr>
          <a:xfrm>
            <a:off x="0" y="6825996"/>
            <a:ext cx="10972526" cy="32004"/>
          </a:xfrm>
          <a:prstGeom prst="rect">
            <a:avLst/>
          </a:prstGeom>
          <a:solidFill>
            <a:srgbClr val="F2561D"/>
          </a:solidFill>
          <a:ln>
            <a:noFill/>
          </a:ln>
        </p:spPr>
        <p:txBody>
          <a:bodyPr rtlCol="0" anchor="ctr"/>
          <a:lstStyle/>
          <a:p>
            <a:pPr algn="ctr"/>
          </a:p>
        </p:txBody>
      </p:sp>
      <p:sp>
        <p:nvSpPr>
          <p:cNvPr id="12" name="TextBox 11"/>
          <p:cNvSpPr txBox="1"/>
          <p:nvPr/>
        </p:nvSpPr>
        <p:spPr>
          <a:xfrm>
            <a:off x="685800" y="868680"/>
            <a:ext cx="10835640" cy="566928"/>
          </a:xfrm>
          <a:prstGeom prst="rect">
            <a:avLst/>
          </a:prstGeom>
          <a:noFill/>
        </p:spPr>
        <p:txBody>
          <a:bodyPr wrap="square" lIns="0" rIns="0" tIns="0" bIns="0" anchor="t">
            <a:noAutofit/>
          </a:bodyPr>
          <a:lstStyle/>
          <a:p>
            <a:pPr algn="l">
              <a:lnSpc>
                <a:spcPct val="98000"/>
              </a:lnSpc>
            </a:pPr>
            <a:r>
              <a:rPr sz="3600" b="1" i="0" spc="-80">
                <a:solidFill>
                  <a:srgbClr val="0E0E10"/>
                </a:solidFill>
                <a:latin typeface="Inter" panose="020B0502030000000004" pitchFamily="34" charset="0"/>
              </a:rPr>
              <a:t>Built in 24 hours. </a:t>
            </a:r>
            <a:r>
              <a:rPr sz="3600" b="1" i="0" spc="-80">
                <a:solidFill>
                  <a:srgbClr val="5D5D66"/>
                </a:solidFill>
                <a:latin typeface="Inter" panose="020B0502030000000004" pitchFamily="34" charset="0"/>
              </a:rPr>
              <a:t>Running live.</a:t>
            </a:r>
          </a:p>
        </p:txBody>
      </p:sp>
      <p:sp>
        <p:nvSpPr>
          <p:cNvPr id="13" name="TextBox 12"/>
          <p:cNvSpPr txBox="1"/>
          <p:nvPr/>
        </p:nvSpPr>
        <p:spPr>
          <a:xfrm>
            <a:off x="685800" y="1600200"/>
            <a:ext cx="1828800" cy="237744"/>
          </a:xfrm>
          <a:prstGeom prst="rect">
            <a:avLst/>
          </a:prstGeom>
          <a:noFill/>
        </p:spPr>
        <p:txBody>
          <a:bodyPr wrap="square" lIns="0" rIns="0" tIns="0" bIns="0" anchor="ctr">
            <a:noAutofit/>
          </a:bodyPr>
          <a:lstStyle/>
          <a:p>
            <a:pPr algn="l"/>
            <a:r>
              <a:rPr sz="1000" b="1" i="0">
                <a:solidFill>
                  <a:srgbClr val="5D5D66"/>
                </a:solidFill>
                <a:latin typeface="Inter" panose="020B0502030000000004" pitchFamily="34" charset="0"/>
              </a:rPr>
              <a:t>Agents (MCP)</a:t>
            </a:r>
          </a:p>
        </p:txBody>
      </p:sp>
      <p:grpSp>
        <p:nvGrpSpPr>
          <p:cNvPr id="14" name="Group 13"/>
          <p:cNvGrpSpPr/>
          <p:nvPr/>
        </p:nvGrpSpPr>
        <p:grpSpPr>
          <a:xfrm>
            <a:off x="685800" y="1892808"/>
            <a:ext cx="1783080" cy="301752"/>
            <a:chOff x="685800" y="1892808"/>
            <a:chExt cx="1783080" cy="301752"/>
          </a:xfrm>
        </p:grpSpPr>
        <p:sp>
          <p:nvSpPr>
            <p:cNvPr id="15" name="Rounded Rectangle 14"/>
            <p:cNvSpPr/>
            <p:nvPr/>
          </p:nvSpPr>
          <p:spPr>
            <a:xfrm>
              <a:off x="685800" y="1892808"/>
              <a:ext cx="1783080" cy="301752"/>
            </a:xfrm>
            <a:prstGeom prst="roundRect">
              <a:avLst>
                <a:gd name="adj" fmla="val 50000"/>
              </a:avLst>
            </a:prstGeom>
            <a:solidFill>
              <a:srgbClr val="EDF2FF"/>
            </a:solidFill>
            <a:ln>
              <a:noFill/>
            </a:ln>
          </p:spPr>
          <p:txBody>
            <a:bodyPr rtlCol="0" anchor="ctr"/>
            <a:lstStyle/>
            <a:p>
              <a:pPr algn="ctr"/>
            </a:p>
          </p:txBody>
        </p:sp>
        <p:sp>
          <p:nvSpPr>
            <p:cNvPr id="16" name="TextBox 15"/>
            <p:cNvSpPr txBox="1"/>
            <p:nvPr/>
          </p:nvSpPr>
          <p:spPr>
            <a:xfrm>
              <a:off x="685800" y="1892808"/>
              <a:ext cx="1783080" cy="301752"/>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Claude Code</a:t>
              </a:r>
            </a:p>
          </p:txBody>
        </p:sp>
      </p:grpSp>
      <p:grpSp>
        <p:nvGrpSpPr>
          <p:cNvPr id="17" name="Group 16"/>
          <p:cNvGrpSpPr/>
          <p:nvPr/>
        </p:nvGrpSpPr>
        <p:grpSpPr>
          <a:xfrm>
            <a:off x="685800" y="2276856"/>
            <a:ext cx="1783080" cy="301752"/>
            <a:chOff x="685800" y="2276856"/>
            <a:chExt cx="1783080" cy="301752"/>
          </a:xfrm>
        </p:grpSpPr>
        <p:sp>
          <p:nvSpPr>
            <p:cNvPr id="18" name="Rounded Rectangle 17"/>
            <p:cNvSpPr/>
            <p:nvPr/>
          </p:nvSpPr>
          <p:spPr>
            <a:xfrm>
              <a:off x="685800" y="2276856"/>
              <a:ext cx="1783080" cy="301752"/>
            </a:xfrm>
            <a:prstGeom prst="roundRect">
              <a:avLst>
                <a:gd name="adj" fmla="val 50000"/>
              </a:avLst>
            </a:prstGeom>
            <a:solidFill>
              <a:srgbClr val="EDF2FF"/>
            </a:solidFill>
            <a:ln>
              <a:noFill/>
            </a:ln>
          </p:spPr>
          <p:txBody>
            <a:bodyPr rtlCol="0" anchor="ctr"/>
            <a:lstStyle/>
            <a:p>
              <a:pPr algn="ctr"/>
            </a:p>
          </p:txBody>
        </p:sp>
        <p:sp>
          <p:nvSpPr>
            <p:cNvPr id="19" name="TextBox 18"/>
            <p:cNvSpPr txBox="1"/>
            <p:nvPr/>
          </p:nvSpPr>
          <p:spPr>
            <a:xfrm>
              <a:off x="685800" y="2276856"/>
              <a:ext cx="1783080" cy="301752"/>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Claude Desktop</a:t>
              </a:r>
            </a:p>
          </p:txBody>
        </p:sp>
      </p:grpSp>
      <p:grpSp>
        <p:nvGrpSpPr>
          <p:cNvPr id="20" name="Group 19"/>
          <p:cNvGrpSpPr/>
          <p:nvPr/>
        </p:nvGrpSpPr>
        <p:grpSpPr>
          <a:xfrm>
            <a:off x="685800" y="2660904"/>
            <a:ext cx="1783080" cy="301752"/>
            <a:chOff x="685800" y="2660904"/>
            <a:chExt cx="1783080" cy="301752"/>
          </a:xfrm>
        </p:grpSpPr>
        <p:sp>
          <p:nvSpPr>
            <p:cNvPr id="21" name="Rounded Rectangle 20"/>
            <p:cNvSpPr/>
            <p:nvPr/>
          </p:nvSpPr>
          <p:spPr>
            <a:xfrm>
              <a:off x="685800" y="2660904"/>
              <a:ext cx="1783080" cy="301752"/>
            </a:xfrm>
            <a:prstGeom prst="roundRect">
              <a:avLst>
                <a:gd name="adj" fmla="val 50000"/>
              </a:avLst>
            </a:prstGeom>
            <a:solidFill>
              <a:srgbClr val="EDF2FF"/>
            </a:solidFill>
            <a:ln>
              <a:noFill/>
            </a:ln>
          </p:spPr>
          <p:txBody>
            <a:bodyPr rtlCol="0" anchor="ctr"/>
            <a:lstStyle/>
            <a:p>
              <a:pPr algn="ctr"/>
            </a:p>
          </p:txBody>
        </p:sp>
        <p:sp>
          <p:nvSpPr>
            <p:cNvPr id="22" name="TextBox 21"/>
            <p:cNvSpPr txBox="1"/>
            <p:nvPr/>
          </p:nvSpPr>
          <p:spPr>
            <a:xfrm>
              <a:off x="685800" y="2660904"/>
              <a:ext cx="1783080" cy="301752"/>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ChatGPT</a:t>
              </a:r>
            </a:p>
          </p:txBody>
        </p:sp>
      </p:grpSp>
      <p:grpSp>
        <p:nvGrpSpPr>
          <p:cNvPr id="23" name="Group 22"/>
          <p:cNvGrpSpPr/>
          <p:nvPr/>
        </p:nvGrpSpPr>
        <p:grpSpPr>
          <a:xfrm>
            <a:off x="685800" y="3044952"/>
            <a:ext cx="1783080" cy="301752"/>
            <a:chOff x="685800" y="3044952"/>
            <a:chExt cx="1783080" cy="301752"/>
          </a:xfrm>
        </p:grpSpPr>
        <p:sp>
          <p:nvSpPr>
            <p:cNvPr id="24" name="Rounded Rectangle 23"/>
            <p:cNvSpPr/>
            <p:nvPr/>
          </p:nvSpPr>
          <p:spPr>
            <a:xfrm>
              <a:off x="685800" y="3044952"/>
              <a:ext cx="1783080" cy="301752"/>
            </a:xfrm>
            <a:prstGeom prst="roundRect">
              <a:avLst>
                <a:gd name="adj" fmla="val 50000"/>
              </a:avLst>
            </a:prstGeom>
            <a:solidFill>
              <a:srgbClr val="EDF2FF"/>
            </a:solidFill>
            <a:ln>
              <a:noFill/>
            </a:ln>
          </p:spPr>
          <p:txBody>
            <a:bodyPr rtlCol="0" anchor="ctr"/>
            <a:lstStyle/>
            <a:p>
              <a:pPr algn="ctr"/>
            </a:p>
          </p:txBody>
        </p:sp>
        <p:sp>
          <p:nvSpPr>
            <p:cNvPr id="25" name="TextBox 24"/>
            <p:cNvSpPr txBox="1"/>
            <p:nvPr/>
          </p:nvSpPr>
          <p:spPr>
            <a:xfrm>
              <a:off x="685800" y="3044952"/>
              <a:ext cx="1783080" cy="301752"/>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Codex</a:t>
              </a:r>
            </a:p>
          </p:txBody>
        </p:sp>
      </p:grpSp>
      <p:grpSp>
        <p:nvGrpSpPr>
          <p:cNvPr id="26" name="Group 25"/>
          <p:cNvGrpSpPr/>
          <p:nvPr/>
        </p:nvGrpSpPr>
        <p:grpSpPr>
          <a:xfrm>
            <a:off x="685800" y="3429000"/>
            <a:ext cx="1783080" cy="301752"/>
            <a:chOff x="685800" y="3429000"/>
            <a:chExt cx="1783080" cy="301752"/>
          </a:xfrm>
        </p:grpSpPr>
        <p:sp>
          <p:nvSpPr>
            <p:cNvPr id="27" name="Rounded Rectangle 26"/>
            <p:cNvSpPr/>
            <p:nvPr/>
          </p:nvSpPr>
          <p:spPr>
            <a:xfrm>
              <a:off x="685800" y="3429000"/>
              <a:ext cx="1783080" cy="301752"/>
            </a:xfrm>
            <a:prstGeom prst="roundRect">
              <a:avLst>
                <a:gd name="adj" fmla="val 50000"/>
              </a:avLst>
            </a:prstGeom>
            <a:solidFill>
              <a:srgbClr val="EDF2FF"/>
            </a:solidFill>
            <a:ln>
              <a:noFill/>
            </a:ln>
          </p:spPr>
          <p:txBody>
            <a:bodyPr rtlCol="0" anchor="ctr"/>
            <a:lstStyle/>
            <a:p>
              <a:pPr algn="ctr"/>
            </a:p>
          </p:txBody>
        </p:sp>
        <p:sp>
          <p:nvSpPr>
            <p:cNvPr id="28" name="TextBox 27"/>
            <p:cNvSpPr txBox="1"/>
            <p:nvPr/>
          </p:nvSpPr>
          <p:spPr>
            <a:xfrm>
              <a:off x="685800" y="3429000"/>
              <a:ext cx="1783080" cy="301752"/>
            </a:xfrm>
            <a:prstGeom prst="rect">
              <a:avLst/>
            </a:prstGeom>
            <a:noFill/>
          </p:spPr>
          <p:txBody>
            <a:bodyPr wrap="square" lIns="0" rIns="0" tIns="0" bIns="0" anchor="ctr">
              <a:noAutofit/>
            </a:bodyPr>
            <a:lstStyle/>
            <a:p>
              <a:pPr algn="ctr"/>
              <a:r>
                <a:rPr sz="1000" b="1" i="0">
                  <a:solidFill>
                    <a:srgbClr val="2F5BEA"/>
                  </a:solidFill>
                  <a:latin typeface="Inter" panose="020B0502030000000004" pitchFamily="34" charset="0"/>
                </a:rPr>
                <a:t>Cursor</a:t>
              </a:r>
            </a:p>
          </p:txBody>
        </p:sp>
      </p:grpSp>
      <p:sp>
        <p:nvSpPr>
          <p:cNvPr id="29" name="TextBox 28"/>
          <p:cNvSpPr txBox="1"/>
          <p:nvPr/>
        </p:nvSpPr>
        <p:spPr>
          <a:xfrm>
            <a:off x="685800" y="3886200"/>
            <a:ext cx="1828800" cy="237744"/>
          </a:xfrm>
          <a:prstGeom prst="rect">
            <a:avLst/>
          </a:prstGeom>
          <a:noFill/>
        </p:spPr>
        <p:txBody>
          <a:bodyPr wrap="square" lIns="0" rIns="0" tIns="0" bIns="0" anchor="ctr">
            <a:noAutofit/>
          </a:bodyPr>
          <a:lstStyle/>
          <a:p>
            <a:pPr algn="l"/>
            <a:r>
              <a:rPr sz="1000" b="1" i="0">
                <a:solidFill>
                  <a:srgbClr val="5D5D66"/>
                </a:solidFill>
                <a:latin typeface="Inter" panose="020B0502030000000004" pitchFamily="34" charset="0"/>
              </a:rPr>
              <a:t>Merchants</a:t>
            </a:r>
          </a:p>
        </p:txBody>
      </p:sp>
      <p:grpSp>
        <p:nvGrpSpPr>
          <p:cNvPr id="30" name="Group 29"/>
          <p:cNvGrpSpPr/>
          <p:nvPr/>
        </p:nvGrpSpPr>
        <p:grpSpPr>
          <a:xfrm>
            <a:off x="685800" y="4178808"/>
            <a:ext cx="1783080" cy="301752"/>
            <a:chOff x="685800" y="4178808"/>
            <a:chExt cx="1783080" cy="301752"/>
          </a:xfrm>
        </p:grpSpPr>
        <p:sp>
          <p:nvSpPr>
            <p:cNvPr id="31" name="Rounded Rectangle 30"/>
            <p:cNvSpPr/>
            <p:nvPr/>
          </p:nvSpPr>
          <p:spPr>
            <a:xfrm>
              <a:off x="685800" y="4178808"/>
              <a:ext cx="1783080" cy="301752"/>
            </a:xfrm>
            <a:prstGeom prst="roundRect">
              <a:avLst>
                <a:gd name="adj" fmla="val 50000"/>
              </a:avLst>
            </a:prstGeom>
            <a:solidFill>
              <a:srgbClr val="F4F4F1"/>
            </a:solidFill>
            <a:ln>
              <a:noFill/>
            </a:ln>
          </p:spPr>
          <p:txBody>
            <a:bodyPr rtlCol="0" anchor="ctr"/>
            <a:lstStyle/>
            <a:p>
              <a:pPr algn="ctr"/>
            </a:p>
          </p:txBody>
        </p:sp>
        <p:sp>
          <p:nvSpPr>
            <p:cNvPr id="32" name="TextBox 31"/>
            <p:cNvSpPr txBox="1"/>
            <p:nvPr/>
          </p:nvSpPr>
          <p:spPr>
            <a:xfrm>
              <a:off x="685800" y="4178808"/>
              <a:ext cx="1783080" cy="301752"/>
            </a:xfrm>
            <a:prstGeom prst="rect">
              <a:avLst/>
            </a:prstGeom>
            <a:noFill/>
          </p:spPr>
          <p:txBody>
            <a:bodyPr wrap="square" lIns="0" rIns="0" tIns="0" bIns="0" anchor="ctr">
              <a:noAutofit/>
            </a:bodyPr>
            <a:lstStyle/>
            <a:p>
              <a:pPr algn="ctr"/>
              <a:r>
                <a:rPr sz="1000" b="1" i="0">
                  <a:solidFill>
                    <a:srgbClr val="5D5D66"/>
                  </a:solidFill>
                  <a:latin typeface="Inter" panose="020B0502030000000004" pitchFamily="34" charset="0"/>
                </a:rPr>
                <a:t>8 bot personas</a:t>
              </a:r>
            </a:p>
          </p:txBody>
        </p:sp>
      </p:grpSp>
      <p:grpSp>
        <p:nvGrpSpPr>
          <p:cNvPr id="33" name="Group 32"/>
          <p:cNvGrpSpPr/>
          <p:nvPr/>
        </p:nvGrpSpPr>
        <p:grpSpPr>
          <a:xfrm>
            <a:off x="685800" y="4562856"/>
            <a:ext cx="1783080" cy="301752"/>
            <a:chOff x="685800" y="4562856"/>
            <a:chExt cx="1783080" cy="301752"/>
          </a:xfrm>
        </p:grpSpPr>
        <p:sp>
          <p:nvSpPr>
            <p:cNvPr id="34" name="Rounded Rectangle 33"/>
            <p:cNvSpPr/>
            <p:nvPr/>
          </p:nvSpPr>
          <p:spPr>
            <a:xfrm>
              <a:off x="685800" y="4562856"/>
              <a:ext cx="1783080" cy="301752"/>
            </a:xfrm>
            <a:prstGeom prst="roundRect">
              <a:avLst>
                <a:gd name="adj" fmla="val 50000"/>
              </a:avLst>
            </a:prstGeom>
            <a:solidFill>
              <a:srgbClr val="F4F4F1"/>
            </a:solidFill>
            <a:ln>
              <a:noFill/>
            </a:ln>
          </p:spPr>
          <p:txBody>
            <a:bodyPr rtlCol="0" anchor="ctr"/>
            <a:lstStyle/>
            <a:p>
              <a:pPr algn="ctr"/>
            </a:p>
          </p:txBody>
        </p:sp>
        <p:sp>
          <p:nvSpPr>
            <p:cNvPr id="35" name="TextBox 34"/>
            <p:cNvSpPr txBox="1"/>
            <p:nvPr/>
          </p:nvSpPr>
          <p:spPr>
            <a:xfrm>
              <a:off x="685800" y="4562856"/>
              <a:ext cx="1783080" cy="301752"/>
            </a:xfrm>
            <a:prstGeom prst="rect">
              <a:avLst/>
            </a:prstGeom>
            <a:noFill/>
          </p:spPr>
          <p:txBody>
            <a:bodyPr wrap="square" lIns="0" rIns="0" tIns="0" bIns="0" anchor="ctr">
              <a:noAutofit/>
            </a:bodyPr>
            <a:lstStyle/>
            <a:p>
              <a:pPr algn="ctr"/>
              <a:r>
                <a:rPr sz="1000" b="1" i="0">
                  <a:solidFill>
                    <a:srgbClr val="5D5D66"/>
                  </a:solidFill>
                  <a:latin typeface="Inter" panose="020B0502030000000004" pitchFamily="34" charset="0"/>
                </a:rPr>
                <a:t>People on phones</a:t>
              </a:r>
            </a:p>
          </p:txBody>
        </p:sp>
      </p:grpSp>
      <p:grpSp>
        <p:nvGrpSpPr>
          <p:cNvPr id="36" name="Group 35"/>
          <p:cNvGrpSpPr/>
          <p:nvPr/>
        </p:nvGrpSpPr>
        <p:grpSpPr>
          <a:xfrm>
            <a:off x="685800" y="4946904"/>
            <a:ext cx="1783080" cy="301752"/>
            <a:chOff x="685800" y="4946904"/>
            <a:chExt cx="1783080" cy="301752"/>
          </a:xfrm>
        </p:grpSpPr>
        <p:sp>
          <p:nvSpPr>
            <p:cNvPr id="37" name="Rounded Rectangle 36"/>
            <p:cNvSpPr/>
            <p:nvPr/>
          </p:nvSpPr>
          <p:spPr>
            <a:xfrm>
              <a:off x="685800" y="4946904"/>
              <a:ext cx="1783080" cy="301752"/>
            </a:xfrm>
            <a:prstGeom prst="roundRect">
              <a:avLst>
                <a:gd name="adj" fmla="val 50000"/>
              </a:avLst>
            </a:prstGeom>
            <a:solidFill>
              <a:srgbClr val="F4F4F1"/>
            </a:solidFill>
            <a:ln>
              <a:noFill/>
            </a:ln>
          </p:spPr>
          <p:txBody>
            <a:bodyPr rtlCol="0" anchor="ctr"/>
            <a:lstStyle/>
            <a:p>
              <a:pPr algn="ctr"/>
            </a:p>
          </p:txBody>
        </p:sp>
        <p:sp>
          <p:nvSpPr>
            <p:cNvPr id="38" name="TextBox 37"/>
            <p:cNvSpPr txBox="1"/>
            <p:nvPr/>
          </p:nvSpPr>
          <p:spPr>
            <a:xfrm>
              <a:off x="685800" y="4946904"/>
              <a:ext cx="1783080" cy="301752"/>
            </a:xfrm>
            <a:prstGeom prst="rect">
              <a:avLst/>
            </a:prstGeom>
            <a:noFill/>
          </p:spPr>
          <p:txBody>
            <a:bodyPr wrap="square" lIns="0" rIns="0" tIns="0" bIns="0" anchor="ctr">
              <a:noAutofit/>
            </a:bodyPr>
            <a:lstStyle/>
            <a:p>
              <a:pPr algn="ctr"/>
              <a:r>
                <a:rPr sz="1000" b="1" i="0">
                  <a:solidFill>
                    <a:srgbClr val="5D5D66"/>
                  </a:solidFill>
                  <a:latin typeface="Inter" panose="020B0502030000000004" pitchFamily="34" charset="0"/>
                </a:rPr>
                <a:t>Merchant agents</a:t>
              </a:r>
            </a:p>
          </p:txBody>
        </p:sp>
      </p:grpSp>
      <p:cxnSp>
        <p:nvCxnSpPr>
          <p:cNvPr id="39" name="Connector 38"/>
          <p:cNvCxnSpPr/>
          <p:nvPr/>
        </p:nvCxnSpPr>
        <p:spPr>
          <a:xfrm>
            <a:off x="2542032" y="2834640"/>
            <a:ext cx="310896" cy="0"/>
          </a:xfrm>
          <a:prstGeom prst="line">
            <a:avLst/>
          </a:prstGeom>
          <a:ln w="19050">
            <a:solidFill>
              <a:srgbClr val="D9D8D1"/>
            </a:solidFill>
            <a:tailEnd type="triangle" w="med" len="med"/>
          </a:ln>
        </p:spPr>
      </p:cxnSp>
      <p:cxnSp>
        <p:nvCxnSpPr>
          <p:cNvPr id="40" name="Connector 39"/>
          <p:cNvCxnSpPr/>
          <p:nvPr/>
        </p:nvCxnSpPr>
        <p:spPr>
          <a:xfrm>
            <a:off x="2542032" y="4572000"/>
            <a:ext cx="310896" cy="0"/>
          </a:xfrm>
          <a:prstGeom prst="line">
            <a:avLst/>
          </a:prstGeom>
          <a:ln w="19050">
            <a:solidFill>
              <a:srgbClr val="D9D8D1"/>
            </a:solidFill>
            <a:tailEnd type="triangle" w="med" len="med"/>
          </a:ln>
        </p:spPr>
      </p:cxnSp>
      <p:grpSp>
        <p:nvGrpSpPr>
          <p:cNvPr id="41" name="Group 40"/>
          <p:cNvGrpSpPr/>
          <p:nvPr/>
        </p:nvGrpSpPr>
        <p:grpSpPr>
          <a:xfrm>
            <a:off x="2880360" y="1600200"/>
            <a:ext cx="2788920" cy="4663440"/>
            <a:chOff x="2880360" y="1600200"/>
            <a:chExt cx="2788920" cy="4663440"/>
          </a:xfrm>
        </p:grpSpPr>
        <p:sp>
          <p:nvSpPr>
            <p:cNvPr id="42" name="Rounded Rectangle 41"/>
            <p:cNvSpPr/>
            <p:nvPr/>
          </p:nvSpPr>
          <p:spPr>
            <a:xfrm>
              <a:off x="2880360" y="1600200"/>
              <a:ext cx="2788920" cy="4663440"/>
            </a:xfrm>
            <a:prstGeom prst="roundRect">
              <a:avLst>
                <a:gd name="adj" fmla="val 3934"/>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43" name="Rectangle 42"/>
            <p:cNvSpPr/>
            <p:nvPr/>
          </p:nvSpPr>
          <p:spPr>
            <a:xfrm>
              <a:off x="2880360" y="1600200"/>
              <a:ext cx="2788920" cy="36576"/>
            </a:xfrm>
            <a:prstGeom prst="rect">
              <a:avLst/>
            </a:prstGeom>
            <a:solidFill>
              <a:srgbClr val="0E0E10"/>
            </a:solidFill>
            <a:ln>
              <a:noFill/>
            </a:ln>
          </p:spPr>
          <p:txBody>
            <a:bodyPr rtlCol="0" anchor="ctr"/>
            <a:lstStyle/>
            <a:p>
              <a:pPr algn="ctr"/>
            </a:p>
          </p:txBody>
        </p:sp>
        <p:sp>
          <p:nvSpPr>
            <p:cNvPr id="44" name="TextBox 43"/>
            <p:cNvSpPr txBox="1"/>
            <p:nvPr/>
          </p:nvSpPr>
          <p:spPr>
            <a:xfrm>
              <a:off x="3063240" y="1755648"/>
              <a:ext cx="2468880" cy="274320"/>
            </a:xfrm>
            <a:prstGeom prst="rect">
              <a:avLst/>
            </a:prstGeom>
            <a:noFill/>
          </p:spPr>
          <p:txBody>
            <a:bodyPr wrap="square" lIns="0" rIns="0" tIns="0" bIns="0" anchor="ctr">
              <a:noAutofit/>
            </a:bodyPr>
            <a:lstStyle/>
            <a:p>
              <a:pPr algn="l"/>
              <a:r>
                <a:rPr sz="1250" b="1" i="0">
                  <a:solidFill>
                    <a:srgbClr val="0E0E10"/>
                  </a:solidFill>
                  <a:latin typeface="Inter" panose="020B0502030000000004" pitchFamily="34" charset="0"/>
                </a:rPr>
                <a:t>Bidwire server</a:t>
              </a:r>
            </a:p>
          </p:txBody>
        </p:sp>
        <p:sp>
          <p:nvSpPr>
            <p:cNvPr id="45" name="TextBox 44"/>
            <p:cNvSpPr txBox="1"/>
            <p:nvPr/>
          </p:nvSpPr>
          <p:spPr>
            <a:xfrm>
              <a:off x="3063240" y="2011680"/>
              <a:ext cx="2468880" cy="274320"/>
            </a:xfrm>
            <a:prstGeom prst="rect">
              <a:avLst/>
            </a:prstGeom>
            <a:noFill/>
          </p:spPr>
          <p:txBody>
            <a:bodyPr wrap="square" lIns="0" rIns="0" tIns="0" bIns="0" anchor="ctr">
              <a:noAutofit/>
            </a:bodyPr>
            <a:lstStyle/>
            <a:p>
              <a:pPr algn="l"/>
              <a:r>
                <a:rPr sz="950" b="0" i="0">
                  <a:solidFill>
                    <a:srgbClr val="5D5D66"/>
                  </a:solidFill>
                  <a:latin typeface="Inter" panose="020B0502030000000004" pitchFamily="34" charset="0"/>
                </a:rPr>
                <a:t>mcp-use v2 · Hono · TypeScript</a:t>
              </a:r>
            </a:p>
          </p:txBody>
        </p:sp>
      </p:grpSp>
      <p:grpSp>
        <p:nvGrpSpPr>
          <p:cNvPr id="46" name="Group 45"/>
          <p:cNvGrpSpPr/>
          <p:nvPr/>
        </p:nvGrpSpPr>
        <p:grpSpPr>
          <a:xfrm>
            <a:off x="3063240" y="2450592"/>
            <a:ext cx="2423160" cy="621792"/>
            <a:chOff x="3063240" y="2450592"/>
            <a:chExt cx="2423160" cy="621792"/>
          </a:xfrm>
        </p:grpSpPr>
        <p:sp>
          <p:nvSpPr>
            <p:cNvPr id="47" name="Rounded Rectangle 46"/>
            <p:cNvSpPr/>
            <p:nvPr/>
          </p:nvSpPr>
          <p:spPr>
            <a:xfrm>
              <a:off x="3063240" y="2450592"/>
              <a:ext cx="2423160" cy="621792"/>
            </a:xfrm>
            <a:prstGeom prst="roundRect">
              <a:avLst>
                <a:gd name="adj" fmla="val 11764"/>
              </a:avLst>
            </a:prstGeom>
            <a:solidFill>
              <a:srgbClr val="F4F4F1"/>
            </a:solidFill>
            <a:ln>
              <a:noFill/>
            </a:ln>
          </p:spPr>
          <p:txBody>
            <a:bodyPr rtlCol="0" anchor="ctr"/>
            <a:lstStyle/>
            <a:p>
              <a:pPr algn="ctr"/>
            </a:p>
          </p:txBody>
        </p:sp>
        <p:sp>
          <p:nvSpPr>
            <p:cNvPr id="48" name="TextBox 47"/>
            <p:cNvSpPr txBox="1"/>
            <p:nvPr/>
          </p:nvSpPr>
          <p:spPr>
            <a:xfrm>
              <a:off x="3200400" y="2496312"/>
              <a:ext cx="2194560" cy="256032"/>
            </a:xfrm>
            <a:prstGeom prst="rect">
              <a:avLst/>
            </a:prstGeom>
            <a:noFill/>
          </p:spPr>
          <p:txBody>
            <a:bodyPr wrap="square" lIns="0" rIns="0" tIns="0" bIns="0" anchor="ctr">
              <a:noAutofit/>
            </a:bodyPr>
            <a:lstStyle/>
            <a:p>
              <a:pPr algn="l"/>
              <a:r>
                <a:rPr sz="1000" b="1" i="0">
                  <a:solidFill>
                    <a:srgbClr val="0E0E10"/>
                  </a:solidFill>
                  <a:latin typeface="JetBrains Mono" panose="02000009000000000000" pitchFamily="49" charset="0"/>
                </a:rPr>
                <a:t>/mcp</a:t>
              </a:r>
            </a:p>
          </p:txBody>
        </p:sp>
        <p:sp>
          <p:nvSpPr>
            <p:cNvPr id="49" name="TextBox 48"/>
            <p:cNvSpPr txBox="1"/>
            <p:nvPr/>
          </p:nvSpPr>
          <p:spPr>
            <a:xfrm>
              <a:off x="3200400" y="2752344"/>
              <a:ext cx="2212848" cy="292608"/>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12 tools · 3 resources · 2 prompts</a:t>
              </a:r>
            </a:p>
          </p:txBody>
        </p:sp>
      </p:grpSp>
      <p:grpSp>
        <p:nvGrpSpPr>
          <p:cNvPr id="50" name="Group 49"/>
          <p:cNvGrpSpPr/>
          <p:nvPr/>
        </p:nvGrpSpPr>
        <p:grpSpPr>
          <a:xfrm>
            <a:off x="3063240" y="3182112"/>
            <a:ext cx="2423160" cy="621792"/>
            <a:chOff x="3063240" y="3182112"/>
            <a:chExt cx="2423160" cy="621792"/>
          </a:xfrm>
        </p:grpSpPr>
        <p:sp>
          <p:nvSpPr>
            <p:cNvPr id="51" name="Rounded Rectangle 50"/>
            <p:cNvSpPr/>
            <p:nvPr/>
          </p:nvSpPr>
          <p:spPr>
            <a:xfrm>
              <a:off x="3063240" y="3182112"/>
              <a:ext cx="2423160" cy="621792"/>
            </a:xfrm>
            <a:prstGeom prst="roundRect">
              <a:avLst>
                <a:gd name="adj" fmla="val 11764"/>
              </a:avLst>
            </a:prstGeom>
            <a:solidFill>
              <a:srgbClr val="F4F4F1"/>
            </a:solidFill>
            <a:ln>
              <a:noFill/>
            </a:ln>
          </p:spPr>
          <p:txBody>
            <a:bodyPr rtlCol="0" anchor="ctr"/>
            <a:lstStyle/>
            <a:p>
              <a:pPr algn="ctr"/>
            </a:p>
          </p:txBody>
        </p:sp>
        <p:sp>
          <p:nvSpPr>
            <p:cNvPr id="52" name="TextBox 51"/>
            <p:cNvSpPr txBox="1"/>
            <p:nvPr/>
          </p:nvSpPr>
          <p:spPr>
            <a:xfrm>
              <a:off x="3200400" y="3227832"/>
              <a:ext cx="2194560" cy="256032"/>
            </a:xfrm>
            <a:prstGeom prst="rect">
              <a:avLst/>
            </a:prstGeom>
            <a:noFill/>
          </p:spPr>
          <p:txBody>
            <a:bodyPr wrap="square" lIns="0" rIns="0" tIns="0" bIns="0" anchor="ctr">
              <a:noAutofit/>
            </a:bodyPr>
            <a:lstStyle/>
            <a:p>
              <a:pPr algn="l"/>
              <a:r>
                <a:rPr sz="1000" b="1" i="0">
                  <a:solidFill>
                    <a:srgbClr val="0E0E10"/>
                  </a:solidFill>
                  <a:latin typeface="JetBrains Mono" panose="02000009000000000000" pitchFamily="49" charset="0"/>
                </a:rPr>
                <a:t>tools.ts</a:t>
              </a:r>
            </a:p>
          </p:txBody>
        </p:sp>
        <p:sp>
          <p:nvSpPr>
            <p:cNvPr id="53" name="TextBox 52"/>
            <p:cNvSpPr txBox="1"/>
            <p:nvPr/>
          </p:nvSpPr>
          <p:spPr>
            <a:xfrm>
              <a:off x="3200400" y="3483864"/>
              <a:ext cx="2212848" cy="292608"/>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one registry: MCP, browser playground, demo agent</a:t>
              </a:r>
            </a:p>
          </p:txBody>
        </p:sp>
      </p:grpSp>
      <p:grpSp>
        <p:nvGrpSpPr>
          <p:cNvPr id="54" name="Group 53"/>
          <p:cNvGrpSpPr/>
          <p:nvPr/>
        </p:nvGrpSpPr>
        <p:grpSpPr>
          <a:xfrm>
            <a:off x="3063240" y="3913632"/>
            <a:ext cx="2423160" cy="621792"/>
            <a:chOff x="3063240" y="3913632"/>
            <a:chExt cx="2423160" cy="621792"/>
          </a:xfrm>
        </p:grpSpPr>
        <p:sp>
          <p:nvSpPr>
            <p:cNvPr id="55" name="Rounded Rectangle 54"/>
            <p:cNvSpPr/>
            <p:nvPr/>
          </p:nvSpPr>
          <p:spPr>
            <a:xfrm>
              <a:off x="3063240" y="3913632"/>
              <a:ext cx="2423160" cy="621792"/>
            </a:xfrm>
            <a:prstGeom prst="roundRect">
              <a:avLst>
                <a:gd name="adj" fmla="val 11764"/>
              </a:avLst>
            </a:prstGeom>
            <a:solidFill>
              <a:srgbClr val="F4F4F1"/>
            </a:solidFill>
            <a:ln>
              <a:noFill/>
            </a:ln>
          </p:spPr>
          <p:txBody>
            <a:bodyPr rtlCol="0" anchor="ctr"/>
            <a:lstStyle/>
            <a:p>
              <a:pPr algn="ctr"/>
            </a:p>
          </p:txBody>
        </p:sp>
        <p:sp>
          <p:nvSpPr>
            <p:cNvPr id="56" name="TextBox 55"/>
            <p:cNvSpPr txBox="1"/>
            <p:nvPr/>
          </p:nvSpPr>
          <p:spPr>
            <a:xfrm>
              <a:off x="3200400" y="3959352"/>
              <a:ext cx="2194560" cy="256032"/>
            </a:xfrm>
            <a:prstGeom prst="rect">
              <a:avLst/>
            </a:prstGeom>
            <a:noFill/>
          </p:spPr>
          <p:txBody>
            <a:bodyPr wrap="square" lIns="0" rIns="0" tIns="0" bIns="0" anchor="ctr">
              <a:noAutofit/>
            </a:bodyPr>
            <a:lstStyle/>
            <a:p>
              <a:pPr algn="l"/>
              <a:r>
                <a:rPr sz="1000" b="1" i="0">
                  <a:solidFill>
                    <a:srgbClr val="0E0E10"/>
                  </a:solidFill>
                  <a:latin typeface="JetBrains Mono" panose="02000009000000000000" pitchFamily="49" charset="0"/>
                </a:rPr>
                <a:t>exchange.ts</a:t>
              </a:r>
            </a:p>
          </p:txBody>
        </p:sp>
        <p:sp>
          <p:nvSpPr>
            <p:cNvPr id="57" name="TextBox 56"/>
            <p:cNvSpPr txBox="1"/>
            <p:nvPr/>
          </p:nvSpPr>
          <p:spPr>
            <a:xfrm>
              <a:off x="3200400" y="4215384"/>
              <a:ext cx="2212848" cy="292608"/>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auction · verify · rank · policy · ledger</a:t>
              </a:r>
            </a:p>
          </p:txBody>
        </p:sp>
      </p:grpSp>
      <p:grpSp>
        <p:nvGrpSpPr>
          <p:cNvPr id="58" name="Group 57"/>
          <p:cNvGrpSpPr/>
          <p:nvPr/>
        </p:nvGrpSpPr>
        <p:grpSpPr>
          <a:xfrm>
            <a:off x="3063240" y="4645152"/>
            <a:ext cx="2423160" cy="621792"/>
            <a:chOff x="3063240" y="4645152"/>
            <a:chExt cx="2423160" cy="621792"/>
          </a:xfrm>
        </p:grpSpPr>
        <p:sp>
          <p:nvSpPr>
            <p:cNvPr id="59" name="Rounded Rectangle 58"/>
            <p:cNvSpPr/>
            <p:nvPr/>
          </p:nvSpPr>
          <p:spPr>
            <a:xfrm>
              <a:off x="3063240" y="4645152"/>
              <a:ext cx="2423160" cy="621792"/>
            </a:xfrm>
            <a:prstGeom prst="roundRect">
              <a:avLst>
                <a:gd name="adj" fmla="val 11764"/>
              </a:avLst>
            </a:prstGeom>
            <a:solidFill>
              <a:srgbClr val="F4F4F1"/>
            </a:solidFill>
            <a:ln>
              <a:noFill/>
            </a:ln>
          </p:spPr>
          <p:txBody>
            <a:bodyPr rtlCol="0" anchor="ctr"/>
            <a:lstStyle/>
            <a:p>
              <a:pPr algn="ctr"/>
            </a:p>
          </p:txBody>
        </p:sp>
        <p:sp>
          <p:nvSpPr>
            <p:cNvPr id="60" name="TextBox 59"/>
            <p:cNvSpPr txBox="1"/>
            <p:nvPr/>
          </p:nvSpPr>
          <p:spPr>
            <a:xfrm>
              <a:off x="3200400" y="4690872"/>
              <a:ext cx="2194560" cy="256032"/>
            </a:xfrm>
            <a:prstGeom prst="rect">
              <a:avLst/>
            </a:prstGeom>
            <a:noFill/>
          </p:spPr>
          <p:txBody>
            <a:bodyPr wrap="square" lIns="0" rIns="0" tIns="0" bIns="0" anchor="ctr">
              <a:noAutofit/>
            </a:bodyPr>
            <a:lstStyle/>
            <a:p>
              <a:pPr algn="l"/>
              <a:r>
                <a:rPr sz="1000" b="1" i="0">
                  <a:solidFill>
                    <a:srgbClr val="0E0E10"/>
                  </a:solidFill>
                  <a:latin typeface="JetBrains Mono" panose="02000009000000000000" pitchFamily="49" charset="0"/>
                </a:rPr>
                <a:t>SQLite</a:t>
              </a:r>
            </a:p>
          </p:txBody>
        </p:sp>
        <p:sp>
          <p:nvSpPr>
            <p:cNvPr id="61" name="TextBox 60"/>
            <p:cNvSpPr txBox="1"/>
            <p:nvPr/>
          </p:nvSpPr>
          <p:spPr>
            <a:xfrm>
              <a:off x="3200400" y="4946904"/>
              <a:ext cx="2212848" cy="292608"/>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14 tables, plain rows</a:t>
              </a:r>
            </a:p>
          </p:txBody>
        </p:sp>
      </p:grpSp>
      <p:grpSp>
        <p:nvGrpSpPr>
          <p:cNvPr id="62" name="Group 61"/>
          <p:cNvGrpSpPr/>
          <p:nvPr/>
        </p:nvGrpSpPr>
        <p:grpSpPr>
          <a:xfrm>
            <a:off x="3063240" y="5376672"/>
            <a:ext cx="2423160" cy="621792"/>
            <a:chOff x="3063240" y="5376672"/>
            <a:chExt cx="2423160" cy="621792"/>
          </a:xfrm>
        </p:grpSpPr>
        <p:sp>
          <p:nvSpPr>
            <p:cNvPr id="63" name="Rounded Rectangle 62"/>
            <p:cNvSpPr/>
            <p:nvPr/>
          </p:nvSpPr>
          <p:spPr>
            <a:xfrm>
              <a:off x="3063240" y="5376672"/>
              <a:ext cx="2423160" cy="621792"/>
            </a:xfrm>
            <a:prstGeom prst="roundRect">
              <a:avLst>
                <a:gd name="adj" fmla="val 11764"/>
              </a:avLst>
            </a:prstGeom>
            <a:solidFill>
              <a:srgbClr val="F4F4F1"/>
            </a:solidFill>
            <a:ln>
              <a:noFill/>
            </a:ln>
          </p:spPr>
          <p:txBody>
            <a:bodyPr rtlCol="0" anchor="ctr"/>
            <a:lstStyle/>
            <a:p>
              <a:pPr algn="ctr"/>
            </a:p>
          </p:txBody>
        </p:sp>
        <p:sp>
          <p:nvSpPr>
            <p:cNvPr id="64" name="TextBox 63"/>
            <p:cNvSpPr txBox="1"/>
            <p:nvPr/>
          </p:nvSpPr>
          <p:spPr>
            <a:xfrm>
              <a:off x="3200400" y="5422392"/>
              <a:ext cx="2194560" cy="256032"/>
            </a:xfrm>
            <a:prstGeom prst="rect">
              <a:avLst/>
            </a:prstGeom>
            <a:noFill/>
          </p:spPr>
          <p:txBody>
            <a:bodyPr wrap="square" lIns="0" rIns="0" tIns="0" bIns="0" anchor="ctr">
              <a:noAutofit/>
            </a:bodyPr>
            <a:lstStyle/>
            <a:p>
              <a:pPr algn="l"/>
              <a:r>
                <a:rPr sz="1000" b="1" i="0">
                  <a:solidFill>
                    <a:srgbClr val="0E0E10"/>
                  </a:solidFill>
                  <a:latin typeface="JetBrains Mono" panose="02000009000000000000" pitchFamily="49" charset="0"/>
                </a:rPr>
                <a:t>SSE bus</a:t>
              </a:r>
            </a:p>
          </p:txBody>
        </p:sp>
        <p:sp>
          <p:nvSpPr>
            <p:cNvPr id="65" name="TextBox 64"/>
            <p:cNvSpPr txBox="1"/>
            <p:nvPr/>
          </p:nvSpPr>
          <p:spPr>
            <a:xfrm>
              <a:off x="3200400" y="5678424"/>
              <a:ext cx="2212848" cy="292608"/>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19 live event types</a:t>
              </a:r>
            </a:p>
          </p:txBody>
        </p:sp>
      </p:grpSp>
      <p:cxnSp>
        <p:nvCxnSpPr>
          <p:cNvPr id="66" name="Connector 65"/>
          <p:cNvCxnSpPr/>
          <p:nvPr/>
        </p:nvCxnSpPr>
        <p:spPr>
          <a:xfrm>
            <a:off x="5696712" y="2263140"/>
            <a:ext cx="246888" cy="0"/>
          </a:xfrm>
          <a:prstGeom prst="line">
            <a:avLst/>
          </a:prstGeom>
          <a:ln w="19050">
            <a:solidFill>
              <a:srgbClr val="D9D8D1"/>
            </a:solidFill>
            <a:tailEnd type="triangle" w="med" len="med"/>
          </a:ln>
        </p:spPr>
      </p:cxnSp>
      <p:grpSp>
        <p:nvGrpSpPr>
          <p:cNvPr id="67" name="Group 66"/>
          <p:cNvGrpSpPr/>
          <p:nvPr/>
        </p:nvGrpSpPr>
        <p:grpSpPr>
          <a:xfrm>
            <a:off x="5961888" y="1600200"/>
            <a:ext cx="1828800" cy="1325880"/>
            <a:chOff x="5961888" y="1600200"/>
            <a:chExt cx="1828800" cy="1325880"/>
          </a:xfrm>
        </p:grpSpPr>
        <p:sp>
          <p:nvSpPr>
            <p:cNvPr id="68" name="Rounded Rectangle 67"/>
            <p:cNvSpPr/>
            <p:nvPr/>
          </p:nvSpPr>
          <p:spPr>
            <a:xfrm>
              <a:off x="5961888" y="1600200"/>
              <a:ext cx="1828800" cy="1325880"/>
            </a:xfrm>
            <a:prstGeom prst="roundRect">
              <a:avLst>
                <a:gd name="adj" fmla="val 8275"/>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69" name="Rectangle 68"/>
            <p:cNvSpPr/>
            <p:nvPr/>
          </p:nvSpPr>
          <p:spPr>
            <a:xfrm>
              <a:off x="5961888" y="1783080"/>
              <a:ext cx="41148" cy="960120"/>
            </a:xfrm>
            <a:prstGeom prst="rect">
              <a:avLst/>
            </a:prstGeom>
            <a:solidFill>
              <a:srgbClr val="12805C"/>
            </a:solidFill>
            <a:ln>
              <a:noFill/>
            </a:ln>
          </p:spPr>
          <p:txBody>
            <a:bodyPr rtlCol="0" anchor="ctr"/>
            <a:lstStyle/>
            <a:p>
              <a:pPr algn="ctr"/>
            </a:p>
          </p:txBody>
        </p:sp>
        <p:sp>
          <p:nvSpPr>
            <p:cNvPr id="70" name="TextBox 69"/>
            <p:cNvSpPr txBox="1"/>
            <p:nvPr/>
          </p:nvSpPr>
          <p:spPr>
            <a:xfrm>
              <a:off x="6144768" y="1719072"/>
              <a:ext cx="160020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Web app</a:t>
              </a:r>
            </a:p>
          </p:txBody>
        </p:sp>
        <p:sp>
          <p:nvSpPr>
            <p:cNvPr id="71" name="TextBox 70"/>
            <p:cNvSpPr txBox="1"/>
            <p:nvPr/>
          </p:nvSpPr>
          <p:spPr>
            <a:xfrm>
              <a:off x="6144768" y="1993392"/>
              <a:ext cx="1572768" cy="886968"/>
            </a:xfrm>
            <a:prstGeom prst="rect">
              <a:avLst/>
            </a:prstGeom>
            <a:noFill/>
          </p:spPr>
          <p:txBody>
            <a:bodyPr wrap="square" lIns="0" rIns="0" tIns="0" bIns="0" anchor="t">
              <a:noAutofit/>
            </a:bodyPr>
            <a:lstStyle/>
            <a:p>
              <a:pPr algn="l">
                <a:lnSpc>
                  <a:spcPct val="104000"/>
                </a:lnSpc>
              </a:pPr>
              <a:r>
                <a:rPr sz="850" b="0" i="0">
                  <a:solidFill>
                    <a:srgbClr val="5D5D66"/>
                  </a:solidFill>
                  <a:latin typeface="Inter" panose="020B0502030000000004" pitchFamily="34" charset="0"/>
                </a:rPr>
                <a:t>Landing · exchange · merchant phone · approver phone · ledger · connect · director</a:t>
              </a:r>
            </a:p>
          </p:txBody>
        </p:sp>
      </p:grpSp>
      <p:cxnSp>
        <p:nvCxnSpPr>
          <p:cNvPr id="72" name="Connector 71"/>
          <p:cNvCxnSpPr/>
          <p:nvPr/>
        </p:nvCxnSpPr>
        <p:spPr>
          <a:xfrm>
            <a:off x="5696712" y="3744468"/>
            <a:ext cx="246888" cy="0"/>
          </a:xfrm>
          <a:prstGeom prst="line">
            <a:avLst/>
          </a:prstGeom>
          <a:ln w="19050">
            <a:solidFill>
              <a:srgbClr val="D9D8D1"/>
            </a:solidFill>
            <a:tailEnd type="triangle" w="med" len="med"/>
          </a:ln>
        </p:spPr>
      </p:cxnSp>
      <p:cxnSp>
        <p:nvCxnSpPr>
          <p:cNvPr id="73" name="Connector 72"/>
          <p:cNvCxnSpPr/>
          <p:nvPr/>
        </p:nvCxnSpPr>
        <p:spPr>
          <a:xfrm flipH="1">
            <a:off x="5696712" y="3890772"/>
            <a:ext cx="246888" cy="0"/>
          </a:xfrm>
          <a:prstGeom prst="line">
            <a:avLst/>
          </a:prstGeom>
          <a:ln w="15875">
            <a:solidFill>
              <a:srgbClr val="2F5BEA"/>
            </a:solidFill>
            <a:tailEnd type="triangle" w="med" len="med"/>
          </a:ln>
        </p:spPr>
      </p:cxnSp>
      <p:grpSp>
        <p:nvGrpSpPr>
          <p:cNvPr id="74" name="Group 73"/>
          <p:cNvGrpSpPr/>
          <p:nvPr/>
        </p:nvGrpSpPr>
        <p:grpSpPr>
          <a:xfrm>
            <a:off x="5961888" y="3108960"/>
            <a:ext cx="1828800" cy="1417320"/>
            <a:chOff x="5961888" y="3108960"/>
            <a:chExt cx="1828800" cy="1417320"/>
          </a:xfrm>
        </p:grpSpPr>
        <p:sp>
          <p:nvSpPr>
            <p:cNvPr id="75" name="Rounded Rectangle 74"/>
            <p:cNvSpPr/>
            <p:nvPr/>
          </p:nvSpPr>
          <p:spPr>
            <a:xfrm>
              <a:off x="5961888" y="3108960"/>
              <a:ext cx="1828800" cy="1417320"/>
            </a:xfrm>
            <a:prstGeom prst="roundRect">
              <a:avLst>
                <a:gd name="adj" fmla="val 7741"/>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76" name="Rectangle 75"/>
            <p:cNvSpPr/>
            <p:nvPr/>
          </p:nvSpPr>
          <p:spPr>
            <a:xfrm>
              <a:off x="5961888" y="3291840"/>
              <a:ext cx="41148" cy="1051560"/>
            </a:xfrm>
            <a:prstGeom prst="rect">
              <a:avLst/>
            </a:prstGeom>
            <a:solidFill>
              <a:srgbClr val="2F5BEA"/>
            </a:solidFill>
            <a:ln>
              <a:noFill/>
            </a:ln>
          </p:spPr>
          <p:txBody>
            <a:bodyPr rtlCol="0" anchor="ctr"/>
            <a:lstStyle/>
            <a:p>
              <a:pPr algn="ctr"/>
            </a:p>
          </p:txBody>
        </p:sp>
        <p:sp>
          <p:nvSpPr>
            <p:cNvPr id="77" name="TextBox 76"/>
            <p:cNvSpPr txBox="1"/>
            <p:nvPr/>
          </p:nvSpPr>
          <p:spPr>
            <a:xfrm>
              <a:off x="6144768" y="3227832"/>
              <a:ext cx="160020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Storefronts</a:t>
              </a:r>
            </a:p>
          </p:txBody>
        </p:sp>
        <p:sp>
          <p:nvSpPr>
            <p:cNvPr id="78" name="TextBox 77"/>
            <p:cNvSpPr txBox="1"/>
            <p:nvPr/>
          </p:nvSpPr>
          <p:spPr>
            <a:xfrm>
              <a:off x="6144768" y="3502152"/>
              <a:ext cx="1572768" cy="978408"/>
            </a:xfrm>
            <a:prstGeom prst="rect">
              <a:avLst/>
            </a:prstGeom>
            <a:noFill/>
          </p:spPr>
          <p:txBody>
            <a:bodyPr wrap="square" lIns="0" rIns="0" tIns="0" bIns="0" anchor="t">
              <a:noAutofit/>
            </a:bodyPr>
            <a:lstStyle/>
            <a:p>
              <a:pPr algn="l">
                <a:lnSpc>
                  <a:spcPct val="104000"/>
                </a:lnSpc>
              </a:pPr>
              <a:r>
                <a:rPr sz="850" b="0" i="0">
                  <a:solidFill>
                    <a:srgbClr val="5D5D66"/>
                  </a:solidFill>
                  <a:latin typeface="Inter" panose="020B0502030000000004" pitchFamily="34" charset="0"/>
                </a:rPr>
                <a:t>/store/:handle/:sku with schema.org JSON-LD + /quote. The verifier fetches them over HTTP.</a:t>
              </a:r>
            </a:p>
          </p:txBody>
        </p:sp>
      </p:grpSp>
      <p:cxnSp>
        <p:nvCxnSpPr>
          <p:cNvPr id="79" name="Connector 78"/>
          <p:cNvCxnSpPr/>
          <p:nvPr/>
        </p:nvCxnSpPr>
        <p:spPr>
          <a:xfrm>
            <a:off x="5696712" y="5312664"/>
            <a:ext cx="246888" cy="0"/>
          </a:xfrm>
          <a:prstGeom prst="line">
            <a:avLst/>
          </a:prstGeom>
          <a:ln w="19050">
            <a:solidFill>
              <a:srgbClr val="D9D8D1"/>
            </a:solidFill>
            <a:tailEnd type="triangle" w="med" len="med"/>
          </a:ln>
        </p:spPr>
      </p:cxnSp>
      <p:grpSp>
        <p:nvGrpSpPr>
          <p:cNvPr id="80" name="Group 79"/>
          <p:cNvGrpSpPr/>
          <p:nvPr/>
        </p:nvGrpSpPr>
        <p:grpSpPr>
          <a:xfrm>
            <a:off x="5961888" y="4709160"/>
            <a:ext cx="1828800" cy="1207008"/>
            <a:chOff x="5961888" y="4709160"/>
            <a:chExt cx="1828800" cy="1207008"/>
          </a:xfrm>
        </p:grpSpPr>
        <p:sp>
          <p:nvSpPr>
            <p:cNvPr id="81" name="Rounded Rectangle 80"/>
            <p:cNvSpPr/>
            <p:nvPr/>
          </p:nvSpPr>
          <p:spPr>
            <a:xfrm>
              <a:off x="5961888" y="4709160"/>
              <a:ext cx="1828800" cy="1207008"/>
            </a:xfrm>
            <a:prstGeom prst="roundRect">
              <a:avLst>
                <a:gd name="adj" fmla="val 909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82" name="Rectangle 81"/>
            <p:cNvSpPr/>
            <p:nvPr/>
          </p:nvSpPr>
          <p:spPr>
            <a:xfrm>
              <a:off x="5961888" y="4892040"/>
              <a:ext cx="41148" cy="841248"/>
            </a:xfrm>
            <a:prstGeom prst="rect">
              <a:avLst/>
            </a:prstGeom>
            <a:solidFill>
              <a:srgbClr val="A15C07"/>
            </a:solidFill>
            <a:ln>
              <a:noFill/>
            </a:ln>
          </p:spPr>
          <p:txBody>
            <a:bodyPr rtlCol="0" anchor="ctr"/>
            <a:lstStyle/>
            <a:p>
              <a:pPr algn="ctr"/>
            </a:p>
          </p:txBody>
        </p:sp>
        <p:sp>
          <p:nvSpPr>
            <p:cNvPr id="83" name="TextBox 82"/>
            <p:cNvSpPr txBox="1"/>
            <p:nvPr/>
          </p:nvSpPr>
          <p:spPr>
            <a:xfrm>
              <a:off x="6144768" y="4828032"/>
              <a:ext cx="1600200" cy="274320"/>
            </a:xfrm>
            <a:prstGeom prst="rect">
              <a:avLst/>
            </a:prstGeom>
            <a:noFill/>
          </p:spPr>
          <p:txBody>
            <a:bodyPr wrap="square" lIns="0" rIns="0" tIns="0" bIns="0" anchor="ctr">
              <a:noAutofit/>
            </a:bodyPr>
            <a:lstStyle/>
            <a:p>
              <a:pPr algn="l"/>
              <a:r>
                <a:rPr sz="1200" b="1" i="0">
                  <a:solidFill>
                    <a:srgbClr val="0E0E10"/>
                  </a:solidFill>
                  <a:latin typeface="Inter" panose="020B0502030000000004" pitchFamily="34" charset="0"/>
                </a:rPr>
                <a:t>Inkbox</a:t>
              </a:r>
            </a:p>
          </p:txBody>
        </p:sp>
        <p:sp>
          <p:nvSpPr>
            <p:cNvPr id="84" name="TextBox 83"/>
            <p:cNvSpPr txBox="1"/>
            <p:nvPr/>
          </p:nvSpPr>
          <p:spPr>
            <a:xfrm>
              <a:off x="6144768" y="5102352"/>
              <a:ext cx="1572768" cy="768096"/>
            </a:xfrm>
            <a:prstGeom prst="rect">
              <a:avLst/>
            </a:prstGeom>
            <a:noFill/>
          </p:spPr>
          <p:txBody>
            <a:bodyPr wrap="square" lIns="0" rIns="0" tIns="0" bIns="0" anchor="t">
              <a:noAutofit/>
            </a:bodyPr>
            <a:lstStyle/>
            <a:p>
              <a:pPr algn="l">
                <a:lnSpc>
                  <a:spcPct val="104000"/>
                </a:lnSpc>
              </a:pPr>
              <a:r>
                <a:rPr sz="850" b="0" i="0">
                  <a:solidFill>
                    <a:srgbClr val="5D5D66"/>
                  </a:solidFill>
                  <a:latin typeface="Inter" panose="020B0502030000000004" pitchFamily="34" charset="0"/>
                </a:rPr>
                <a:t>Agent identity: approval SMS (“Reply YES 1234”) and email receipts.</a:t>
              </a:r>
            </a:p>
          </p:txBody>
        </p:sp>
      </p:grpSp>
      <p:sp>
        <p:nvSpPr>
          <p:cNvPr id="85" name="TextBox 84"/>
          <p:cNvSpPr txBox="1"/>
          <p:nvPr/>
        </p:nvSpPr>
        <p:spPr>
          <a:xfrm>
            <a:off x="8092440" y="1600200"/>
            <a:ext cx="3383280" cy="237744"/>
          </a:xfrm>
          <a:prstGeom prst="rect">
            <a:avLst/>
          </a:prstGeom>
          <a:noFill/>
        </p:spPr>
        <p:txBody>
          <a:bodyPr wrap="square" lIns="0" rIns="0" tIns="0" bIns="0" anchor="ctr">
            <a:noAutofit/>
          </a:bodyPr>
          <a:lstStyle/>
          <a:p>
            <a:pPr algn="l"/>
            <a:r>
              <a:rPr sz="1000" b="1" i="0">
                <a:solidFill>
                  <a:srgbClr val="5D5D66"/>
                </a:solidFill>
                <a:latin typeface="Inter" panose="020B0502030000000004" pitchFamily="34" charset="0"/>
              </a:rPr>
              <a:t>Counted from the code</a:t>
            </a:r>
          </a:p>
        </p:txBody>
      </p:sp>
      <p:grpSp>
        <p:nvGrpSpPr>
          <p:cNvPr id="86" name="Group 85"/>
          <p:cNvGrpSpPr/>
          <p:nvPr/>
        </p:nvGrpSpPr>
        <p:grpSpPr>
          <a:xfrm>
            <a:off x="8092440" y="1892808"/>
            <a:ext cx="3410712" cy="4370832"/>
            <a:chOff x="8092440" y="1892808"/>
            <a:chExt cx="3410712" cy="4370832"/>
          </a:xfrm>
        </p:grpSpPr>
        <p:sp>
          <p:nvSpPr>
            <p:cNvPr id="87" name="Rounded Rectangle 86"/>
            <p:cNvSpPr/>
            <p:nvPr/>
          </p:nvSpPr>
          <p:spPr>
            <a:xfrm>
              <a:off x="8092440" y="1892808"/>
              <a:ext cx="3410712" cy="4370832"/>
            </a:xfrm>
            <a:prstGeom prst="roundRect">
              <a:avLst>
                <a:gd name="adj" fmla="val 3217"/>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grpSp>
      <p:grpSp>
        <p:nvGrpSpPr>
          <p:cNvPr id="88" name="Group 87"/>
          <p:cNvGrpSpPr/>
          <p:nvPr/>
        </p:nvGrpSpPr>
        <p:grpSpPr>
          <a:xfrm>
            <a:off x="8275320" y="1984248"/>
            <a:ext cx="1463040" cy="722376"/>
            <a:chOff x="8275320" y="1984248"/>
            <a:chExt cx="1463040" cy="722376"/>
          </a:xfrm>
        </p:grpSpPr>
        <p:sp>
          <p:nvSpPr>
            <p:cNvPr id="89" name="TextBox 88"/>
            <p:cNvSpPr txBox="1"/>
            <p:nvPr/>
          </p:nvSpPr>
          <p:spPr>
            <a:xfrm>
              <a:off x="8275320" y="1984248"/>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12</a:t>
              </a:r>
            </a:p>
          </p:txBody>
        </p:sp>
        <p:sp>
          <p:nvSpPr>
            <p:cNvPr id="90" name="TextBox 89"/>
            <p:cNvSpPr txBox="1"/>
            <p:nvPr/>
          </p:nvSpPr>
          <p:spPr>
            <a:xfrm>
              <a:off x="8275320" y="2395728"/>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MCP tools</a:t>
              </a:r>
            </a:p>
          </p:txBody>
        </p:sp>
      </p:grpSp>
      <p:sp>
        <p:nvSpPr>
          <p:cNvPr id="91" name="Rectangle 90"/>
          <p:cNvSpPr/>
          <p:nvPr/>
        </p:nvSpPr>
        <p:spPr>
          <a:xfrm>
            <a:off x="9797796" y="2029968"/>
            <a:ext cx="9144" cy="603504"/>
          </a:xfrm>
          <a:prstGeom prst="rect">
            <a:avLst/>
          </a:prstGeom>
          <a:solidFill>
            <a:srgbClr val="E9E8E3"/>
          </a:solidFill>
          <a:ln>
            <a:noFill/>
          </a:ln>
        </p:spPr>
        <p:txBody>
          <a:bodyPr rtlCol="0" anchor="ctr"/>
          <a:lstStyle/>
          <a:p>
            <a:pPr algn="ctr"/>
          </a:p>
        </p:txBody>
      </p:sp>
      <p:grpSp>
        <p:nvGrpSpPr>
          <p:cNvPr id="92" name="Group 91"/>
          <p:cNvGrpSpPr/>
          <p:nvPr/>
        </p:nvGrpSpPr>
        <p:grpSpPr>
          <a:xfrm>
            <a:off x="9980676" y="1984248"/>
            <a:ext cx="1463040" cy="722376"/>
            <a:chOff x="9980676" y="1984248"/>
            <a:chExt cx="1463040" cy="722376"/>
          </a:xfrm>
        </p:grpSpPr>
        <p:sp>
          <p:nvSpPr>
            <p:cNvPr id="93" name="TextBox 92"/>
            <p:cNvSpPr txBox="1"/>
            <p:nvPr/>
          </p:nvSpPr>
          <p:spPr>
            <a:xfrm>
              <a:off x="9980676" y="1984248"/>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3 + 2</a:t>
              </a:r>
            </a:p>
          </p:txBody>
        </p:sp>
        <p:sp>
          <p:nvSpPr>
            <p:cNvPr id="94" name="TextBox 93"/>
            <p:cNvSpPr txBox="1"/>
            <p:nvPr/>
          </p:nvSpPr>
          <p:spPr>
            <a:xfrm>
              <a:off x="9980676" y="2395728"/>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resources + prompts</a:t>
              </a:r>
            </a:p>
          </p:txBody>
        </p:sp>
      </p:grpSp>
      <p:sp>
        <p:nvSpPr>
          <p:cNvPr id="95" name="Rectangle 94"/>
          <p:cNvSpPr/>
          <p:nvPr/>
        </p:nvSpPr>
        <p:spPr>
          <a:xfrm>
            <a:off x="8183880" y="2766974"/>
            <a:ext cx="3227832" cy="9144"/>
          </a:xfrm>
          <a:prstGeom prst="rect">
            <a:avLst/>
          </a:prstGeom>
          <a:solidFill>
            <a:srgbClr val="E9E8E3"/>
          </a:solidFill>
          <a:ln>
            <a:noFill/>
          </a:ln>
        </p:spPr>
        <p:txBody>
          <a:bodyPr rtlCol="0" anchor="ctr"/>
          <a:lstStyle/>
          <a:p>
            <a:pPr algn="ctr"/>
          </a:p>
        </p:txBody>
      </p:sp>
      <p:grpSp>
        <p:nvGrpSpPr>
          <p:cNvPr id="96" name="Group 95"/>
          <p:cNvGrpSpPr/>
          <p:nvPr/>
        </p:nvGrpSpPr>
        <p:grpSpPr>
          <a:xfrm>
            <a:off x="8275320" y="2858414"/>
            <a:ext cx="1463040" cy="722376"/>
            <a:chOff x="8275320" y="2858414"/>
            <a:chExt cx="1463040" cy="722376"/>
          </a:xfrm>
        </p:grpSpPr>
        <p:sp>
          <p:nvSpPr>
            <p:cNvPr id="97" name="TextBox 96"/>
            <p:cNvSpPr txBox="1"/>
            <p:nvPr/>
          </p:nvSpPr>
          <p:spPr>
            <a:xfrm>
              <a:off x="8275320" y="2858414"/>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6</a:t>
              </a:r>
            </a:p>
          </p:txBody>
        </p:sp>
        <p:sp>
          <p:nvSpPr>
            <p:cNvPr id="98" name="TextBox 97"/>
            <p:cNvSpPr txBox="1"/>
            <p:nvPr/>
          </p:nvSpPr>
          <p:spPr>
            <a:xfrm>
              <a:off x="8275320" y="3269894"/>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demo scenarios</a:t>
              </a:r>
            </a:p>
          </p:txBody>
        </p:sp>
      </p:grpSp>
      <p:sp>
        <p:nvSpPr>
          <p:cNvPr id="99" name="Rectangle 98"/>
          <p:cNvSpPr/>
          <p:nvPr/>
        </p:nvSpPr>
        <p:spPr>
          <a:xfrm>
            <a:off x="9797796" y="2904134"/>
            <a:ext cx="9144" cy="603504"/>
          </a:xfrm>
          <a:prstGeom prst="rect">
            <a:avLst/>
          </a:prstGeom>
          <a:solidFill>
            <a:srgbClr val="E9E8E3"/>
          </a:solidFill>
          <a:ln>
            <a:noFill/>
          </a:ln>
        </p:spPr>
        <p:txBody>
          <a:bodyPr rtlCol="0" anchor="ctr"/>
          <a:lstStyle/>
          <a:p>
            <a:pPr algn="ctr"/>
          </a:p>
        </p:txBody>
      </p:sp>
      <p:grpSp>
        <p:nvGrpSpPr>
          <p:cNvPr id="100" name="Group 99"/>
          <p:cNvGrpSpPr/>
          <p:nvPr/>
        </p:nvGrpSpPr>
        <p:grpSpPr>
          <a:xfrm>
            <a:off x="9980676" y="2858414"/>
            <a:ext cx="1463040" cy="722376"/>
            <a:chOff x="9980676" y="2858414"/>
            <a:chExt cx="1463040" cy="722376"/>
          </a:xfrm>
        </p:grpSpPr>
        <p:sp>
          <p:nvSpPr>
            <p:cNvPr id="101" name="TextBox 100"/>
            <p:cNvSpPr txBox="1"/>
            <p:nvPr/>
          </p:nvSpPr>
          <p:spPr>
            <a:xfrm>
              <a:off x="9980676" y="2858414"/>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8</a:t>
              </a:r>
            </a:p>
          </p:txBody>
        </p:sp>
        <p:sp>
          <p:nvSpPr>
            <p:cNvPr id="102" name="TextBox 101"/>
            <p:cNvSpPr txBox="1"/>
            <p:nvPr/>
          </p:nvSpPr>
          <p:spPr>
            <a:xfrm>
              <a:off x="9980676" y="3269894"/>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merchant bot personas</a:t>
              </a:r>
            </a:p>
          </p:txBody>
        </p:sp>
      </p:grpSp>
      <p:sp>
        <p:nvSpPr>
          <p:cNvPr id="103" name="Rectangle 102"/>
          <p:cNvSpPr/>
          <p:nvPr/>
        </p:nvSpPr>
        <p:spPr>
          <a:xfrm>
            <a:off x="8183880" y="3641141"/>
            <a:ext cx="3227832" cy="9144"/>
          </a:xfrm>
          <a:prstGeom prst="rect">
            <a:avLst/>
          </a:prstGeom>
          <a:solidFill>
            <a:srgbClr val="E9E8E3"/>
          </a:solidFill>
          <a:ln>
            <a:noFill/>
          </a:ln>
        </p:spPr>
        <p:txBody>
          <a:bodyPr rtlCol="0" anchor="ctr"/>
          <a:lstStyle/>
          <a:p>
            <a:pPr algn="ctr"/>
          </a:p>
        </p:txBody>
      </p:sp>
      <p:grpSp>
        <p:nvGrpSpPr>
          <p:cNvPr id="104" name="Group 103"/>
          <p:cNvGrpSpPr/>
          <p:nvPr/>
        </p:nvGrpSpPr>
        <p:grpSpPr>
          <a:xfrm>
            <a:off x="8275320" y="3732581"/>
            <a:ext cx="1463040" cy="722376"/>
            <a:chOff x="8275320" y="3732581"/>
            <a:chExt cx="1463040" cy="722376"/>
          </a:xfrm>
        </p:grpSpPr>
        <p:sp>
          <p:nvSpPr>
            <p:cNvPr id="105" name="TextBox 104"/>
            <p:cNvSpPr txBox="1"/>
            <p:nvPr/>
          </p:nvSpPr>
          <p:spPr>
            <a:xfrm>
              <a:off x="8275320" y="3732581"/>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5</a:t>
              </a:r>
            </a:p>
          </p:txBody>
        </p:sp>
        <p:sp>
          <p:nvSpPr>
            <p:cNvPr id="106" name="TextBox 105"/>
            <p:cNvSpPr txBox="1"/>
            <p:nvPr/>
          </p:nvSpPr>
          <p:spPr>
            <a:xfrm>
              <a:off x="8275320" y="4144061"/>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verification checks</a:t>
              </a:r>
            </a:p>
          </p:txBody>
        </p:sp>
      </p:grpSp>
      <p:sp>
        <p:nvSpPr>
          <p:cNvPr id="107" name="Rectangle 106"/>
          <p:cNvSpPr/>
          <p:nvPr/>
        </p:nvSpPr>
        <p:spPr>
          <a:xfrm>
            <a:off x="9797796" y="3778301"/>
            <a:ext cx="9144" cy="603504"/>
          </a:xfrm>
          <a:prstGeom prst="rect">
            <a:avLst/>
          </a:prstGeom>
          <a:solidFill>
            <a:srgbClr val="E9E8E3"/>
          </a:solidFill>
          <a:ln>
            <a:noFill/>
          </a:ln>
        </p:spPr>
        <p:txBody>
          <a:bodyPr rtlCol="0" anchor="ctr"/>
          <a:lstStyle/>
          <a:p>
            <a:pPr algn="ctr"/>
          </a:p>
        </p:txBody>
      </p:sp>
      <p:grpSp>
        <p:nvGrpSpPr>
          <p:cNvPr id="108" name="Group 107"/>
          <p:cNvGrpSpPr/>
          <p:nvPr/>
        </p:nvGrpSpPr>
        <p:grpSpPr>
          <a:xfrm>
            <a:off x="9980676" y="3732581"/>
            <a:ext cx="1463040" cy="722376"/>
            <a:chOff x="9980676" y="3732581"/>
            <a:chExt cx="1463040" cy="722376"/>
          </a:xfrm>
        </p:grpSpPr>
        <p:sp>
          <p:nvSpPr>
            <p:cNvPr id="109" name="TextBox 108"/>
            <p:cNvSpPr txBox="1"/>
            <p:nvPr/>
          </p:nvSpPr>
          <p:spPr>
            <a:xfrm>
              <a:off x="9980676" y="3732581"/>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5</a:t>
              </a:r>
            </a:p>
          </p:txBody>
        </p:sp>
        <p:sp>
          <p:nvSpPr>
            <p:cNvPr id="110" name="TextBox 109"/>
            <p:cNvSpPr txBox="1"/>
            <p:nvPr/>
          </p:nvSpPr>
          <p:spPr>
            <a:xfrm>
              <a:off x="9980676" y="4144061"/>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ranking factors</a:t>
              </a:r>
            </a:p>
          </p:txBody>
        </p:sp>
      </p:grpSp>
      <p:sp>
        <p:nvSpPr>
          <p:cNvPr id="111" name="Rectangle 110"/>
          <p:cNvSpPr/>
          <p:nvPr/>
        </p:nvSpPr>
        <p:spPr>
          <a:xfrm>
            <a:off x="8183880" y="4515307"/>
            <a:ext cx="3227832" cy="9144"/>
          </a:xfrm>
          <a:prstGeom prst="rect">
            <a:avLst/>
          </a:prstGeom>
          <a:solidFill>
            <a:srgbClr val="E9E8E3"/>
          </a:solidFill>
          <a:ln>
            <a:noFill/>
          </a:ln>
        </p:spPr>
        <p:txBody>
          <a:bodyPr rtlCol="0" anchor="ctr"/>
          <a:lstStyle/>
          <a:p>
            <a:pPr algn="ctr"/>
          </a:p>
        </p:txBody>
      </p:sp>
      <p:grpSp>
        <p:nvGrpSpPr>
          <p:cNvPr id="112" name="Group 111"/>
          <p:cNvGrpSpPr/>
          <p:nvPr/>
        </p:nvGrpSpPr>
        <p:grpSpPr>
          <a:xfrm>
            <a:off x="8275320" y="4606747"/>
            <a:ext cx="1463040" cy="722376"/>
            <a:chOff x="8275320" y="4606747"/>
            <a:chExt cx="1463040" cy="722376"/>
          </a:xfrm>
        </p:grpSpPr>
        <p:sp>
          <p:nvSpPr>
            <p:cNvPr id="113" name="TextBox 112"/>
            <p:cNvSpPr txBox="1"/>
            <p:nvPr/>
          </p:nvSpPr>
          <p:spPr>
            <a:xfrm>
              <a:off x="8275320" y="4606747"/>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26</a:t>
              </a:r>
            </a:p>
          </p:txBody>
        </p:sp>
        <p:sp>
          <p:nvSpPr>
            <p:cNvPr id="114" name="TextBox 113"/>
            <p:cNvSpPr txBox="1"/>
            <p:nvPr/>
          </p:nvSpPr>
          <p:spPr>
            <a:xfrm>
              <a:off x="8275320" y="5018227"/>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real products in 6 categories</a:t>
              </a:r>
            </a:p>
          </p:txBody>
        </p:sp>
      </p:grpSp>
      <p:sp>
        <p:nvSpPr>
          <p:cNvPr id="115" name="Rectangle 114"/>
          <p:cNvSpPr/>
          <p:nvPr/>
        </p:nvSpPr>
        <p:spPr>
          <a:xfrm>
            <a:off x="9797796" y="4652467"/>
            <a:ext cx="9144" cy="603504"/>
          </a:xfrm>
          <a:prstGeom prst="rect">
            <a:avLst/>
          </a:prstGeom>
          <a:solidFill>
            <a:srgbClr val="E9E8E3"/>
          </a:solidFill>
          <a:ln>
            <a:noFill/>
          </a:ln>
        </p:spPr>
        <p:txBody>
          <a:bodyPr rtlCol="0" anchor="ctr"/>
          <a:lstStyle/>
          <a:p>
            <a:pPr algn="ctr"/>
          </a:p>
        </p:txBody>
      </p:sp>
      <p:grpSp>
        <p:nvGrpSpPr>
          <p:cNvPr id="116" name="Group 115"/>
          <p:cNvGrpSpPr/>
          <p:nvPr/>
        </p:nvGrpSpPr>
        <p:grpSpPr>
          <a:xfrm>
            <a:off x="9980676" y="4606747"/>
            <a:ext cx="1463040" cy="722376"/>
            <a:chOff x="9980676" y="4606747"/>
            <a:chExt cx="1463040" cy="722376"/>
          </a:xfrm>
        </p:grpSpPr>
        <p:sp>
          <p:nvSpPr>
            <p:cNvPr id="117" name="TextBox 116"/>
            <p:cNvSpPr txBox="1"/>
            <p:nvPr/>
          </p:nvSpPr>
          <p:spPr>
            <a:xfrm>
              <a:off x="9980676" y="4606747"/>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4</a:t>
              </a:r>
            </a:p>
          </p:txBody>
        </p:sp>
        <p:sp>
          <p:nvSpPr>
            <p:cNvPr id="118" name="TextBox 117"/>
            <p:cNvSpPr txBox="1"/>
            <p:nvPr/>
          </p:nvSpPr>
          <p:spPr>
            <a:xfrm>
              <a:off x="9980676" y="5018227"/>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buyer agents</a:t>
              </a:r>
            </a:p>
          </p:txBody>
        </p:sp>
      </p:grpSp>
      <p:sp>
        <p:nvSpPr>
          <p:cNvPr id="119" name="Rectangle 118"/>
          <p:cNvSpPr/>
          <p:nvPr/>
        </p:nvSpPr>
        <p:spPr>
          <a:xfrm>
            <a:off x="8183880" y="5389474"/>
            <a:ext cx="3227832" cy="9144"/>
          </a:xfrm>
          <a:prstGeom prst="rect">
            <a:avLst/>
          </a:prstGeom>
          <a:solidFill>
            <a:srgbClr val="E9E8E3"/>
          </a:solidFill>
          <a:ln>
            <a:noFill/>
          </a:ln>
        </p:spPr>
        <p:txBody>
          <a:bodyPr rtlCol="0" anchor="ctr"/>
          <a:lstStyle/>
          <a:p>
            <a:pPr algn="ctr"/>
          </a:p>
        </p:txBody>
      </p:sp>
      <p:grpSp>
        <p:nvGrpSpPr>
          <p:cNvPr id="120" name="Group 119"/>
          <p:cNvGrpSpPr/>
          <p:nvPr/>
        </p:nvGrpSpPr>
        <p:grpSpPr>
          <a:xfrm>
            <a:off x="8275320" y="5480914"/>
            <a:ext cx="1463040" cy="722376"/>
            <a:chOff x="8275320" y="5480914"/>
            <a:chExt cx="1463040" cy="722376"/>
          </a:xfrm>
        </p:grpSpPr>
        <p:sp>
          <p:nvSpPr>
            <p:cNvPr id="121" name="TextBox 120"/>
            <p:cNvSpPr txBox="1"/>
            <p:nvPr/>
          </p:nvSpPr>
          <p:spPr>
            <a:xfrm>
              <a:off x="8275320" y="5480914"/>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14</a:t>
              </a:r>
            </a:p>
          </p:txBody>
        </p:sp>
        <p:sp>
          <p:nvSpPr>
            <p:cNvPr id="122" name="TextBox 121"/>
            <p:cNvSpPr txBox="1"/>
            <p:nvPr/>
          </p:nvSpPr>
          <p:spPr>
            <a:xfrm>
              <a:off x="8275320" y="5892394"/>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SQLite tables</a:t>
              </a:r>
            </a:p>
          </p:txBody>
        </p:sp>
      </p:grpSp>
      <p:sp>
        <p:nvSpPr>
          <p:cNvPr id="123" name="Rectangle 122"/>
          <p:cNvSpPr/>
          <p:nvPr/>
        </p:nvSpPr>
        <p:spPr>
          <a:xfrm>
            <a:off x="9797796" y="5526634"/>
            <a:ext cx="9144" cy="603504"/>
          </a:xfrm>
          <a:prstGeom prst="rect">
            <a:avLst/>
          </a:prstGeom>
          <a:solidFill>
            <a:srgbClr val="E9E8E3"/>
          </a:solidFill>
          <a:ln>
            <a:noFill/>
          </a:ln>
        </p:spPr>
        <p:txBody>
          <a:bodyPr rtlCol="0" anchor="ctr"/>
          <a:lstStyle/>
          <a:p>
            <a:pPr algn="ctr"/>
          </a:p>
        </p:txBody>
      </p:sp>
      <p:grpSp>
        <p:nvGrpSpPr>
          <p:cNvPr id="124" name="Group 123"/>
          <p:cNvGrpSpPr/>
          <p:nvPr/>
        </p:nvGrpSpPr>
        <p:grpSpPr>
          <a:xfrm>
            <a:off x="9980676" y="5480914"/>
            <a:ext cx="1463040" cy="722376"/>
            <a:chOff x="9980676" y="5480914"/>
            <a:chExt cx="1463040" cy="722376"/>
          </a:xfrm>
        </p:grpSpPr>
        <p:sp>
          <p:nvSpPr>
            <p:cNvPr id="125" name="TextBox 124"/>
            <p:cNvSpPr txBox="1"/>
            <p:nvPr/>
          </p:nvSpPr>
          <p:spPr>
            <a:xfrm>
              <a:off x="9980676" y="5480914"/>
              <a:ext cx="1463040" cy="420624"/>
            </a:xfrm>
            <a:prstGeom prst="rect">
              <a:avLst/>
            </a:prstGeom>
            <a:noFill/>
          </p:spPr>
          <p:txBody>
            <a:bodyPr wrap="square" lIns="0" rIns="0" tIns="0" bIns="0" anchor="ctr">
              <a:noAutofit/>
            </a:bodyPr>
            <a:lstStyle/>
            <a:p>
              <a:pPr algn="l"/>
              <a:r>
                <a:rPr sz="2200" b="1" i="0" spc="-40">
                  <a:solidFill>
                    <a:srgbClr val="0E0E10"/>
                  </a:solidFill>
                  <a:latin typeface="Inter" panose="020B0502030000000004" pitchFamily="34" charset="0"/>
                </a:rPr>
                <a:t>6,774</a:t>
              </a:r>
            </a:p>
          </p:txBody>
        </p:sp>
        <p:sp>
          <p:nvSpPr>
            <p:cNvPr id="126" name="TextBox 125"/>
            <p:cNvSpPr txBox="1"/>
            <p:nvPr/>
          </p:nvSpPr>
          <p:spPr>
            <a:xfrm>
              <a:off x="9980676" y="5892394"/>
              <a:ext cx="1463040" cy="310896"/>
            </a:xfrm>
            <a:prstGeom prst="rect">
              <a:avLst/>
            </a:prstGeom>
            <a:noFill/>
          </p:spPr>
          <p:txBody>
            <a:bodyPr wrap="square" lIns="0" rIns="0" tIns="0" bIns="0" anchor="ctr">
              <a:noAutofit/>
            </a:bodyPr>
            <a:lstStyle/>
            <a:p>
              <a:pPr algn="l"/>
              <a:r>
                <a:rPr sz="850" b="0" i="0">
                  <a:solidFill>
                    <a:srgbClr val="5D5D66"/>
                  </a:solidFill>
                  <a:latin typeface="Inter" panose="020B0502030000000004" pitchFamily="34" charset="0"/>
                </a:rPr>
                <a:t>lines of TypeScript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600"/>
                                        <p:tgtEl>
                                          <p:spTgt spid="12"/>
                                        </p:tgtEl>
                                      </p:cBhvr>
                                    </p:animEffect>
                                    <p:anim calcmode="lin" valueType="num">
                                      <p:cBhvr additive="base">
                                        <p:cTn id="1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2"/>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300"/>
                                        <p:tgtEl>
                                          <p:spTgt spid="13"/>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300"/>
                                        <p:tgtEl>
                                          <p:spTgt spid="14"/>
                                        </p:tgtEl>
                                      </p:cBhvr>
                                    </p:animEffect>
                                    <p:anim calcmode="lin" valueType="num">
                                      <p:cBhvr additive="base">
                                        <p:cTn id="19" dur="300" fill="hold" decel="100000"/>
                                        <p:tgtEl>
                                          <p:spTgt spid="14"/>
                                        </p:tgtEl>
                                        <p:attrNameLst>
                                          <p:attrName>ppt_x</p:attrName>
                                        </p:attrNameLst>
                                      </p:cBhvr>
                                      <p:tavLst>
                                        <p:tav tm="0">
                                          <p:val>
                                            <p:strVal val="#ppt_x-0.02"/>
                                          </p:val>
                                        </p:tav>
                                        <p:tav tm="100000">
                                          <p:val>
                                            <p:strVal val="#ppt_x"/>
                                          </p:val>
                                        </p:tav>
                                      </p:tavLst>
                                    </p:anim>
                                    <p:anim calcmode="lin" valueType="num">
                                      <p:cBhvr additive="base">
                                        <p:cTn id="20" dur="300" fill="hold" decel="100000"/>
                                        <p:tgtEl>
                                          <p:spTgt spid="1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1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300"/>
                                        <p:tgtEl>
                                          <p:spTgt spid="17"/>
                                        </p:tgtEl>
                                      </p:cBhvr>
                                    </p:animEffect>
                                    <p:anim calcmode="lin" valueType="num">
                                      <p:cBhvr additive="base">
                                        <p:cTn id="24" dur="300" fill="hold" decel="100000"/>
                                        <p:tgtEl>
                                          <p:spTgt spid="17"/>
                                        </p:tgtEl>
                                        <p:attrNameLst>
                                          <p:attrName>ppt_x</p:attrName>
                                        </p:attrNameLst>
                                      </p:cBhvr>
                                      <p:tavLst>
                                        <p:tav tm="0">
                                          <p:val>
                                            <p:strVal val="#ppt_x-0.02"/>
                                          </p:val>
                                        </p:tav>
                                        <p:tav tm="100000">
                                          <p:val>
                                            <p:strVal val="#ppt_x"/>
                                          </p:val>
                                        </p:tav>
                                      </p:tavLst>
                                    </p:anim>
                                    <p:anim calcmode="lin" valueType="num">
                                      <p:cBhvr additive="base">
                                        <p:cTn id="25" dur="300" fill="hold" decel="100000"/>
                                        <p:tgtEl>
                                          <p:spTgt spid="17"/>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7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300"/>
                                        <p:tgtEl>
                                          <p:spTgt spid="20"/>
                                        </p:tgtEl>
                                      </p:cBhvr>
                                    </p:animEffect>
                                    <p:anim calcmode="lin" valueType="num">
                                      <p:cBhvr additive="base">
                                        <p:cTn id="29" dur="300" fill="hold" decel="100000"/>
                                        <p:tgtEl>
                                          <p:spTgt spid="20"/>
                                        </p:tgtEl>
                                        <p:attrNameLst>
                                          <p:attrName>ppt_x</p:attrName>
                                        </p:attrNameLst>
                                      </p:cBhvr>
                                      <p:tavLst>
                                        <p:tav tm="0">
                                          <p:val>
                                            <p:strVal val="#ppt_x-0.02"/>
                                          </p:val>
                                        </p:tav>
                                        <p:tav tm="100000">
                                          <p:val>
                                            <p:strVal val="#ppt_x"/>
                                          </p:val>
                                        </p:tav>
                                      </p:tavLst>
                                    </p:anim>
                                    <p:anim calcmode="lin" valueType="num">
                                      <p:cBhvr additive="base">
                                        <p:cTn id="30" dur="300" fill="hold" decel="100000"/>
                                        <p:tgtEl>
                                          <p:spTgt spid="20"/>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3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300"/>
                                        <p:tgtEl>
                                          <p:spTgt spid="23"/>
                                        </p:tgtEl>
                                      </p:cBhvr>
                                    </p:animEffect>
                                    <p:anim calcmode="lin" valueType="num">
                                      <p:cBhvr additive="base">
                                        <p:cTn id="34" dur="300" fill="hold" decel="100000"/>
                                        <p:tgtEl>
                                          <p:spTgt spid="23"/>
                                        </p:tgtEl>
                                        <p:attrNameLst>
                                          <p:attrName>ppt_x</p:attrName>
                                        </p:attrNameLst>
                                      </p:cBhvr>
                                      <p:tavLst>
                                        <p:tav tm="0">
                                          <p:val>
                                            <p:strVal val="#ppt_x-0.02"/>
                                          </p:val>
                                        </p:tav>
                                        <p:tav tm="100000">
                                          <p:val>
                                            <p:strVal val="#ppt_x"/>
                                          </p:val>
                                        </p:tav>
                                      </p:tavLst>
                                    </p:anim>
                                    <p:anim calcmode="lin" valueType="num">
                                      <p:cBhvr additive="base">
                                        <p:cTn id="35" dur="300" fill="hold" decel="100000"/>
                                        <p:tgtEl>
                                          <p:spTgt spid="23"/>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9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300"/>
                                        <p:tgtEl>
                                          <p:spTgt spid="26"/>
                                        </p:tgtEl>
                                      </p:cBhvr>
                                    </p:animEffect>
                                    <p:anim calcmode="lin" valueType="num">
                                      <p:cBhvr additive="base">
                                        <p:cTn id="39" dur="300" fill="hold" decel="100000"/>
                                        <p:tgtEl>
                                          <p:spTgt spid="26"/>
                                        </p:tgtEl>
                                        <p:attrNameLst>
                                          <p:attrName>ppt_x</p:attrName>
                                        </p:attrNameLst>
                                      </p:cBhvr>
                                      <p:tavLst>
                                        <p:tav tm="0">
                                          <p:val>
                                            <p:strVal val="#ppt_x-0.02"/>
                                          </p:val>
                                        </p:tav>
                                        <p:tav tm="100000">
                                          <p:val>
                                            <p:strVal val="#ppt_x"/>
                                          </p:val>
                                        </p:tav>
                                      </p:tavLst>
                                    </p:anim>
                                    <p:anim calcmode="lin" valueType="num">
                                      <p:cBhvr additive="base">
                                        <p:cTn id="40" dur="300" fill="hold" decel="100000"/>
                                        <p:tgtEl>
                                          <p:spTgt spid="26"/>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55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300"/>
                                        <p:tgtEl>
                                          <p:spTgt spid="29"/>
                                        </p:tgtEl>
                                      </p:cBhvr>
                                    </p:animEffect>
                                  </p:childTnLst>
                                </p:cTn>
                              </p:par>
                              <p:par>
                                <p:cTn id="44" presetID="42" presetClass="entr" presetSubtype="0" fill="hold" grpId="0" nodeType="withEffect">
                                  <p:stCondLst>
                                    <p:cond delay="60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300"/>
                                        <p:tgtEl>
                                          <p:spTgt spid="30"/>
                                        </p:tgtEl>
                                      </p:cBhvr>
                                    </p:animEffect>
                                    <p:anim calcmode="lin" valueType="num">
                                      <p:cBhvr additive="base">
                                        <p:cTn id="47" dur="300" fill="hold" decel="100000"/>
                                        <p:tgtEl>
                                          <p:spTgt spid="30"/>
                                        </p:tgtEl>
                                        <p:attrNameLst>
                                          <p:attrName>ppt_x</p:attrName>
                                        </p:attrNameLst>
                                      </p:cBhvr>
                                      <p:tavLst>
                                        <p:tav tm="0">
                                          <p:val>
                                            <p:strVal val="#ppt_x-0.02"/>
                                          </p:val>
                                        </p:tav>
                                        <p:tav tm="100000">
                                          <p:val>
                                            <p:strVal val="#ppt_x"/>
                                          </p:val>
                                        </p:tav>
                                      </p:tavLst>
                                    </p:anim>
                                    <p:anim calcmode="lin" valueType="num">
                                      <p:cBhvr additive="base">
                                        <p:cTn id="48" dur="300" fill="hold" decel="100000"/>
                                        <p:tgtEl>
                                          <p:spTgt spid="30"/>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66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300"/>
                                        <p:tgtEl>
                                          <p:spTgt spid="33"/>
                                        </p:tgtEl>
                                      </p:cBhvr>
                                    </p:animEffect>
                                    <p:anim calcmode="lin" valueType="num">
                                      <p:cBhvr additive="base">
                                        <p:cTn id="52" dur="300" fill="hold" decel="100000"/>
                                        <p:tgtEl>
                                          <p:spTgt spid="33"/>
                                        </p:tgtEl>
                                        <p:attrNameLst>
                                          <p:attrName>ppt_x</p:attrName>
                                        </p:attrNameLst>
                                      </p:cBhvr>
                                      <p:tavLst>
                                        <p:tav tm="0">
                                          <p:val>
                                            <p:strVal val="#ppt_x-0.02"/>
                                          </p:val>
                                        </p:tav>
                                        <p:tav tm="100000">
                                          <p:val>
                                            <p:strVal val="#ppt_x"/>
                                          </p:val>
                                        </p:tav>
                                      </p:tavLst>
                                    </p:anim>
                                    <p:anim calcmode="lin" valueType="num">
                                      <p:cBhvr additive="base">
                                        <p:cTn id="53" dur="300" fill="hold" decel="100000"/>
                                        <p:tgtEl>
                                          <p:spTgt spid="33"/>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72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300"/>
                                        <p:tgtEl>
                                          <p:spTgt spid="36"/>
                                        </p:tgtEl>
                                      </p:cBhvr>
                                    </p:animEffect>
                                    <p:anim calcmode="lin" valueType="num">
                                      <p:cBhvr additive="base">
                                        <p:cTn id="57" dur="300" fill="hold" decel="100000"/>
                                        <p:tgtEl>
                                          <p:spTgt spid="36"/>
                                        </p:tgtEl>
                                        <p:attrNameLst>
                                          <p:attrName>ppt_x</p:attrName>
                                        </p:attrNameLst>
                                      </p:cBhvr>
                                      <p:tavLst>
                                        <p:tav tm="0">
                                          <p:val>
                                            <p:strVal val="#ppt_x-0.02"/>
                                          </p:val>
                                        </p:tav>
                                        <p:tav tm="100000">
                                          <p:val>
                                            <p:strVal val="#ppt_x"/>
                                          </p:val>
                                        </p:tav>
                                      </p:tavLst>
                                    </p:anim>
                                    <p:anim calcmode="lin" valueType="num">
                                      <p:cBhvr additive="base">
                                        <p:cTn id="58" dur="300" fill="hold" decel="100000"/>
                                        <p:tgtEl>
                                          <p:spTgt spid="36"/>
                                        </p:tgtEl>
                                        <p:attrNameLst>
                                          <p:attrName>ppt_y</p:attrName>
                                        </p:attrNameLst>
                                      </p:cBhvr>
                                      <p:tavLst>
                                        <p:tav tm="0">
                                          <p:val>
                                            <p:strVal val="#ppt_y"/>
                                          </p:val>
                                        </p:tav>
                                        <p:tav tm="100000">
                                          <p:val>
                                            <p:strVal val="#ppt_y"/>
                                          </p:val>
                                        </p:tav>
                                      </p:tavLst>
                                    </p:anim>
                                  </p:childTnLst>
                                </p:cTn>
                              </p:par>
                              <p:par>
                                <p:cTn id="59" presetID="22" presetClass="entr" presetSubtype="8" fill="hold" grpId="0" nodeType="withEffect">
                                  <p:stCondLst>
                                    <p:cond delay="850"/>
                                  </p:stCondLst>
                                  <p:childTnLst>
                                    <p:set>
                                      <p:cBhvr>
                                        <p:cTn id="60" dur="1" fill="hold">
                                          <p:stCondLst>
                                            <p:cond delay="0"/>
                                          </p:stCondLst>
                                        </p:cTn>
                                        <p:tgtEl>
                                          <p:spTgt spid="39"/>
                                        </p:tgtEl>
                                        <p:attrNameLst>
                                          <p:attrName>style.visibility</p:attrName>
                                        </p:attrNameLst>
                                      </p:cBhvr>
                                      <p:to>
                                        <p:strVal val="visible"/>
                                      </p:to>
                                    </p:set>
                                    <p:animEffect transition="in" filter="wipe(left)">
                                      <p:cBhvr>
                                        <p:cTn id="61" dur="220"/>
                                        <p:tgtEl>
                                          <p:spTgt spid="39"/>
                                        </p:tgtEl>
                                      </p:cBhvr>
                                    </p:animEffect>
                                  </p:childTnLst>
                                </p:cTn>
                              </p:par>
                              <p:par>
                                <p:cTn id="62" presetID="22" presetClass="entr" presetSubtype="8" fill="hold" grpId="0" nodeType="withEffect">
                                  <p:stCondLst>
                                    <p:cond delay="850"/>
                                  </p:stCondLst>
                                  <p:childTnLst>
                                    <p:set>
                                      <p:cBhvr>
                                        <p:cTn id="63" dur="1" fill="hold">
                                          <p:stCondLst>
                                            <p:cond delay="0"/>
                                          </p:stCondLst>
                                        </p:cTn>
                                        <p:tgtEl>
                                          <p:spTgt spid="40"/>
                                        </p:tgtEl>
                                        <p:attrNameLst>
                                          <p:attrName>style.visibility</p:attrName>
                                        </p:attrNameLst>
                                      </p:cBhvr>
                                      <p:to>
                                        <p:strVal val="visible"/>
                                      </p:to>
                                    </p:set>
                                    <p:animEffect transition="in" filter="wipe(left)">
                                      <p:cBhvr>
                                        <p:cTn id="64" dur="220"/>
                                        <p:tgtEl>
                                          <p:spTgt spid="40"/>
                                        </p:tgtEl>
                                      </p:cBhvr>
                                    </p:animEffect>
                                  </p:childTnLst>
                                </p:cTn>
                              </p:par>
                              <p:par>
                                <p:cTn id="65" presetID="42" presetClass="entr" presetSubtype="0" fill="hold" grpId="0" nodeType="withEffect">
                                  <p:stCondLst>
                                    <p:cond delay="80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500"/>
                                        <p:tgtEl>
                                          <p:spTgt spid="41"/>
                                        </p:tgtEl>
                                      </p:cBhvr>
                                    </p:animEffect>
                                    <p:anim calcmode="lin" valueType="num">
                                      <p:cBhvr additive="base">
                                        <p:cTn id="68" dur="500" fill="hold" decel="100000"/>
                                        <p:tgtEl>
                                          <p:spTgt spid="41"/>
                                        </p:tgtEl>
                                        <p:attrNameLst>
                                          <p:attrName>ppt_x</p:attrName>
                                        </p:attrNameLst>
                                      </p:cBhvr>
                                      <p:tavLst>
                                        <p:tav tm="0">
                                          <p:val>
                                            <p:strVal val="#ppt_x"/>
                                          </p:val>
                                        </p:tav>
                                        <p:tav tm="100000">
                                          <p:val>
                                            <p:strVal val="#ppt_x"/>
                                          </p:val>
                                        </p:tav>
                                      </p:tavLst>
                                    </p:anim>
                                    <p:anim calcmode="lin" valueType="num">
                                      <p:cBhvr additive="base">
                                        <p:cTn id="69" dur="500" fill="hold" decel="100000"/>
                                        <p:tgtEl>
                                          <p:spTgt spid="41"/>
                                        </p:tgtEl>
                                        <p:attrNameLst>
                                          <p:attrName>ppt_y</p:attrName>
                                        </p:attrNameLst>
                                      </p:cBhvr>
                                      <p:tavLst>
                                        <p:tav tm="0">
                                          <p:val>
                                            <p:strVal val="#ppt_y+0.025"/>
                                          </p:val>
                                        </p:tav>
                                        <p:tav tm="100000">
                                          <p:val>
                                            <p:strVal val="#ppt_y"/>
                                          </p:val>
                                        </p:tav>
                                      </p:tavLst>
                                    </p:anim>
                                  </p:childTnLst>
                                </p:cTn>
                              </p:par>
                              <p:par>
                                <p:cTn id="70" presetID="10" presetClass="entr" presetSubtype="0" fill="hold" grpId="0" nodeType="withEffect">
                                  <p:stCondLst>
                                    <p:cond delay="100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300"/>
                                        <p:tgtEl>
                                          <p:spTgt spid="46"/>
                                        </p:tgtEl>
                                      </p:cBhvr>
                                    </p:animEffect>
                                  </p:childTnLst>
                                </p:cTn>
                              </p:par>
                              <p:par>
                                <p:cTn id="73" presetID="10" presetClass="entr" presetSubtype="0" fill="hold" grpId="0" nodeType="withEffect">
                                  <p:stCondLst>
                                    <p:cond delay="1100"/>
                                  </p:stCondLst>
                                  <p:childTnLst>
                                    <p:set>
                                      <p:cBhvr>
                                        <p:cTn id="74" dur="1" fill="hold">
                                          <p:stCondLst>
                                            <p:cond delay="0"/>
                                          </p:stCondLst>
                                        </p:cTn>
                                        <p:tgtEl>
                                          <p:spTgt spid="50"/>
                                        </p:tgtEl>
                                        <p:attrNameLst>
                                          <p:attrName>style.visibility</p:attrName>
                                        </p:attrNameLst>
                                      </p:cBhvr>
                                      <p:to>
                                        <p:strVal val="visible"/>
                                      </p:to>
                                    </p:set>
                                    <p:animEffect transition="in" filter="fade">
                                      <p:cBhvr>
                                        <p:cTn id="75" dur="300"/>
                                        <p:tgtEl>
                                          <p:spTgt spid="50"/>
                                        </p:tgtEl>
                                      </p:cBhvr>
                                    </p:animEffect>
                                  </p:childTnLst>
                                </p:cTn>
                              </p:par>
                              <p:par>
                                <p:cTn id="76" presetID="10" presetClass="entr" presetSubtype="0" fill="hold" grpId="0" nodeType="withEffect">
                                  <p:stCondLst>
                                    <p:cond delay="1200"/>
                                  </p:stCondLst>
                                  <p:childTnLst>
                                    <p:set>
                                      <p:cBhvr>
                                        <p:cTn id="77" dur="1" fill="hold">
                                          <p:stCondLst>
                                            <p:cond delay="0"/>
                                          </p:stCondLst>
                                        </p:cTn>
                                        <p:tgtEl>
                                          <p:spTgt spid="54"/>
                                        </p:tgtEl>
                                        <p:attrNameLst>
                                          <p:attrName>style.visibility</p:attrName>
                                        </p:attrNameLst>
                                      </p:cBhvr>
                                      <p:to>
                                        <p:strVal val="visible"/>
                                      </p:to>
                                    </p:set>
                                    <p:animEffect transition="in" filter="fade">
                                      <p:cBhvr>
                                        <p:cTn id="78" dur="300"/>
                                        <p:tgtEl>
                                          <p:spTgt spid="54"/>
                                        </p:tgtEl>
                                      </p:cBhvr>
                                    </p:animEffect>
                                  </p:childTnLst>
                                </p:cTn>
                              </p:par>
                              <p:par>
                                <p:cTn id="79" presetID="10" presetClass="entr" presetSubtype="0" fill="hold" grpId="0" nodeType="withEffect">
                                  <p:stCondLst>
                                    <p:cond delay="1300"/>
                                  </p:stCondLst>
                                  <p:childTnLst>
                                    <p:set>
                                      <p:cBhvr>
                                        <p:cTn id="80" dur="1" fill="hold">
                                          <p:stCondLst>
                                            <p:cond delay="0"/>
                                          </p:stCondLst>
                                        </p:cTn>
                                        <p:tgtEl>
                                          <p:spTgt spid="58"/>
                                        </p:tgtEl>
                                        <p:attrNameLst>
                                          <p:attrName>style.visibility</p:attrName>
                                        </p:attrNameLst>
                                      </p:cBhvr>
                                      <p:to>
                                        <p:strVal val="visible"/>
                                      </p:to>
                                    </p:set>
                                    <p:animEffect transition="in" filter="fade">
                                      <p:cBhvr>
                                        <p:cTn id="81" dur="300"/>
                                        <p:tgtEl>
                                          <p:spTgt spid="58"/>
                                        </p:tgtEl>
                                      </p:cBhvr>
                                    </p:animEffect>
                                  </p:childTnLst>
                                </p:cTn>
                              </p:par>
                              <p:par>
                                <p:cTn id="82" presetID="10" presetClass="entr" presetSubtype="0" fill="hold" grpId="0" nodeType="withEffect">
                                  <p:stCondLst>
                                    <p:cond delay="140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300"/>
                                        <p:tgtEl>
                                          <p:spTgt spid="62"/>
                                        </p:tgtEl>
                                      </p:cBhvr>
                                    </p:animEffect>
                                  </p:childTnLst>
                                </p:cTn>
                              </p:par>
                              <p:par>
                                <p:cTn id="85" presetID="22" presetClass="entr" presetSubtype="8" fill="hold" grpId="0" nodeType="withEffect">
                                  <p:stCondLst>
                                    <p:cond delay="15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20"/>
                                        <p:tgtEl>
                                          <p:spTgt spid="66"/>
                                        </p:tgtEl>
                                      </p:cBhvr>
                                    </p:animEffect>
                                  </p:childTnLst>
                                </p:cTn>
                              </p:par>
                              <p:par>
                                <p:cTn id="88" presetID="42" presetClass="entr" presetSubtype="0" fill="hold" grpId="0" nodeType="withEffect">
                                  <p:stCondLst>
                                    <p:cond delay="1600"/>
                                  </p:stCondLst>
                                  <p:childTnLst>
                                    <p:set>
                                      <p:cBhvr>
                                        <p:cTn id="89" dur="1" fill="hold">
                                          <p:stCondLst>
                                            <p:cond delay="0"/>
                                          </p:stCondLst>
                                        </p:cTn>
                                        <p:tgtEl>
                                          <p:spTgt spid="67"/>
                                        </p:tgtEl>
                                        <p:attrNameLst>
                                          <p:attrName>style.visibility</p:attrName>
                                        </p:attrNameLst>
                                      </p:cBhvr>
                                      <p:to>
                                        <p:strVal val="visible"/>
                                      </p:to>
                                    </p:set>
                                    <p:animEffect transition="in" filter="fade">
                                      <p:cBhvr>
                                        <p:cTn id="90" dur="400"/>
                                        <p:tgtEl>
                                          <p:spTgt spid="67"/>
                                        </p:tgtEl>
                                      </p:cBhvr>
                                    </p:animEffect>
                                    <p:anim calcmode="lin" valueType="num">
                                      <p:cBhvr additive="base">
                                        <p:cTn id="91" dur="400" fill="hold" decel="100000"/>
                                        <p:tgtEl>
                                          <p:spTgt spid="67"/>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67"/>
                                        </p:tgtEl>
                                        <p:attrNameLst>
                                          <p:attrName>ppt_y</p:attrName>
                                        </p:attrNameLst>
                                      </p:cBhvr>
                                      <p:tavLst>
                                        <p:tav tm="0">
                                          <p:val>
                                            <p:strVal val="#ppt_y+0.025"/>
                                          </p:val>
                                        </p:tav>
                                        <p:tav tm="100000">
                                          <p:val>
                                            <p:strVal val="#ppt_y"/>
                                          </p:val>
                                        </p:tav>
                                      </p:tavLst>
                                    </p:anim>
                                  </p:childTnLst>
                                </p:cTn>
                              </p:par>
                              <p:par>
                                <p:cTn id="93" presetID="22" presetClass="entr" presetSubtype="8" fill="hold" grpId="0" nodeType="withEffect">
                                  <p:stCondLst>
                                    <p:cond delay="1700"/>
                                  </p:stCondLst>
                                  <p:childTnLst>
                                    <p:set>
                                      <p:cBhvr>
                                        <p:cTn id="94" dur="1" fill="hold">
                                          <p:stCondLst>
                                            <p:cond delay="0"/>
                                          </p:stCondLst>
                                        </p:cTn>
                                        <p:tgtEl>
                                          <p:spTgt spid="73"/>
                                        </p:tgtEl>
                                        <p:attrNameLst>
                                          <p:attrName>style.visibility</p:attrName>
                                        </p:attrNameLst>
                                      </p:cBhvr>
                                      <p:to>
                                        <p:strVal val="visible"/>
                                      </p:to>
                                    </p:set>
                                    <p:animEffect transition="in" filter="wipe(left)">
                                      <p:cBhvr>
                                        <p:cTn id="95" dur="220"/>
                                        <p:tgtEl>
                                          <p:spTgt spid="73"/>
                                        </p:tgtEl>
                                      </p:cBhvr>
                                    </p:animEffect>
                                  </p:childTnLst>
                                </p:cTn>
                              </p:par>
                              <p:par>
                                <p:cTn id="96" presetID="22" presetClass="entr" presetSubtype="8" fill="hold" grpId="0" nodeType="withEffect">
                                  <p:stCondLst>
                                    <p:cond delay="1660"/>
                                  </p:stCondLst>
                                  <p:childTnLst>
                                    <p:set>
                                      <p:cBhvr>
                                        <p:cTn id="97" dur="1" fill="hold">
                                          <p:stCondLst>
                                            <p:cond delay="0"/>
                                          </p:stCondLst>
                                        </p:cTn>
                                        <p:tgtEl>
                                          <p:spTgt spid="72"/>
                                        </p:tgtEl>
                                        <p:attrNameLst>
                                          <p:attrName>style.visibility</p:attrName>
                                        </p:attrNameLst>
                                      </p:cBhvr>
                                      <p:to>
                                        <p:strVal val="visible"/>
                                      </p:to>
                                    </p:set>
                                    <p:animEffect transition="in" filter="wipe(left)">
                                      <p:cBhvr>
                                        <p:cTn id="98" dur="220"/>
                                        <p:tgtEl>
                                          <p:spTgt spid="72"/>
                                        </p:tgtEl>
                                      </p:cBhvr>
                                    </p:animEffect>
                                  </p:childTnLst>
                                </p:cTn>
                              </p:par>
                              <p:par>
                                <p:cTn id="99" presetID="42" presetClass="entr" presetSubtype="0" fill="hold" grpId="0" nodeType="withEffect">
                                  <p:stCondLst>
                                    <p:cond delay="1730"/>
                                  </p:stCondLst>
                                  <p:childTnLst>
                                    <p:set>
                                      <p:cBhvr>
                                        <p:cTn id="100" dur="1" fill="hold">
                                          <p:stCondLst>
                                            <p:cond delay="0"/>
                                          </p:stCondLst>
                                        </p:cTn>
                                        <p:tgtEl>
                                          <p:spTgt spid="74"/>
                                        </p:tgtEl>
                                        <p:attrNameLst>
                                          <p:attrName>style.visibility</p:attrName>
                                        </p:attrNameLst>
                                      </p:cBhvr>
                                      <p:to>
                                        <p:strVal val="visible"/>
                                      </p:to>
                                    </p:set>
                                    <p:animEffect transition="in" filter="fade">
                                      <p:cBhvr>
                                        <p:cTn id="101" dur="400"/>
                                        <p:tgtEl>
                                          <p:spTgt spid="74"/>
                                        </p:tgtEl>
                                      </p:cBhvr>
                                    </p:animEffect>
                                    <p:anim calcmode="lin" valueType="num">
                                      <p:cBhvr additive="base">
                                        <p:cTn id="102" dur="400" fill="hold" decel="100000"/>
                                        <p:tgtEl>
                                          <p:spTgt spid="74"/>
                                        </p:tgtEl>
                                        <p:attrNameLst>
                                          <p:attrName>ppt_x</p:attrName>
                                        </p:attrNameLst>
                                      </p:cBhvr>
                                      <p:tavLst>
                                        <p:tav tm="0">
                                          <p:val>
                                            <p:strVal val="#ppt_x"/>
                                          </p:val>
                                        </p:tav>
                                        <p:tav tm="100000">
                                          <p:val>
                                            <p:strVal val="#ppt_x"/>
                                          </p:val>
                                        </p:tav>
                                      </p:tavLst>
                                    </p:anim>
                                    <p:anim calcmode="lin" valueType="num">
                                      <p:cBhvr additive="base">
                                        <p:cTn id="103" dur="400" fill="hold" decel="100000"/>
                                        <p:tgtEl>
                                          <p:spTgt spid="74"/>
                                        </p:tgtEl>
                                        <p:attrNameLst>
                                          <p:attrName>ppt_y</p:attrName>
                                        </p:attrNameLst>
                                      </p:cBhvr>
                                      <p:tavLst>
                                        <p:tav tm="0">
                                          <p:val>
                                            <p:strVal val="#ppt_y+0.025"/>
                                          </p:val>
                                        </p:tav>
                                        <p:tav tm="100000">
                                          <p:val>
                                            <p:strVal val="#ppt_y"/>
                                          </p:val>
                                        </p:tav>
                                      </p:tavLst>
                                    </p:anim>
                                  </p:childTnLst>
                                </p:cTn>
                              </p:par>
                              <p:par>
                                <p:cTn id="104" presetID="22" presetClass="entr" presetSubtype="8" fill="hold" grpId="0" nodeType="withEffect">
                                  <p:stCondLst>
                                    <p:cond delay="1770"/>
                                  </p:stCondLst>
                                  <p:childTnLst>
                                    <p:set>
                                      <p:cBhvr>
                                        <p:cTn id="105" dur="1" fill="hold">
                                          <p:stCondLst>
                                            <p:cond delay="0"/>
                                          </p:stCondLst>
                                        </p:cTn>
                                        <p:tgtEl>
                                          <p:spTgt spid="79"/>
                                        </p:tgtEl>
                                        <p:attrNameLst>
                                          <p:attrName>style.visibility</p:attrName>
                                        </p:attrNameLst>
                                      </p:cBhvr>
                                      <p:to>
                                        <p:strVal val="visible"/>
                                      </p:to>
                                    </p:set>
                                    <p:animEffect transition="in" filter="wipe(left)">
                                      <p:cBhvr>
                                        <p:cTn id="106" dur="220"/>
                                        <p:tgtEl>
                                          <p:spTgt spid="79"/>
                                        </p:tgtEl>
                                      </p:cBhvr>
                                    </p:animEffect>
                                  </p:childTnLst>
                                </p:cTn>
                              </p:par>
                              <p:par>
                                <p:cTn id="107" presetID="42" presetClass="entr" presetSubtype="0" fill="hold" grpId="0" nodeType="withEffect">
                                  <p:stCondLst>
                                    <p:cond delay="1860"/>
                                  </p:stCondLst>
                                  <p:childTnLst>
                                    <p:set>
                                      <p:cBhvr>
                                        <p:cTn id="108" dur="1" fill="hold">
                                          <p:stCondLst>
                                            <p:cond delay="0"/>
                                          </p:stCondLst>
                                        </p:cTn>
                                        <p:tgtEl>
                                          <p:spTgt spid="80"/>
                                        </p:tgtEl>
                                        <p:attrNameLst>
                                          <p:attrName>style.visibility</p:attrName>
                                        </p:attrNameLst>
                                      </p:cBhvr>
                                      <p:to>
                                        <p:strVal val="visible"/>
                                      </p:to>
                                    </p:set>
                                    <p:animEffect transition="in" filter="fade">
                                      <p:cBhvr>
                                        <p:cTn id="109" dur="400"/>
                                        <p:tgtEl>
                                          <p:spTgt spid="80"/>
                                        </p:tgtEl>
                                      </p:cBhvr>
                                    </p:animEffect>
                                    <p:anim calcmode="lin" valueType="num">
                                      <p:cBhvr additive="base">
                                        <p:cTn id="110" dur="400" fill="hold" decel="100000"/>
                                        <p:tgtEl>
                                          <p:spTgt spid="80"/>
                                        </p:tgtEl>
                                        <p:attrNameLst>
                                          <p:attrName>ppt_x</p:attrName>
                                        </p:attrNameLst>
                                      </p:cBhvr>
                                      <p:tavLst>
                                        <p:tav tm="0">
                                          <p:val>
                                            <p:strVal val="#ppt_x"/>
                                          </p:val>
                                        </p:tav>
                                        <p:tav tm="100000">
                                          <p:val>
                                            <p:strVal val="#ppt_x"/>
                                          </p:val>
                                        </p:tav>
                                      </p:tavLst>
                                    </p:anim>
                                    <p:anim calcmode="lin" valueType="num">
                                      <p:cBhvr additive="base">
                                        <p:cTn id="111" dur="400" fill="hold" decel="100000"/>
                                        <p:tgtEl>
                                          <p:spTgt spid="80"/>
                                        </p:tgtEl>
                                        <p:attrNameLst>
                                          <p:attrName>ppt_y</p:attrName>
                                        </p:attrNameLst>
                                      </p:cBhvr>
                                      <p:tavLst>
                                        <p:tav tm="0">
                                          <p:val>
                                            <p:strVal val="#ppt_y+0.025"/>
                                          </p:val>
                                        </p:tav>
                                        <p:tav tm="100000">
                                          <p:val>
                                            <p:strVal val="#ppt_y"/>
                                          </p:val>
                                        </p:tav>
                                      </p:tavLst>
                                    </p:anim>
                                  </p:childTnLst>
                                </p:cTn>
                              </p:par>
                              <p:par>
                                <p:cTn id="112" presetID="10" presetClass="entr" presetSubtype="0" fill="hold" grpId="0" nodeType="withEffect">
                                  <p:stCondLst>
                                    <p:cond delay="1800"/>
                                  </p:stCondLst>
                                  <p:childTnLst>
                                    <p:set>
                                      <p:cBhvr>
                                        <p:cTn id="113" dur="1" fill="hold">
                                          <p:stCondLst>
                                            <p:cond delay="0"/>
                                          </p:stCondLst>
                                        </p:cTn>
                                        <p:tgtEl>
                                          <p:spTgt spid="85"/>
                                        </p:tgtEl>
                                        <p:attrNameLst>
                                          <p:attrName>style.visibility</p:attrName>
                                        </p:attrNameLst>
                                      </p:cBhvr>
                                      <p:to>
                                        <p:strVal val="visible"/>
                                      </p:to>
                                    </p:set>
                                    <p:animEffect transition="in" filter="fade">
                                      <p:cBhvr>
                                        <p:cTn id="114" dur="300"/>
                                        <p:tgtEl>
                                          <p:spTgt spid="85"/>
                                        </p:tgtEl>
                                      </p:cBhvr>
                                    </p:animEffect>
                                  </p:childTnLst>
                                </p:cTn>
                              </p:par>
                              <p:par>
                                <p:cTn id="115" presetID="42" presetClass="entr" presetSubtype="0" fill="hold" grpId="0" nodeType="withEffect">
                                  <p:stCondLst>
                                    <p:cond delay="1850"/>
                                  </p:stCondLst>
                                  <p:childTnLst>
                                    <p:set>
                                      <p:cBhvr>
                                        <p:cTn id="116" dur="1" fill="hold">
                                          <p:stCondLst>
                                            <p:cond delay="0"/>
                                          </p:stCondLst>
                                        </p:cTn>
                                        <p:tgtEl>
                                          <p:spTgt spid="86"/>
                                        </p:tgtEl>
                                        <p:attrNameLst>
                                          <p:attrName>style.visibility</p:attrName>
                                        </p:attrNameLst>
                                      </p:cBhvr>
                                      <p:to>
                                        <p:strVal val="visible"/>
                                      </p:to>
                                    </p:set>
                                    <p:animEffect transition="in" filter="fade">
                                      <p:cBhvr>
                                        <p:cTn id="117" dur="450"/>
                                        <p:tgtEl>
                                          <p:spTgt spid="86"/>
                                        </p:tgtEl>
                                      </p:cBhvr>
                                    </p:animEffect>
                                    <p:anim calcmode="lin" valueType="num">
                                      <p:cBhvr additive="base">
                                        <p:cTn id="118"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9" dur="450" fill="hold" decel="100000"/>
                                        <p:tgtEl>
                                          <p:spTgt spid="86"/>
                                        </p:tgtEl>
                                        <p:attrNameLst>
                                          <p:attrName>ppt_y</p:attrName>
                                        </p:attrNameLst>
                                      </p:cBhvr>
                                      <p:tavLst>
                                        <p:tav tm="0">
                                          <p:val>
                                            <p:strVal val="#ppt_y+0.025"/>
                                          </p:val>
                                        </p:tav>
                                        <p:tav tm="100000">
                                          <p:val>
                                            <p:strVal val="#ppt_y"/>
                                          </p:val>
                                        </p:tav>
                                      </p:tavLst>
                                    </p:anim>
                                  </p:childTnLst>
                                </p:cTn>
                              </p:par>
                              <p:par>
                                <p:cTn id="120" presetID="42" presetClass="entr" presetSubtype="0" fill="hold" grpId="0" nodeType="withEffect">
                                  <p:stCondLst>
                                    <p:cond delay="1950"/>
                                  </p:stCondLst>
                                  <p:childTnLst>
                                    <p:set>
                                      <p:cBhvr>
                                        <p:cTn id="121" dur="1" fill="hold">
                                          <p:stCondLst>
                                            <p:cond delay="0"/>
                                          </p:stCondLst>
                                        </p:cTn>
                                        <p:tgtEl>
                                          <p:spTgt spid="88"/>
                                        </p:tgtEl>
                                        <p:attrNameLst>
                                          <p:attrName>style.visibility</p:attrName>
                                        </p:attrNameLst>
                                      </p:cBhvr>
                                      <p:to>
                                        <p:strVal val="visible"/>
                                      </p:to>
                                    </p:set>
                                    <p:animEffect transition="in" filter="fade">
                                      <p:cBhvr>
                                        <p:cTn id="122" dur="350"/>
                                        <p:tgtEl>
                                          <p:spTgt spid="88"/>
                                        </p:tgtEl>
                                      </p:cBhvr>
                                    </p:animEffect>
                                    <p:anim calcmode="lin" valueType="num">
                                      <p:cBhvr additive="base">
                                        <p:cTn id="123" dur="350" fill="hold" decel="100000"/>
                                        <p:tgtEl>
                                          <p:spTgt spid="88"/>
                                        </p:tgtEl>
                                        <p:attrNameLst>
                                          <p:attrName>ppt_x</p:attrName>
                                        </p:attrNameLst>
                                      </p:cBhvr>
                                      <p:tavLst>
                                        <p:tav tm="0">
                                          <p:val>
                                            <p:strVal val="#ppt_x"/>
                                          </p:val>
                                        </p:tav>
                                        <p:tav tm="100000">
                                          <p:val>
                                            <p:strVal val="#ppt_x"/>
                                          </p:val>
                                        </p:tav>
                                      </p:tavLst>
                                    </p:anim>
                                    <p:anim calcmode="lin" valueType="num">
                                      <p:cBhvr additive="base">
                                        <p:cTn id="124" dur="350" fill="hold" decel="100000"/>
                                        <p:tgtEl>
                                          <p:spTgt spid="88"/>
                                        </p:tgtEl>
                                        <p:attrNameLst>
                                          <p:attrName>ppt_y</p:attrName>
                                        </p:attrNameLst>
                                      </p:cBhvr>
                                      <p:tavLst>
                                        <p:tav tm="0">
                                          <p:val>
                                            <p:strVal val="#ppt_y+0.025"/>
                                          </p:val>
                                        </p:tav>
                                        <p:tav tm="100000">
                                          <p:val>
                                            <p:strVal val="#ppt_y"/>
                                          </p:val>
                                        </p:tav>
                                      </p:tavLst>
                                    </p:anim>
                                  </p:childTnLst>
                                </p:cTn>
                              </p:par>
                              <p:par>
                                <p:cTn id="125" presetID="42" presetClass="entr" presetSubtype="0" fill="hold" grpId="0" nodeType="withEffect">
                                  <p:stCondLst>
                                    <p:cond delay="2020"/>
                                  </p:stCondLst>
                                  <p:childTnLst>
                                    <p:set>
                                      <p:cBhvr>
                                        <p:cTn id="126" dur="1" fill="hold">
                                          <p:stCondLst>
                                            <p:cond delay="0"/>
                                          </p:stCondLst>
                                        </p:cTn>
                                        <p:tgtEl>
                                          <p:spTgt spid="92"/>
                                        </p:tgtEl>
                                        <p:attrNameLst>
                                          <p:attrName>style.visibility</p:attrName>
                                        </p:attrNameLst>
                                      </p:cBhvr>
                                      <p:to>
                                        <p:strVal val="visible"/>
                                      </p:to>
                                    </p:set>
                                    <p:animEffect transition="in" filter="fade">
                                      <p:cBhvr>
                                        <p:cTn id="127" dur="350"/>
                                        <p:tgtEl>
                                          <p:spTgt spid="92"/>
                                        </p:tgtEl>
                                      </p:cBhvr>
                                    </p:animEffect>
                                    <p:anim calcmode="lin" valueType="num">
                                      <p:cBhvr additive="base">
                                        <p:cTn id="128" dur="350" fill="hold" decel="100000"/>
                                        <p:tgtEl>
                                          <p:spTgt spid="92"/>
                                        </p:tgtEl>
                                        <p:attrNameLst>
                                          <p:attrName>ppt_x</p:attrName>
                                        </p:attrNameLst>
                                      </p:cBhvr>
                                      <p:tavLst>
                                        <p:tav tm="0">
                                          <p:val>
                                            <p:strVal val="#ppt_x"/>
                                          </p:val>
                                        </p:tav>
                                        <p:tav tm="100000">
                                          <p:val>
                                            <p:strVal val="#ppt_x"/>
                                          </p:val>
                                        </p:tav>
                                      </p:tavLst>
                                    </p:anim>
                                    <p:anim calcmode="lin" valueType="num">
                                      <p:cBhvr additive="base">
                                        <p:cTn id="129" dur="350" fill="hold" decel="100000"/>
                                        <p:tgtEl>
                                          <p:spTgt spid="92"/>
                                        </p:tgtEl>
                                        <p:attrNameLst>
                                          <p:attrName>ppt_y</p:attrName>
                                        </p:attrNameLst>
                                      </p:cBhvr>
                                      <p:tavLst>
                                        <p:tav tm="0">
                                          <p:val>
                                            <p:strVal val="#ppt_y+0.025"/>
                                          </p:val>
                                        </p:tav>
                                        <p:tav tm="100000">
                                          <p:val>
                                            <p:strVal val="#ppt_y"/>
                                          </p:val>
                                        </p:tav>
                                      </p:tavLst>
                                    </p:anim>
                                  </p:childTnLst>
                                </p:cTn>
                              </p:par>
                              <p:par>
                                <p:cTn id="130" presetID="42" presetClass="entr" presetSubtype="0" fill="hold" grpId="0" nodeType="withEffect">
                                  <p:stCondLst>
                                    <p:cond delay="2090"/>
                                  </p:stCondLst>
                                  <p:childTnLst>
                                    <p:set>
                                      <p:cBhvr>
                                        <p:cTn id="131" dur="1" fill="hold">
                                          <p:stCondLst>
                                            <p:cond delay="0"/>
                                          </p:stCondLst>
                                        </p:cTn>
                                        <p:tgtEl>
                                          <p:spTgt spid="96"/>
                                        </p:tgtEl>
                                        <p:attrNameLst>
                                          <p:attrName>style.visibility</p:attrName>
                                        </p:attrNameLst>
                                      </p:cBhvr>
                                      <p:to>
                                        <p:strVal val="visible"/>
                                      </p:to>
                                    </p:set>
                                    <p:animEffect transition="in" filter="fade">
                                      <p:cBhvr>
                                        <p:cTn id="132" dur="350"/>
                                        <p:tgtEl>
                                          <p:spTgt spid="96"/>
                                        </p:tgtEl>
                                      </p:cBhvr>
                                    </p:animEffect>
                                    <p:anim calcmode="lin" valueType="num">
                                      <p:cBhvr additive="base">
                                        <p:cTn id="133" dur="350" fill="hold" decel="100000"/>
                                        <p:tgtEl>
                                          <p:spTgt spid="96"/>
                                        </p:tgtEl>
                                        <p:attrNameLst>
                                          <p:attrName>ppt_x</p:attrName>
                                        </p:attrNameLst>
                                      </p:cBhvr>
                                      <p:tavLst>
                                        <p:tav tm="0">
                                          <p:val>
                                            <p:strVal val="#ppt_x"/>
                                          </p:val>
                                        </p:tav>
                                        <p:tav tm="100000">
                                          <p:val>
                                            <p:strVal val="#ppt_x"/>
                                          </p:val>
                                        </p:tav>
                                      </p:tavLst>
                                    </p:anim>
                                    <p:anim calcmode="lin" valueType="num">
                                      <p:cBhvr additive="base">
                                        <p:cTn id="134" dur="350" fill="hold" decel="100000"/>
                                        <p:tgtEl>
                                          <p:spTgt spid="96"/>
                                        </p:tgtEl>
                                        <p:attrNameLst>
                                          <p:attrName>ppt_y</p:attrName>
                                        </p:attrNameLst>
                                      </p:cBhvr>
                                      <p:tavLst>
                                        <p:tav tm="0">
                                          <p:val>
                                            <p:strVal val="#ppt_y+0.025"/>
                                          </p:val>
                                        </p:tav>
                                        <p:tav tm="100000">
                                          <p:val>
                                            <p:strVal val="#ppt_y"/>
                                          </p:val>
                                        </p:tav>
                                      </p:tavLst>
                                    </p:anim>
                                  </p:childTnLst>
                                </p:cTn>
                              </p:par>
                              <p:par>
                                <p:cTn id="135" presetID="42" presetClass="entr" presetSubtype="0" fill="hold" grpId="0" nodeType="withEffect">
                                  <p:stCondLst>
                                    <p:cond delay="2160"/>
                                  </p:stCondLst>
                                  <p:childTnLst>
                                    <p:set>
                                      <p:cBhvr>
                                        <p:cTn id="136" dur="1" fill="hold">
                                          <p:stCondLst>
                                            <p:cond delay="0"/>
                                          </p:stCondLst>
                                        </p:cTn>
                                        <p:tgtEl>
                                          <p:spTgt spid="100"/>
                                        </p:tgtEl>
                                        <p:attrNameLst>
                                          <p:attrName>style.visibility</p:attrName>
                                        </p:attrNameLst>
                                      </p:cBhvr>
                                      <p:to>
                                        <p:strVal val="visible"/>
                                      </p:to>
                                    </p:set>
                                    <p:animEffect transition="in" filter="fade">
                                      <p:cBhvr>
                                        <p:cTn id="137" dur="350"/>
                                        <p:tgtEl>
                                          <p:spTgt spid="100"/>
                                        </p:tgtEl>
                                      </p:cBhvr>
                                    </p:animEffect>
                                    <p:anim calcmode="lin" valueType="num">
                                      <p:cBhvr additive="base">
                                        <p:cTn id="138" dur="350" fill="hold" decel="100000"/>
                                        <p:tgtEl>
                                          <p:spTgt spid="100"/>
                                        </p:tgtEl>
                                        <p:attrNameLst>
                                          <p:attrName>ppt_x</p:attrName>
                                        </p:attrNameLst>
                                      </p:cBhvr>
                                      <p:tavLst>
                                        <p:tav tm="0">
                                          <p:val>
                                            <p:strVal val="#ppt_x"/>
                                          </p:val>
                                        </p:tav>
                                        <p:tav tm="100000">
                                          <p:val>
                                            <p:strVal val="#ppt_x"/>
                                          </p:val>
                                        </p:tav>
                                      </p:tavLst>
                                    </p:anim>
                                    <p:anim calcmode="lin" valueType="num">
                                      <p:cBhvr additive="base">
                                        <p:cTn id="139" dur="350" fill="hold" decel="100000"/>
                                        <p:tgtEl>
                                          <p:spTgt spid="100"/>
                                        </p:tgtEl>
                                        <p:attrNameLst>
                                          <p:attrName>ppt_y</p:attrName>
                                        </p:attrNameLst>
                                      </p:cBhvr>
                                      <p:tavLst>
                                        <p:tav tm="0">
                                          <p:val>
                                            <p:strVal val="#ppt_y+0.025"/>
                                          </p:val>
                                        </p:tav>
                                        <p:tav tm="100000">
                                          <p:val>
                                            <p:strVal val="#ppt_y"/>
                                          </p:val>
                                        </p:tav>
                                      </p:tavLst>
                                    </p:anim>
                                  </p:childTnLst>
                                </p:cTn>
                              </p:par>
                              <p:par>
                                <p:cTn id="140" presetID="42" presetClass="entr" presetSubtype="0" fill="hold" grpId="0" nodeType="withEffect">
                                  <p:stCondLst>
                                    <p:cond delay="2230"/>
                                  </p:stCondLst>
                                  <p:childTnLst>
                                    <p:set>
                                      <p:cBhvr>
                                        <p:cTn id="141" dur="1" fill="hold">
                                          <p:stCondLst>
                                            <p:cond delay="0"/>
                                          </p:stCondLst>
                                        </p:cTn>
                                        <p:tgtEl>
                                          <p:spTgt spid="104"/>
                                        </p:tgtEl>
                                        <p:attrNameLst>
                                          <p:attrName>style.visibility</p:attrName>
                                        </p:attrNameLst>
                                      </p:cBhvr>
                                      <p:to>
                                        <p:strVal val="visible"/>
                                      </p:to>
                                    </p:set>
                                    <p:animEffect transition="in" filter="fade">
                                      <p:cBhvr>
                                        <p:cTn id="142" dur="350"/>
                                        <p:tgtEl>
                                          <p:spTgt spid="104"/>
                                        </p:tgtEl>
                                      </p:cBhvr>
                                    </p:animEffect>
                                    <p:anim calcmode="lin" valueType="num">
                                      <p:cBhvr additive="base">
                                        <p:cTn id="143" dur="350" fill="hold" decel="100000"/>
                                        <p:tgtEl>
                                          <p:spTgt spid="104"/>
                                        </p:tgtEl>
                                        <p:attrNameLst>
                                          <p:attrName>ppt_x</p:attrName>
                                        </p:attrNameLst>
                                      </p:cBhvr>
                                      <p:tavLst>
                                        <p:tav tm="0">
                                          <p:val>
                                            <p:strVal val="#ppt_x"/>
                                          </p:val>
                                        </p:tav>
                                        <p:tav tm="100000">
                                          <p:val>
                                            <p:strVal val="#ppt_x"/>
                                          </p:val>
                                        </p:tav>
                                      </p:tavLst>
                                    </p:anim>
                                    <p:anim calcmode="lin" valueType="num">
                                      <p:cBhvr additive="base">
                                        <p:cTn id="144" dur="350" fill="hold" decel="100000"/>
                                        <p:tgtEl>
                                          <p:spTgt spid="104"/>
                                        </p:tgtEl>
                                        <p:attrNameLst>
                                          <p:attrName>ppt_y</p:attrName>
                                        </p:attrNameLst>
                                      </p:cBhvr>
                                      <p:tavLst>
                                        <p:tav tm="0">
                                          <p:val>
                                            <p:strVal val="#ppt_y+0.025"/>
                                          </p:val>
                                        </p:tav>
                                        <p:tav tm="100000">
                                          <p:val>
                                            <p:strVal val="#ppt_y"/>
                                          </p:val>
                                        </p:tav>
                                      </p:tavLst>
                                    </p:anim>
                                  </p:childTnLst>
                                </p:cTn>
                              </p:par>
                              <p:par>
                                <p:cTn id="145" presetID="42" presetClass="entr" presetSubtype="0" fill="hold" grpId="0" nodeType="withEffect">
                                  <p:stCondLst>
                                    <p:cond delay="2300"/>
                                  </p:stCondLst>
                                  <p:childTnLst>
                                    <p:set>
                                      <p:cBhvr>
                                        <p:cTn id="146" dur="1" fill="hold">
                                          <p:stCondLst>
                                            <p:cond delay="0"/>
                                          </p:stCondLst>
                                        </p:cTn>
                                        <p:tgtEl>
                                          <p:spTgt spid="108"/>
                                        </p:tgtEl>
                                        <p:attrNameLst>
                                          <p:attrName>style.visibility</p:attrName>
                                        </p:attrNameLst>
                                      </p:cBhvr>
                                      <p:to>
                                        <p:strVal val="visible"/>
                                      </p:to>
                                    </p:set>
                                    <p:animEffect transition="in" filter="fade">
                                      <p:cBhvr>
                                        <p:cTn id="147" dur="350"/>
                                        <p:tgtEl>
                                          <p:spTgt spid="108"/>
                                        </p:tgtEl>
                                      </p:cBhvr>
                                    </p:animEffect>
                                    <p:anim calcmode="lin" valueType="num">
                                      <p:cBhvr additive="base">
                                        <p:cTn id="148" dur="350" fill="hold" decel="100000"/>
                                        <p:tgtEl>
                                          <p:spTgt spid="108"/>
                                        </p:tgtEl>
                                        <p:attrNameLst>
                                          <p:attrName>ppt_x</p:attrName>
                                        </p:attrNameLst>
                                      </p:cBhvr>
                                      <p:tavLst>
                                        <p:tav tm="0">
                                          <p:val>
                                            <p:strVal val="#ppt_x"/>
                                          </p:val>
                                        </p:tav>
                                        <p:tav tm="100000">
                                          <p:val>
                                            <p:strVal val="#ppt_x"/>
                                          </p:val>
                                        </p:tav>
                                      </p:tavLst>
                                    </p:anim>
                                    <p:anim calcmode="lin" valueType="num">
                                      <p:cBhvr additive="base">
                                        <p:cTn id="149" dur="350" fill="hold" decel="100000"/>
                                        <p:tgtEl>
                                          <p:spTgt spid="108"/>
                                        </p:tgtEl>
                                        <p:attrNameLst>
                                          <p:attrName>ppt_y</p:attrName>
                                        </p:attrNameLst>
                                      </p:cBhvr>
                                      <p:tavLst>
                                        <p:tav tm="0">
                                          <p:val>
                                            <p:strVal val="#ppt_y+0.025"/>
                                          </p:val>
                                        </p:tav>
                                        <p:tav tm="100000">
                                          <p:val>
                                            <p:strVal val="#ppt_y"/>
                                          </p:val>
                                        </p:tav>
                                      </p:tavLst>
                                    </p:anim>
                                  </p:childTnLst>
                                </p:cTn>
                              </p:par>
                              <p:par>
                                <p:cTn id="150" presetID="42" presetClass="entr" presetSubtype="0" fill="hold" grpId="0" nodeType="withEffect">
                                  <p:stCondLst>
                                    <p:cond delay="2370"/>
                                  </p:stCondLst>
                                  <p:childTnLst>
                                    <p:set>
                                      <p:cBhvr>
                                        <p:cTn id="151" dur="1" fill="hold">
                                          <p:stCondLst>
                                            <p:cond delay="0"/>
                                          </p:stCondLst>
                                        </p:cTn>
                                        <p:tgtEl>
                                          <p:spTgt spid="112"/>
                                        </p:tgtEl>
                                        <p:attrNameLst>
                                          <p:attrName>style.visibility</p:attrName>
                                        </p:attrNameLst>
                                      </p:cBhvr>
                                      <p:to>
                                        <p:strVal val="visible"/>
                                      </p:to>
                                    </p:set>
                                    <p:animEffect transition="in" filter="fade">
                                      <p:cBhvr>
                                        <p:cTn id="152" dur="350"/>
                                        <p:tgtEl>
                                          <p:spTgt spid="112"/>
                                        </p:tgtEl>
                                      </p:cBhvr>
                                    </p:animEffect>
                                    <p:anim calcmode="lin" valueType="num">
                                      <p:cBhvr additive="base">
                                        <p:cTn id="153" dur="350" fill="hold" decel="100000"/>
                                        <p:tgtEl>
                                          <p:spTgt spid="112"/>
                                        </p:tgtEl>
                                        <p:attrNameLst>
                                          <p:attrName>ppt_x</p:attrName>
                                        </p:attrNameLst>
                                      </p:cBhvr>
                                      <p:tavLst>
                                        <p:tav tm="0">
                                          <p:val>
                                            <p:strVal val="#ppt_x"/>
                                          </p:val>
                                        </p:tav>
                                        <p:tav tm="100000">
                                          <p:val>
                                            <p:strVal val="#ppt_x"/>
                                          </p:val>
                                        </p:tav>
                                      </p:tavLst>
                                    </p:anim>
                                    <p:anim calcmode="lin" valueType="num">
                                      <p:cBhvr additive="base">
                                        <p:cTn id="154" dur="350" fill="hold" decel="100000"/>
                                        <p:tgtEl>
                                          <p:spTgt spid="112"/>
                                        </p:tgtEl>
                                        <p:attrNameLst>
                                          <p:attrName>ppt_y</p:attrName>
                                        </p:attrNameLst>
                                      </p:cBhvr>
                                      <p:tavLst>
                                        <p:tav tm="0">
                                          <p:val>
                                            <p:strVal val="#ppt_y+0.025"/>
                                          </p:val>
                                        </p:tav>
                                        <p:tav tm="100000">
                                          <p:val>
                                            <p:strVal val="#ppt_y"/>
                                          </p:val>
                                        </p:tav>
                                      </p:tavLst>
                                    </p:anim>
                                  </p:childTnLst>
                                </p:cTn>
                              </p:par>
                              <p:par>
                                <p:cTn id="155" presetID="42" presetClass="entr" presetSubtype="0" fill="hold" grpId="0" nodeType="withEffect">
                                  <p:stCondLst>
                                    <p:cond delay="2440"/>
                                  </p:stCondLst>
                                  <p:childTnLst>
                                    <p:set>
                                      <p:cBhvr>
                                        <p:cTn id="156" dur="1" fill="hold">
                                          <p:stCondLst>
                                            <p:cond delay="0"/>
                                          </p:stCondLst>
                                        </p:cTn>
                                        <p:tgtEl>
                                          <p:spTgt spid="116"/>
                                        </p:tgtEl>
                                        <p:attrNameLst>
                                          <p:attrName>style.visibility</p:attrName>
                                        </p:attrNameLst>
                                      </p:cBhvr>
                                      <p:to>
                                        <p:strVal val="visible"/>
                                      </p:to>
                                    </p:set>
                                    <p:animEffect transition="in" filter="fade">
                                      <p:cBhvr>
                                        <p:cTn id="157" dur="350"/>
                                        <p:tgtEl>
                                          <p:spTgt spid="116"/>
                                        </p:tgtEl>
                                      </p:cBhvr>
                                    </p:animEffect>
                                    <p:anim calcmode="lin" valueType="num">
                                      <p:cBhvr additive="base">
                                        <p:cTn id="158" dur="350" fill="hold" decel="100000"/>
                                        <p:tgtEl>
                                          <p:spTgt spid="116"/>
                                        </p:tgtEl>
                                        <p:attrNameLst>
                                          <p:attrName>ppt_x</p:attrName>
                                        </p:attrNameLst>
                                      </p:cBhvr>
                                      <p:tavLst>
                                        <p:tav tm="0">
                                          <p:val>
                                            <p:strVal val="#ppt_x"/>
                                          </p:val>
                                        </p:tav>
                                        <p:tav tm="100000">
                                          <p:val>
                                            <p:strVal val="#ppt_x"/>
                                          </p:val>
                                        </p:tav>
                                      </p:tavLst>
                                    </p:anim>
                                    <p:anim calcmode="lin" valueType="num">
                                      <p:cBhvr additive="base">
                                        <p:cTn id="159" dur="350" fill="hold" decel="100000"/>
                                        <p:tgtEl>
                                          <p:spTgt spid="116"/>
                                        </p:tgtEl>
                                        <p:attrNameLst>
                                          <p:attrName>ppt_y</p:attrName>
                                        </p:attrNameLst>
                                      </p:cBhvr>
                                      <p:tavLst>
                                        <p:tav tm="0">
                                          <p:val>
                                            <p:strVal val="#ppt_y+0.025"/>
                                          </p:val>
                                        </p:tav>
                                        <p:tav tm="100000">
                                          <p:val>
                                            <p:strVal val="#ppt_y"/>
                                          </p:val>
                                        </p:tav>
                                      </p:tavLst>
                                    </p:anim>
                                  </p:childTnLst>
                                </p:cTn>
                              </p:par>
                              <p:par>
                                <p:cTn id="160" presetID="42" presetClass="entr" presetSubtype="0" fill="hold" grpId="0" nodeType="withEffect">
                                  <p:stCondLst>
                                    <p:cond delay="2510"/>
                                  </p:stCondLst>
                                  <p:childTnLst>
                                    <p:set>
                                      <p:cBhvr>
                                        <p:cTn id="161" dur="1" fill="hold">
                                          <p:stCondLst>
                                            <p:cond delay="0"/>
                                          </p:stCondLst>
                                        </p:cTn>
                                        <p:tgtEl>
                                          <p:spTgt spid="120"/>
                                        </p:tgtEl>
                                        <p:attrNameLst>
                                          <p:attrName>style.visibility</p:attrName>
                                        </p:attrNameLst>
                                      </p:cBhvr>
                                      <p:to>
                                        <p:strVal val="visible"/>
                                      </p:to>
                                    </p:set>
                                    <p:animEffect transition="in" filter="fade">
                                      <p:cBhvr>
                                        <p:cTn id="162" dur="350"/>
                                        <p:tgtEl>
                                          <p:spTgt spid="120"/>
                                        </p:tgtEl>
                                      </p:cBhvr>
                                    </p:animEffect>
                                    <p:anim calcmode="lin" valueType="num">
                                      <p:cBhvr additive="base">
                                        <p:cTn id="163" dur="350" fill="hold" decel="100000"/>
                                        <p:tgtEl>
                                          <p:spTgt spid="120"/>
                                        </p:tgtEl>
                                        <p:attrNameLst>
                                          <p:attrName>ppt_x</p:attrName>
                                        </p:attrNameLst>
                                      </p:cBhvr>
                                      <p:tavLst>
                                        <p:tav tm="0">
                                          <p:val>
                                            <p:strVal val="#ppt_x"/>
                                          </p:val>
                                        </p:tav>
                                        <p:tav tm="100000">
                                          <p:val>
                                            <p:strVal val="#ppt_x"/>
                                          </p:val>
                                        </p:tav>
                                      </p:tavLst>
                                    </p:anim>
                                    <p:anim calcmode="lin" valueType="num">
                                      <p:cBhvr additive="base">
                                        <p:cTn id="164" dur="350" fill="hold" decel="100000"/>
                                        <p:tgtEl>
                                          <p:spTgt spid="120"/>
                                        </p:tgtEl>
                                        <p:attrNameLst>
                                          <p:attrName>ppt_y</p:attrName>
                                        </p:attrNameLst>
                                      </p:cBhvr>
                                      <p:tavLst>
                                        <p:tav tm="0">
                                          <p:val>
                                            <p:strVal val="#ppt_y+0.025"/>
                                          </p:val>
                                        </p:tav>
                                        <p:tav tm="100000">
                                          <p:val>
                                            <p:strVal val="#ppt_y"/>
                                          </p:val>
                                        </p:tav>
                                      </p:tavLst>
                                    </p:anim>
                                  </p:childTnLst>
                                </p:cTn>
                              </p:par>
                              <p:par>
                                <p:cTn id="165" presetID="42" presetClass="entr" presetSubtype="0" fill="hold" grpId="0" nodeType="withEffect">
                                  <p:stCondLst>
                                    <p:cond delay="2580"/>
                                  </p:stCondLst>
                                  <p:childTnLst>
                                    <p:set>
                                      <p:cBhvr>
                                        <p:cTn id="166" dur="1" fill="hold">
                                          <p:stCondLst>
                                            <p:cond delay="0"/>
                                          </p:stCondLst>
                                        </p:cTn>
                                        <p:tgtEl>
                                          <p:spTgt spid="124"/>
                                        </p:tgtEl>
                                        <p:attrNameLst>
                                          <p:attrName>style.visibility</p:attrName>
                                        </p:attrNameLst>
                                      </p:cBhvr>
                                      <p:to>
                                        <p:strVal val="visible"/>
                                      </p:to>
                                    </p:set>
                                    <p:animEffect transition="in" filter="fade">
                                      <p:cBhvr>
                                        <p:cTn id="167" dur="350"/>
                                        <p:tgtEl>
                                          <p:spTgt spid="124"/>
                                        </p:tgtEl>
                                      </p:cBhvr>
                                    </p:animEffect>
                                    <p:anim calcmode="lin" valueType="num">
                                      <p:cBhvr additive="base">
                                        <p:cTn id="168" dur="350" fill="hold" decel="100000"/>
                                        <p:tgtEl>
                                          <p:spTgt spid="124"/>
                                        </p:tgtEl>
                                        <p:attrNameLst>
                                          <p:attrName>ppt_x</p:attrName>
                                        </p:attrNameLst>
                                      </p:cBhvr>
                                      <p:tavLst>
                                        <p:tav tm="0">
                                          <p:val>
                                            <p:strVal val="#ppt_x"/>
                                          </p:val>
                                        </p:tav>
                                        <p:tav tm="100000">
                                          <p:val>
                                            <p:strVal val="#ppt_x"/>
                                          </p:val>
                                        </p:tav>
                                      </p:tavLst>
                                    </p:anim>
                                    <p:anim calcmode="lin" valueType="num">
                                      <p:cBhvr additive="base">
                                        <p:cTn id="169" dur="350" fill="hold" decel="100000"/>
                                        <p:tgtEl>
                                          <p:spTgt spid="124"/>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29" grpId="0" animBg="1"/>
      <p:bldP spid="8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grpSp>
        <p:nvGrpSpPr>
          <p:cNvPr id="2" name="Group 1"/>
          <p:cNvGrpSpPr/>
          <p:nvPr/>
        </p:nvGrpSpPr>
        <p:grpSpPr>
          <a:xfrm>
            <a:off x="796100" y="887540"/>
            <a:ext cx="565785" cy="565785"/>
            <a:chOff x="796100" y="887540"/>
            <a:chExt cx="565785" cy="565785"/>
          </a:xfrm>
        </p:grpSpPr>
        <p:sp>
          <p:nvSpPr>
            <p:cNvPr id="3" name="Rounded Rectangle 2"/>
            <p:cNvSpPr/>
            <p:nvPr/>
          </p:nvSpPr>
          <p:spPr>
            <a:xfrm>
              <a:off x="796100" y="887540"/>
              <a:ext cx="565785" cy="565785"/>
            </a:xfrm>
            <a:prstGeom prst="roundRect">
              <a:avLst>
                <a:gd name="adj" fmla="val 26666"/>
              </a:avLst>
            </a:prstGeom>
            <a:solidFill>
              <a:srgbClr val="0E0E10"/>
            </a:solidFill>
            <a:ln>
              <a:noFill/>
            </a:ln>
          </p:spPr>
          <p:txBody>
            <a:bodyPr rtlCol="0" anchor="ctr"/>
            <a:lstStyle/>
            <a:p>
              <a:pPr algn="ctr"/>
            </a:p>
          </p:txBody>
        </p:sp>
        <p:sp>
          <p:nvSpPr>
            <p:cNvPr id="4" name="Freeform 3"/>
            <p:cNvSpPr/>
            <p:nvPr/>
          </p:nvSpPr>
          <p:spPr>
            <a:xfrm>
              <a:off x="909260" y="1076140"/>
              <a:ext cx="339480" cy="207460"/>
            </a:xfrm>
            <a:custGeom>
              <a:avLst/>
              <a:gdLst/>
              <a:ahLst/>
              <a:cxnLst/>
              <a:rect l="l" t="t" r="r" b="b"/>
              <a:pathLst>
                <a:path w="18" h="11">
                  <a:moveTo>
                    <a:pt x="0" y="11"/>
                  </a:moveTo>
                  <a:lnTo>
                    <a:pt x="5" y="4"/>
                  </a:lnTo>
                  <a:lnTo>
                    <a:pt x="9" y="7"/>
                  </a:lnTo>
                  <a:lnTo>
                    <a:pt x="13" y="0"/>
                  </a:lnTo>
                  <a:lnTo>
                    <a:pt x="18" y="0"/>
                  </a:lnTo>
                </a:path>
              </a:pathLst>
            </a:custGeom>
            <a:noFill/>
            <a:ln w="49034" cap="rnd">
              <a:solidFill>
                <a:srgbClr val="FFFFFF"/>
              </a:solidFill>
              <a:round/>
            </a:ln>
          </p:spPr>
          <p:txBody>
            <a:bodyPr rtlCol="0" anchor="ctr"/>
            <a:lstStyle/>
            <a:p>
              <a:pPr algn="ctr"/>
            </a:p>
          </p:txBody>
        </p:sp>
        <p:sp>
          <p:nvSpPr>
            <p:cNvPr id="5" name="Oval 4"/>
            <p:cNvSpPr/>
            <p:nvPr/>
          </p:nvSpPr>
          <p:spPr>
            <a:xfrm>
              <a:off x="1186491" y="1013898"/>
              <a:ext cx="124473" cy="124473"/>
            </a:xfrm>
            <a:prstGeom prst="ellipse">
              <a:avLst/>
            </a:prstGeom>
            <a:solidFill>
              <a:srgbClr val="F2561D"/>
            </a:solidFill>
            <a:ln>
              <a:noFill/>
            </a:ln>
          </p:spPr>
          <p:txBody>
            <a:bodyPr rtlCol="0" anchor="ctr"/>
            <a:lstStyle/>
            <a:p>
              <a:pPr algn="ctr"/>
            </a:p>
          </p:txBody>
        </p:sp>
      </p:grpSp>
      <p:sp>
        <p:nvSpPr>
          <p:cNvPr id="6" name="TextBox 5"/>
          <p:cNvSpPr txBox="1"/>
          <p:nvPr/>
        </p:nvSpPr>
        <p:spPr>
          <a:xfrm>
            <a:off x="1554480" y="868680"/>
            <a:ext cx="3657600" cy="603504"/>
          </a:xfrm>
          <a:prstGeom prst="rect">
            <a:avLst/>
          </a:prstGeom>
          <a:noFill/>
        </p:spPr>
        <p:txBody>
          <a:bodyPr wrap="square" lIns="0" rIns="0" tIns="0" bIns="0" anchor="ctr">
            <a:noAutofit/>
          </a:bodyPr>
          <a:lstStyle/>
          <a:p>
            <a:pPr algn="l"/>
            <a:r>
              <a:rPr sz="2600" b="1" i="0" spc="-60">
                <a:solidFill>
                  <a:srgbClr val="0E0E10"/>
                </a:solidFill>
                <a:latin typeface="Inter" panose="020B0502030000000004" pitchFamily="34" charset="0"/>
              </a:rPr>
              <a:t>Bidwire</a:t>
            </a:r>
          </a:p>
        </p:txBody>
      </p:sp>
      <p:sp>
        <p:nvSpPr>
          <p:cNvPr id="7" name="TextBox 6"/>
          <p:cNvSpPr txBox="1"/>
          <p:nvPr/>
        </p:nvSpPr>
        <p:spPr>
          <a:xfrm>
            <a:off x="731520" y="1783080"/>
            <a:ext cx="10881360" cy="1325880"/>
          </a:xfrm>
          <a:prstGeom prst="rect">
            <a:avLst/>
          </a:prstGeom>
          <a:noFill/>
        </p:spPr>
        <p:txBody>
          <a:bodyPr wrap="square" lIns="0" rIns="0" tIns="0" bIns="0" anchor="ctr">
            <a:noAutofit/>
          </a:bodyPr>
          <a:lstStyle/>
          <a:p>
            <a:pPr algn="l"/>
            <a:r>
              <a:rPr sz="7200" b="1" i="0" spc="-240">
                <a:solidFill>
                  <a:srgbClr val="0E0E10"/>
                </a:solidFill>
                <a:latin typeface="Inter" panose="020B0502030000000004" pitchFamily="34" charset="0"/>
              </a:rPr>
              <a:t>You can't bribe </a:t>
            </a:r>
            <a:r>
              <a:rPr sz="7200" b="1" i="0" spc="-240">
                <a:solidFill>
                  <a:srgbClr val="F2561D"/>
                </a:solidFill>
                <a:latin typeface="Inter" panose="020B0502030000000004" pitchFamily="34" charset="0"/>
              </a:rPr>
              <a:t>an agent.</a:t>
            </a:r>
          </a:p>
        </p:txBody>
      </p:sp>
      <p:sp>
        <p:nvSpPr>
          <p:cNvPr id="8" name="TextBox 7"/>
          <p:cNvSpPr txBox="1"/>
          <p:nvPr/>
        </p:nvSpPr>
        <p:spPr>
          <a:xfrm>
            <a:off x="777240" y="3200400"/>
            <a:ext cx="10515600" cy="457200"/>
          </a:xfrm>
          <a:prstGeom prst="rect">
            <a:avLst/>
          </a:prstGeom>
          <a:noFill/>
        </p:spPr>
        <p:txBody>
          <a:bodyPr wrap="square" lIns="0" rIns="0" tIns="0" bIns="0" anchor="t">
            <a:noAutofit/>
          </a:bodyPr>
          <a:lstStyle/>
          <a:p>
            <a:pPr algn="l"/>
            <a:r>
              <a:rPr sz="2100" b="0" i="0">
                <a:solidFill>
                  <a:srgbClr val="5D5D66"/>
                </a:solidFill>
                <a:latin typeface="Inter" panose="020B0502030000000004" pitchFamily="34" charset="0"/>
              </a:rPr>
              <a:t>Bidwire is the ad exchange for AI agents: verified offers, merit ranking, pay per sale.</a:t>
            </a:r>
          </a:p>
        </p:txBody>
      </p:sp>
      <p:grpSp>
        <p:nvGrpSpPr>
          <p:cNvPr id="9" name="Group 8"/>
          <p:cNvGrpSpPr/>
          <p:nvPr/>
        </p:nvGrpSpPr>
        <p:grpSpPr>
          <a:xfrm>
            <a:off x="777240" y="4069080"/>
            <a:ext cx="3447288" cy="1298448"/>
            <a:chOff x="777240" y="4069080"/>
            <a:chExt cx="3447288" cy="1298448"/>
          </a:xfrm>
        </p:grpSpPr>
        <p:sp>
          <p:nvSpPr>
            <p:cNvPr id="10" name="Rounded Rectangle 9"/>
            <p:cNvSpPr/>
            <p:nvPr/>
          </p:nvSpPr>
          <p:spPr>
            <a:xfrm>
              <a:off x="777240" y="4069080"/>
              <a:ext cx="3447288" cy="1298448"/>
            </a:xfrm>
            <a:prstGeom prst="roundRect">
              <a:avLst>
                <a:gd name="adj" fmla="val 9859"/>
              </a:avLst>
            </a:prstGeom>
            <a:solidFill>
              <a:srgbClr val="0E0E10"/>
            </a:solidFill>
            <a:ln>
              <a:noFill/>
            </a:ln>
            <a:effectLst>
              <a:outerShdw blurRad="384048" dist="109728" dir="5400000" algn="t" rotWithShape="0">
                <a:srgbClr val="0E0E10">
                  <a:alpha val="13000"/>
                </a:srgbClr>
              </a:outerShdw>
            </a:effectLst>
          </p:spPr>
          <p:txBody>
            <a:bodyPr rtlCol="0" anchor="ctr"/>
            <a:lstStyle/>
            <a:p>
              <a:pPr algn="ctr"/>
            </a:p>
          </p:txBody>
        </p:sp>
        <p:sp>
          <p:nvSpPr>
            <p:cNvPr id="11" name="TextBox 10"/>
            <p:cNvSpPr txBox="1"/>
            <p:nvPr/>
          </p:nvSpPr>
          <p:spPr>
            <a:xfrm>
              <a:off x="1005840" y="4206240"/>
              <a:ext cx="3017520" cy="237744"/>
            </a:xfrm>
            <a:prstGeom prst="rect">
              <a:avLst/>
            </a:prstGeom>
            <a:noFill/>
          </p:spPr>
          <p:txBody>
            <a:bodyPr wrap="square" lIns="0" rIns="0" tIns="0" bIns="0" anchor="ctr">
              <a:noAutofit/>
            </a:bodyPr>
            <a:lstStyle/>
            <a:p>
              <a:pPr algn="l"/>
              <a:r>
                <a:rPr sz="850" b="1" i="0" spc="90">
                  <a:solidFill>
                    <a:srgbClr val="8B8B94"/>
                  </a:solidFill>
                  <a:latin typeface="Inter" panose="020B0502030000000004" pitchFamily="34" charset="0"/>
                </a:rPr>
                <a:t>GITHUB</a:t>
              </a:r>
            </a:p>
          </p:txBody>
        </p:sp>
        <p:sp>
          <p:nvSpPr>
            <p:cNvPr id="12" name="TextBox 11"/>
            <p:cNvSpPr txBox="1"/>
            <p:nvPr/>
          </p:nvSpPr>
          <p:spPr>
            <a:xfrm>
              <a:off x="1005840" y="4498848"/>
              <a:ext cx="3063240" cy="731520"/>
            </a:xfrm>
            <a:prstGeom prst="rect">
              <a:avLst/>
            </a:prstGeom>
            <a:noFill/>
          </p:spPr>
          <p:txBody>
            <a:bodyPr wrap="square" lIns="0" rIns="0" tIns="0" bIns="0" anchor="t">
              <a:noAutofit/>
            </a:bodyPr>
            <a:lstStyle/>
            <a:p>
              <a:pPr algn="l">
                <a:lnSpc>
                  <a:spcPct val="105000"/>
                </a:lnSpc>
              </a:pPr>
              <a:r>
                <a:rPr sz="1450" b="1" i="0">
                  <a:solidFill>
                    <a:srgbClr val="FFFFFF"/>
                  </a:solidFill>
                  <a:latin typeface="JetBrains Mono" panose="02000009000000000000" pitchFamily="49" charset="0"/>
                </a:rPr>
                <a:t>github.com/vnmoorthy/bidwire</a:t>
              </a:r>
            </a:p>
          </p:txBody>
        </p:sp>
      </p:grpSp>
      <p:grpSp>
        <p:nvGrpSpPr>
          <p:cNvPr id="13" name="Group 12"/>
          <p:cNvGrpSpPr/>
          <p:nvPr/>
        </p:nvGrpSpPr>
        <p:grpSpPr>
          <a:xfrm>
            <a:off x="4407408" y="4069080"/>
            <a:ext cx="3447288" cy="1298448"/>
            <a:chOff x="4407408" y="4069080"/>
            <a:chExt cx="3447288" cy="1298448"/>
          </a:xfrm>
        </p:grpSpPr>
        <p:sp>
          <p:nvSpPr>
            <p:cNvPr id="14" name="Rounded Rectangle 13"/>
            <p:cNvSpPr/>
            <p:nvPr/>
          </p:nvSpPr>
          <p:spPr>
            <a:xfrm>
              <a:off x="4407408" y="4069080"/>
              <a:ext cx="3447288" cy="1298448"/>
            </a:xfrm>
            <a:prstGeom prst="roundRect">
              <a:avLst>
                <a:gd name="adj" fmla="val 845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15" name="Oval 14"/>
            <p:cNvSpPr/>
            <p:nvPr/>
          </p:nvSpPr>
          <p:spPr>
            <a:xfrm>
              <a:off x="4636008" y="4270248"/>
              <a:ext cx="82296" cy="82296"/>
            </a:xfrm>
            <a:prstGeom prst="ellipse">
              <a:avLst/>
            </a:prstGeom>
            <a:solidFill>
              <a:srgbClr val="F2561D"/>
            </a:solidFill>
            <a:ln>
              <a:noFill/>
            </a:ln>
          </p:spPr>
          <p:txBody>
            <a:bodyPr rtlCol="0" anchor="ctr"/>
            <a:lstStyle/>
            <a:p>
              <a:pPr algn="ctr"/>
            </a:p>
          </p:txBody>
        </p:sp>
        <p:sp>
          <p:nvSpPr>
            <p:cNvPr id="16" name="TextBox 15"/>
            <p:cNvSpPr txBox="1"/>
            <p:nvPr/>
          </p:nvSpPr>
          <p:spPr>
            <a:xfrm>
              <a:off x="4800600" y="4206240"/>
              <a:ext cx="2926080" cy="237744"/>
            </a:xfrm>
            <a:prstGeom prst="rect">
              <a:avLst/>
            </a:prstGeom>
            <a:noFill/>
          </p:spPr>
          <p:txBody>
            <a:bodyPr wrap="square" lIns="0" rIns="0" tIns="0" bIns="0" anchor="ctr">
              <a:noAutofit/>
            </a:bodyPr>
            <a:lstStyle/>
            <a:p>
              <a:pPr algn="l"/>
              <a:r>
                <a:rPr sz="850" b="1" i="0" spc="90">
                  <a:solidFill>
                    <a:srgbClr val="9A9AA3"/>
                  </a:solidFill>
                  <a:latin typeface="Inter" panose="020B0502030000000004" pitchFamily="34" charset="0"/>
                </a:rPr>
                <a:t>TRY IT LIVE</a:t>
              </a:r>
            </a:p>
          </p:txBody>
        </p:sp>
        <p:sp>
          <p:nvSpPr>
            <p:cNvPr id="17" name="TextBox 16"/>
            <p:cNvSpPr txBox="1"/>
            <p:nvPr/>
          </p:nvSpPr>
          <p:spPr>
            <a:xfrm>
              <a:off x="4636008" y="4498848"/>
              <a:ext cx="3063240" cy="777240"/>
            </a:xfrm>
            <a:prstGeom prst="rect">
              <a:avLst/>
            </a:prstGeom>
            <a:noFill/>
          </p:spPr>
          <p:txBody>
            <a:bodyPr wrap="square" lIns="0" rIns="0" tIns="0" bIns="0" anchor="t">
              <a:noAutofit/>
            </a:bodyPr>
            <a:lstStyle/>
            <a:p>
              <a:pPr algn="l">
                <a:lnSpc>
                  <a:spcPct val="108000"/>
                </a:lnSpc>
              </a:pPr>
              <a:r>
                <a:rPr sz="1300" b="0" i="0">
                  <a:solidFill>
                    <a:srgbClr val="0E0E10"/>
                  </a:solidFill>
                  <a:latin typeface="Inter" panose="020B0502030000000004" pitchFamily="34" charset="0"/>
                </a:rPr>
                <a:t>Point any MCP client at /mcp. Two calls: </a:t>
              </a:r>
              <a:r>
                <a:rPr sz="1300" b="0" i="0">
                  <a:solidFill>
                    <a:srgbClr val="0E0E10"/>
                  </a:solidFill>
                  <a:latin typeface="JetBrains Mono" panose="02000009000000000000" pitchFamily="49" charset="0"/>
                </a:rPr>
                <a:t>find_offers</a:t>
              </a:r>
              <a:r>
                <a:rPr sz="1300" b="0" i="0">
                  <a:solidFill>
                    <a:srgbClr val="0E0E10"/>
                  </a:solidFill>
                  <a:latin typeface="Inter" panose="020B0502030000000004" pitchFamily="34" charset="0"/>
                </a:rPr>
                <a:t> → </a:t>
              </a:r>
              <a:r>
                <a:rPr sz="1300" b="0" i="0">
                  <a:solidFill>
                    <a:srgbClr val="0E0E10"/>
                  </a:solidFill>
                  <a:latin typeface="JetBrains Mono" panose="02000009000000000000" pitchFamily="49" charset="0"/>
                </a:rPr>
                <a:t>buy_offer</a:t>
              </a:r>
              <a:r>
                <a:rPr sz="1300" b="0" i="0">
                  <a:solidFill>
                    <a:srgbClr val="0E0E10"/>
                  </a:solidFill>
                  <a:latin typeface="Inter" panose="020B0502030000000004" pitchFamily="34" charset="0"/>
                </a:rPr>
                <a:t>.</a:t>
              </a:r>
            </a:p>
          </p:txBody>
        </p:sp>
      </p:grpSp>
      <p:grpSp>
        <p:nvGrpSpPr>
          <p:cNvPr id="18" name="Group 17"/>
          <p:cNvGrpSpPr/>
          <p:nvPr/>
        </p:nvGrpSpPr>
        <p:grpSpPr>
          <a:xfrm>
            <a:off x="8037576" y="4069080"/>
            <a:ext cx="3447288" cy="1298448"/>
            <a:chOff x="8037576" y="4069080"/>
            <a:chExt cx="3447288" cy="1298448"/>
          </a:xfrm>
        </p:grpSpPr>
        <p:sp>
          <p:nvSpPr>
            <p:cNvPr id="19" name="Rounded Rectangle 18"/>
            <p:cNvSpPr/>
            <p:nvPr/>
          </p:nvSpPr>
          <p:spPr>
            <a:xfrm>
              <a:off x="8037576" y="4069080"/>
              <a:ext cx="3447288" cy="1298448"/>
            </a:xfrm>
            <a:prstGeom prst="roundRect">
              <a:avLst>
                <a:gd name="adj" fmla="val 8450"/>
              </a:avLst>
            </a:prstGeom>
            <a:solidFill>
              <a:srgbClr val="FFFFFF"/>
            </a:solidFill>
            <a:ln w="9525">
              <a:solidFill>
                <a:srgbClr val="E9E8E3"/>
              </a:solidFill>
            </a:ln>
            <a:effectLst>
              <a:outerShdw blurRad="45720" dist="10973" dir="5400000" algn="t" rotWithShape="0">
                <a:srgbClr val="0E0E10">
                  <a:alpha val="7000"/>
                </a:srgbClr>
              </a:outerShdw>
            </a:effectLst>
          </p:spPr>
          <p:txBody>
            <a:bodyPr rtlCol="0" anchor="ctr"/>
            <a:lstStyle/>
            <a:p>
              <a:pPr algn="ctr"/>
            </a:p>
          </p:txBody>
        </p:sp>
        <p:sp>
          <p:nvSpPr>
            <p:cNvPr id="20" name="TextBox 19"/>
            <p:cNvSpPr txBox="1"/>
            <p:nvPr/>
          </p:nvSpPr>
          <p:spPr>
            <a:xfrm>
              <a:off x="8266176" y="4206240"/>
              <a:ext cx="2926080" cy="237744"/>
            </a:xfrm>
            <a:prstGeom prst="rect">
              <a:avLst/>
            </a:prstGeom>
            <a:noFill/>
          </p:spPr>
          <p:txBody>
            <a:bodyPr wrap="square" lIns="0" rIns="0" tIns="0" bIns="0" anchor="ctr">
              <a:noAutofit/>
            </a:bodyPr>
            <a:lstStyle/>
            <a:p>
              <a:pPr algn="l"/>
              <a:r>
                <a:rPr sz="850" b="1" i="0" spc="90">
                  <a:solidFill>
                    <a:srgbClr val="9A9AA3"/>
                  </a:solidFill>
                  <a:latin typeface="Inter" panose="020B0502030000000004" pitchFamily="34" charset="0"/>
                </a:rPr>
                <a:t>THE ASK</a:t>
              </a:r>
            </a:p>
          </p:txBody>
        </p:sp>
        <p:sp>
          <p:nvSpPr>
            <p:cNvPr id="21" name="TextBox 20"/>
            <p:cNvSpPr txBox="1"/>
            <p:nvPr/>
          </p:nvSpPr>
          <p:spPr>
            <a:xfrm>
              <a:off x="8266176" y="4498848"/>
              <a:ext cx="3063240" cy="777240"/>
            </a:xfrm>
            <a:prstGeom prst="rect">
              <a:avLst/>
            </a:prstGeom>
            <a:noFill/>
          </p:spPr>
          <p:txBody>
            <a:bodyPr wrap="square" lIns="0" rIns="0" tIns="0" bIns="0" anchor="t">
              <a:noAutofit/>
            </a:bodyPr>
            <a:lstStyle/>
            <a:p>
              <a:pPr algn="l">
                <a:lnSpc>
                  <a:spcPct val="108000"/>
                </a:lnSpc>
              </a:pPr>
              <a:r>
                <a:rPr sz="1300" b="0" i="0">
                  <a:solidFill>
                    <a:srgbClr val="0E0E10"/>
                  </a:solidFill>
                  <a:latin typeface="Inter" panose="020B0502030000000004" pitchFamily="34" charset="0"/>
                </a:rPr>
                <a:t>Merchants: pilot pay-per-sale. Agent builders: plug in find_offers.</a:t>
              </a:r>
            </a:p>
          </p:txBody>
        </p:sp>
      </p:grpSp>
      <p:sp>
        <p:nvSpPr>
          <p:cNvPr id="22" name="TextBox 21"/>
          <p:cNvSpPr txBox="1"/>
          <p:nvPr/>
        </p:nvSpPr>
        <p:spPr>
          <a:xfrm>
            <a:off x="777240" y="5806440"/>
            <a:ext cx="10789920" cy="292608"/>
          </a:xfrm>
          <a:prstGeom prst="rect">
            <a:avLst/>
          </a:prstGeom>
          <a:noFill/>
        </p:spPr>
        <p:txBody>
          <a:bodyPr wrap="square" lIns="0" rIns="0" tIns="0" bIns="0" anchor="ctr">
            <a:noAutofit/>
          </a:bodyPr>
          <a:lstStyle/>
          <a:p>
            <a:pPr algn="l"/>
            <a:r>
              <a:rPr sz="1000" b="0" i="0">
                <a:solidFill>
                  <a:srgbClr val="9A9AA3"/>
                </a:solidFill>
                <a:latin typeface="Inter" panose="020B0502030000000004" pitchFamily="34" charset="0"/>
              </a:rPr>
              <a:t>Built at YC “Make Something Agents Want” · with mcp-use (Manufact) and Inkbox · by @vnmoorthy</a:t>
            </a:r>
          </a:p>
        </p:txBody>
      </p:sp>
      <p:sp>
        <p:nvSpPr>
          <p:cNvPr id="23" name="Rectangle 22"/>
          <p:cNvSpPr/>
          <p:nvPr/>
        </p:nvSpPr>
        <p:spPr>
          <a:xfrm>
            <a:off x="0" y="6825996"/>
            <a:ext cx="12191695" cy="32004"/>
          </a:xfrm>
          <a:prstGeom prst="rect">
            <a:avLst/>
          </a:prstGeom>
          <a:solidFill>
            <a:srgbClr val="F2561D"/>
          </a:solidFill>
          <a:ln>
            <a:noFill/>
          </a:ln>
        </p:spPr>
        <p:txBody>
          <a:bodyPr rtlCol="0" anchor="ctr"/>
          <a:lstStyle/>
          <a:p>
            <a:pPr algn="ct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70"/>
                                        <p:tgtEl>
                                          <p:spTgt spid="2"/>
                                        </p:tgtEl>
                                      </p:cBhvr>
                                    </p:animEffect>
                                    <p:anim calcmode="lin" valueType="num">
                                      <p:cBhvr additive="base">
                                        <p:cTn id="8" dur="450" fill="hold" decel="100000"/>
                                        <p:tgtEl>
                                          <p:spTgt spid="2"/>
                                        </p:tgtEl>
                                        <p:attrNameLst>
                                          <p:attrName>ppt_w</p:attrName>
                                        </p:attrNameLst>
                                      </p:cBhvr>
                                      <p:tavLst>
                                        <p:tav tm="0">
                                          <p:val>
                                            <p:strVal val="#ppt_w*0.85"/>
                                          </p:val>
                                        </p:tav>
                                        <p:tav tm="100000">
                                          <p:val>
                                            <p:strVal val="#ppt_w"/>
                                          </p:val>
                                        </p:tav>
                                      </p:tavLst>
                                    </p:anim>
                                    <p:anim calcmode="lin" valueType="num">
                                      <p:cBhvr additive="base">
                                        <p:cTn id="9" dur="450" fill="hold" decel="100000"/>
                                        <p:tgtEl>
                                          <p:spTgt spid="2"/>
                                        </p:tgtEl>
                                        <p:attrNameLst>
                                          <p:attrName>ppt_h</p:attrName>
                                        </p:attrNameLst>
                                      </p:cBhvr>
                                      <p:tavLst>
                                        <p:tav tm="0">
                                          <p:val>
                                            <p:strVal val="#ppt_h*0.85"/>
                                          </p:val>
                                        </p:tav>
                                        <p:tav tm="100000">
                                          <p:val>
                                            <p:strVal val="#ppt_h"/>
                                          </p:val>
                                        </p:tav>
                                      </p:tavLst>
                                    </p:anim>
                                  </p:childTnLst>
                                </p:cTn>
                              </p:par>
                              <p:par>
                                <p:cTn id="10" presetID="10" presetClass="entr" presetSubtype="0" fill="hold" grpId="0" nodeType="withEffect">
                                  <p:stCondLst>
                                    <p:cond delay="1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42" presetClass="entr" presetSubtype="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00"/>
                                        <p:tgtEl>
                                          <p:spTgt spid="7"/>
                                        </p:tgtEl>
                                      </p:cBhvr>
                                    </p:animEffect>
                                    <p:anim calcmode="lin" valueType="num">
                                      <p:cBhvr additive="base">
                                        <p:cTn id="16" dur="700" fill="hold" decel="100000"/>
                                        <p:tgtEl>
                                          <p:spTgt spid="7"/>
                                        </p:tgtEl>
                                        <p:attrNameLst>
                                          <p:attrName>ppt_x</p:attrName>
                                        </p:attrNameLst>
                                      </p:cBhvr>
                                      <p:tavLst>
                                        <p:tav tm="0">
                                          <p:val>
                                            <p:strVal val="#ppt_x"/>
                                          </p:val>
                                        </p:tav>
                                        <p:tav tm="100000">
                                          <p:val>
                                            <p:strVal val="#ppt_x"/>
                                          </p:val>
                                        </p:tav>
                                      </p:tavLst>
                                    </p:anim>
                                    <p:anim calcmode="lin" valueType="num">
                                      <p:cBhvr additive="base">
                                        <p:cTn id="17" dur="700" fill="hold" decel="100000"/>
                                        <p:tgtEl>
                                          <p:spTgt spid="7"/>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6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anim calcmode="lin" valueType="num">
                                      <p:cBhvr additive="base">
                                        <p:cTn id="24"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9"/>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1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50"/>
                                        <p:tgtEl>
                                          <p:spTgt spid="13"/>
                                        </p:tgtEl>
                                      </p:cBhvr>
                                    </p:animEffect>
                                    <p:anim calcmode="lin" valueType="num">
                                      <p:cBhvr additive="base">
                                        <p:cTn id="29" dur="450" fill="hold" decel="100000"/>
                                        <p:tgtEl>
                                          <p:spTgt spid="13"/>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13"/>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5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450"/>
                                        <p:tgtEl>
                                          <p:spTgt spid="18"/>
                                        </p:tgtEl>
                                      </p:cBhvr>
                                    </p:animEffect>
                                    <p:anim calcmode="lin" valueType="num">
                                      <p:cBhvr additive="base">
                                        <p:cTn id="34" dur="450" fill="hold" decel="100000"/>
                                        <p:tgtEl>
                                          <p:spTgt spid="18"/>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18"/>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150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2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Bidwire: the ad exchange for AI agents</dc:title>
  <dc:subject>YC Make Something Agents Want, Oct 18 2026</dc:subject>
  <dc:creator>Bidwire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