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this is Bidwire: the auction house for AI agents. When an agent shops, nobody sees an ad: no banner, no sponsored slot. So the only way a merchant wins an agent's purchase is with an offer that's actually true. Bidwire is the saleroom where that happens, live, over MCP.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can already shop for us, but the web they land on was built to manipulate humans: sponsored slots and SEO, drip pricing where $34.99 becomes $63.99 at checkout, fake specs, and now prompt injection hidden in product pitches. Agents get gamed. And merchants can't reach agents at all: there's no ad slot inside a tool call.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insight: for an agent, the ad is the offer. So merchants raise a paddle with claims a machine can check: delivered price, delivery time, features. We verify every claim, rank on merit with public weights, and commission can't buy rank. YC asked us to rebuild a tool built for humans. This is Google Ads, rebuilt for agents.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a lot sells. The agent calls find_offers with its need, budget and deadline. For twelve seconds, bots, people in this room and merchant agents bid. We check each bid against the merchant's real page and checkout, withdraw the liars and rank on merit. Then buy_offer pays from a prepaid wallet; over the limit, the human approves by text.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ran live today. One lot: 7 paddles, 5 verified, 2 withdrawn: a hidden fee and a fake ANC claim. A merchant offered $35 commission and stayed at number 5. A nine-day shipper missed a five-day deadline and ranked down. The $319.99 hammer price was over the $300 limit, so it went to the human's phone for a YES. And when a merchant sells out mid-purchase, the agent recovers on its own.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Bidwire is an MCP server built on mcp-use from Manufact: twelve tools, three resources, two prompts. The happy path is two calls, find_offers then buy_offer. Errors come back with hints, buys take idempotency keys, the first call needs zero config, and merchant pitches are treated as data, never instructions. It works in Claude Code, Claude Desktop, ChatGPT, Codex and Cursor.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Trust is enforced in code. Every paddle gets six checks against the merchant's own page and checkout, including pitch safety. Fail one and the bid is withdrawn, and the merchant loses trust with every agent. Ranking weights are public, and commission counts for zero. Humans set spending limits, every transaction in the ledger sums to zero, and every tool call is logged.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Merchants pay commission only at the hammer, when a verified sale happens: no impressions, no clicks, and that commission is our take. The wedge is DTC merchants and agent shopping apps; the long game is the trust layer for agent commerce. Why now: eighteen months ago agents had no MCP, no ACP, no cards. Search ads are a $200B-plus business built on attention, and agents don't look at ads.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all of this in twenty-four hours and it's running right now: an MCP server on mcp-use and Hono, SQLite, a live saleroom over server-sent events, real storefront pages with schema.org data that the verifier fetches over HTTP, merchant bots with honest and dishonest strategies, and Inkbox for approval texts and receipts. Every number on the right is counted from the code.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that's Bidwire. When agents do the shopping, attention stops being for sale and the truth is the only thing worth bidding on. You can't bribe an agent. The code is at github.com/vnmoorthy/bidwire, and the saleroom is live right now: connect your agent and buy something, or raise a paddle from your phone and try to bribe it.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grpSp>
        <p:nvGrpSpPr>
          <p:cNvPr id="2" name="Group 1"/>
          <p:cNvGrpSpPr/>
          <p:nvPr/>
        </p:nvGrpSpPr>
        <p:grpSpPr>
          <a:xfrm>
            <a:off x="731520" y="603504"/>
            <a:ext cx="4160520" cy="329184"/>
            <a:chOff x="731520" y="603504"/>
            <a:chExt cx="4160520" cy="329184"/>
          </a:xfrm>
        </p:grpSpPr>
        <p:sp>
          <p:nvSpPr>
            <p:cNvPr id="3" name="Rounded Rectangle 2"/>
            <p:cNvSpPr/>
            <p:nvPr/>
          </p:nvSpPr>
          <p:spPr>
            <a:xfrm>
              <a:off x="731520" y="603504"/>
              <a:ext cx="4160520" cy="329184"/>
            </a:xfrm>
            <a:prstGeom prst="roundRect">
              <a:avLst>
                <a:gd name="adj" fmla="val 50000"/>
              </a:avLst>
            </a:prstGeom>
            <a:solidFill>
              <a:srgbClr val="FFFDF7"/>
            </a:solidFill>
            <a:ln w="9525">
              <a:solidFill>
                <a:srgbClr val="E2D9C6"/>
              </a:solidFill>
            </a:ln>
          </p:spPr>
          <p:txBody>
            <a:bodyPr rtlCol="0" anchor="ctr"/>
            <a:lstStyle/>
            <a:p>
              <a:pPr algn="ctr"/>
            </a:p>
          </p:txBody>
        </p:sp>
        <p:sp>
          <p:nvSpPr>
            <p:cNvPr id="4" name="Oval 3"/>
            <p:cNvSpPr/>
            <p:nvPr/>
          </p:nvSpPr>
          <p:spPr>
            <a:xfrm>
              <a:off x="886968" y="726948"/>
              <a:ext cx="82296" cy="82296"/>
            </a:xfrm>
            <a:prstGeom prst="ellipse">
              <a:avLst/>
            </a:prstGeom>
            <a:solidFill>
              <a:srgbClr val="B0894F"/>
            </a:solidFill>
            <a:ln>
              <a:noFill/>
            </a:ln>
          </p:spPr>
          <p:txBody>
            <a:bodyPr rtlCol="0" anchor="ctr"/>
            <a:lstStyle/>
            <a:p>
              <a:pPr algn="ctr"/>
            </a:p>
          </p:txBody>
        </p:sp>
        <p:sp>
          <p:nvSpPr>
            <p:cNvPr id="5" name="TextBox 4"/>
            <p:cNvSpPr txBox="1"/>
            <p:nvPr/>
          </p:nvSpPr>
          <p:spPr>
            <a:xfrm>
              <a:off x="1042416" y="603504"/>
              <a:ext cx="3840480" cy="329184"/>
            </a:xfrm>
            <a:prstGeom prst="rect">
              <a:avLst/>
            </a:prstGeom>
            <a:noFill/>
          </p:spPr>
          <p:txBody>
            <a:bodyPr wrap="square" lIns="0" rIns="0" tIns="0" bIns="0" anchor="ctr">
              <a:noAutofit/>
            </a:bodyPr>
            <a:lstStyle/>
            <a:p>
              <a:pPr algn="l"/>
              <a:r>
                <a:rPr sz="950" b="0" i="0">
                  <a:solidFill>
                    <a:srgbClr val="6E6658"/>
                  </a:solidFill>
                  <a:latin typeface="Inter" panose="020B0502030000000004" pitchFamily="34" charset="0"/>
                </a:rPr>
                <a:t>Live  ·  YC Make Something Agents Want  ·  Oct 18, 2026</a:t>
              </a:r>
            </a:p>
          </p:txBody>
        </p:sp>
      </p:grpSp>
      <p:grpSp>
        <p:nvGrpSpPr>
          <p:cNvPr id="6" name="Group 5"/>
          <p:cNvGrpSpPr/>
          <p:nvPr/>
        </p:nvGrpSpPr>
        <p:grpSpPr>
          <a:xfrm>
            <a:off x="749808" y="1371600"/>
            <a:ext cx="896112" cy="896112"/>
            <a:chOff x="749808" y="1371600"/>
            <a:chExt cx="896112" cy="896112"/>
          </a:xfrm>
        </p:grpSpPr>
        <p:sp>
          <p:nvSpPr>
            <p:cNvPr id="7" name="Oval 6"/>
            <p:cNvSpPr/>
            <p:nvPr/>
          </p:nvSpPr>
          <p:spPr>
            <a:xfrm>
              <a:off x="749808" y="1371600"/>
              <a:ext cx="896112" cy="896112"/>
            </a:xfrm>
            <a:prstGeom prst="ellipse">
              <a:avLst/>
            </a:prstGeom>
            <a:solidFill>
              <a:srgbClr val="16130E"/>
            </a:solidFill>
            <a:ln>
              <a:noFill/>
            </a:ln>
          </p:spPr>
          <p:txBody>
            <a:bodyPr rtlCol="0" anchor="ctr"/>
            <a:lstStyle/>
            <a:p>
              <a:pPr algn="ctr"/>
            </a:p>
          </p:txBody>
        </p:sp>
        <p:sp>
          <p:nvSpPr>
            <p:cNvPr id="8" name="Freeform 7"/>
            <p:cNvSpPr/>
            <p:nvPr/>
          </p:nvSpPr>
          <p:spPr>
            <a:xfrm>
              <a:off x="1016403" y="1779336"/>
              <a:ext cx="221793" cy="221793"/>
            </a:xfrm>
            <a:custGeom>
              <a:avLst/>
              <a:gdLst/>
              <a:ahLst/>
              <a:cxnLst/>
              <a:rect l="l" t="t" r="r" b="b"/>
              <a:pathLst>
                <a:path w="11" h="11">
                  <a:moveTo>
                    <a:pt x="11" y="2"/>
                  </a:moveTo>
                  <a:lnTo>
                    <a:pt x="3" y="10"/>
                  </a:lnTo>
                  <a:lnTo>
                    <a:pt x="2" y="11"/>
                  </a:lnTo>
                  <a:lnTo>
                    <a:pt x="1" y="10"/>
                  </a:lnTo>
                  <a:lnTo>
                    <a:pt x="0" y="9"/>
                  </a:lnTo>
                  <a:lnTo>
                    <a:pt x="1" y="8"/>
                  </a:lnTo>
                  <a:lnTo>
                    <a:pt x="9" y="0"/>
                  </a:lnTo>
                </a:path>
              </a:pathLst>
            </a:custGeom>
            <a:noFill/>
            <a:ln w="40325" cap="rnd">
              <a:solidFill>
                <a:srgbClr val="F4EFE4"/>
              </a:solidFill>
              <a:round/>
            </a:ln>
          </p:spPr>
          <p:txBody>
            <a:bodyPr rtlCol="0" anchor="ctr"/>
            <a:lstStyle/>
            <a:p>
              <a:pPr algn="ctr"/>
            </a:p>
          </p:txBody>
        </p:sp>
        <p:sp>
          <p:nvSpPr>
            <p:cNvPr id="9" name="Freeform 8"/>
            <p:cNvSpPr/>
            <p:nvPr/>
          </p:nvSpPr>
          <p:spPr>
            <a:xfrm>
              <a:off x="1278522" y="1779336"/>
              <a:ext cx="120978" cy="120978"/>
            </a:xfrm>
            <a:custGeom>
              <a:avLst/>
              <a:gdLst/>
              <a:ahLst/>
              <a:cxnLst/>
              <a:rect l="l" t="t" r="r" b="b"/>
              <a:pathLst>
                <a:path w="6" h="6">
                  <a:moveTo>
                    <a:pt x="0" y="6"/>
                  </a:moveTo>
                  <a:lnTo>
                    <a:pt x="6" y="0"/>
                  </a:lnTo>
                </a:path>
              </a:pathLst>
            </a:custGeom>
            <a:noFill/>
            <a:ln w="40325" cap="rnd">
              <a:solidFill>
                <a:srgbClr val="F4EFE4"/>
              </a:solidFill>
              <a:round/>
            </a:ln>
          </p:spPr>
          <p:txBody>
            <a:bodyPr rtlCol="0" anchor="ctr"/>
            <a:lstStyle/>
            <a:p>
              <a:pPr algn="ctr"/>
            </a:p>
          </p:txBody>
        </p:sp>
        <p:sp>
          <p:nvSpPr>
            <p:cNvPr id="10" name="Freeform 9"/>
            <p:cNvSpPr/>
            <p:nvPr/>
          </p:nvSpPr>
          <p:spPr>
            <a:xfrm>
              <a:off x="1117218" y="1618032"/>
              <a:ext cx="120978" cy="120978"/>
            </a:xfrm>
            <a:custGeom>
              <a:avLst/>
              <a:gdLst/>
              <a:ahLst/>
              <a:cxnLst/>
              <a:rect l="l" t="t" r="r" b="b"/>
              <a:pathLst>
                <a:path w="6" h="6">
                  <a:moveTo>
                    <a:pt x="0" y="6"/>
                  </a:moveTo>
                  <a:lnTo>
                    <a:pt x="6" y="0"/>
                  </a:lnTo>
                </a:path>
              </a:pathLst>
            </a:custGeom>
            <a:noFill/>
            <a:ln w="40325" cap="rnd">
              <a:solidFill>
                <a:srgbClr val="F4EFE4"/>
              </a:solidFill>
              <a:round/>
            </a:ln>
          </p:spPr>
          <p:txBody>
            <a:bodyPr rtlCol="0" anchor="ctr"/>
            <a:lstStyle/>
            <a:p>
              <a:pPr algn="ctr"/>
            </a:p>
          </p:txBody>
        </p:sp>
        <p:sp>
          <p:nvSpPr>
            <p:cNvPr id="11" name="Freeform 10"/>
            <p:cNvSpPr/>
            <p:nvPr/>
          </p:nvSpPr>
          <p:spPr>
            <a:xfrm>
              <a:off x="1137381" y="1718847"/>
              <a:ext cx="161304" cy="161304"/>
            </a:xfrm>
            <a:custGeom>
              <a:avLst/>
              <a:gdLst/>
              <a:ahLst/>
              <a:cxnLst/>
              <a:rect l="l" t="t" r="r" b="b"/>
              <a:pathLst>
                <a:path w="8" h="8">
                  <a:moveTo>
                    <a:pt x="0" y="0"/>
                  </a:moveTo>
                  <a:lnTo>
                    <a:pt x="8" y="8"/>
                  </a:lnTo>
                </a:path>
              </a:pathLst>
            </a:custGeom>
            <a:noFill/>
            <a:ln w="40325" cap="rnd">
              <a:solidFill>
                <a:srgbClr val="F4EFE4"/>
              </a:solidFill>
              <a:round/>
            </a:ln>
          </p:spPr>
          <p:txBody>
            <a:bodyPr rtlCol="0" anchor="ctr"/>
            <a:lstStyle/>
            <a:p>
              <a:pPr algn="ctr"/>
            </a:p>
          </p:txBody>
        </p:sp>
        <p:sp>
          <p:nvSpPr>
            <p:cNvPr id="12" name="Freeform 11"/>
            <p:cNvSpPr/>
            <p:nvPr/>
          </p:nvSpPr>
          <p:spPr>
            <a:xfrm>
              <a:off x="1218033" y="1638195"/>
              <a:ext cx="161304" cy="161304"/>
            </a:xfrm>
            <a:custGeom>
              <a:avLst/>
              <a:gdLst/>
              <a:ahLst/>
              <a:cxnLst/>
              <a:rect l="l" t="t" r="r" b="b"/>
              <a:pathLst>
                <a:path w="8" h="8">
                  <a:moveTo>
                    <a:pt x="8" y="8"/>
                  </a:moveTo>
                  <a:lnTo>
                    <a:pt x="0" y="0"/>
                  </a:lnTo>
                </a:path>
              </a:pathLst>
            </a:custGeom>
            <a:noFill/>
            <a:ln w="40325" cap="rnd">
              <a:solidFill>
                <a:srgbClr val="F4EFE4"/>
              </a:solidFill>
              <a:round/>
            </a:ln>
          </p:spPr>
          <p:txBody>
            <a:bodyPr rtlCol="0" anchor="ctr"/>
            <a:lstStyle/>
            <a:p>
              <a:pPr algn="ctr"/>
            </a:p>
          </p:txBody>
        </p:sp>
      </p:grpSp>
      <p:sp>
        <p:nvSpPr>
          <p:cNvPr id="13" name="TextBox 12"/>
          <p:cNvSpPr txBox="1"/>
          <p:nvPr/>
        </p:nvSpPr>
        <p:spPr>
          <a:xfrm>
            <a:off x="1828800" y="1188720"/>
            <a:ext cx="4937760" cy="1243584"/>
          </a:xfrm>
          <a:prstGeom prst="rect">
            <a:avLst/>
          </a:prstGeom>
          <a:noFill/>
        </p:spPr>
        <p:txBody>
          <a:bodyPr wrap="square" lIns="0" rIns="0" tIns="0" bIns="0" anchor="ctr">
            <a:noAutofit/>
          </a:bodyPr>
          <a:lstStyle/>
          <a:p>
            <a:pPr algn="l"/>
            <a:r>
              <a:rPr sz="8400" b="0" i="0" spc="-200">
                <a:solidFill>
                  <a:srgbClr val="16130E"/>
                </a:solidFill>
                <a:latin typeface="Georgia" panose="02040502050405020303" pitchFamily="18" charset="0"/>
              </a:rPr>
              <a:t>Bidwire</a:t>
            </a:r>
          </a:p>
        </p:txBody>
      </p:sp>
      <p:sp>
        <p:nvSpPr>
          <p:cNvPr id="14" name="TextBox 13"/>
          <p:cNvSpPr txBox="1"/>
          <p:nvPr/>
        </p:nvSpPr>
        <p:spPr>
          <a:xfrm>
            <a:off x="731520" y="2560320"/>
            <a:ext cx="5852160" cy="1005840"/>
          </a:xfrm>
          <a:prstGeom prst="rect">
            <a:avLst/>
          </a:prstGeom>
          <a:noFill/>
        </p:spPr>
        <p:txBody>
          <a:bodyPr wrap="square" lIns="0" rIns="0" tIns="0" bIns="0" anchor="t">
            <a:noAutofit/>
          </a:bodyPr>
          <a:lstStyle/>
          <a:p>
            <a:pPr algn="l">
              <a:lnSpc>
                <a:spcPct val="95000"/>
              </a:lnSpc>
            </a:pPr>
            <a:r>
              <a:rPr sz="3400" b="0" i="0" spc="-40">
                <a:solidFill>
                  <a:srgbClr val="16130E"/>
                </a:solidFill>
                <a:latin typeface="Georgia" panose="02040502050405020303" pitchFamily="18" charset="0"/>
              </a:rPr>
              <a:t>The auction house</a:t>
            </a:r>
          </a:p>
          <a:p>
            <a:pPr algn="l">
              <a:lnSpc>
                <a:spcPct val="95000"/>
              </a:lnSpc>
            </a:pPr>
            <a:r>
              <a:rPr sz="3400" b="0" i="0" spc="-40">
                <a:solidFill>
                  <a:srgbClr val="16130E"/>
                </a:solidFill>
                <a:latin typeface="Georgia" panose="02040502050405020303" pitchFamily="18" charset="0"/>
              </a:rPr>
              <a:t>for </a:t>
            </a:r>
            <a:r>
              <a:rPr sz="3400" b="0" i="1" spc="-40">
                <a:solidFill>
                  <a:srgbClr val="16130E"/>
                </a:solidFill>
                <a:latin typeface="Georgia" panose="02040502050405020303" pitchFamily="18" charset="0"/>
              </a:rPr>
              <a:t>AI agents.</a:t>
            </a:r>
          </a:p>
        </p:txBody>
      </p:sp>
      <p:sp>
        <p:nvSpPr>
          <p:cNvPr id="15" name="TextBox 14"/>
          <p:cNvSpPr txBox="1"/>
          <p:nvPr/>
        </p:nvSpPr>
        <p:spPr>
          <a:xfrm>
            <a:off x="731520" y="3675888"/>
            <a:ext cx="5577840" cy="731520"/>
          </a:xfrm>
          <a:prstGeom prst="rect">
            <a:avLst/>
          </a:prstGeom>
          <a:noFill/>
        </p:spPr>
        <p:txBody>
          <a:bodyPr wrap="square" lIns="0" rIns="0" tIns="0" bIns="0" anchor="t">
            <a:noAutofit/>
          </a:bodyPr>
          <a:lstStyle/>
          <a:p>
            <a:pPr algn="l">
              <a:lnSpc>
                <a:spcPct val="115000"/>
              </a:lnSpc>
            </a:pPr>
            <a:r>
              <a:rPr sz="1800" b="0" i="0">
                <a:solidFill>
                  <a:srgbClr val="6E6658"/>
                </a:solidFill>
                <a:latin typeface="Inter" panose="020B0502030000000004" pitchFamily="34" charset="0"/>
              </a:rPr>
              <a:t>When agents shop, nobody sees an ad.</a:t>
            </a:r>
          </a:p>
          <a:p>
            <a:pPr algn="l">
              <a:lnSpc>
                <a:spcPct val="115000"/>
              </a:lnSpc>
            </a:pPr>
            <a:r>
              <a:rPr sz="1800" b="0" i="0">
                <a:solidFill>
                  <a:srgbClr val="16130E"/>
                </a:solidFill>
                <a:latin typeface="Inter" panose="020B0502030000000004" pitchFamily="34" charset="0"/>
              </a:rPr>
              <a:t>So merchants have to tell the truth.</a:t>
            </a:r>
          </a:p>
        </p:txBody>
      </p:sp>
      <p:grpSp>
        <p:nvGrpSpPr>
          <p:cNvPr id="16" name="Group 15"/>
          <p:cNvGrpSpPr/>
          <p:nvPr/>
        </p:nvGrpSpPr>
        <p:grpSpPr>
          <a:xfrm>
            <a:off x="731520" y="4617720"/>
            <a:ext cx="2008632" cy="292608"/>
            <a:chOff x="731520" y="4617720"/>
            <a:chExt cx="2008632" cy="292608"/>
          </a:xfrm>
        </p:grpSpPr>
        <p:sp>
          <p:nvSpPr>
            <p:cNvPr id="17" name="Rounded Rectangle 16"/>
            <p:cNvSpPr/>
            <p:nvPr/>
          </p:nvSpPr>
          <p:spPr>
            <a:xfrm>
              <a:off x="731520" y="4617720"/>
              <a:ext cx="2008632" cy="292608"/>
            </a:xfrm>
            <a:prstGeom prst="roundRect">
              <a:avLst>
                <a:gd name="adj" fmla="val 50000"/>
              </a:avLst>
            </a:prstGeom>
            <a:solidFill>
              <a:srgbClr val="E6ECF6"/>
            </a:solidFill>
            <a:ln>
              <a:noFill/>
            </a:ln>
          </p:spPr>
          <p:txBody>
            <a:bodyPr rtlCol="0" anchor="ctr"/>
            <a:lstStyle/>
            <a:p>
              <a:pPr algn="ctr"/>
            </a:p>
          </p:txBody>
        </p:sp>
        <p:sp>
          <p:nvSpPr>
            <p:cNvPr id="18" name="TextBox 17"/>
            <p:cNvSpPr txBox="1"/>
            <p:nvPr/>
          </p:nvSpPr>
          <p:spPr>
            <a:xfrm>
              <a:off x="731520" y="4617720"/>
              <a:ext cx="2008632" cy="292608"/>
            </a:xfrm>
            <a:prstGeom prst="rect">
              <a:avLst/>
            </a:prstGeom>
            <a:noFill/>
          </p:spPr>
          <p:txBody>
            <a:bodyPr wrap="square" lIns="0" rIns="0" tIns="0" bIns="0" anchor="ctr">
              <a:noAutofit/>
            </a:bodyPr>
            <a:lstStyle/>
            <a:p>
              <a:pPr algn="ctr"/>
              <a:r>
                <a:rPr sz="1000" b="1" i="0">
                  <a:solidFill>
                    <a:srgbClr val="233F6E"/>
                  </a:solidFill>
                  <a:latin typeface="JetBrains Mono" panose="02000009000000000000" pitchFamily="49" charset="0"/>
                </a:rPr>
                <a:t>find_offers → buy_offer</a:t>
              </a:r>
            </a:p>
          </p:txBody>
        </p:sp>
      </p:grpSp>
      <p:grpSp>
        <p:nvGrpSpPr>
          <p:cNvPr id="19" name="Group 18"/>
          <p:cNvGrpSpPr/>
          <p:nvPr/>
        </p:nvGrpSpPr>
        <p:grpSpPr>
          <a:xfrm>
            <a:off x="2831592" y="4617720"/>
            <a:ext cx="1536192" cy="292608"/>
            <a:chOff x="2831592" y="4617720"/>
            <a:chExt cx="1536192" cy="292608"/>
          </a:xfrm>
        </p:grpSpPr>
        <p:sp>
          <p:nvSpPr>
            <p:cNvPr id="20" name="Rounded Rectangle 19"/>
            <p:cNvSpPr/>
            <p:nvPr/>
          </p:nvSpPr>
          <p:spPr>
            <a:xfrm>
              <a:off x="2831592" y="4617720"/>
              <a:ext cx="1536192" cy="292608"/>
            </a:xfrm>
            <a:prstGeom prst="roundRect">
              <a:avLst>
                <a:gd name="adj" fmla="val 50000"/>
              </a:avLst>
            </a:prstGeom>
            <a:solidFill>
              <a:srgbClr val="E5F0E8"/>
            </a:solidFill>
            <a:ln>
              <a:noFill/>
            </a:ln>
          </p:spPr>
          <p:txBody>
            <a:bodyPr rtlCol="0" anchor="ctr"/>
            <a:lstStyle/>
            <a:p>
              <a:pPr algn="ctr"/>
            </a:p>
          </p:txBody>
        </p:sp>
        <p:sp>
          <p:nvSpPr>
            <p:cNvPr id="21" name="TextBox 20"/>
            <p:cNvSpPr txBox="1"/>
            <p:nvPr/>
          </p:nvSpPr>
          <p:spPr>
            <a:xfrm>
              <a:off x="2831592" y="4617720"/>
              <a:ext cx="1536192" cy="292608"/>
            </a:xfrm>
            <a:prstGeom prst="rect">
              <a:avLst/>
            </a:prstGeom>
            <a:noFill/>
          </p:spPr>
          <p:txBody>
            <a:bodyPr wrap="square" lIns="0" rIns="0" tIns="0" bIns="0" anchor="ctr">
              <a:noAutofit/>
            </a:bodyPr>
            <a:lstStyle/>
            <a:p>
              <a:pPr algn="ctr"/>
              <a:r>
                <a:rPr sz="1000" b="1" i="0">
                  <a:solidFill>
                    <a:srgbClr val="2D6A48"/>
                  </a:solidFill>
                  <a:latin typeface="Inter" panose="020B0502030000000004" pitchFamily="34" charset="0"/>
                </a:rPr>
                <a:t>Every bid verified</a:t>
              </a:r>
            </a:p>
          </p:txBody>
        </p:sp>
      </p:grpSp>
      <p:grpSp>
        <p:nvGrpSpPr>
          <p:cNvPr id="22" name="Group 21"/>
          <p:cNvGrpSpPr/>
          <p:nvPr/>
        </p:nvGrpSpPr>
        <p:grpSpPr>
          <a:xfrm>
            <a:off x="731520" y="5001768"/>
            <a:ext cx="2105152" cy="292608"/>
            <a:chOff x="731520" y="5001768"/>
            <a:chExt cx="2105152" cy="292608"/>
          </a:xfrm>
        </p:grpSpPr>
        <p:sp>
          <p:nvSpPr>
            <p:cNvPr id="23" name="Rounded Rectangle 22"/>
            <p:cNvSpPr/>
            <p:nvPr/>
          </p:nvSpPr>
          <p:spPr>
            <a:xfrm>
              <a:off x="731520" y="5001768"/>
              <a:ext cx="2105152" cy="292608"/>
            </a:xfrm>
            <a:prstGeom prst="roundRect">
              <a:avLst>
                <a:gd name="adj" fmla="val 50000"/>
              </a:avLst>
            </a:prstGeom>
            <a:solidFill>
              <a:srgbClr val="F6EBD6"/>
            </a:solidFill>
            <a:ln>
              <a:noFill/>
            </a:ln>
          </p:spPr>
          <p:txBody>
            <a:bodyPr rtlCol="0" anchor="ctr"/>
            <a:lstStyle/>
            <a:p>
              <a:pPr algn="ctr"/>
            </a:p>
          </p:txBody>
        </p:sp>
        <p:sp>
          <p:nvSpPr>
            <p:cNvPr id="24" name="TextBox 23"/>
            <p:cNvSpPr txBox="1"/>
            <p:nvPr/>
          </p:nvSpPr>
          <p:spPr>
            <a:xfrm>
              <a:off x="731520" y="5001768"/>
              <a:ext cx="2105152" cy="292608"/>
            </a:xfrm>
            <a:prstGeom prst="rect">
              <a:avLst/>
            </a:prstGeom>
            <a:noFill/>
          </p:spPr>
          <p:txBody>
            <a:bodyPr wrap="square" lIns="0" rIns="0" tIns="0" bIns="0" anchor="ctr">
              <a:noAutofit/>
            </a:bodyPr>
            <a:lstStyle/>
            <a:p>
              <a:pPr algn="ctr"/>
              <a:r>
                <a:rPr sz="1000" b="1" i="0">
                  <a:solidFill>
                    <a:srgbClr val="94641F"/>
                  </a:solidFill>
                  <a:latin typeface="Inter" panose="020B0502030000000004" pitchFamily="34" charset="0"/>
                </a:rPr>
                <a:t>Commission never buys rank</a:t>
              </a:r>
            </a:p>
          </p:txBody>
        </p:sp>
      </p:grpSp>
      <p:grpSp>
        <p:nvGrpSpPr>
          <p:cNvPr id="25" name="Group 24"/>
          <p:cNvGrpSpPr/>
          <p:nvPr/>
        </p:nvGrpSpPr>
        <p:grpSpPr>
          <a:xfrm>
            <a:off x="2928112" y="5001768"/>
            <a:ext cx="1607312" cy="292608"/>
            <a:chOff x="2928112" y="5001768"/>
            <a:chExt cx="1607312" cy="292608"/>
          </a:xfrm>
        </p:grpSpPr>
        <p:sp>
          <p:nvSpPr>
            <p:cNvPr id="26" name="Rounded Rectangle 25"/>
            <p:cNvSpPr/>
            <p:nvPr/>
          </p:nvSpPr>
          <p:spPr>
            <a:xfrm>
              <a:off x="2928112" y="5001768"/>
              <a:ext cx="1607312" cy="292608"/>
            </a:xfrm>
            <a:prstGeom prst="roundRect">
              <a:avLst>
                <a:gd name="adj" fmla="val 50000"/>
              </a:avLst>
            </a:prstGeom>
            <a:solidFill>
              <a:srgbClr val="F5EBD6"/>
            </a:solidFill>
            <a:ln>
              <a:noFill/>
            </a:ln>
          </p:spPr>
          <p:txBody>
            <a:bodyPr rtlCol="0" anchor="ctr"/>
            <a:lstStyle/>
            <a:p>
              <a:pPr algn="ctr"/>
            </a:p>
          </p:txBody>
        </p:sp>
        <p:sp>
          <p:nvSpPr>
            <p:cNvPr id="27" name="TextBox 26"/>
            <p:cNvSpPr txBox="1"/>
            <p:nvPr/>
          </p:nvSpPr>
          <p:spPr>
            <a:xfrm>
              <a:off x="2928112" y="5001768"/>
              <a:ext cx="1607312" cy="292608"/>
            </a:xfrm>
            <a:prstGeom prst="rect">
              <a:avLst/>
            </a:prstGeom>
            <a:noFill/>
          </p:spPr>
          <p:txBody>
            <a:bodyPr wrap="square" lIns="0" rIns="0" tIns="0" bIns="0" anchor="ctr">
              <a:noAutofit/>
            </a:bodyPr>
            <a:lstStyle/>
            <a:p>
              <a:pPr algn="ctr"/>
              <a:r>
                <a:rPr sz="1000" b="1" i="0">
                  <a:solidFill>
                    <a:srgbClr val="B0894F"/>
                  </a:solidFill>
                  <a:latin typeface="Inter" panose="020B0502030000000004" pitchFamily="34" charset="0"/>
                </a:rPr>
                <a:t>12-second live lots</a:t>
              </a:r>
            </a:p>
          </p:txBody>
        </p:sp>
      </p:grpSp>
      <p:sp>
        <p:nvSpPr>
          <p:cNvPr id="28" name="TextBox 27"/>
          <p:cNvSpPr txBox="1"/>
          <p:nvPr/>
        </p:nvSpPr>
        <p:spPr>
          <a:xfrm>
            <a:off x="731520" y="5760720"/>
            <a:ext cx="5760720" cy="274320"/>
          </a:xfrm>
          <a:prstGeom prst="rect">
            <a:avLst/>
          </a:prstGeom>
          <a:noFill/>
        </p:spPr>
        <p:txBody>
          <a:bodyPr wrap="square" lIns="0" rIns="0" tIns="0" bIns="0" anchor="t">
            <a:noAutofit/>
          </a:bodyPr>
          <a:lstStyle/>
          <a:p>
            <a:pPr algn="l"/>
            <a:r>
              <a:rPr sz="950" b="0" i="0">
                <a:solidFill>
                  <a:srgbClr val="9C937F"/>
                </a:solidFill>
                <a:latin typeface="Inter" panose="020B0502030000000004" pitchFamily="34" charset="0"/>
              </a:rPr>
              <a:t>Built with mcp-use (Manufact) · Inkbox · MCP over streamable HTTP</a:t>
            </a:r>
          </a:p>
        </p:txBody>
      </p:sp>
      <p:grpSp>
        <p:nvGrpSpPr>
          <p:cNvPr id="29" name="Group 28"/>
          <p:cNvGrpSpPr/>
          <p:nvPr/>
        </p:nvGrpSpPr>
        <p:grpSpPr>
          <a:xfrm>
            <a:off x="6720840" y="1097280"/>
            <a:ext cx="5989320" cy="3642170"/>
            <a:chOff x="6720840" y="1097280"/>
            <a:chExt cx="5989320" cy="3642170"/>
          </a:xfrm>
        </p:grpSpPr>
        <p:sp>
          <p:nvSpPr>
            <p:cNvPr id="30" name="Rounded Rectangle 29"/>
            <p:cNvSpPr/>
            <p:nvPr/>
          </p:nvSpPr>
          <p:spPr>
            <a:xfrm>
              <a:off x="6720840" y="1097280"/>
              <a:ext cx="5989320" cy="3642170"/>
            </a:xfrm>
            <a:prstGeom prst="roundRect">
              <a:avLst>
                <a:gd name="adj" fmla="val 2008"/>
              </a:avLst>
            </a:prstGeom>
            <a:solidFill>
              <a:srgbClr val="FFFDF7"/>
            </a:solidFill>
            <a:ln w="9525">
              <a:solidFill>
                <a:srgbClr val="CFC3AA"/>
              </a:solidFill>
            </a:ln>
            <a:effectLst>
              <a:outerShdw blurRad="384048" dist="109728" dir="5400000" algn="t" rotWithShape="0">
                <a:srgbClr val="16130E">
                  <a:alpha val="12000"/>
                </a:srgbClr>
              </a:outerShdw>
            </a:effectLst>
          </p:spPr>
          <p:txBody>
            <a:bodyPr rtlCol="0" anchor="ctr"/>
            <a:lstStyle/>
            <a:p>
              <a:pPr algn="ctr"/>
            </a:p>
          </p:txBody>
        </p:sp>
        <p:sp>
          <p:nvSpPr>
            <p:cNvPr id="31" name="Oval 30"/>
            <p:cNvSpPr/>
            <p:nvPr/>
          </p:nvSpPr>
          <p:spPr>
            <a:xfrm>
              <a:off x="6867144" y="1197864"/>
              <a:ext cx="73152" cy="73152"/>
            </a:xfrm>
            <a:prstGeom prst="ellipse">
              <a:avLst/>
            </a:prstGeom>
            <a:solidFill>
              <a:srgbClr val="CFC3AA"/>
            </a:solidFill>
            <a:ln>
              <a:noFill/>
            </a:ln>
          </p:spPr>
          <p:txBody>
            <a:bodyPr rtlCol="0" anchor="ctr"/>
            <a:lstStyle/>
            <a:p>
              <a:pPr algn="ctr"/>
            </a:p>
          </p:txBody>
        </p:sp>
        <p:sp>
          <p:nvSpPr>
            <p:cNvPr id="32" name="Oval 31"/>
            <p:cNvSpPr/>
            <p:nvPr/>
          </p:nvSpPr>
          <p:spPr>
            <a:xfrm>
              <a:off x="7004304" y="1197864"/>
              <a:ext cx="73152" cy="73152"/>
            </a:xfrm>
            <a:prstGeom prst="ellipse">
              <a:avLst/>
            </a:prstGeom>
            <a:solidFill>
              <a:srgbClr val="CFC3AA"/>
            </a:solidFill>
            <a:ln>
              <a:noFill/>
            </a:ln>
          </p:spPr>
          <p:txBody>
            <a:bodyPr rtlCol="0" anchor="ctr"/>
            <a:lstStyle/>
            <a:p>
              <a:pPr algn="ctr"/>
            </a:p>
          </p:txBody>
        </p:sp>
        <p:sp>
          <p:nvSpPr>
            <p:cNvPr id="33" name="Oval 32"/>
            <p:cNvSpPr/>
            <p:nvPr/>
          </p:nvSpPr>
          <p:spPr>
            <a:xfrm>
              <a:off x="7141464" y="1197864"/>
              <a:ext cx="73152" cy="73152"/>
            </a:xfrm>
            <a:prstGeom prst="ellipse">
              <a:avLst/>
            </a:prstGeom>
            <a:solidFill>
              <a:srgbClr val="CFC3AA"/>
            </a:solidFill>
            <a:ln>
              <a:noFill/>
            </a:ln>
          </p:spPr>
          <p:txBody>
            <a:bodyPr rtlCol="0" anchor="ctr"/>
            <a:lstStyle/>
            <a:p>
              <a:pPr algn="ctr"/>
            </a:p>
          </p:txBody>
        </p:sp>
        <p:sp>
          <p:nvSpPr>
            <p:cNvPr id="34" name="Rounded Rectangle 33"/>
            <p:cNvSpPr/>
            <p:nvPr/>
          </p:nvSpPr>
          <p:spPr>
            <a:xfrm>
              <a:off x="8517636" y="1156716"/>
              <a:ext cx="2395728" cy="155448"/>
            </a:xfrm>
            <a:prstGeom prst="roundRect">
              <a:avLst>
                <a:gd name="adj" fmla="val 50000"/>
              </a:avLst>
            </a:prstGeom>
            <a:solidFill>
              <a:srgbClr val="EFE8D9"/>
            </a:solidFill>
            <a:ln>
              <a:noFill/>
            </a:ln>
          </p:spPr>
          <p:txBody>
            <a:bodyPr rtlCol="0" anchor="ctr"/>
            <a:lstStyle/>
            <a:p>
              <a:pPr algn="ctr"/>
            </a:p>
          </p:txBody>
        </p:sp>
        <p:sp>
          <p:nvSpPr>
            <p:cNvPr id="35" name="TextBox 34"/>
            <p:cNvSpPr txBox="1"/>
            <p:nvPr/>
          </p:nvSpPr>
          <p:spPr>
            <a:xfrm>
              <a:off x="8517636" y="1156716"/>
              <a:ext cx="2395728" cy="155448"/>
            </a:xfrm>
            <a:prstGeom prst="rect">
              <a:avLst/>
            </a:prstGeom>
            <a:noFill/>
          </p:spPr>
          <p:txBody>
            <a:bodyPr wrap="square" lIns="0" rIns="0" tIns="0" bIns="0" anchor="ctr">
              <a:noAutofit/>
            </a:bodyPr>
            <a:lstStyle/>
            <a:p>
              <a:pPr algn="ctr"/>
              <a:r>
                <a:rPr sz="750" b="0" i="0">
                  <a:solidFill>
                    <a:srgbClr val="6E6658"/>
                  </a:solidFill>
                  <a:latin typeface="Inter" panose="020B0502030000000004" pitchFamily="34" charset="0"/>
                </a:rPr>
                <a:t>localhost:8787/exchange</a:t>
              </a:r>
            </a:p>
          </p:txBody>
        </p:sp>
        <p:sp>
          <p:nvSpPr>
            <p:cNvPr id="36" name="Rectangle 35"/>
            <p:cNvSpPr/>
            <p:nvPr/>
          </p:nvSpPr>
          <p:spPr>
            <a:xfrm>
              <a:off x="6729984" y="1362456"/>
              <a:ext cx="5971032" cy="7315"/>
            </a:xfrm>
            <a:prstGeom prst="rect">
              <a:avLst/>
            </a:prstGeom>
            <a:solidFill>
              <a:srgbClr val="E2D9C6"/>
            </a:solidFill>
            <a:ln>
              <a:noFill/>
            </a:ln>
          </p:spPr>
          <p:txBody>
            <a:bodyPr rtlCol="0" anchor="ctr"/>
            <a:lstStyle/>
            <a:p>
              <a:pPr algn="ctr"/>
            </a:p>
          </p:txBody>
        </p:sp>
        <p:sp>
          <p:nvSpPr>
            <p:cNvPr id="37" name="Rounded Rectangle 36"/>
            <p:cNvSpPr/>
            <p:nvPr/>
          </p:nvSpPr>
          <p:spPr>
            <a:xfrm>
              <a:off x="6729984" y="1371600"/>
              <a:ext cx="5971032" cy="3358706"/>
            </a:xfrm>
            <a:prstGeom prst="roundRect">
              <a:avLst>
                <a:gd name="adj" fmla="val 816"/>
              </a:avLst>
            </a:prstGeom>
            <a:solidFill>
              <a:srgbClr val="F4EFE4"/>
            </a:solidFill>
            <a:ln>
              <a:noFill/>
            </a:ln>
          </p:spPr>
          <p:txBody>
            <a:bodyPr rtlCol="0" anchor="ctr"/>
            <a:lstStyle/>
            <a:p>
              <a:pPr algn="ctr"/>
            </a:p>
          </p:txBody>
        </p:sp>
        <p:sp>
          <p:nvSpPr>
            <p:cNvPr id="38" name="Rectangle 37"/>
            <p:cNvSpPr/>
            <p:nvPr/>
          </p:nvSpPr>
          <p:spPr>
            <a:xfrm>
              <a:off x="6729984" y="1371600"/>
              <a:ext cx="5971032" cy="292608"/>
            </a:xfrm>
            <a:prstGeom prst="rect">
              <a:avLst/>
            </a:prstGeom>
            <a:solidFill>
              <a:srgbClr val="FFFDF7"/>
            </a:solidFill>
            <a:ln>
              <a:noFill/>
            </a:ln>
          </p:spPr>
          <p:txBody>
            <a:bodyPr rtlCol="0" anchor="ctr"/>
            <a:lstStyle/>
            <a:p>
              <a:pPr algn="ctr"/>
            </a:p>
          </p:txBody>
        </p:sp>
        <p:sp>
          <p:nvSpPr>
            <p:cNvPr id="39" name="Rectangle 38"/>
            <p:cNvSpPr/>
            <p:nvPr/>
          </p:nvSpPr>
          <p:spPr>
            <a:xfrm>
              <a:off x="6729984" y="1664208"/>
              <a:ext cx="5971032" cy="7315"/>
            </a:xfrm>
            <a:prstGeom prst="rect">
              <a:avLst/>
            </a:prstGeom>
            <a:solidFill>
              <a:srgbClr val="E2D9C6"/>
            </a:solidFill>
            <a:ln>
              <a:noFill/>
            </a:ln>
          </p:spPr>
          <p:txBody>
            <a:bodyPr rtlCol="0" anchor="ctr"/>
            <a:lstStyle/>
            <a:p>
              <a:pPr algn="ctr"/>
            </a:p>
          </p:txBody>
        </p:sp>
        <p:sp>
          <p:nvSpPr>
            <p:cNvPr id="40" name="TextBox 39"/>
            <p:cNvSpPr txBox="1"/>
            <p:nvPr/>
          </p:nvSpPr>
          <p:spPr>
            <a:xfrm>
              <a:off x="6894576" y="1371600"/>
              <a:ext cx="2743200" cy="292608"/>
            </a:xfrm>
            <a:prstGeom prst="rect">
              <a:avLst/>
            </a:prstGeom>
            <a:noFill/>
          </p:spPr>
          <p:txBody>
            <a:bodyPr wrap="square" lIns="0" rIns="0" tIns="0" bIns="0" anchor="ctr">
              <a:noAutofit/>
            </a:bodyPr>
            <a:lstStyle/>
            <a:p>
              <a:pPr algn="l"/>
              <a:r>
                <a:rPr sz="1000" b="0" i="0">
                  <a:solidFill>
                    <a:srgbClr val="16130E"/>
                  </a:solidFill>
                  <a:latin typeface="Georgia" panose="02040502050405020303" pitchFamily="18" charset="0"/>
                </a:rPr>
                <a:t>Bidwire  </a:t>
              </a:r>
              <a:r>
                <a:rPr sz="750" b="0" i="0">
                  <a:solidFill>
                    <a:srgbClr val="9C937F"/>
                  </a:solidFill>
                  <a:latin typeface="Inter" panose="020B0502030000000004" pitchFamily="34" charset="0"/>
                </a:rPr>
                <a:t>Saleroom</a:t>
              </a:r>
            </a:p>
          </p:txBody>
        </p:sp>
        <p:sp>
          <p:nvSpPr>
            <p:cNvPr id="41" name="Rounded Rectangle 40"/>
            <p:cNvSpPr/>
            <p:nvPr/>
          </p:nvSpPr>
          <p:spPr>
            <a:xfrm>
              <a:off x="6867144" y="1783080"/>
              <a:ext cx="3702040" cy="1410656"/>
            </a:xfrm>
            <a:prstGeom prst="roundRect">
              <a:avLst>
                <a:gd name="adj" fmla="val 3889"/>
              </a:avLst>
            </a:prstGeom>
            <a:solidFill>
              <a:srgbClr val="0F0E0C"/>
            </a:solidFill>
            <a:ln>
              <a:noFill/>
            </a:ln>
          </p:spPr>
          <p:txBody>
            <a:bodyPr rtlCol="0" anchor="ctr"/>
            <a:lstStyle/>
            <a:p>
              <a:pPr algn="ctr"/>
            </a:p>
          </p:txBody>
        </p:sp>
        <p:sp>
          <p:nvSpPr>
            <p:cNvPr id="42" name="Rounded Rectangle 41"/>
            <p:cNvSpPr/>
            <p:nvPr/>
          </p:nvSpPr>
          <p:spPr>
            <a:xfrm>
              <a:off x="6912864" y="1828800"/>
              <a:ext cx="3610600" cy="1319216"/>
            </a:xfrm>
            <a:prstGeom prst="roundRect">
              <a:avLst>
                <a:gd name="adj" fmla="val 2772"/>
              </a:avLst>
            </a:prstGeom>
            <a:noFill/>
            <a:ln w="6350">
              <a:solidFill>
                <a:srgbClr val="B0894F">
                  <a:alpha val="60000"/>
                </a:srgbClr>
              </a:solidFill>
            </a:ln>
          </p:spPr>
          <p:txBody>
            <a:bodyPr rtlCol="0" anchor="ctr"/>
            <a:lstStyle/>
            <a:p>
              <a:pPr algn="ctr"/>
            </a:p>
          </p:txBody>
        </p:sp>
        <p:sp>
          <p:nvSpPr>
            <p:cNvPr id="43" name="TextBox 42"/>
            <p:cNvSpPr txBox="1"/>
            <p:nvPr/>
          </p:nvSpPr>
          <p:spPr>
            <a:xfrm>
              <a:off x="7031736" y="1874520"/>
              <a:ext cx="3427720" cy="219456"/>
            </a:xfrm>
            <a:prstGeom prst="rect">
              <a:avLst/>
            </a:prstGeom>
            <a:noFill/>
          </p:spPr>
          <p:txBody>
            <a:bodyPr wrap="square" lIns="0" rIns="0" tIns="0" bIns="0" anchor="ctr">
              <a:noAutofit/>
            </a:bodyPr>
            <a:lstStyle/>
            <a:p>
              <a:pPr algn="l"/>
              <a:r>
                <a:rPr sz="600" b="1" i="0" spc="110">
                  <a:solidFill>
                    <a:srgbClr val="B0894F"/>
                  </a:solidFill>
                  <a:latin typeface="Inter" panose="020B0502030000000004" pitchFamily="34" charset="0"/>
                </a:rPr>
                <a:t>LOT · HEADPHONES · OPENED BY CLAUDE</a:t>
              </a:r>
            </a:p>
          </p:txBody>
        </p:sp>
        <p:sp>
          <p:nvSpPr>
            <p:cNvPr id="44" name="TextBox 43"/>
            <p:cNvSpPr txBox="1"/>
            <p:nvPr/>
          </p:nvSpPr>
          <p:spPr>
            <a:xfrm>
              <a:off x="7031736" y="2084832"/>
              <a:ext cx="3427720" cy="182880"/>
            </a:xfrm>
            <a:prstGeom prst="rect">
              <a:avLst/>
            </a:prstGeom>
            <a:noFill/>
          </p:spPr>
          <p:txBody>
            <a:bodyPr wrap="square" lIns="0" rIns="0" tIns="0" bIns="0" anchor="ctr">
              <a:noAutofit/>
            </a:bodyPr>
            <a:lstStyle/>
            <a:p>
              <a:pPr algn="l"/>
              <a:r>
                <a:rPr sz="700" b="0" i="0">
                  <a:solidFill>
                    <a:srgbClr val="8C8270"/>
                  </a:solidFill>
                  <a:latin typeface="Inter" panose="020B0502030000000004" pitchFamily="34" charset="0"/>
                </a:rPr>
                <a:t>Best verified offer</a:t>
              </a:r>
            </a:p>
          </p:txBody>
        </p:sp>
        <p:sp>
          <p:nvSpPr>
            <p:cNvPr id="45" name="TextBox 44"/>
            <p:cNvSpPr txBox="1"/>
            <p:nvPr/>
          </p:nvSpPr>
          <p:spPr>
            <a:xfrm>
              <a:off x="7031736" y="2240280"/>
              <a:ext cx="3427720" cy="564263"/>
            </a:xfrm>
            <a:prstGeom prst="rect">
              <a:avLst/>
            </a:prstGeom>
            <a:noFill/>
          </p:spPr>
          <p:txBody>
            <a:bodyPr wrap="square" lIns="0" rIns="0" tIns="0" bIns="0" anchor="ctr">
              <a:noAutofit/>
            </a:bodyPr>
            <a:lstStyle/>
            <a:p>
              <a:pPr algn="l"/>
              <a:r>
                <a:rPr sz="2400" b="0" i="0">
                  <a:solidFill>
                    <a:srgbClr val="F3E9D2"/>
                  </a:solidFill>
                  <a:latin typeface="Georgia" panose="02040502050405020303" pitchFamily="18" charset="0"/>
                </a:rPr>
                <a:t>$319.99</a:t>
              </a:r>
            </a:p>
          </p:txBody>
        </p:sp>
        <p:sp>
          <p:nvSpPr>
            <p:cNvPr id="46" name="TextBox 45"/>
            <p:cNvSpPr txBox="1"/>
            <p:nvPr/>
          </p:nvSpPr>
          <p:spPr>
            <a:xfrm>
              <a:off x="7031736" y="2864552"/>
              <a:ext cx="3427720" cy="201168"/>
            </a:xfrm>
            <a:prstGeom prst="rect">
              <a:avLst/>
            </a:prstGeom>
            <a:noFill/>
          </p:spPr>
          <p:txBody>
            <a:bodyPr wrap="square" lIns="0" rIns="0" tIns="0" bIns="0" anchor="ctr">
              <a:noAutofit/>
            </a:bodyPr>
            <a:lstStyle/>
            <a:p>
              <a:pPr algn="l"/>
              <a:r>
                <a:rPr sz="750" b="0" i="0">
                  <a:solidFill>
                    <a:srgbClr val="F3E9D2"/>
                  </a:solidFill>
                  <a:latin typeface="Inter" panose="020B0502030000000004" pitchFamily="34" charset="0"/>
                </a:rPr>
                <a:t>Last Unit Labs</a:t>
              </a:r>
            </a:p>
          </p:txBody>
        </p:sp>
        <p:sp>
          <p:nvSpPr>
            <p:cNvPr id="47" name="Rounded Rectangle 46"/>
            <p:cNvSpPr/>
            <p:nvPr/>
          </p:nvSpPr>
          <p:spPr>
            <a:xfrm>
              <a:off x="10706344" y="1783080"/>
              <a:ext cx="1857512" cy="1410656"/>
            </a:xfrm>
            <a:prstGeom prst="roundRect">
              <a:avLst>
                <a:gd name="adj" fmla="val 2592"/>
              </a:avLst>
            </a:prstGeom>
            <a:solidFill>
              <a:srgbClr val="FFFDF7"/>
            </a:solidFill>
            <a:ln w="9525">
              <a:solidFill>
                <a:srgbClr val="E2D9C6"/>
              </a:solidFill>
            </a:ln>
          </p:spPr>
          <p:txBody>
            <a:bodyPr rtlCol="0" anchor="ctr"/>
            <a:lstStyle/>
            <a:p>
              <a:pPr algn="ctr"/>
            </a:p>
          </p:txBody>
        </p:sp>
        <p:sp>
          <p:nvSpPr>
            <p:cNvPr id="48" name="TextBox 47"/>
            <p:cNvSpPr txBox="1"/>
            <p:nvPr/>
          </p:nvSpPr>
          <p:spPr>
            <a:xfrm>
              <a:off x="10816072" y="1856232"/>
              <a:ext cx="1463040" cy="219456"/>
            </a:xfrm>
            <a:prstGeom prst="rect">
              <a:avLst/>
            </a:prstGeom>
            <a:noFill/>
          </p:spPr>
          <p:txBody>
            <a:bodyPr wrap="square" lIns="0" rIns="0" tIns="0" bIns="0" anchor="ctr">
              <a:noAutofit/>
            </a:bodyPr>
            <a:lstStyle/>
            <a:p>
              <a:pPr algn="l"/>
              <a:r>
                <a:rPr sz="600" b="1" i="0" spc="110">
                  <a:solidFill>
                    <a:srgbClr val="9C937F"/>
                  </a:solidFill>
                  <a:latin typeface="Inter" panose="020B0502030000000004" pitchFamily="34" charset="0"/>
                </a:rPr>
                <a:t>AGENT BIDDERS</a:t>
              </a:r>
            </a:p>
          </p:txBody>
        </p:sp>
        <p:sp>
          <p:nvSpPr>
            <p:cNvPr id="49" name="TextBox 48"/>
            <p:cNvSpPr txBox="1"/>
            <p:nvPr/>
          </p:nvSpPr>
          <p:spPr>
            <a:xfrm>
              <a:off x="10816072" y="2093976"/>
              <a:ext cx="1645920" cy="182880"/>
            </a:xfrm>
            <a:prstGeom prst="rect">
              <a:avLst/>
            </a:prstGeom>
            <a:noFill/>
          </p:spPr>
          <p:txBody>
            <a:bodyPr wrap="square" lIns="0" rIns="0" tIns="0" bIns="0" anchor="ctr">
              <a:noAutofit/>
            </a:bodyPr>
            <a:lstStyle/>
            <a:p>
              <a:pPr algn="l"/>
              <a:r>
                <a:rPr sz="650" b="0" i="0">
                  <a:solidFill>
                    <a:srgbClr val="233F6E"/>
                  </a:solidFill>
                  <a:latin typeface="JetBrains Mono" panose="02000009000000000000" pitchFamily="49" charset="0"/>
                </a:rPr>
                <a:t>find_offers</a:t>
              </a:r>
            </a:p>
          </p:txBody>
        </p:sp>
        <p:sp>
          <p:nvSpPr>
            <p:cNvPr id="50" name="TextBox 49"/>
            <p:cNvSpPr txBox="1"/>
            <p:nvPr/>
          </p:nvSpPr>
          <p:spPr>
            <a:xfrm>
              <a:off x="10816072" y="2322576"/>
              <a:ext cx="1645920" cy="182880"/>
            </a:xfrm>
            <a:prstGeom prst="rect">
              <a:avLst/>
            </a:prstGeom>
            <a:noFill/>
          </p:spPr>
          <p:txBody>
            <a:bodyPr wrap="square" lIns="0" rIns="0" tIns="0" bIns="0" anchor="ctr">
              <a:noAutofit/>
            </a:bodyPr>
            <a:lstStyle/>
            <a:p>
              <a:pPr algn="l"/>
              <a:r>
                <a:rPr sz="650" b="0" i="0">
                  <a:solidFill>
                    <a:srgbClr val="233F6E"/>
                  </a:solidFill>
                  <a:latin typeface="JetBrains Mono" panose="02000009000000000000" pitchFamily="49" charset="0"/>
                </a:rPr>
                <a:t>buy_offer</a:t>
              </a:r>
            </a:p>
          </p:txBody>
        </p:sp>
        <p:sp>
          <p:nvSpPr>
            <p:cNvPr id="51" name="TextBox 50"/>
            <p:cNvSpPr txBox="1"/>
            <p:nvPr/>
          </p:nvSpPr>
          <p:spPr>
            <a:xfrm>
              <a:off x="10816072" y="2551176"/>
              <a:ext cx="1645920" cy="182880"/>
            </a:xfrm>
            <a:prstGeom prst="rect">
              <a:avLst/>
            </a:prstGeom>
            <a:noFill/>
          </p:spPr>
          <p:txBody>
            <a:bodyPr wrap="square" lIns="0" rIns="0" tIns="0" bIns="0" anchor="ctr">
              <a:noAutofit/>
            </a:bodyPr>
            <a:lstStyle/>
            <a:p>
              <a:pPr algn="l"/>
              <a:r>
                <a:rPr sz="650" b="0" i="0">
                  <a:solidFill>
                    <a:srgbClr val="233F6E"/>
                  </a:solidFill>
                  <a:latin typeface="JetBrains Mono" panose="02000009000000000000" pitchFamily="49" charset="0"/>
                </a:rPr>
                <a:t>check_approval</a:t>
              </a:r>
            </a:p>
          </p:txBody>
        </p:sp>
        <p:sp>
          <p:nvSpPr>
            <p:cNvPr id="52" name="Rounded Rectangle 51"/>
            <p:cNvSpPr/>
            <p:nvPr/>
          </p:nvSpPr>
          <p:spPr>
            <a:xfrm>
              <a:off x="6867144" y="3321752"/>
              <a:ext cx="5696712" cy="1298825"/>
            </a:xfrm>
            <a:prstGeom prst="roundRect">
              <a:avLst>
                <a:gd name="adj" fmla="val 2816"/>
              </a:avLst>
            </a:prstGeom>
            <a:solidFill>
              <a:srgbClr val="FFFDF7"/>
            </a:solidFill>
            <a:ln w="9525">
              <a:solidFill>
                <a:srgbClr val="E2D9C6"/>
              </a:solidFill>
            </a:ln>
          </p:spPr>
          <p:txBody>
            <a:bodyPr rtlCol="0" anchor="ctr"/>
            <a:lstStyle/>
            <a:p>
              <a:pPr algn="ctr"/>
            </a:p>
          </p:txBody>
        </p:sp>
        <p:sp>
          <p:nvSpPr>
            <p:cNvPr id="53" name="TextBox 52"/>
            <p:cNvSpPr txBox="1"/>
            <p:nvPr/>
          </p:nvSpPr>
          <p:spPr>
            <a:xfrm>
              <a:off x="6958584" y="3349184"/>
              <a:ext cx="365760" cy="248792"/>
            </a:xfrm>
            <a:prstGeom prst="rect">
              <a:avLst/>
            </a:prstGeom>
            <a:noFill/>
          </p:spPr>
          <p:txBody>
            <a:bodyPr wrap="square" lIns="0" rIns="0" tIns="0" bIns="0" anchor="ctr">
              <a:noAutofit/>
            </a:bodyPr>
            <a:lstStyle/>
            <a:p>
              <a:pPr algn="l"/>
              <a:r>
                <a:rPr sz="900" b="0" i="0">
                  <a:solidFill>
                    <a:srgbClr val="16130E"/>
                  </a:solidFill>
                  <a:latin typeface="Georgia" panose="02040502050405020303" pitchFamily="18" charset="0"/>
                </a:rPr>
                <a:t>1</a:t>
              </a:r>
            </a:p>
          </p:txBody>
        </p:sp>
        <p:sp>
          <p:nvSpPr>
            <p:cNvPr id="54" name="TextBox 53"/>
            <p:cNvSpPr txBox="1"/>
            <p:nvPr/>
          </p:nvSpPr>
          <p:spPr>
            <a:xfrm>
              <a:off x="7278624" y="3349184"/>
              <a:ext cx="2985516" cy="248792"/>
            </a:xfrm>
            <a:prstGeom prst="rect">
              <a:avLst/>
            </a:prstGeom>
            <a:noFill/>
          </p:spPr>
          <p:txBody>
            <a:bodyPr wrap="square" lIns="0" rIns="0" tIns="0" bIns="0" anchor="ctr">
              <a:noAutofit/>
            </a:bodyPr>
            <a:lstStyle/>
            <a:p>
              <a:pPr algn="l"/>
              <a:r>
                <a:rPr sz="750" b="1" i="0">
                  <a:solidFill>
                    <a:srgbClr val="16130E"/>
                  </a:solidFill>
                  <a:latin typeface="Inter" panose="020B0502030000000004" pitchFamily="34" charset="0"/>
                </a:rPr>
                <a:t>Last Unit Labs</a:t>
              </a:r>
            </a:p>
          </p:txBody>
        </p:sp>
        <p:sp>
          <p:nvSpPr>
            <p:cNvPr id="55" name="Rounded Rectangle 54"/>
            <p:cNvSpPr/>
            <p:nvPr/>
          </p:nvSpPr>
          <p:spPr>
            <a:xfrm>
              <a:off x="12003024" y="3395856"/>
              <a:ext cx="423672" cy="155448"/>
            </a:xfrm>
            <a:prstGeom prst="roundRect">
              <a:avLst>
                <a:gd name="adj" fmla="val 50000"/>
              </a:avLst>
            </a:prstGeom>
            <a:solidFill>
              <a:srgbClr val="F5EBD6"/>
            </a:solidFill>
            <a:ln>
              <a:noFill/>
            </a:ln>
          </p:spPr>
          <p:txBody>
            <a:bodyPr rtlCol="0" anchor="ctr"/>
            <a:lstStyle/>
            <a:p>
              <a:pPr algn="ctr"/>
            </a:p>
          </p:txBody>
        </p:sp>
        <p:sp>
          <p:nvSpPr>
            <p:cNvPr id="56" name="TextBox 55"/>
            <p:cNvSpPr txBox="1"/>
            <p:nvPr/>
          </p:nvSpPr>
          <p:spPr>
            <a:xfrm>
              <a:off x="12003024" y="3395856"/>
              <a:ext cx="423672" cy="155448"/>
            </a:xfrm>
            <a:prstGeom prst="rect">
              <a:avLst/>
            </a:prstGeom>
            <a:noFill/>
          </p:spPr>
          <p:txBody>
            <a:bodyPr wrap="square" lIns="0" rIns="0" tIns="0" bIns="0" anchor="ctr">
              <a:noAutofit/>
            </a:bodyPr>
            <a:lstStyle/>
            <a:p>
              <a:pPr algn="ctr"/>
              <a:r>
                <a:rPr sz="650" b="1" i="0">
                  <a:solidFill>
                    <a:srgbClr val="B0894F"/>
                  </a:solidFill>
                  <a:latin typeface="Inter" panose="020B0502030000000004" pitchFamily="34" charset="0"/>
                </a:rPr>
                <a:t>Hammer</a:t>
              </a:r>
            </a:p>
          </p:txBody>
        </p:sp>
        <p:sp>
          <p:nvSpPr>
            <p:cNvPr id="57" name="Rectangle 56"/>
            <p:cNvSpPr/>
            <p:nvPr/>
          </p:nvSpPr>
          <p:spPr>
            <a:xfrm>
              <a:off x="6912864" y="3597977"/>
              <a:ext cx="5605272" cy="5486"/>
            </a:xfrm>
            <a:prstGeom prst="rect">
              <a:avLst/>
            </a:prstGeom>
            <a:solidFill>
              <a:srgbClr val="E2D9C6"/>
            </a:solidFill>
            <a:ln>
              <a:noFill/>
            </a:ln>
          </p:spPr>
          <p:txBody>
            <a:bodyPr rtlCol="0" anchor="ctr"/>
            <a:lstStyle/>
            <a:p>
              <a:pPr algn="ctr"/>
            </a:p>
          </p:txBody>
        </p:sp>
        <p:sp>
          <p:nvSpPr>
            <p:cNvPr id="58" name="TextBox 57"/>
            <p:cNvSpPr txBox="1"/>
            <p:nvPr/>
          </p:nvSpPr>
          <p:spPr>
            <a:xfrm>
              <a:off x="6958584" y="3597977"/>
              <a:ext cx="365760" cy="248792"/>
            </a:xfrm>
            <a:prstGeom prst="rect">
              <a:avLst/>
            </a:prstGeom>
            <a:noFill/>
          </p:spPr>
          <p:txBody>
            <a:bodyPr wrap="square" lIns="0" rIns="0" tIns="0" bIns="0" anchor="ctr">
              <a:noAutofit/>
            </a:bodyPr>
            <a:lstStyle/>
            <a:p>
              <a:pPr algn="l"/>
              <a:r>
                <a:rPr sz="900" b="0" i="0">
                  <a:solidFill>
                    <a:srgbClr val="16130E"/>
                  </a:solidFill>
                  <a:latin typeface="Georgia" panose="02040502050405020303" pitchFamily="18" charset="0"/>
                </a:rPr>
                <a:t>2</a:t>
              </a:r>
            </a:p>
          </p:txBody>
        </p:sp>
        <p:sp>
          <p:nvSpPr>
            <p:cNvPr id="59" name="TextBox 58"/>
            <p:cNvSpPr txBox="1"/>
            <p:nvPr/>
          </p:nvSpPr>
          <p:spPr>
            <a:xfrm>
              <a:off x="7278624" y="3597977"/>
              <a:ext cx="2985516" cy="248792"/>
            </a:xfrm>
            <a:prstGeom prst="rect">
              <a:avLst/>
            </a:prstGeom>
            <a:noFill/>
          </p:spPr>
          <p:txBody>
            <a:bodyPr wrap="square" lIns="0" rIns="0" tIns="0" bIns="0" anchor="ctr">
              <a:noAutofit/>
            </a:bodyPr>
            <a:lstStyle/>
            <a:p>
              <a:pPr algn="l"/>
              <a:r>
                <a:rPr sz="750" b="1" i="0">
                  <a:solidFill>
                    <a:srgbClr val="16130E"/>
                  </a:solidFill>
                  <a:latin typeface="Inter" panose="020B0502030000000004" pitchFamily="34" charset="0"/>
                </a:rPr>
                <a:t>Parcel &amp; Pine</a:t>
              </a:r>
            </a:p>
          </p:txBody>
        </p:sp>
        <p:sp>
          <p:nvSpPr>
            <p:cNvPr id="60" name="Rounded Rectangle 59"/>
            <p:cNvSpPr/>
            <p:nvPr/>
          </p:nvSpPr>
          <p:spPr>
            <a:xfrm>
              <a:off x="11910568" y="3644649"/>
              <a:ext cx="516128" cy="155448"/>
            </a:xfrm>
            <a:prstGeom prst="roundRect">
              <a:avLst>
                <a:gd name="adj" fmla="val 50000"/>
              </a:avLst>
            </a:prstGeom>
            <a:solidFill>
              <a:srgbClr val="E5F0E8"/>
            </a:solidFill>
            <a:ln>
              <a:noFill/>
            </a:ln>
          </p:spPr>
          <p:txBody>
            <a:bodyPr rtlCol="0" anchor="ctr"/>
            <a:lstStyle/>
            <a:p>
              <a:pPr algn="ctr"/>
            </a:p>
          </p:txBody>
        </p:sp>
        <p:sp>
          <p:nvSpPr>
            <p:cNvPr id="61" name="TextBox 60"/>
            <p:cNvSpPr txBox="1"/>
            <p:nvPr/>
          </p:nvSpPr>
          <p:spPr>
            <a:xfrm>
              <a:off x="11910568" y="3644649"/>
              <a:ext cx="516128" cy="155448"/>
            </a:xfrm>
            <a:prstGeom prst="rect">
              <a:avLst/>
            </a:prstGeom>
            <a:noFill/>
          </p:spPr>
          <p:txBody>
            <a:bodyPr wrap="square" lIns="0" rIns="0" tIns="0" bIns="0" anchor="ctr">
              <a:noAutofit/>
            </a:bodyPr>
            <a:lstStyle/>
            <a:p>
              <a:pPr algn="ctr"/>
              <a:r>
                <a:rPr sz="650" b="1" i="0">
                  <a:solidFill>
                    <a:srgbClr val="2D6A48"/>
                  </a:solidFill>
                  <a:latin typeface="Inter" panose="020B0502030000000004" pitchFamily="34" charset="0"/>
                </a:rPr>
                <a:t>Verified</a:t>
              </a:r>
            </a:p>
          </p:txBody>
        </p:sp>
        <p:sp>
          <p:nvSpPr>
            <p:cNvPr id="62" name="Rectangle 61"/>
            <p:cNvSpPr/>
            <p:nvPr/>
          </p:nvSpPr>
          <p:spPr>
            <a:xfrm>
              <a:off x="6912864" y="3846769"/>
              <a:ext cx="5605272" cy="5486"/>
            </a:xfrm>
            <a:prstGeom prst="rect">
              <a:avLst/>
            </a:prstGeom>
            <a:solidFill>
              <a:srgbClr val="E2D9C6"/>
            </a:solidFill>
            <a:ln>
              <a:noFill/>
            </a:ln>
          </p:spPr>
          <p:txBody>
            <a:bodyPr rtlCol="0" anchor="ctr"/>
            <a:lstStyle/>
            <a:p>
              <a:pPr algn="ctr"/>
            </a:p>
          </p:txBody>
        </p:sp>
        <p:sp>
          <p:nvSpPr>
            <p:cNvPr id="63" name="TextBox 62"/>
            <p:cNvSpPr txBox="1"/>
            <p:nvPr/>
          </p:nvSpPr>
          <p:spPr>
            <a:xfrm>
              <a:off x="6958584" y="3846769"/>
              <a:ext cx="365760" cy="248792"/>
            </a:xfrm>
            <a:prstGeom prst="rect">
              <a:avLst/>
            </a:prstGeom>
            <a:noFill/>
          </p:spPr>
          <p:txBody>
            <a:bodyPr wrap="square" lIns="0" rIns="0" tIns="0" bIns="0" anchor="ctr">
              <a:noAutofit/>
            </a:bodyPr>
            <a:lstStyle/>
            <a:p>
              <a:pPr algn="l"/>
              <a:r>
                <a:rPr sz="900" b="0" i="0">
                  <a:solidFill>
                    <a:srgbClr val="16130E"/>
                  </a:solidFill>
                  <a:latin typeface="Georgia" panose="02040502050405020303" pitchFamily="18" charset="0"/>
                </a:rPr>
                <a:t>3</a:t>
              </a:r>
            </a:p>
          </p:txBody>
        </p:sp>
        <p:sp>
          <p:nvSpPr>
            <p:cNvPr id="64" name="TextBox 63"/>
            <p:cNvSpPr txBox="1"/>
            <p:nvPr/>
          </p:nvSpPr>
          <p:spPr>
            <a:xfrm>
              <a:off x="7278624" y="3846769"/>
              <a:ext cx="2985516" cy="248792"/>
            </a:xfrm>
            <a:prstGeom prst="rect">
              <a:avLst/>
            </a:prstGeom>
            <a:noFill/>
          </p:spPr>
          <p:txBody>
            <a:bodyPr wrap="square" lIns="0" rIns="0" tIns="0" bIns="0" anchor="ctr">
              <a:noAutofit/>
            </a:bodyPr>
            <a:lstStyle/>
            <a:p>
              <a:pPr algn="l"/>
              <a:r>
                <a:rPr sz="750" b="1" i="0">
                  <a:solidFill>
                    <a:srgbClr val="16130E"/>
                  </a:solidFill>
                  <a:latin typeface="Inter" panose="020B0502030000000004" pitchFamily="34" charset="0"/>
                </a:rPr>
                <a:t>Northwind Electronics</a:t>
              </a:r>
            </a:p>
          </p:txBody>
        </p:sp>
        <p:sp>
          <p:nvSpPr>
            <p:cNvPr id="65" name="Rounded Rectangle 64"/>
            <p:cNvSpPr/>
            <p:nvPr/>
          </p:nvSpPr>
          <p:spPr>
            <a:xfrm>
              <a:off x="11910568" y="3893441"/>
              <a:ext cx="516128" cy="155448"/>
            </a:xfrm>
            <a:prstGeom prst="roundRect">
              <a:avLst>
                <a:gd name="adj" fmla="val 50000"/>
              </a:avLst>
            </a:prstGeom>
            <a:solidFill>
              <a:srgbClr val="E5F0E8"/>
            </a:solidFill>
            <a:ln>
              <a:noFill/>
            </a:ln>
          </p:spPr>
          <p:txBody>
            <a:bodyPr rtlCol="0" anchor="ctr"/>
            <a:lstStyle/>
            <a:p>
              <a:pPr algn="ctr"/>
            </a:p>
          </p:txBody>
        </p:sp>
        <p:sp>
          <p:nvSpPr>
            <p:cNvPr id="66" name="TextBox 65"/>
            <p:cNvSpPr txBox="1"/>
            <p:nvPr/>
          </p:nvSpPr>
          <p:spPr>
            <a:xfrm>
              <a:off x="11910568" y="3893441"/>
              <a:ext cx="516128" cy="155448"/>
            </a:xfrm>
            <a:prstGeom prst="rect">
              <a:avLst/>
            </a:prstGeom>
            <a:noFill/>
          </p:spPr>
          <p:txBody>
            <a:bodyPr wrap="square" lIns="0" rIns="0" tIns="0" bIns="0" anchor="ctr">
              <a:noAutofit/>
            </a:bodyPr>
            <a:lstStyle/>
            <a:p>
              <a:pPr algn="ctr"/>
              <a:r>
                <a:rPr sz="650" b="1" i="0">
                  <a:solidFill>
                    <a:srgbClr val="2D6A48"/>
                  </a:solidFill>
                  <a:latin typeface="Inter" panose="020B0502030000000004" pitchFamily="34" charset="0"/>
                </a:rPr>
                <a:t>Verified</a:t>
              </a:r>
            </a:p>
          </p:txBody>
        </p:sp>
        <p:sp>
          <p:nvSpPr>
            <p:cNvPr id="67" name="Rectangle 66"/>
            <p:cNvSpPr/>
            <p:nvPr/>
          </p:nvSpPr>
          <p:spPr>
            <a:xfrm>
              <a:off x="6912864" y="4095561"/>
              <a:ext cx="5605272" cy="5486"/>
            </a:xfrm>
            <a:prstGeom prst="rect">
              <a:avLst/>
            </a:prstGeom>
            <a:solidFill>
              <a:srgbClr val="E2D9C6"/>
            </a:solidFill>
            <a:ln>
              <a:noFill/>
            </a:ln>
          </p:spPr>
          <p:txBody>
            <a:bodyPr rtlCol="0" anchor="ctr"/>
            <a:lstStyle/>
            <a:p>
              <a:pPr algn="ctr"/>
            </a:p>
          </p:txBody>
        </p:sp>
        <p:sp>
          <p:nvSpPr>
            <p:cNvPr id="68" name="TextBox 67"/>
            <p:cNvSpPr txBox="1"/>
            <p:nvPr/>
          </p:nvSpPr>
          <p:spPr>
            <a:xfrm>
              <a:off x="6958584" y="4095561"/>
              <a:ext cx="365760" cy="248792"/>
            </a:xfrm>
            <a:prstGeom prst="rect">
              <a:avLst/>
            </a:prstGeom>
            <a:noFill/>
          </p:spPr>
          <p:txBody>
            <a:bodyPr wrap="square" lIns="0" rIns="0" tIns="0" bIns="0" anchor="ctr">
              <a:noAutofit/>
            </a:bodyPr>
            <a:lstStyle/>
            <a:p>
              <a:pPr algn="l"/>
              <a:r>
                <a:rPr sz="900" b="0" i="0">
                  <a:solidFill>
                    <a:srgbClr val="16130E"/>
                  </a:solidFill>
                  <a:latin typeface="Georgia" panose="02040502050405020303" pitchFamily="18" charset="0"/>
                </a:rPr>
                <a:t>5</a:t>
              </a:r>
            </a:p>
          </p:txBody>
        </p:sp>
        <p:sp>
          <p:nvSpPr>
            <p:cNvPr id="69" name="TextBox 68"/>
            <p:cNvSpPr txBox="1"/>
            <p:nvPr/>
          </p:nvSpPr>
          <p:spPr>
            <a:xfrm>
              <a:off x="7278624" y="4095561"/>
              <a:ext cx="2985516" cy="248792"/>
            </a:xfrm>
            <a:prstGeom prst="rect">
              <a:avLst/>
            </a:prstGeom>
            <a:noFill/>
          </p:spPr>
          <p:txBody>
            <a:bodyPr wrap="square" lIns="0" rIns="0" tIns="0" bIns="0" anchor="ctr">
              <a:noAutofit/>
            </a:bodyPr>
            <a:lstStyle/>
            <a:p>
              <a:pPr algn="l"/>
              <a:r>
                <a:rPr sz="750" b="1" i="0">
                  <a:solidFill>
                    <a:srgbClr val="16130E"/>
                  </a:solidFill>
                  <a:latin typeface="Inter" panose="020B0502030000000004" pitchFamily="34" charset="0"/>
                </a:rPr>
                <a:t>MegaMart Ads Co.</a:t>
              </a:r>
            </a:p>
          </p:txBody>
        </p:sp>
        <p:sp>
          <p:nvSpPr>
            <p:cNvPr id="70" name="Rounded Rectangle 69"/>
            <p:cNvSpPr/>
            <p:nvPr/>
          </p:nvSpPr>
          <p:spPr>
            <a:xfrm>
              <a:off x="11679428" y="4142233"/>
              <a:ext cx="747268" cy="155448"/>
            </a:xfrm>
            <a:prstGeom prst="roundRect">
              <a:avLst>
                <a:gd name="adj" fmla="val 50000"/>
              </a:avLst>
            </a:prstGeom>
            <a:solidFill>
              <a:srgbClr val="F6EBD6"/>
            </a:solidFill>
            <a:ln>
              <a:noFill/>
            </a:ln>
          </p:spPr>
          <p:txBody>
            <a:bodyPr rtlCol="0" anchor="ctr"/>
            <a:lstStyle/>
            <a:p>
              <a:pPr algn="ctr"/>
            </a:p>
          </p:txBody>
        </p:sp>
        <p:sp>
          <p:nvSpPr>
            <p:cNvPr id="71" name="TextBox 70"/>
            <p:cNvSpPr txBox="1"/>
            <p:nvPr/>
          </p:nvSpPr>
          <p:spPr>
            <a:xfrm>
              <a:off x="11679428" y="4142233"/>
              <a:ext cx="747268" cy="155448"/>
            </a:xfrm>
            <a:prstGeom prst="rect">
              <a:avLst/>
            </a:prstGeom>
            <a:noFill/>
          </p:spPr>
          <p:txBody>
            <a:bodyPr wrap="square" lIns="0" rIns="0" tIns="0" bIns="0" anchor="ctr">
              <a:noAutofit/>
            </a:bodyPr>
            <a:lstStyle/>
            <a:p>
              <a:pPr algn="ctr"/>
              <a:r>
                <a:rPr sz="650" b="1" i="0">
                  <a:solidFill>
                    <a:srgbClr val="94641F"/>
                  </a:solidFill>
                  <a:latin typeface="Inter" panose="020B0502030000000004" pitchFamily="34" charset="0"/>
                </a:rPr>
                <a:t>Bribe ignored</a:t>
              </a:r>
            </a:p>
          </p:txBody>
        </p:sp>
        <p:sp>
          <p:nvSpPr>
            <p:cNvPr id="72" name="Rectangle 71"/>
            <p:cNvSpPr/>
            <p:nvPr/>
          </p:nvSpPr>
          <p:spPr>
            <a:xfrm>
              <a:off x="6912864" y="4344353"/>
              <a:ext cx="5605272" cy="5486"/>
            </a:xfrm>
            <a:prstGeom prst="rect">
              <a:avLst/>
            </a:prstGeom>
            <a:solidFill>
              <a:srgbClr val="E2D9C6"/>
            </a:solidFill>
            <a:ln>
              <a:noFill/>
            </a:ln>
          </p:spPr>
          <p:txBody>
            <a:bodyPr rtlCol="0" anchor="ctr"/>
            <a:lstStyle/>
            <a:p>
              <a:pPr algn="ctr"/>
            </a:p>
          </p:txBody>
        </p:sp>
        <p:sp>
          <p:nvSpPr>
            <p:cNvPr id="73" name="TextBox 72"/>
            <p:cNvSpPr txBox="1"/>
            <p:nvPr/>
          </p:nvSpPr>
          <p:spPr>
            <a:xfrm>
              <a:off x="6958584" y="4344353"/>
              <a:ext cx="365760" cy="248792"/>
            </a:xfrm>
            <a:prstGeom prst="rect">
              <a:avLst/>
            </a:prstGeom>
            <a:noFill/>
          </p:spPr>
          <p:txBody>
            <a:bodyPr wrap="square" lIns="0" rIns="0" tIns="0" bIns="0" anchor="ctr">
              <a:noAutofit/>
            </a:bodyPr>
            <a:lstStyle/>
            <a:p>
              <a:pPr algn="l"/>
              <a:r>
                <a:rPr sz="900" b="0" i="0">
                  <a:solidFill>
                    <a:srgbClr val="16130E"/>
                  </a:solidFill>
                  <a:latin typeface="Georgia" panose="02040502050405020303" pitchFamily="18" charset="0"/>
                </a:rPr>
                <a:t>—</a:t>
              </a:r>
            </a:p>
          </p:txBody>
        </p:sp>
        <p:sp>
          <p:nvSpPr>
            <p:cNvPr id="74" name="TextBox 73"/>
            <p:cNvSpPr txBox="1"/>
            <p:nvPr/>
          </p:nvSpPr>
          <p:spPr>
            <a:xfrm>
              <a:off x="7278624" y="4344353"/>
              <a:ext cx="2985516" cy="248792"/>
            </a:xfrm>
            <a:prstGeom prst="rect">
              <a:avLst/>
            </a:prstGeom>
            <a:noFill/>
          </p:spPr>
          <p:txBody>
            <a:bodyPr wrap="square" lIns="0" rIns="0" tIns="0" bIns="0" anchor="ctr">
              <a:noAutofit/>
            </a:bodyPr>
            <a:lstStyle/>
            <a:p>
              <a:pPr algn="l"/>
              <a:r>
                <a:rPr sz="750" b="1" i="0">
                  <a:solidFill>
                    <a:srgbClr val="16130E"/>
                  </a:solidFill>
                  <a:latin typeface="Inter" panose="020B0502030000000004" pitchFamily="34" charset="0"/>
                </a:rPr>
                <a:t>DealDrop Direct</a:t>
              </a:r>
            </a:p>
          </p:txBody>
        </p:sp>
        <p:sp>
          <p:nvSpPr>
            <p:cNvPr id="75" name="Rounded Rectangle 74"/>
            <p:cNvSpPr/>
            <p:nvPr/>
          </p:nvSpPr>
          <p:spPr>
            <a:xfrm>
              <a:off x="11864340" y="4391025"/>
              <a:ext cx="562356" cy="155448"/>
            </a:xfrm>
            <a:prstGeom prst="roundRect">
              <a:avLst>
                <a:gd name="adj" fmla="val 50000"/>
              </a:avLst>
            </a:prstGeom>
            <a:solidFill>
              <a:srgbClr val="F6E3DF"/>
            </a:solidFill>
            <a:ln>
              <a:noFill/>
            </a:ln>
          </p:spPr>
          <p:txBody>
            <a:bodyPr rtlCol="0" anchor="ctr"/>
            <a:lstStyle/>
            <a:p>
              <a:pPr algn="ctr"/>
            </a:p>
          </p:txBody>
        </p:sp>
        <p:sp>
          <p:nvSpPr>
            <p:cNvPr id="76" name="TextBox 75"/>
            <p:cNvSpPr txBox="1"/>
            <p:nvPr/>
          </p:nvSpPr>
          <p:spPr>
            <a:xfrm>
              <a:off x="11864340" y="4391025"/>
              <a:ext cx="562356" cy="155448"/>
            </a:xfrm>
            <a:prstGeom prst="rect">
              <a:avLst/>
            </a:prstGeom>
            <a:noFill/>
          </p:spPr>
          <p:txBody>
            <a:bodyPr wrap="square" lIns="0" rIns="0" tIns="0" bIns="0" anchor="ctr">
              <a:noAutofit/>
            </a:bodyPr>
            <a:lstStyle/>
            <a:p>
              <a:pPr algn="ctr"/>
              <a:r>
                <a:rPr sz="650" b="1" i="0">
                  <a:solidFill>
                    <a:srgbClr val="8E2A22"/>
                  </a:solidFill>
                  <a:latin typeface="Inter" panose="020B0502030000000004" pitchFamily="34" charset="0"/>
                </a:rPr>
                <a:t>Withdrawn</a:t>
              </a:r>
            </a:p>
          </p:txBody>
        </p:sp>
        <p:sp>
          <p:nvSpPr>
            <p:cNvPr id="77" name="TextBox 76"/>
            <p:cNvSpPr txBox="1"/>
            <p:nvPr/>
          </p:nvSpPr>
          <p:spPr>
            <a:xfrm>
              <a:off x="6812280" y="4510850"/>
              <a:ext cx="5806440" cy="182880"/>
            </a:xfrm>
            <a:prstGeom prst="rect">
              <a:avLst/>
            </a:prstGeom>
            <a:noFill/>
          </p:spPr>
          <p:txBody>
            <a:bodyPr wrap="square" lIns="0" rIns="0" tIns="0" bIns="0" anchor="ctr">
              <a:noAutofit/>
            </a:bodyPr>
            <a:lstStyle/>
            <a:p>
              <a:pPr algn="r"/>
              <a:r>
                <a:rPr sz="700" b="0" i="0">
                  <a:solidFill>
                    <a:srgbClr val="9C937F"/>
                  </a:solidFill>
                  <a:latin typeface="JetBrains Mono" panose="02000009000000000000" pitchFamily="49" charset="0"/>
                </a:rPr>
                <a:t>Placeholder: screenshots/exchange-liar.png</a:t>
              </a:r>
            </a:p>
          </p:txBody>
        </p:sp>
      </p:grpSp>
      <p:grpSp>
        <p:nvGrpSpPr>
          <p:cNvPr id="78" name="Group 77"/>
          <p:cNvGrpSpPr/>
          <p:nvPr/>
        </p:nvGrpSpPr>
        <p:grpSpPr>
          <a:xfrm>
            <a:off x="6172200" y="4389120"/>
            <a:ext cx="4709160" cy="1353312"/>
            <a:chOff x="6172200" y="4389120"/>
            <a:chExt cx="4709160" cy="1353312"/>
          </a:xfrm>
        </p:grpSpPr>
        <p:sp>
          <p:nvSpPr>
            <p:cNvPr id="79" name="Rounded Rectangle 78"/>
            <p:cNvSpPr/>
            <p:nvPr/>
          </p:nvSpPr>
          <p:spPr>
            <a:xfrm>
              <a:off x="6172200" y="4389120"/>
              <a:ext cx="4709160" cy="1353312"/>
            </a:xfrm>
            <a:prstGeom prst="roundRect">
              <a:avLst>
                <a:gd name="adj" fmla="val 4054"/>
              </a:avLst>
            </a:prstGeom>
            <a:solidFill>
              <a:srgbClr val="FFFDF7"/>
            </a:solidFill>
            <a:ln w="9525">
              <a:solidFill>
                <a:srgbClr val="CFC3AA"/>
              </a:solidFill>
            </a:ln>
            <a:effectLst>
              <a:outerShdw blurRad="384048" dist="109728" dir="5400000" algn="t" rotWithShape="0">
                <a:srgbClr val="16130E">
                  <a:alpha val="12000"/>
                </a:srgbClr>
              </a:outerShdw>
            </a:effectLst>
          </p:spPr>
          <p:txBody>
            <a:bodyPr rtlCol="0" anchor="ctr"/>
            <a:lstStyle/>
            <a:p>
              <a:pPr algn="ctr"/>
            </a:p>
          </p:txBody>
        </p:sp>
        <p:sp>
          <p:nvSpPr>
            <p:cNvPr id="80" name="Rectangle 79"/>
            <p:cNvSpPr/>
            <p:nvPr/>
          </p:nvSpPr>
          <p:spPr>
            <a:xfrm>
              <a:off x="6172200" y="4389120"/>
              <a:ext cx="54864" cy="1353312"/>
            </a:xfrm>
            <a:prstGeom prst="rect">
              <a:avLst/>
            </a:prstGeom>
            <a:solidFill>
              <a:srgbClr val="8E2A22"/>
            </a:solidFill>
            <a:ln>
              <a:noFill/>
            </a:ln>
          </p:spPr>
          <p:txBody>
            <a:bodyPr rtlCol="0" anchor="ctr"/>
            <a:lstStyle/>
            <a:p>
              <a:pPr algn="ctr"/>
            </a:p>
          </p:txBody>
        </p:sp>
        <p:sp>
          <p:nvSpPr>
            <p:cNvPr id="81" name="TextBox 80"/>
            <p:cNvSpPr txBox="1"/>
            <p:nvPr/>
          </p:nvSpPr>
          <p:spPr>
            <a:xfrm>
              <a:off x="6400800" y="4507992"/>
              <a:ext cx="3291840" cy="292608"/>
            </a:xfrm>
            <a:prstGeom prst="rect">
              <a:avLst/>
            </a:prstGeom>
            <a:noFill/>
          </p:spPr>
          <p:txBody>
            <a:bodyPr wrap="square" lIns="0" rIns="0" tIns="0" bIns="0" anchor="ctr">
              <a:noAutofit/>
            </a:bodyPr>
            <a:lstStyle/>
            <a:p>
              <a:pPr algn="l"/>
              <a:r>
                <a:rPr sz="1500" b="0" i="0">
                  <a:solidFill>
                    <a:srgbClr val="16130E"/>
                  </a:solidFill>
                  <a:latin typeface="Georgia" panose="02040502050405020303" pitchFamily="18" charset="0"/>
                </a:rPr>
                <a:t>Bid withdrawn · DealDrop Direct</a:t>
              </a:r>
            </a:p>
          </p:txBody>
        </p:sp>
        <p:sp>
          <p:nvSpPr>
            <p:cNvPr id="82" name="TextBox 81"/>
            <p:cNvSpPr txBox="1"/>
            <p:nvPr/>
          </p:nvSpPr>
          <p:spPr>
            <a:xfrm>
              <a:off x="6400800" y="4828032"/>
              <a:ext cx="4297680" cy="438912"/>
            </a:xfrm>
            <a:prstGeom prst="rect">
              <a:avLst/>
            </a:prstGeom>
            <a:noFill/>
          </p:spPr>
          <p:txBody>
            <a:bodyPr wrap="square" lIns="0" rIns="0" tIns="0" bIns="0" anchor="t">
              <a:noAutofit/>
            </a:bodyPr>
            <a:lstStyle/>
            <a:p>
              <a:pPr algn="l">
                <a:lnSpc>
                  <a:spcPct val="105000"/>
                </a:lnSpc>
              </a:pPr>
              <a:r>
                <a:rPr sz="1050" b="0" i="0">
                  <a:solidFill>
                    <a:srgbClr val="6E6658"/>
                  </a:solidFill>
                  <a:latin typeface="Inter" panose="020B0502030000000004" pitchFamily="34" charset="0"/>
                </a:rPr>
                <a:t>Claimed $34.99 delivered · the checkout says $63.99 (+$29.00 “Service &amp; handling fee”)</a:t>
              </a:r>
            </a:p>
          </p:txBody>
        </p:sp>
        <p:sp>
          <p:nvSpPr>
            <p:cNvPr id="83" name="TextBox 82"/>
            <p:cNvSpPr txBox="1"/>
            <p:nvPr/>
          </p:nvSpPr>
          <p:spPr>
            <a:xfrm>
              <a:off x="6400800" y="5358384"/>
              <a:ext cx="4297680" cy="274320"/>
            </a:xfrm>
            <a:prstGeom prst="rect">
              <a:avLst/>
            </a:prstGeom>
            <a:noFill/>
          </p:spPr>
          <p:txBody>
            <a:bodyPr wrap="square" lIns="0" rIns="0" tIns="0" bIns="0" anchor="t">
              <a:noAutofit/>
            </a:bodyPr>
            <a:lstStyle/>
            <a:p>
              <a:pPr algn="l"/>
              <a:r>
                <a:rPr sz="850" b="0" i="0">
                  <a:solidFill>
                    <a:srgbClr val="9C937F"/>
                  </a:solidFill>
                  <a:latin typeface="Inter" panose="020B0502030000000004" pitchFamily="34" charset="0"/>
                </a:rPr>
                <a:t>Live run: a headless Claude Code agent over MCP saw this and bought the No. 1 verified offer.</a:t>
              </a:r>
            </a:p>
          </p:txBody>
        </p:sp>
        <p:sp>
          <p:nvSpPr>
            <p:cNvPr id="84" name="Rounded Rectangle 83"/>
            <p:cNvSpPr/>
            <p:nvPr/>
          </p:nvSpPr>
          <p:spPr>
            <a:xfrm rot="21420000">
              <a:off x="9692640" y="4507992"/>
              <a:ext cx="1024128" cy="274320"/>
            </a:xfrm>
            <a:prstGeom prst="roundRect">
              <a:avLst>
                <a:gd name="adj" fmla="val 13333"/>
              </a:avLst>
            </a:prstGeom>
            <a:solidFill>
              <a:srgbClr val="F6E3DF"/>
            </a:solidFill>
            <a:ln w="12700">
              <a:solidFill>
                <a:srgbClr val="8E2A22"/>
              </a:solidFill>
            </a:ln>
          </p:spPr>
          <p:txBody>
            <a:bodyPr rtlCol="0" anchor="ctr"/>
            <a:lstStyle/>
            <a:p>
              <a:pPr algn="ctr"/>
            </a:p>
          </p:txBody>
        </p:sp>
        <p:sp>
          <p:nvSpPr>
            <p:cNvPr id="85" name="TextBox 84"/>
            <p:cNvSpPr txBox="1"/>
            <p:nvPr/>
          </p:nvSpPr>
          <p:spPr>
            <a:xfrm rot="21420000">
              <a:off x="9692640" y="4507992"/>
              <a:ext cx="1024128" cy="274320"/>
            </a:xfrm>
            <a:prstGeom prst="rect">
              <a:avLst/>
            </a:prstGeom>
            <a:noFill/>
          </p:spPr>
          <p:txBody>
            <a:bodyPr wrap="square" lIns="0" rIns="0" tIns="0" bIns="0" anchor="ctr">
              <a:noAutofit/>
            </a:bodyPr>
            <a:lstStyle/>
            <a:p>
              <a:pPr algn="ctr"/>
              <a:r>
                <a:rPr sz="900" b="1" i="0" spc="100">
                  <a:solidFill>
                    <a:srgbClr val="8E2A22"/>
                  </a:solidFill>
                  <a:latin typeface="Inter" panose="020B0502030000000004" pitchFamily="34" charset="0"/>
                </a:rPr>
                <a:t>WITHDRAWN</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53" presetClass="entr" presetSubtype="16" fill="hold" grpId="0" nodeType="withEffect">
                                  <p:stCondLst>
                                    <p:cond delay="12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300"/>
                                        <p:tgtEl>
                                          <p:spTgt spid="6"/>
                                        </p:tgtEl>
                                      </p:cBhvr>
                                    </p:animEffect>
                                    <p:anim calcmode="lin" valueType="num">
                                      <p:cBhvr additive="base">
                                        <p:cTn id="11" dur="500" fill="hold" decel="100000"/>
                                        <p:tgtEl>
                                          <p:spTgt spid="6"/>
                                        </p:tgtEl>
                                        <p:attrNameLst>
                                          <p:attrName>ppt_w</p:attrName>
                                        </p:attrNameLst>
                                      </p:cBhvr>
                                      <p:tavLst>
                                        <p:tav tm="0">
                                          <p:val>
                                            <p:strVal val="#ppt_w*0.85"/>
                                          </p:val>
                                        </p:tav>
                                        <p:tav tm="100000">
                                          <p:val>
                                            <p:strVal val="#ppt_w"/>
                                          </p:val>
                                        </p:tav>
                                      </p:tavLst>
                                    </p:anim>
                                    <p:anim calcmode="lin" valueType="num">
                                      <p:cBhvr additive="base">
                                        <p:cTn id="12" dur="500" fill="hold" decel="100000"/>
                                        <p:tgtEl>
                                          <p:spTgt spid="6"/>
                                        </p:tgtEl>
                                        <p:attrNameLst>
                                          <p:attrName>ppt_h</p:attrName>
                                        </p:attrNameLst>
                                      </p:cBhvr>
                                      <p:tavLst>
                                        <p:tav tm="0">
                                          <p:val>
                                            <p:strVal val="#ppt_h*0.85"/>
                                          </p:val>
                                        </p:tav>
                                        <p:tav tm="100000">
                                          <p:val>
                                            <p:strVal val="#ppt_h"/>
                                          </p:val>
                                        </p:tav>
                                      </p:tavLst>
                                    </p:anim>
                                  </p:childTnLst>
                                </p:cTn>
                              </p:par>
                              <p:par>
                                <p:cTn id="13" presetID="42" presetClass="entr" presetSubtype="0" fill="hold" grpId="0" nodeType="withEffect">
                                  <p:stCondLst>
                                    <p:cond delay="20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650"/>
                                        <p:tgtEl>
                                          <p:spTgt spid="13"/>
                                        </p:tgtEl>
                                      </p:cBhvr>
                                    </p:animEffect>
                                    <p:anim calcmode="lin" valueType="num">
                                      <p:cBhvr additive="base">
                                        <p:cTn id="16" dur="650" fill="hold" decel="100000"/>
                                        <p:tgtEl>
                                          <p:spTgt spid="13"/>
                                        </p:tgtEl>
                                        <p:attrNameLst>
                                          <p:attrName>ppt_x</p:attrName>
                                        </p:attrNameLst>
                                      </p:cBhvr>
                                      <p:tavLst>
                                        <p:tav tm="0">
                                          <p:val>
                                            <p:strVal val="#ppt_x"/>
                                          </p:val>
                                        </p:tav>
                                        <p:tav tm="100000">
                                          <p:val>
                                            <p:strVal val="#ppt_x"/>
                                          </p:val>
                                        </p:tav>
                                      </p:tavLst>
                                    </p:anim>
                                    <p:anim calcmode="lin" valueType="num">
                                      <p:cBhvr additive="base">
                                        <p:cTn id="17" dur="650" fill="hold" decel="100000"/>
                                        <p:tgtEl>
                                          <p:spTgt spid="13"/>
                                        </p:tgtEl>
                                        <p:attrNameLst>
                                          <p:attrName>ppt_y</p:attrName>
                                        </p:attrNameLst>
                                      </p:cBhvr>
                                      <p:tavLst>
                                        <p:tav tm="0">
                                          <p:val>
                                            <p:strVal val="#ppt_y+0.025"/>
                                          </p:val>
                                        </p:tav>
                                        <p:tav tm="100000">
                                          <p:val>
                                            <p:strVal val="#ppt_y"/>
                                          </p:val>
                                        </p:tav>
                                      </p:tavLst>
                                    </p:anim>
                                  </p:childTnLst>
                                </p:cTn>
                              </p:par>
                              <p:par>
                                <p:cTn id="18" presetID="42" presetClass="entr" presetSubtype="0" fill="hold" grpId="0" nodeType="withEffect">
                                  <p:stCondLst>
                                    <p:cond delay="38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600"/>
                                        <p:tgtEl>
                                          <p:spTgt spid="14"/>
                                        </p:tgtEl>
                                      </p:cBhvr>
                                    </p:animEffect>
                                    <p:anim calcmode="lin" valueType="num">
                                      <p:cBhvr additive="base">
                                        <p:cTn id="21" dur="600" fill="hold" decel="100000"/>
                                        <p:tgtEl>
                                          <p:spTgt spid="14"/>
                                        </p:tgtEl>
                                        <p:attrNameLst>
                                          <p:attrName>ppt_x</p:attrName>
                                        </p:attrNameLst>
                                      </p:cBhvr>
                                      <p:tavLst>
                                        <p:tav tm="0">
                                          <p:val>
                                            <p:strVal val="#ppt_x"/>
                                          </p:val>
                                        </p:tav>
                                        <p:tav tm="100000">
                                          <p:val>
                                            <p:strVal val="#ppt_x"/>
                                          </p:val>
                                        </p:tav>
                                      </p:tavLst>
                                    </p:anim>
                                    <p:anim calcmode="lin" valueType="num">
                                      <p:cBhvr additive="base">
                                        <p:cTn id="22" dur="600" fill="hold" decel="100000"/>
                                        <p:tgtEl>
                                          <p:spTgt spid="14"/>
                                        </p:tgtEl>
                                        <p:attrNameLst>
                                          <p:attrName>ppt_y</p:attrName>
                                        </p:attrNameLst>
                                      </p:cBhvr>
                                      <p:tavLst>
                                        <p:tav tm="0">
                                          <p:val>
                                            <p:strVal val="#ppt_y+0.025"/>
                                          </p:val>
                                        </p:tav>
                                        <p:tav tm="100000">
                                          <p:val>
                                            <p:strVal val="#ppt_y"/>
                                          </p:val>
                                        </p:tav>
                                      </p:tavLst>
                                    </p:anim>
                                  </p:childTnLst>
                                </p:cTn>
                              </p:par>
                              <p:par>
                                <p:cTn id="23" presetID="42" presetClass="entr" presetSubtype="0" fill="hold" grpId="0" nodeType="withEffect">
                                  <p:stCondLst>
                                    <p:cond delay="56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600"/>
                                        <p:tgtEl>
                                          <p:spTgt spid="15"/>
                                        </p:tgtEl>
                                      </p:cBhvr>
                                    </p:animEffect>
                                    <p:anim calcmode="lin" valueType="num">
                                      <p:cBhvr additive="base">
                                        <p:cTn id="26" dur="600" fill="hold" decel="100000"/>
                                        <p:tgtEl>
                                          <p:spTgt spid="15"/>
                                        </p:tgtEl>
                                        <p:attrNameLst>
                                          <p:attrName>ppt_x</p:attrName>
                                        </p:attrNameLst>
                                      </p:cBhvr>
                                      <p:tavLst>
                                        <p:tav tm="0">
                                          <p:val>
                                            <p:strVal val="#ppt_x"/>
                                          </p:val>
                                        </p:tav>
                                        <p:tav tm="100000">
                                          <p:val>
                                            <p:strVal val="#ppt_x"/>
                                          </p:val>
                                        </p:tav>
                                      </p:tavLst>
                                    </p:anim>
                                    <p:anim calcmode="lin" valueType="num">
                                      <p:cBhvr additive="base">
                                        <p:cTn id="27" dur="600" fill="hold" decel="100000"/>
                                        <p:tgtEl>
                                          <p:spTgt spid="15"/>
                                        </p:tgtEl>
                                        <p:attrNameLst>
                                          <p:attrName>ppt_y</p:attrName>
                                        </p:attrNameLst>
                                      </p:cBhvr>
                                      <p:tavLst>
                                        <p:tav tm="0">
                                          <p:val>
                                            <p:strVal val="#ppt_y+0.025"/>
                                          </p:val>
                                        </p:tav>
                                        <p:tav tm="100000">
                                          <p:val>
                                            <p:strVal val="#ppt_y"/>
                                          </p:val>
                                        </p:tav>
                                      </p:tavLst>
                                    </p:anim>
                                  </p:childTnLst>
                                </p:cTn>
                              </p:par>
                              <p:par>
                                <p:cTn id="28" presetID="42" presetClass="entr" presetSubtype="0" fill="hold" grpId="0" nodeType="withEffect">
                                  <p:stCondLst>
                                    <p:cond delay="80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50"/>
                                        <p:tgtEl>
                                          <p:spTgt spid="16"/>
                                        </p:tgtEl>
                                      </p:cBhvr>
                                    </p:animEffect>
                                    <p:anim calcmode="lin" valueType="num">
                                      <p:cBhvr additive="base">
                                        <p:cTn id="31" dur="450" fill="hold" decel="100000"/>
                                        <p:tgtEl>
                                          <p:spTgt spid="16"/>
                                        </p:tgtEl>
                                        <p:attrNameLst>
                                          <p:attrName>ppt_x</p:attrName>
                                        </p:attrNameLst>
                                      </p:cBhvr>
                                      <p:tavLst>
                                        <p:tav tm="0">
                                          <p:val>
                                            <p:strVal val="#ppt_x"/>
                                          </p:val>
                                        </p:tav>
                                        <p:tav tm="100000">
                                          <p:val>
                                            <p:strVal val="#ppt_x"/>
                                          </p:val>
                                        </p:tav>
                                      </p:tavLst>
                                    </p:anim>
                                    <p:anim calcmode="lin" valueType="num">
                                      <p:cBhvr additive="base">
                                        <p:cTn id="32" dur="450" fill="hold" decel="100000"/>
                                        <p:tgtEl>
                                          <p:spTgt spid="16"/>
                                        </p:tgtEl>
                                        <p:attrNameLst>
                                          <p:attrName>ppt_y</p:attrName>
                                        </p:attrNameLst>
                                      </p:cBhvr>
                                      <p:tavLst>
                                        <p:tav tm="0">
                                          <p:val>
                                            <p:strVal val="#ppt_y+0.025"/>
                                          </p:val>
                                        </p:tav>
                                        <p:tav tm="100000">
                                          <p:val>
                                            <p:strVal val="#ppt_y"/>
                                          </p:val>
                                        </p:tav>
                                      </p:tavLst>
                                    </p:anim>
                                  </p:childTnLst>
                                </p:cTn>
                              </p:par>
                              <p:par>
                                <p:cTn id="33" presetID="42" presetClass="entr" presetSubtype="0" fill="hold" grpId="0" nodeType="withEffect">
                                  <p:stCondLst>
                                    <p:cond delay="89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anim calcmode="lin" valueType="num">
                                      <p:cBhvr additive="base">
                                        <p:cTn id="36" dur="450" fill="hold" decel="100000"/>
                                        <p:tgtEl>
                                          <p:spTgt spid="19"/>
                                        </p:tgtEl>
                                        <p:attrNameLst>
                                          <p:attrName>ppt_x</p:attrName>
                                        </p:attrNameLst>
                                      </p:cBhvr>
                                      <p:tavLst>
                                        <p:tav tm="0">
                                          <p:val>
                                            <p:strVal val="#ppt_x"/>
                                          </p:val>
                                        </p:tav>
                                        <p:tav tm="100000">
                                          <p:val>
                                            <p:strVal val="#ppt_x"/>
                                          </p:val>
                                        </p:tav>
                                      </p:tavLst>
                                    </p:anim>
                                    <p:anim calcmode="lin" valueType="num">
                                      <p:cBhvr additive="base">
                                        <p:cTn id="37" dur="450" fill="hold" decel="100000"/>
                                        <p:tgtEl>
                                          <p:spTgt spid="19"/>
                                        </p:tgtEl>
                                        <p:attrNameLst>
                                          <p:attrName>ppt_y</p:attrName>
                                        </p:attrNameLst>
                                      </p:cBhvr>
                                      <p:tavLst>
                                        <p:tav tm="0">
                                          <p:val>
                                            <p:strVal val="#ppt_y+0.025"/>
                                          </p:val>
                                        </p:tav>
                                        <p:tav tm="100000">
                                          <p:val>
                                            <p:strVal val="#ppt_y"/>
                                          </p:val>
                                        </p:tav>
                                      </p:tavLst>
                                    </p:anim>
                                  </p:childTnLst>
                                </p:cTn>
                              </p:par>
                              <p:par>
                                <p:cTn id="38" presetID="42" presetClass="entr" presetSubtype="0" fill="hold" grpId="0" nodeType="withEffect">
                                  <p:stCondLst>
                                    <p:cond delay="98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450"/>
                                        <p:tgtEl>
                                          <p:spTgt spid="22"/>
                                        </p:tgtEl>
                                      </p:cBhvr>
                                    </p:animEffect>
                                    <p:anim calcmode="lin" valueType="num">
                                      <p:cBhvr additive="base">
                                        <p:cTn id="41" dur="450" fill="hold" decel="100000"/>
                                        <p:tgtEl>
                                          <p:spTgt spid="22"/>
                                        </p:tgtEl>
                                        <p:attrNameLst>
                                          <p:attrName>ppt_x</p:attrName>
                                        </p:attrNameLst>
                                      </p:cBhvr>
                                      <p:tavLst>
                                        <p:tav tm="0">
                                          <p:val>
                                            <p:strVal val="#ppt_x"/>
                                          </p:val>
                                        </p:tav>
                                        <p:tav tm="100000">
                                          <p:val>
                                            <p:strVal val="#ppt_x"/>
                                          </p:val>
                                        </p:tav>
                                      </p:tavLst>
                                    </p:anim>
                                    <p:anim calcmode="lin" valueType="num">
                                      <p:cBhvr additive="base">
                                        <p:cTn id="42" dur="450" fill="hold" decel="100000"/>
                                        <p:tgtEl>
                                          <p:spTgt spid="22"/>
                                        </p:tgtEl>
                                        <p:attrNameLst>
                                          <p:attrName>ppt_y</p:attrName>
                                        </p:attrNameLst>
                                      </p:cBhvr>
                                      <p:tavLst>
                                        <p:tav tm="0">
                                          <p:val>
                                            <p:strVal val="#ppt_y+0.025"/>
                                          </p:val>
                                        </p:tav>
                                        <p:tav tm="100000">
                                          <p:val>
                                            <p:strVal val="#ppt_y"/>
                                          </p:val>
                                        </p:tav>
                                      </p:tavLst>
                                    </p:anim>
                                  </p:childTnLst>
                                </p:cTn>
                              </p:par>
                              <p:par>
                                <p:cTn id="43" presetID="42" presetClass="entr" presetSubtype="0" fill="hold" grpId="0" nodeType="withEffect">
                                  <p:stCondLst>
                                    <p:cond delay="107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450"/>
                                        <p:tgtEl>
                                          <p:spTgt spid="25"/>
                                        </p:tgtEl>
                                      </p:cBhvr>
                                    </p:animEffect>
                                    <p:anim calcmode="lin" valueType="num">
                                      <p:cBhvr additive="base">
                                        <p:cTn id="46" dur="450" fill="hold" decel="100000"/>
                                        <p:tgtEl>
                                          <p:spTgt spid="25"/>
                                        </p:tgtEl>
                                        <p:attrNameLst>
                                          <p:attrName>ppt_x</p:attrName>
                                        </p:attrNameLst>
                                      </p:cBhvr>
                                      <p:tavLst>
                                        <p:tav tm="0">
                                          <p:val>
                                            <p:strVal val="#ppt_x"/>
                                          </p:val>
                                        </p:tav>
                                        <p:tav tm="100000">
                                          <p:val>
                                            <p:strVal val="#ppt_x"/>
                                          </p:val>
                                        </p:tav>
                                      </p:tavLst>
                                    </p:anim>
                                    <p:anim calcmode="lin" valueType="num">
                                      <p:cBhvr additive="base">
                                        <p:cTn id="47" dur="450" fill="hold" decel="100000"/>
                                        <p:tgtEl>
                                          <p:spTgt spid="25"/>
                                        </p:tgtEl>
                                        <p:attrNameLst>
                                          <p:attrName>ppt_y</p:attrName>
                                        </p:attrNameLst>
                                      </p:cBhvr>
                                      <p:tavLst>
                                        <p:tav tm="0">
                                          <p:val>
                                            <p:strVal val="#ppt_y+0.025"/>
                                          </p:val>
                                        </p:tav>
                                        <p:tav tm="100000">
                                          <p:val>
                                            <p:strVal val="#ppt_y"/>
                                          </p:val>
                                        </p:tav>
                                      </p:tavLst>
                                    </p:anim>
                                  </p:childTnLst>
                                </p:cTn>
                              </p:par>
                              <p:par>
                                <p:cTn id="48" presetID="10" presetClass="entr" presetSubtype="0" fill="hold" grpId="0" nodeType="withEffect">
                                  <p:stCondLst>
                                    <p:cond delay="125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500"/>
                                        <p:tgtEl>
                                          <p:spTgt spid="28"/>
                                        </p:tgtEl>
                                      </p:cBhvr>
                                    </p:animEffect>
                                  </p:childTnLst>
                                </p:cTn>
                              </p:par>
                              <p:par>
                                <p:cTn id="51" presetID="42" presetClass="entr" presetSubtype="0" fill="hold" grpId="0" nodeType="withEffect">
                                  <p:stCondLst>
                                    <p:cond delay="42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800"/>
                                        <p:tgtEl>
                                          <p:spTgt spid="29"/>
                                        </p:tgtEl>
                                      </p:cBhvr>
                                    </p:animEffect>
                                    <p:anim calcmode="lin" valueType="num">
                                      <p:cBhvr additive="base">
                                        <p:cTn id="54" dur="800" fill="hold" decel="100000"/>
                                        <p:tgtEl>
                                          <p:spTgt spid="29"/>
                                        </p:tgtEl>
                                        <p:attrNameLst>
                                          <p:attrName>ppt_x</p:attrName>
                                        </p:attrNameLst>
                                      </p:cBhvr>
                                      <p:tavLst>
                                        <p:tav tm="0">
                                          <p:val>
                                            <p:strVal val="#ppt_x"/>
                                          </p:val>
                                        </p:tav>
                                        <p:tav tm="100000">
                                          <p:val>
                                            <p:strVal val="#ppt_x"/>
                                          </p:val>
                                        </p:tav>
                                      </p:tavLst>
                                    </p:anim>
                                    <p:anim calcmode="lin" valueType="num">
                                      <p:cBhvr additive="base">
                                        <p:cTn id="55" dur="800" fill="hold" decel="100000"/>
                                        <p:tgtEl>
                                          <p:spTgt spid="29"/>
                                        </p:tgtEl>
                                        <p:attrNameLst>
                                          <p:attrName>ppt_y</p:attrName>
                                        </p:attrNameLst>
                                      </p:cBhvr>
                                      <p:tavLst>
                                        <p:tav tm="0">
                                          <p:val>
                                            <p:strVal val="#ppt_y+0.025"/>
                                          </p:val>
                                        </p:tav>
                                        <p:tav tm="100000">
                                          <p:val>
                                            <p:strVal val="#ppt_y"/>
                                          </p:val>
                                        </p:tav>
                                      </p:tavLst>
                                    </p:anim>
                                  </p:childTnLst>
                                </p:cTn>
                              </p:par>
                              <p:par>
                                <p:cTn id="56" presetID="53" presetClass="entr" presetSubtype="16" fill="hold" grpId="0" nodeType="withEffect">
                                  <p:stCondLst>
                                    <p:cond delay="1500"/>
                                  </p:stCondLst>
                                  <p:childTnLst>
                                    <p:set>
                                      <p:cBhvr>
                                        <p:cTn id="57" dur="1" fill="hold">
                                          <p:stCondLst>
                                            <p:cond delay="0"/>
                                          </p:stCondLst>
                                        </p:cTn>
                                        <p:tgtEl>
                                          <p:spTgt spid="78"/>
                                        </p:tgtEl>
                                        <p:attrNameLst>
                                          <p:attrName>style.visibility</p:attrName>
                                        </p:attrNameLst>
                                      </p:cBhvr>
                                      <p:to>
                                        <p:strVal val="visible"/>
                                      </p:to>
                                    </p:set>
                                    <p:animEffect transition="in" filter="fade">
                                      <p:cBhvr>
                                        <p:cTn id="58" dur="210"/>
                                        <p:tgtEl>
                                          <p:spTgt spid="78"/>
                                        </p:tgtEl>
                                      </p:cBhvr>
                                    </p:animEffect>
                                    <p:anim calcmode="lin" valueType="num">
                                      <p:cBhvr additive="base">
                                        <p:cTn id="59" dur="350" fill="hold" decel="100000"/>
                                        <p:tgtEl>
                                          <p:spTgt spid="78"/>
                                        </p:tgtEl>
                                        <p:attrNameLst>
                                          <p:attrName>ppt_w</p:attrName>
                                        </p:attrNameLst>
                                      </p:cBhvr>
                                      <p:tavLst>
                                        <p:tav tm="0">
                                          <p:val>
                                            <p:strVal val="#ppt_w*1.35"/>
                                          </p:val>
                                        </p:tav>
                                        <p:tav tm="100000">
                                          <p:val>
                                            <p:strVal val="#ppt_w"/>
                                          </p:val>
                                        </p:tav>
                                      </p:tavLst>
                                    </p:anim>
                                    <p:anim calcmode="lin" valueType="num">
                                      <p:cBhvr additive="base">
                                        <p:cTn id="60" dur="350" fill="hold" decel="100000"/>
                                        <p:tgtEl>
                                          <p:spTgt spid="78"/>
                                        </p:tgtEl>
                                        <p:attrNameLst>
                                          <p:attrName>ppt_h</p:attrName>
                                        </p:attrNameLst>
                                      </p:cBhvr>
                                      <p:tavLst>
                                        <p:tav tm="0">
                                          <p:val>
                                            <p:strVal val="#ppt_h*1.35"/>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28"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grpSp>
        <p:nvGrpSpPr>
          <p:cNvPr id="2" name="Group 1"/>
          <p:cNvGrpSpPr/>
          <p:nvPr/>
        </p:nvGrpSpPr>
        <p:grpSpPr>
          <a:xfrm>
            <a:off x="685800" y="384048"/>
            <a:ext cx="292608" cy="292608"/>
            <a:chOff x="685800" y="384048"/>
            <a:chExt cx="292608" cy="292608"/>
          </a:xfrm>
        </p:grpSpPr>
        <p:sp>
          <p:nvSpPr>
            <p:cNvPr id="3" name="Oval 2"/>
            <p:cNvSpPr/>
            <p:nvPr/>
          </p:nvSpPr>
          <p:spPr>
            <a:xfrm>
              <a:off x="685800" y="384048"/>
              <a:ext cx="292608" cy="292608"/>
            </a:xfrm>
            <a:prstGeom prst="ellipse">
              <a:avLst/>
            </a:prstGeom>
            <a:solidFill>
              <a:srgbClr val="16130E"/>
            </a:solidFill>
            <a:ln>
              <a:noFill/>
            </a:ln>
          </p:spPr>
          <p:txBody>
            <a:bodyPr rtlCol="0" anchor="ctr"/>
            <a:lstStyle/>
            <a:p>
              <a:pPr algn="ctr"/>
            </a:p>
          </p:txBody>
        </p:sp>
        <p:sp>
          <p:nvSpPr>
            <p:cNvPr id="4" name="Freeform 3"/>
            <p:cNvSpPr/>
            <p:nvPr/>
          </p:nvSpPr>
          <p:spPr>
            <a:xfrm>
              <a:off x="772852" y="517188"/>
              <a:ext cx="72424" cy="72424"/>
            </a:xfrm>
            <a:custGeom>
              <a:avLst/>
              <a:gdLst/>
              <a:ahLst/>
              <a:cxnLst/>
              <a:rect l="l" t="t" r="r" b="b"/>
              <a:pathLst>
                <a:path w="11" h="11">
                  <a:moveTo>
                    <a:pt x="11" y="2"/>
                  </a:moveTo>
                  <a:lnTo>
                    <a:pt x="3" y="10"/>
                  </a:lnTo>
                  <a:lnTo>
                    <a:pt x="2" y="11"/>
                  </a:lnTo>
                  <a:lnTo>
                    <a:pt x="1" y="10"/>
                  </a:lnTo>
                  <a:lnTo>
                    <a:pt x="0" y="9"/>
                  </a:lnTo>
                  <a:lnTo>
                    <a:pt x="1" y="8"/>
                  </a:lnTo>
                  <a:lnTo>
                    <a:pt x="9" y="0"/>
                  </a:lnTo>
                </a:path>
              </a:pathLst>
            </a:custGeom>
            <a:noFill/>
            <a:ln w="13167" cap="rnd">
              <a:solidFill>
                <a:srgbClr val="F4EFE4"/>
              </a:solidFill>
              <a:round/>
            </a:ln>
          </p:spPr>
          <p:txBody>
            <a:bodyPr rtlCol="0" anchor="ctr"/>
            <a:lstStyle/>
            <a:p>
              <a:pPr algn="ctr"/>
            </a:p>
          </p:txBody>
        </p:sp>
        <p:sp>
          <p:nvSpPr>
            <p:cNvPr id="5" name="Freeform 4"/>
            <p:cNvSpPr/>
            <p:nvPr/>
          </p:nvSpPr>
          <p:spPr>
            <a:xfrm>
              <a:off x="858444" y="517188"/>
              <a:ext cx="39504" cy="39504"/>
            </a:xfrm>
            <a:custGeom>
              <a:avLst/>
              <a:gdLst/>
              <a:ahLst/>
              <a:cxnLst/>
              <a:rect l="l" t="t" r="r" b="b"/>
              <a:pathLst>
                <a:path w="6" h="6">
                  <a:moveTo>
                    <a:pt x="0" y="6"/>
                  </a:moveTo>
                  <a:lnTo>
                    <a:pt x="6" y="0"/>
                  </a:lnTo>
                </a:path>
              </a:pathLst>
            </a:custGeom>
            <a:noFill/>
            <a:ln w="13167" cap="rnd">
              <a:solidFill>
                <a:srgbClr val="F4EFE4"/>
              </a:solidFill>
              <a:round/>
            </a:ln>
          </p:spPr>
          <p:txBody>
            <a:bodyPr rtlCol="0" anchor="ctr"/>
            <a:lstStyle/>
            <a:p>
              <a:pPr algn="ctr"/>
            </a:p>
          </p:txBody>
        </p:sp>
        <p:sp>
          <p:nvSpPr>
            <p:cNvPr id="6" name="Freeform 5"/>
            <p:cNvSpPr/>
            <p:nvPr/>
          </p:nvSpPr>
          <p:spPr>
            <a:xfrm>
              <a:off x="805772" y="464516"/>
              <a:ext cx="39504" cy="39504"/>
            </a:xfrm>
            <a:custGeom>
              <a:avLst/>
              <a:gdLst/>
              <a:ahLst/>
              <a:cxnLst/>
              <a:rect l="l" t="t" r="r" b="b"/>
              <a:pathLst>
                <a:path w="6" h="6">
                  <a:moveTo>
                    <a:pt x="0" y="6"/>
                  </a:moveTo>
                  <a:lnTo>
                    <a:pt x="6" y="0"/>
                  </a:lnTo>
                </a:path>
              </a:pathLst>
            </a:custGeom>
            <a:noFill/>
            <a:ln w="13167" cap="rnd">
              <a:solidFill>
                <a:srgbClr val="F4EFE4"/>
              </a:solidFill>
              <a:round/>
            </a:ln>
          </p:spPr>
          <p:txBody>
            <a:bodyPr rtlCol="0" anchor="ctr"/>
            <a:lstStyle/>
            <a:p>
              <a:pPr algn="ctr"/>
            </a:p>
          </p:txBody>
        </p:sp>
        <p:sp>
          <p:nvSpPr>
            <p:cNvPr id="7" name="Freeform 6"/>
            <p:cNvSpPr/>
            <p:nvPr/>
          </p:nvSpPr>
          <p:spPr>
            <a:xfrm>
              <a:off x="812356" y="497436"/>
              <a:ext cx="52672" cy="52672"/>
            </a:xfrm>
            <a:custGeom>
              <a:avLst/>
              <a:gdLst/>
              <a:ahLst/>
              <a:cxnLst/>
              <a:rect l="l" t="t" r="r" b="b"/>
              <a:pathLst>
                <a:path w="8" h="8">
                  <a:moveTo>
                    <a:pt x="0" y="0"/>
                  </a:moveTo>
                  <a:lnTo>
                    <a:pt x="8" y="8"/>
                  </a:lnTo>
                </a:path>
              </a:pathLst>
            </a:custGeom>
            <a:noFill/>
            <a:ln w="13167" cap="rnd">
              <a:solidFill>
                <a:srgbClr val="F4EFE4"/>
              </a:solidFill>
              <a:round/>
            </a:ln>
          </p:spPr>
          <p:txBody>
            <a:bodyPr rtlCol="0" anchor="ctr"/>
            <a:lstStyle/>
            <a:p>
              <a:pPr algn="ctr"/>
            </a:p>
          </p:txBody>
        </p:sp>
        <p:sp>
          <p:nvSpPr>
            <p:cNvPr id="8" name="Freeform 7"/>
            <p:cNvSpPr/>
            <p:nvPr/>
          </p:nvSpPr>
          <p:spPr>
            <a:xfrm>
              <a:off x="838692" y="471100"/>
              <a:ext cx="52672" cy="52672"/>
            </a:xfrm>
            <a:custGeom>
              <a:avLst/>
              <a:gdLst/>
              <a:ahLst/>
              <a:cxnLst/>
              <a:rect l="l" t="t" r="r" b="b"/>
              <a:pathLst>
                <a:path w="8" h="8">
                  <a:moveTo>
                    <a:pt x="8" y="8"/>
                  </a:moveTo>
                  <a:lnTo>
                    <a:pt x="0" y="0"/>
                  </a:lnTo>
                </a:path>
              </a:pathLst>
            </a:custGeom>
            <a:noFill/>
            <a:ln w="13167" cap="rnd">
              <a:solidFill>
                <a:srgbClr val="F4EFE4"/>
              </a:solidFill>
              <a:round/>
            </a:ln>
          </p:spPr>
          <p:txBody>
            <a:bodyPr rtlCol="0" anchor="ctr"/>
            <a:lstStyle/>
            <a:p>
              <a:pPr algn="ctr"/>
            </a:p>
          </p:txBody>
        </p:sp>
      </p:grpSp>
      <p:sp>
        <p:nvSpPr>
          <p:cNvPr id="9" name="TextBox 8"/>
          <p:cNvSpPr txBox="1"/>
          <p:nvPr/>
        </p:nvSpPr>
        <p:spPr>
          <a:xfrm>
            <a:off x="1060704" y="347472"/>
            <a:ext cx="2286000" cy="365760"/>
          </a:xfrm>
          <a:prstGeom prst="rect">
            <a:avLst/>
          </a:prstGeom>
          <a:noFill/>
        </p:spPr>
        <p:txBody>
          <a:bodyPr wrap="square" lIns="0" rIns="0" tIns="0" bIns="0" anchor="ctr">
            <a:noAutofit/>
          </a:bodyPr>
          <a:lstStyle/>
          <a:p>
            <a:pPr algn="l"/>
            <a:r>
              <a:rPr sz="1700" b="0" i="0">
                <a:solidFill>
                  <a:srgbClr val="16130E"/>
                </a:solidFill>
                <a:latin typeface="Georgia" panose="02040502050405020303" pitchFamily="18" charset="0"/>
              </a:rPr>
              <a:t>Bidwire</a:t>
            </a:r>
          </a:p>
        </p:txBody>
      </p:sp>
      <p:sp>
        <p:nvSpPr>
          <p:cNvPr id="10" name="TextBox 9"/>
          <p:cNvSpPr txBox="1"/>
          <p:nvPr/>
        </p:nvSpPr>
        <p:spPr>
          <a:xfrm>
            <a:off x="6019495" y="420624"/>
            <a:ext cx="5486400" cy="219456"/>
          </a:xfrm>
          <a:prstGeom prst="rect">
            <a:avLst/>
          </a:prstGeom>
          <a:noFill/>
        </p:spPr>
        <p:txBody>
          <a:bodyPr wrap="square" lIns="0" rIns="0" tIns="0" bIns="0" anchor="ctr">
            <a:noAutofit/>
          </a:bodyPr>
          <a:lstStyle/>
          <a:p>
            <a:pPr algn="r"/>
            <a:r>
              <a:rPr sz="850" b="1" i="0" spc="110">
                <a:solidFill>
                  <a:srgbClr val="9C937F"/>
                </a:solidFill>
                <a:latin typeface="Inter" panose="020B0502030000000004" pitchFamily="34" charset="0"/>
              </a:rPr>
              <a:t>LOT 02  ·  THE PROBLEM</a:t>
            </a:r>
          </a:p>
        </p:txBody>
      </p:sp>
      <p:sp>
        <p:nvSpPr>
          <p:cNvPr id="11" name="Rectangle 10"/>
          <p:cNvSpPr/>
          <p:nvPr/>
        </p:nvSpPr>
        <p:spPr>
          <a:xfrm>
            <a:off x="685800" y="822960"/>
            <a:ext cx="10820095" cy="7315"/>
          </a:xfrm>
          <a:prstGeom prst="rect">
            <a:avLst/>
          </a:prstGeom>
          <a:solidFill>
            <a:srgbClr val="E2D9C6"/>
          </a:solidFill>
          <a:ln>
            <a:noFill/>
          </a:ln>
        </p:spPr>
        <p:txBody>
          <a:bodyPr rtlCol="0" anchor="ctr"/>
          <a:lstStyle/>
          <a:p>
            <a:pPr algn="ctr"/>
          </a:p>
        </p:txBody>
      </p:sp>
      <p:sp>
        <p:nvSpPr>
          <p:cNvPr id="12" name="TextBox 11"/>
          <p:cNvSpPr txBox="1"/>
          <p:nvPr/>
        </p:nvSpPr>
        <p:spPr>
          <a:xfrm>
            <a:off x="685800" y="6400800"/>
            <a:ext cx="6400800" cy="237744"/>
          </a:xfrm>
          <a:prstGeom prst="rect">
            <a:avLst/>
          </a:prstGeom>
          <a:noFill/>
        </p:spPr>
        <p:txBody>
          <a:bodyPr wrap="square" lIns="0" rIns="0" tIns="0" bIns="0" anchor="ctr">
            <a:noAutofit/>
          </a:bodyPr>
          <a:lstStyle/>
          <a:p>
            <a:pPr algn="l"/>
            <a:r>
              <a:rPr sz="850" b="0" i="0">
                <a:solidFill>
                  <a:srgbClr val="9C937F"/>
                </a:solidFill>
                <a:latin typeface="Inter" panose="020B0502030000000004" pitchFamily="34" charset="0"/>
              </a:rPr>
              <a:t>Bidwire · the auction house for AI agents · YC Make Something Agents Want · Oct 18, 2026</a:t>
            </a:r>
          </a:p>
        </p:txBody>
      </p:sp>
      <p:sp>
        <p:nvSpPr>
          <p:cNvPr id="13" name="TextBox 12"/>
          <p:cNvSpPr txBox="1"/>
          <p:nvPr/>
        </p:nvSpPr>
        <p:spPr>
          <a:xfrm>
            <a:off x="6933895" y="6400800"/>
            <a:ext cx="4572000" cy="237744"/>
          </a:xfrm>
          <a:prstGeom prst="rect">
            <a:avLst/>
          </a:prstGeom>
          <a:noFill/>
        </p:spPr>
        <p:txBody>
          <a:bodyPr wrap="square" lIns="0" rIns="0" tIns="0" bIns="0" anchor="ctr">
            <a:noAutofit/>
          </a:bodyPr>
          <a:lstStyle/>
          <a:p>
            <a:pPr algn="r"/>
            <a:r>
              <a:rPr sz="850" b="0" i="0">
                <a:solidFill>
                  <a:srgbClr val="9C937F"/>
                </a:solidFill>
                <a:latin typeface="Inter" panose="020B0502030000000004" pitchFamily="34" charset="0"/>
              </a:rPr>
              <a:t>github.com/vnmoorthy/bidwire</a:t>
            </a:r>
          </a:p>
        </p:txBody>
      </p:sp>
      <p:sp>
        <p:nvSpPr>
          <p:cNvPr id="14" name="Rectangle 13"/>
          <p:cNvSpPr/>
          <p:nvPr/>
        </p:nvSpPr>
        <p:spPr>
          <a:xfrm>
            <a:off x="0" y="6825996"/>
            <a:ext cx="12191695" cy="32004"/>
          </a:xfrm>
          <a:prstGeom prst="rect">
            <a:avLst/>
          </a:prstGeom>
          <a:solidFill>
            <a:srgbClr val="E2D9C6"/>
          </a:solidFill>
          <a:ln>
            <a:noFill/>
          </a:ln>
        </p:spPr>
        <p:txBody>
          <a:bodyPr rtlCol="0" anchor="ctr"/>
          <a:lstStyle/>
          <a:p>
            <a:pPr algn="ctr"/>
          </a:p>
        </p:txBody>
      </p:sp>
      <p:sp>
        <p:nvSpPr>
          <p:cNvPr id="15" name="Rectangle 14"/>
          <p:cNvSpPr/>
          <p:nvPr/>
        </p:nvSpPr>
        <p:spPr>
          <a:xfrm>
            <a:off x="0" y="6825996"/>
            <a:ext cx="2438339" cy="32004"/>
          </a:xfrm>
          <a:prstGeom prst="rect">
            <a:avLst/>
          </a:prstGeom>
          <a:solidFill>
            <a:srgbClr val="B0894F"/>
          </a:solidFill>
          <a:ln>
            <a:noFill/>
          </a:ln>
        </p:spPr>
        <p:txBody>
          <a:bodyPr rtlCol="0" anchor="ctr"/>
          <a:lstStyle/>
          <a:p>
            <a:pPr algn="ctr"/>
          </a:p>
        </p:txBody>
      </p:sp>
      <p:sp>
        <p:nvSpPr>
          <p:cNvPr id="16" name="TextBox 15"/>
          <p:cNvSpPr txBox="1"/>
          <p:nvPr/>
        </p:nvSpPr>
        <p:spPr>
          <a:xfrm>
            <a:off x="685800" y="987552"/>
            <a:ext cx="10835640" cy="960120"/>
          </a:xfrm>
          <a:prstGeom prst="rect">
            <a:avLst/>
          </a:prstGeom>
          <a:noFill/>
        </p:spPr>
        <p:txBody>
          <a:bodyPr wrap="square" lIns="0" rIns="0" tIns="0" bIns="0" anchor="t">
            <a:noAutofit/>
          </a:bodyPr>
          <a:lstStyle/>
          <a:p>
            <a:pPr algn="l">
              <a:lnSpc>
                <a:spcPct val="98000"/>
              </a:lnSpc>
            </a:pPr>
            <a:r>
              <a:rPr sz="3600" b="0" i="0" spc="-40">
                <a:solidFill>
                  <a:srgbClr val="16130E"/>
                </a:solidFill>
                <a:latin typeface="Georgia" panose="02040502050405020303" pitchFamily="18" charset="0"/>
              </a:rPr>
              <a:t>Agents can shop now. </a:t>
            </a:r>
            <a:r>
              <a:rPr sz="3600" b="0" i="1" spc="-40">
                <a:solidFill>
                  <a:srgbClr val="6E6658"/>
                </a:solidFill>
                <a:latin typeface="Georgia" panose="02040502050405020303" pitchFamily="18" charset="0"/>
              </a:rPr>
              <a:t>The web was built to manipulate humans.</a:t>
            </a:r>
          </a:p>
        </p:txBody>
      </p:sp>
      <p:sp>
        <p:nvSpPr>
          <p:cNvPr id="17" name="TextBox 16"/>
          <p:cNvSpPr txBox="1"/>
          <p:nvPr/>
        </p:nvSpPr>
        <p:spPr>
          <a:xfrm>
            <a:off x="685800" y="2157984"/>
            <a:ext cx="6400800" cy="219456"/>
          </a:xfrm>
          <a:prstGeom prst="rect">
            <a:avLst/>
          </a:prstGeom>
          <a:noFill/>
        </p:spPr>
        <p:txBody>
          <a:bodyPr wrap="square" lIns="0" rIns="0" tIns="0" bIns="0" anchor="ctr">
            <a:noAutofit/>
          </a:bodyPr>
          <a:lstStyle/>
          <a:p>
            <a:pPr algn="l"/>
            <a:r>
              <a:rPr sz="850" b="1" i="0" spc="110">
                <a:solidFill>
                  <a:srgbClr val="9C937F"/>
                </a:solidFill>
                <a:latin typeface="Inter" panose="020B0502030000000004" pitchFamily="34" charset="0"/>
              </a:rPr>
              <a:t>WHAT THE WEB DOES TO SHOPPERS</a:t>
            </a:r>
          </a:p>
        </p:txBody>
      </p:sp>
      <p:grpSp>
        <p:nvGrpSpPr>
          <p:cNvPr id="18" name="Group 17"/>
          <p:cNvGrpSpPr/>
          <p:nvPr/>
        </p:nvGrpSpPr>
        <p:grpSpPr>
          <a:xfrm>
            <a:off x="685800" y="2450592"/>
            <a:ext cx="3218688" cy="1499616"/>
            <a:chOff x="685800" y="2450592"/>
            <a:chExt cx="3218688" cy="1499616"/>
          </a:xfrm>
        </p:grpSpPr>
        <p:sp>
          <p:nvSpPr>
            <p:cNvPr id="19" name="Rounded Rectangle 18"/>
            <p:cNvSpPr/>
            <p:nvPr/>
          </p:nvSpPr>
          <p:spPr>
            <a:xfrm>
              <a:off x="685800" y="2450592"/>
              <a:ext cx="3218688" cy="1499616"/>
            </a:xfrm>
            <a:prstGeom prst="roundRect">
              <a:avLst>
                <a:gd name="adj" fmla="val 3658"/>
              </a:avLst>
            </a:prstGeom>
            <a:solidFill>
              <a:srgbClr val="FFFDF7"/>
            </a:solidFill>
            <a:ln w="9525">
              <a:solidFill>
                <a:srgbClr val="E2D9C6"/>
              </a:solidFill>
            </a:ln>
          </p:spPr>
          <p:txBody>
            <a:bodyPr rtlCol="0" anchor="ctr"/>
            <a:lstStyle/>
            <a:p>
              <a:pPr algn="ctr"/>
            </a:p>
          </p:txBody>
        </p:sp>
        <p:sp>
          <p:nvSpPr>
            <p:cNvPr id="20" name="Rounded Rectangle 19"/>
            <p:cNvSpPr/>
            <p:nvPr/>
          </p:nvSpPr>
          <p:spPr>
            <a:xfrm>
              <a:off x="914400" y="2670048"/>
              <a:ext cx="530352" cy="365760"/>
            </a:xfrm>
            <a:prstGeom prst="roundRect">
              <a:avLst>
                <a:gd name="adj" fmla="val 12500"/>
              </a:avLst>
            </a:prstGeom>
            <a:solidFill>
              <a:srgbClr val="F6E3DF"/>
            </a:solidFill>
            <a:ln>
              <a:noFill/>
            </a:ln>
          </p:spPr>
          <p:txBody>
            <a:bodyPr rtlCol="0" anchor="ctr"/>
            <a:lstStyle/>
            <a:p>
              <a:pPr algn="ctr"/>
            </a:p>
          </p:txBody>
        </p:sp>
        <p:sp>
          <p:nvSpPr>
            <p:cNvPr id="21" name="TextBox 20"/>
            <p:cNvSpPr txBox="1"/>
            <p:nvPr/>
          </p:nvSpPr>
          <p:spPr>
            <a:xfrm>
              <a:off x="914400" y="2670048"/>
              <a:ext cx="530352" cy="365760"/>
            </a:xfrm>
            <a:prstGeom prst="rect">
              <a:avLst/>
            </a:prstGeom>
            <a:noFill/>
          </p:spPr>
          <p:txBody>
            <a:bodyPr wrap="square" lIns="0" rIns="0" tIns="0" bIns="0" anchor="ctr">
              <a:noAutofit/>
            </a:bodyPr>
            <a:lstStyle/>
            <a:p>
              <a:pPr algn="ctr"/>
              <a:r>
                <a:rPr sz="1100" b="1" i="0">
                  <a:solidFill>
                    <a:srgbClr val="8E2A22"/>
                  </a:solidFill>
                  <a:latin typeface="Inter" panose="020B0502030000000004" pitchFamily="34" charset="0"/>
                </a:rPr>
                <a:t>Ad</a:t>
              </a:r>
            </a:p>
          </p:txBody>
        </p:sp>
        <p:sp>
          <p:nvSpPr>
            <p:cNvPr id="22" name="TextBox 21"/>
            <p:cNvSpPr txBox="1"/>
            <p:nvPr/>
          </p:nvSpPr>
          <p:spPr>
            <a:xfrm>
              <a:off x="914400" y="3163824"/>
              <a:ext cx="2834640" cy="329184"/>
            </a:xfrm>
            <a:prstGeom prst="rect">
              <a:avLst/>
            </a:prstGeom>
            <a:noFill/>
          </p:spPr>
          <p:txBody>
            <a:bodyPr wrap="square" lIns="0" rIns="0" tIns="0" bIns="0" anchor="ctr">
              <a:noAutofit/>
            </a:bodyPr>
            <a:lstStyle/>
            <a:p>
              <a:pPr algn="l"/>
              <a:r>
                <a:rPr sz="1700" b="0" i="0">
                  <a:solidFill>
                    <a:srgbClr val="16130E"/>
                  </a:solidFill>
                  <a:latin typeface="Georgia" panose="02040502050405020303" pitchFamily="18" charset="0"/>
                </a:rPr>
                <a:t>Sponsored slots &amp; SEO</a:t>
              </a:r>
            </a:p>
          </p:txBody>
        </p:sp>
        <p:sp>
          <p:nvSpPr>
            <p:cNvPr id="23" name="TextBox 22"/>
            <p:cNvSpPr txBox="1"/>
            <p:nvPr/>
          </p:nvSpPr>
          <p:spPr>
            <a:xfrm>
              <a:off x="914400" y="3502152"/>
              <a:ext cx="2834640" cy="411480"/>
            </a:xfrm>
            <a:prstGeom prst="rect">
              <a:avLst/>
            </a:prstGeom>
            <a:noFill/>
          </p:spPr>
          <p:txBody>
            <a:bodyPr wrap="square" lIns="0" rIns="0" tIns="0" bIns="0" anchor="t">
              <a:noAutofit/>
            </a:bodyPr>
            <a:lstStyle/>
            <a:p>
              <a:pPr algn="l">
                <a:lnSpc>
                  <a:spcPct val="105000"/>
                </a:lnSpc>
              </a:pPr>
              <a:r>
                <a:rPr sz="1150" b="0" i="0">
                  <a:solidFill>
                    <a:srgbClr val="6E6658"/>
                  </a:solidFill>
                  <a:latin typeface="Inter" panose="020B0502030000000004" pitchFamily="34" charset="0"/>
                </a:rPr>
                <a:t>Placement goes to whoever pays, or games, the most.</a:t>
              </a:r>
            </a:p>
          </p:txBody>
        </p:sp>
      </p:grpSp>
      <p:grpSp>
        <p:nvGrpSpPr>
          <p:cNvPr id="24" name="Group 23"/>
          <p:cNvGrpSpPr/>
          <p:nvPr/>
        </p:nvGrpSpPr>
        <p:grpSpPr>
          <a:xfrm>
            <a:off x="4087368" y="2450592"/>
            <a:ext cx="3218688" cy="1499616"/>
            <a:chOff x="4087368" y="2450592"/>
            <a:chExt cx="3218688" cy="1499616"/>
          </a:xfrm>
        </p:grpSpPr>
        <p:sp>
          <p:nvSpPr>
            <p:cNvPr id="25" name="Rounded Rectangle 24"/>
            <p:cNvSpPr/>
            <p:nvPr/>
          </p:nvSpPr>
          <p:spPr>
            <a:xfrm>
              <a:off x="4087368" y="2450592"/>
              <a:ext cx="3218688" cy="1499616"/>
            </a:xfrm>
            <a:prstGeom prst="roundRect">
              <a:avLst>
                <a:gd name="adj" fmla="val 3658"/>
              </a:avLst>
            </a:prstGeom>
            <a:solidFill>
              <a:srgbClr val="FFFDF7"/>
            </a:solidFill>
            <a:ln w="9525">
              <a:solidFill>
                <a:srgbClr val="E2D9C6"/>
              </a:solidFill>
            </a:ln>
          </p:spPr>
          <p:txBody>
            <a:bodyPr rtlCol="0" anchor="ctr"/>
            <a:lstStyle/>
            <a:p>
              <a:pPr algn="ctr"/>
            </a:p>
          </p:txBody>
        </p:sp>
        <p:sp>
          <p:nvSpPr>
            <p:cNvPr id="26" name="Rounded Rectangle 25"/>
            <p:cNvSpPr/>
            <p:nvPr/>
          </p:nvSpPr>
          <p:spPr>
            <a:xfrm>
              <a:off x="4315968" y="2670048"/>
              <a:ext cx="658368" cy="365760"/>
            </a:xfrm>
            <a:prstGeom prst="roundRect">
              <a:avLst>
                <a:gd name="adj" fmla="val 12500"/>
              </a:avLst>
            </a:prstGeom>
            <a:solidFill>
              <a:srgbClr val="F6E3DF"/>
            </a:solidFill>
            <a:ln>
              <a:noFill/>
            </a:ln>
          </p:spPr>
          <p:txBody>
            <a:bodyPr rtlCol="0" anchor="ctr"/>
            <a:lstStyle/>
            <a:p>
              <a:pPr algn="ctr"/>
            </a:p>
          </p:txBody>
        </p:sp>
        <p:sp>
          <p:nvSpPr>
            <p:cNvPr id="27" name="TextBox 26"/>
            <p:cNvSpPr txBox="1"/>
            <p:nvPr/>
          </p:nvSpPr>
          <p:spPr>
            <a:xfrm>
              <a:off x="4315968" y="2670048"/>
              <a:ext cx="658368" cy="365760"/>
            </a:xfrm>
            <a:prstGeom prst="rect">
              <a:avLst/>
            </a:prstGeom>
            <a:noFill/>
          </p:spPr>
          <p:txBody>
            <a:bodyPr wrap="square" lIns="0" rIns="0" tIns="0" bIns="0" anchor="ctr">
              <a:noAutofit/>
            </a:bodyPr>
            <a:lstStyle/>
            <a:p>
              <a:pPr algn="ctr"/>
              <a:r>
                <a:rPr sz="1100" b="1" i="0">
                  <a:solidFill>
                    <a:srgbClr val="8E2A22"/>
                  </a:solidFill>
                  <a:latin typeface="Inter" panose="020B0502030000000004" pitchFamily="34" charset="0"/>
                </a:rPr>
                <a:t>+$29</a:t>
              </a:r>
            </a:p>
          </p:txBody>
        </p:sp>
        <p:sp>
          <p:nvSpPr>
            <p:cNvPr id="28" name="TextBox 27"/>
            <p:cNvSpPr txBox="1"/>
            <p:nvPr/>
          </p:nvSpPr>
          <p:spPr>
            <a:xfrm>
              <a:off x="4315968" y="3163824"/>
              <a:ext cx="2834640" cy="329184"/>
            </a:xfrm>
            <a:prstGeom prst="rect">
              <a:avLst/>
            </a:prstGeom>
            <a:noFill/>
          </p:spPr>
          <p:txBody>
            <a:bodyPr wrap="square" lIns="0" rIns="0" tIns="0" bIns="0" anchor="ctr">
              <a:noAutofit/>
            </a:bodyPr>
            <a:lstStyle/>
            <a:p>
              <a:pPr algn="l"/>
              <a:r>
                <a:rPr sz="1700" b="0" i="0">
                  <a:solidFill>
                    <a:srgbClr val="16130E"/>
                  </a:solidFill>
                  <a:latin typeface="Georgia" panose="02040502050405020303" pitchFamily="18" charset="0"/>
                </a:rPr>
                <a:t>Drip pricing</a:t>
              </a:r>
            </a:p>
          </p:txBody>
        </p:sp>
        <p:sp>
          <p:nvSpPr>
            <p:cNvPr id="29" name="TextBox 28"/>
            <p:cNvSpPr txBox="1"/>
            <p:nvPr/>
          </p:nvSpPr>
          <p:spPr>
            <a:xfrm>
              <a:off x="4315968" y="3502152"/>
              <a:ext cx="2834640" cy="411480"/>
            </a:xfrm>
            <a:prstGeom prst="rect">
              <a:avLst/>
            </a:prstGeom>
            <a:noFill/>
          </p:spPr>
          <p:txBody>
            <a:bodyPr wrap="square" lIns="0" rIns="0" tIns="0" bIns="0" anchor="t">
              <a:noAutofit/>
            </a:bodyPr>
            <a:lstStyle/>
            <a:p>
              <a:pPr algn="l">
                <a:lnSpc>
                  <a:spcPct val="105000"/>
                </a:lnSpc>
              </a:pPr>
              <a:r>
                <a:rPr sz="1150" b="0" i="0">
                  <a:solidFill>
                    <a:srgbClr val="6E6658"/>
                  </a:solidFill>
                  <a:latin typeface="Inter" panose="020B0502030000000004" pitchFamily="34" charset="0"/>
                </a:rPr>
                <a:t>$34.99 on the page. $63.99 at checkout.</a:t>
              </a:r>
            </a:p>
          </p:txBody>
        </p:sp>
      </p:grpSp>
      <p:grpSp>
        <p:nvGrpSpPr>
          <p:cNvPr id="30" name="Group 29"/>
          <p:cNvGrpSpPr/>
          <p:nvPr/>
        </p:nvGrpSpPr>
        <p:grpSpPr>
          <a:xfrm>
            <a:off x="685800" y="4096512"/>
            <a:ext cx="3218688" cy="1499616"/>
            <a:chOff x="685800" y="4096512"/>
            <a:chExt cx="3218688" cy="1499616"/>
          </a:xfrm>
        </p:grpSpPr>
        <p:sp>
          <p:nvSpPr>
            <p:cNvPr id="31" name="Rounded Rectangle 30"/>
            <p:cNvSpPr/>
            <p:nvPr/>
          </p:nvSpPr>
          <p:spPr>
            <a:xfrm>
              <a:off x="685800" y="4096512"/>
              <a:ext cx="3218688" cy="1499616"/>
            </a:xfrm>
            <a:prstGeom prst="roundRect">
              <a:avLst>
                <a:gd name="adj" fmla="val 3658"/>
              </a:avLst>
            </a:prstGeom>
            <a:solidFill>
              <a:srgbClr val="FFFDF7"/>
            </a:solidFill>
            <a:ln w="9525">
              <a:solidFill>
                <a:srgbClr val="E2D9C6"/>
              </a:solidFill>
            </a:ln>
          </p:spPr>
          <p:txBody>
            <a:bodyPr rtlCol="0" anchor="ctr"/>
            <a:lstStyle/>
            <a:p>
              <a:pPr algn="ctr"/>
            </a:p>
          </p:txBody>
        </p:sp>
        <p:sp>
          <p:nvSpPr>
            <p:cNvPr id="32" name="Rounded Rectangle 31"/>
            <p:cNvSpPr/>
            <p:nvPr/>
          </p:nvSpPr>
          <p:spPr>
            <a:xfrm>
              <a:off x="914400" y="4315968"/>
              <a:ext cx="658368" cy="365760"/>
            </a:xfrm>
            <a:prstGeom prst="roundRect">
              <a:avLst>
                <a:gd name="adj" fmla="val 12500"/>
              </a:avLst>
            </a:prstGeom>
            <a:solidFill>
              <a:srgbClr val="F6E3DF"/>
            </a:solidFill>
            <a:ln>
              <a:noFill/>
            </a:ln>
          </p:spPr>
          <p:txBody>
            <a:bodyPr rtlCol="0" anchor="ctr"/>
            <a:lstStyle/>
            <a:p>
              <a:pPr algn="ctr"/>
            </a:p>
          </p:txBody>
        </p:sp>
        <p:sp>
          <p:nvSpPr>
            <p:cNvPr id="33" name="TextBox 32"/>
            <p:cNvSpPr txBox="1"/>
            <p:nvPr/>
          </p:nvSpPr>
          <p:spPr>
            <a:xfrm>
              <a:off x="914400" y="4315968"/>
              <a:ext cx="658368" cy="365760"/>
            </a:xfrm>
            <a:prstGeom prst="rect">
              <a:avLst/>
            </a:prstGeom>
            <a:noFill/>
          </p:spPr>
          <p:txBody>
            <a:bodyPr wrap="square" lIns="0" rIns="0" tIns="0" bIns="0" anchor="ctr">
              <a:noAutofit/>
            </a:bodyPr>
            <a:lstStyle/>
            <a:p>
              <a:pPr algn="ctr"/>
              <a:r>
                <a:rPr sz="1100" b="1" i="0">
                  <a:solidFill>
                    <a:srgbClr val="8E2A22"/>
                  </a:solidFill>
                  <a:latin typeface="Inter" panose="020B0502030000000004" pitchFamily="34" charset="0"/>
                </a:rPr>
                <a:t>ANC?</a:t>
              </a:r>
            </a:p>
          </p:txBody>
        </p:sp>
        <p:sp>
          <p:nvSpPr>
            <p:cNvPr id="34" name="TextBox 33"/>
            <p:cNvSpPr txBox="1"/>
            <p:nvPr/>
          </p:nvSpPr>
          <p:spPr>
            <a:xfrm>
              <a:off x="914400" y="4809744"/>
              <a:ext cx="2834640" cy="329184"/>
            </a:xfrm>
            <a:prstGeom prst="rect">
              <a:avLst/>
            </a:prstGeom>
            <a:noFill/>
          </p:spPr>
          <p:txBody>
            <a:bodyPr wrap="square" lIns="0" rIns="0" tIns="0" bIns="0" anchor="ctr">
              <a:noAutofit/>
            </a:bodyPr>
            <a:lstStyle/>
            <a:p>
              <a:pPr algn="l"/>
              <a:r>
                <a:rPr sz="1700" b="0" i="0">
                  <a:solidFill>
                    <a:srgbClr val="16130E"/>
                  </a:solidFill>
                  <a:latin typeface="Georgia" panose="02040502050405020303" pitchFamily="18" charset="0"/>
                </a:rPr>
                <a:t>Fake specs</a:t>
              </a:r>
            </a:p>
          </p:txBody>
        </p:sp>
        <p:sp>
          <p:nvSpPr>
            <p:cNvPr id="35" name="TextBox 34"/>
            <p:cNvSpPr txBox="1"/>
            <p:nvPr/>
          </p:nvSpPr>
          <p:spPr>
            <a:xfrm>
              <a:off x="914400" y="5148072"/>
              <a:ext cx="2834640" cy="411480"/>
            </a:xfrm>
            <a:prstGeom prst="rect">
              <a:avLst/>
            </a:prstGeom>
            <a:noFill/>
          </p:spPr>
          <p:txBody>
            <a:bodyPr wrap="square" lIns="0" rIns="0" tIns="0" bIns="0" anchor="t">
              <a:noAutofit/>
            </a:bodyPr>
            <a:lstStyle/>
            <a:p>
              <a:pPr algn="l">
                <a:lnSpc>
                  <a:spcPct val="105000"/>
                </a:lnSpc>
              </a:pPr>
              <a:r>
                <a:rPr sz="1150" b="0" i="0">
                  <a:solidFill>
                    <a:srgbClr val="6E6658"/>
                  </a:solidFill>
                  <a:latin typeface="Inter" panose="020B0502030000000004" pitchFamily="34" charset="0"/>
                </a:rPr>
                <a:t>“Noise cancelling” on headphones that don't have it.</a:t>
              </a:r>
            </a:p>
          </p:txBody>
        </p:sp>
      </p:grpSp>
      <p:grpSp>
        <p:nvGrpSpPr>
          <p:cNvPr id="36" name="Group 35"/>
          <p:cNvGrpSpPr/>
          <p:nvPr/>
        </p:nvGrpSpPr>
        <p:grpSpPr>
          <a:xfrm>
            <a:off x="4087368" y="4096512"/>
            <a:ext cx="3218688" cy="1499616"/>
            <a:chOff x="4087368" y="4096512"/>
            <a:chExt cx="3218688" cy="1499616"/>
          </a:xfrm>
        </p:grpSpPr>
        <p:sp>
          <p:nvSpPr>
            <p:cNvPr id="37" name="Rounded Rectangle 36"/>
            <p:cNvSpPr/>
            <p:nvPr/>
          </p:nvSpPr>
          <p:spPr>
            <a:xfrm>
              <a:off x="4087368" y="4096512"/>
              <a:ext cx="3218688" cy="1499616"/>
            </a:xfrm>
            <a:prstGeom prst="roundRect">
              <a:avLst>
                <a:gd name="adj" fmla="val 3658"/>
              </a:avLst>
            </a:prstGeom>
            <a:solidFill>
              <a:srgbClr val="FFFDF7"/>
            </a:solidFill>
            <a:ln w="9525">
              <a:solidFill>
                <a:srgbClr val="E2D9C6"/>
              </a:solidFill>
            </a:ln>
          </p:spPr>
          <p:txBody>
            <a:bodyPr rtlCol="0" anchor="ctr"/>
            <a:lstStyle/>
            <a:p>
              <a:pPr algn="ctr"/>
            </a:p>
          </p:txBody>
        </p:sp>
        <p:sp>
          <p:nvSpPr>
            <p:cNvPr id="38" name="Rounded Rectangle 37"/>
            <p:cNvSpPr/>
            <p:nvPr/>
          </p:nvSpPr>
          <p:spPr>
            <a:xfrm>
              <a:off x="4315968" y="4315968"/>
              <a:ext cx="658368" cy="365760"/>
            </a:xfrm>
            <a:prstGeom prst="roundRect">
              <a:avLst>
                <a:gd name="adj" fmla="val 12500"/>
              </a:avLst>
            </a:prstGeom>
            <a:solidFill>
              <a:srgbClr val="F6E3DF"/>
            </a:solidFill>
            <a:ln>
              <a:noFill/>
            </a:ln>
          </p:spPr>
          <p:txBody>
            <a:bodyPr rtlCol="0" anchor="ctr"/>
            <a:lstStyle/>
            <a:p>
              <a:pPr algn="ctr"/>
            </a:p>
          </p:txBody>
        </p:sp>
        <p:sp>
          <p:nvSpPr>
            <p:cNvPr id="39" name="TextBox 38"/>
            <p:cNvSpPr txBox="1"/>
            <p:nvPr/>
          </p:nvSpPr>
          <p:spPr>
            <a:xfrm>
              <a:off x="4315968" y="4315968"/>
              <a:ext cx="658368" cy="365760"/>
            </a:xfrm>
            <a:prstGeom prst="rect">
              <a:avLst/>
            </a:prstGeom>
            <a:noFill/>
          </p:spPr>
          <p:txBody>
            <a:bodyPr wrap="square" lIns="0" rIns="0" tIns="0" bIns="0" anchor="ctr">
              <a:noAutofit/>
            </a:bodyPr>
            <a:lstStyle/>
            <a:p>
              <a:pPr algn="ctr"/>
              <a:r>
                <a:rPr sz="1100" b="1" i="0">
                  <a:solidFill>
                    <a:srgbClr val="8E2A22"/>
                  </a:solidFill>
                  <a:latin typeface="Inter" panose="020B0502030000000004" pitchFamily="34" charset="0"/>
                </a:rPr>
                <a:t>SYS:</a:t>
              </a:r>
            </a:p>
          </p:txBody>
        </p:sp>
        <p:sp>
          <p:nvSpPr>
            <p:cNvPr id="40" name="TextBox 39"/>
            <p:cNvSpPr txBox="1"/>
            <p:nvPr/>
          </p:nvSpPr>
          <p:spPr>
            <a:xfrm>
              <a:off x="4315968" y="4809744"/>
              <a:ext cx="2834640" cy="329184"/>
            </a:xfrm>
            <a:prstGeom prst="rect">
              <a:avLst/>
            </a:prstGeom>
            <a:noFill/>
          </p:spPr>
          <p:txBody>
            <a:bodyPr wrap="square" lIns="0" rIns="0" tIns="0" bIns="0" anchor="ctr">
              <a:noAutofit/>
            </a:bodyPr>
            <a:lstStyle/>
            <a:p>
              <a:pPr algn="l"/>
              <a:r>
                <a:rPr sz="1700" b="0" i="0">
                  <a:solidFill>
                    <a:srgbClr val="16130E"/>
                  </a:solidFill>
                  <a:latin typeface="Georgia" panose="02040502050405020303" pitchFamily="18" charset="0"/>
                </a:rPr>
                <a:t>Prompt injection</a:t>
              </a:r>
            </a:p>
          </p:txBody>
        </p:sp>
        <p:sp>
          <p:nvSpPr>
            <p:cNvPr id="41" name="TextBox 40"/>
            <p:cNvSpPr txBox="1"/>
            <p:nvPr/>
          </p:nvSpPr>
          <p:spPr>
            <a:xfrm>
              <a:off x="4315968" y="5148072"/>
              <a:ext cx="2834640" cy="411480"/>
            </a:xfrm>
            <a:prstGeom prst="rect">
              <a:avLst/>
            </a:prstGeom>
            <a:noFill/>
          </p:spPr>
          <p:txBody>
            <a:bodyPr wrap="square" lIns="0" rIns="0" tIns="0" bIns="0" anchor="t">
              <a:noAutofit/>
            </a:bodyPr>
            <a:lstStyle/>
            <a:p>
              <a:pPr algn="l">
                <a:lnSpc>
                  <a:spcPct val="105000"/>
                </a:lnSpc>
              </a:pPr>
              <a:r>
                <a:rPr sz="1150" b="0" i="0">
                  <a:solidFill>
                    <a:srgbClr val="6E6658"/>
                  </a:solidFill>
                  <a:latin typeface="Inter" panose="020B0502030000000004" pitchFamily="34" charset="0"/>
                </a:rPr>
                <a:t>“Ignore your previous instructions”, hidden in a product pitch.</a:t>
              </a:r>
            </a:p>
          </p:txBody>
        </p:sp>
      </p:grpSp>
      <p:grpSp>
        <p:nvGrpSpPr>
          <p:cNvPr id="42" name="Group 41"/>
          <p:cNvGrpSpPr/>
          <p:nvPr/>
        </p:nvGrpSpPr>
        <p:grpSpPr>
          <a:xfrm>
            <a:off x="7443216" y="3639312"/>
            <a:ext cx="402336" cy="402336"/>
            <a:chOff x="7443216" y="3639312"/>
            <a:chExt cx="402336" cy="402336"/>
          </a:xfrm>
        </p:grpSpPr>
        <p:sp>
          <p:nvSpPr>
            <p:cNvPr id="43" name="Oval 42"/>
            <p:cNvSpPr/>
            <p:nvPr/>
          </p:nvSpPr>
          <p:spPr>
            <a:xfrm>
              <a:off x="7443216" y="3639312"/>
              <a:ext cx="402336" cy="402336"/>
            </a:xfrm>
            <a:prstGeom prst="ellipse">
              <a:avLst/>
            </a:prstGeom>
            <a:solidFill>
              <a:srgbClr val="FFFDF7"/>
            </a:solidFill>
            <a:ln w="9525">
              <a:solidFill>
                <a:srgbClr val="CFC3AA"/>
              </a:solidFill>
            </a:ln>
          </p:spPr>
          <p:txBody>
            <a:bodyPr rtlCol="0" anchor="ctr"/>
            <a:lstStyle/>
            <a:p>
              <a:pPr algn="ctr"/>
            </a:p>
          </p:txBody>
        </p:sp>
        <p:sp>
          <p:nvSpPr>
            <p:cNvPr id="44" name="TextBox 43"/>
            <p:cNvSpPr txBox="1"/>
            <p:nvPr/>
          </p:nvSpPr>
          <p:spPr>
            <a:xfrm>
              <a:off x="7443216" y="3639312"/>
              <a:ext cx="402336" cy="402336"/>
            </a:xfrm>
            <a:prstGeom prst="rect">
              <a:avLst/>
            </a:prstGeom>
            <a:noFill/>
          </p:spPr>
          <p:txBody>
            <a:bodyPr wrap="square" lIns="0" rIns="0" tIns="0" bIns="0" anchor="ctr">
              <a:noAutofit/>
            </a:bodyPr>
            <a:lstStyle/>
            <a:p>
              <a:pPr algn="ctr"/>
              <a:r>
                <a:rPr sz="1500" b="0" i="0">
                  <a:solidFill>
                    <a:srgbClr val="6E6658"/>
                  </a:solidFill>
                  <a:latin typeface="Inter" panose="020B0502030000000004" pitchFamily="34" charset="0"/>
                </a:rPr>
                <a:t>→</a:t>
              </a:r>
            </a:p>
          </p:txBody>
        </p:sp>
      </p:grpSp>
      <p:sp>
        <p:nvSpPr>
          <p:cNvPr id="45" name="TextBox 44"/>
          <p:cNvSpPr txBox="1"/>
          <p:nvPr/>
        </p:nvSpPr>
        <p:spPr>
          <a:xfrm>
            <a:off x="8092440" y="2157984"/>
            <a:ext cx="3474720" cy="219456"/>
          </a:xfrm>
          <a:prstGeom prst="rect">
            <a:avLst/>
          </a:prstGeom>
          <a:noFill/>
        </p:spPr>
        <p:txBody>
          <a:bodyPr wrap="square" lIns="0" rIns="0" tIns="0" bIns="0" anchor="ctr">
            <a:noAutofit/>
          </a:bodyPr>
          <a:lstStyle/>
          <a:p>
            <a:pPr algn="l"/>
            <a:r>
              <a:rPr sz="850" b="1" i="0" spc="110">
                <a:solidFill>
                  <a:srgbClr val="9C937F"/>
                </a:solidFill>
                <a:latin typeface="Inter" panose="020B0502030000000004" pitchFamily="34" charset="0"/>
              </a:rPr>
              <a:t>WHAT BREAKS</a:t>
            </a:r>
          </a:p>
        </p:txBody>
      </p:sp>
      <p:grpSp>
        <p:nvGrpSpPr>
          <p:cNvPr id="46" name="Group 45"/>
          <p:cNvGrpSpPr/>
          <p:nvPr/>
        </p:nvGrpSpPr>
        <p:grpSpPr>
          <a:xfrm>
            <a:off x="8092440" y="2450592"/>
            <a:ext cx="3410712" cy="1499616"/>
            <a:chOff x="8092440" y="2450592"/>
            <a:chExt cx="3410712" cy="1499616"/>
          </a:xfrm>
        </p:grpSpPr>
        <p:sp>
          <p:nvSpPr>
            <p:cNvPr id="47" name="Rounded Rectangle 46"/>
            <p:cNvSpPr/>
            <p:nvPr/>
          </p:nvSpPr>
          <p:spPr>
            <a:xfrm>
              <a:off x="8092440" y="2450592"/>
              <a:ext cx="3410712" cy="1499616"/>
            </a:xfrm>
            <a:prstGeom prst="roundRect">
              <a:avLst>
                <a:gd name="adj" fmla="val 3658"/>
              </a:avLst>
            </a:prstGeom>
            <a:solidFill>
              <a:srgbClr val="FFFDF7"/>
            </a:solidFill>
            <a:ln w="9525">
              <a:solidFill>
                <a:srgbClr val="E2D9C6"/>
              </a:solidFill>
            </a:ln>
          </p:spPr>
          <p:txBody>
            <a:bodyPr rtlCol="0" anchor="ctr"/>
            <a:lstStyle/>
            <a:p>
              <a:pPr algn="ctr"/>
            </a:p>
          </p:txBody>
        </p:sp>
        <p:sp>
          <p:nvSpPr>
            <p:cNvPr id="48" name="Rectangle 47"/>
            <p:cNvSpPr/>
            <p:nvPr/>
          </p:nvSpPr>
          <p:spPr>
            <a:xfrm>
              <a:off x="8092440" y="2450592"/>
              <a:ext cx="41148" cy="1499616"/>
            </a:xfrm>
            <a:prstGeom prst="rect">
              <a:avLst/>
            </a:prstGeom>
            <a:solidFill>
              <a:srgbClr val="233F6E"/>
            </a:solidFill>
            <a:ln>
              <a:noFill/>
            </a:ln>
          </p:spPr>
          <p:txBody>
            <a:bodyPr rtlCol="0" anchor="ctr"/>
            <a:lstStyle/>
            <a:p>
              <a:pPr algn="ctr"/>
            </a:p>
          </p:txBody>
        </p:sp>
        <p:sp>
          <p:nvSpPr>
            <p:cNvPr id="49" name="TextBox 48"/>
            <p:cNvSpPr txBox="1"/>
            <p:nvPr/>
          </p:nvSpPr>
          <p:spPr>
            <a:xfrm>
              <a:off x="8339328" y="2670048"/>
              <a:ext cx="3063240" cy="347472"/>
            </a:xfrm>
            <a:prstGeom prst="rect">
              <a:avLst/>
            </a:prstGeom>
            <a:noFill/>
          </p:spPr>
          <p:txBody>
            <a:bodyPr wrap="square" lIns="0" rIns="0" tIns="0" bIns="0" anchor="ctr">
              <a:noAutofit/>
            </a:bodyPr>
            <a:lstStyle/>
            <a:p>
              <a:pPr algn="l"/>
              <a:r>
                <a:rPr sz="1700" b="0" i="0">
                  <a:solidFill>
                    <a:srgbClr val="16130E"/>
                  </a:solidFill>
                  <a:latin typeface="Georgia" panose="02040502050405020303" pitchFamily="18" charset="0"/>
                </a:rPr>
                <a:t>Agents get gamed</a:t>
              </a:r>
            </a:p>
          </p:txBody>
        </p:sp>
        <p:sp>
          <p:nvSpPr>
            <p:cNvPr id="50" name="TextBox 49"/>
            <p:cNvSpPr txBox="1"/>
            <p:nvPr/>
          </p:nvSpPr>
          <p:spPr>
            <a:xfrm>
              <a:off x="8339328" y="3072384"/>
              <a:ext cx="3044952" cy="822960"/>
            </a:xfrm>
            <a:prstGeom prst="rect">
              <a:avLst/>
            </a:prstGeom>
            <a:noFill/>
          </p:spPr>
          <p:txBody>
            <a:bodyPr wrap="square" lIns="0" rIns="0" tIns="0" bIns="0" anchor="t">
              <a:noAutofit/>
            </a:bodyPr>
            <a:lstStyle/>
            <a:p>
              <a:pPr algn="l">
                <a:lnSpc>
                  <a:spcPct val="106000"/>
                </a:lnSpc>
              </a:pPr>
              <a:r>
                <a:rPr sz="1150" b="0" i="0">
                  <a:solidFill>
                    <a:srgbClr val="6E6658"/>
                  </a:solidFill>
                  <a:latin typeface="Inter" panose="020B0502030000000004" pitchFamily="34" charset="0"/>
                </a:rPr>
                <a:t>They read the same pages and trust the same claims. Nobody checks the checkout.</a:t>
              </a:r>
            </a:p>
          </p:txBody>
        </p:sp>
      </p:grpSp>
      <p:grpSp>
        <p:nvGrpSpPr>
          <p:cNvPr id="51" name="Group 50"/>
          <p:cNvGrpSpPr/>
          <p:nvPr/>
        </p:nvGrpSpPr>
        <p:grpSpPr>
          <a:xfrm>
            <a:off x="8092440" y="4096512"/>
            <a:ext cx="3410712" cy="1499616"/>
            <a:chOff x="8092440" y="4096512"/>
            <a:chExt cx="3410712" cy="1499616"/>
          </a:xfrm>
        </p:grpSpPr>
        <p:sp>
          <p:nvSpPr>
            <p:cNvPr id="52" name="Rounded Rectangle 51"/>
            <p:cNvSpPr/>
            <p:nvPr/>
          </p:nvSpPr>
          <p:spPr>
            <a:xfrm>
              <a:off x="8092440" y="4096512"/>
              <a:ext cx="3410712" cy="1499616"/>
            </a:xfrm>
            <a:prstGeom prst="roundRect">
              <a:avLst>
                <a:gd name="adj" fmla="val 3658"/>
              </a:avLst>
            </a:prstGeom>
            <a:solidFill>
              <a:srgbClr val="FFFDF7"/>
            </a:solidFill>
            <a:ln w="9525">
              <a:solidFill>
                <a:srgbClr val="E2D9C6"/>
              </a:solidFill>
            </a:ln>
          </p:spPr>
          <p:txBody>
            <a:bodyPr rtlCol="0" anchor="ctr"/>
            <a:lstStyle/>
            <a:p>
              <a:pPr algn="ctr"/>
            </a:p>
          </p:txBody>
        </p:sp>
        <p:sp>
          <p:nvSpPr>
            <p:cNvPr id="53" name="Rectangle 52"/>
            <p:cNvSpPr/>
            <p:nvPr/>
          </p:nvSpPr>
          <p:spPr>
            <a:xfrm>
              <a:off x="8092440" y="4096512"/>
              <a:ext cx="41148" cy="1499616"/>
            </a:xfrm>
            <a:prstGeom prst="rect">
              <a:avLst/>
            </a:prstGeom>
            <a:solidFill>
              <a:srgbClr val="94641F"/>
            </a:solidFill>
            <a:ln>
              <a:noFill/>
            </a:ln>
          </p:spPr>
          <p:txBody>
            <a:bodyPr rtlCol="0" anchor="ctr"/>
            <a:lstStyle/>
            <a:p>
              <a:pPr algn="ctr"/>
            </a:p>
          </p:txBody>
        </p:sp>
        <p:sp>
          <p:nvSpPr>
            <p:cNvPr id="54" name="TextBox 53"/>
            <p:cNvSpPr txBox="1"/>
            <p:nvPr/>
          </p:nvSpPr>
          <p:spPr>
            <a:xfrm>
              <a:off x="8339328" y="4315968"/>
              <a:ext cx="3063240" cy="347472"/>
            </a:xfrm>
            <a:prstGeom prst="rect">
              <a:avLst/>
            </a:prstGeom>
            <a:noFill/>
          </p:spPr>
          <p:txBody>
            <a:bodyPr wrap="square" lIns="0" rIns="0" tIns="0" bIns="0" anchor="ctr">
              <a:noAutofit/>
            </a:bodyPr>
            <a:lstStyle/>
            <a:p>
              <a:pPr algn="l"/>
              <a:r>
                <a:rPr sz="1700" b="0" i="0">
                  <a:solidFill>
                    <a:srgbClr val="16130E"/>
                  </a:solidFill>
                  <a:latin typeface="Georgia" panose="02040502050405020303" pitchFamily="18" charset="0"/>
                </a:rPr>
                <a:t>Merchants can't reach agents</a:t>
              </a:r>
            </a:p>
          </p:txBody>
        </p:sp>
        <p:sp>
          <p:nvSpPr>
            <p:cNvPr id="55" name="TextBox 54"/>
            <p:cNvSpPr txBox="1"/>
            <p:nvPr/>
          </p:nvSpPr>
          <p:spPr>
            <a:xfrm>
              <a:off x="8339328" y="4718304"/>
              <a:ext cx="3044952" cy="822960"/>
            </a:xfrm>
            <a:prstGeom prst="rect">
              <a:avLst/>
            </a:prstGeom>
            <a:noFill/>
          </p:spPr>
          <p:txBody>
            <a:bodyPr wrap="square" lIns="0" rIns="0" tIns="0" bIns="0" anchor="t">
              <a:noAutofit/>
            </a:bodyPr>
            <a:lstStyle/>
            <a:p>
              <a:pPr algn="l">
                <a:lnSpc>
                  <a:spcPct val="106000"/>
                </a:lnSpc>
              </a:pPr>
              <a:r>
                <a:rPr sz="1150" b="0" i="0">
                  <a:solidFill>
                    <a:srgbClr val="6E6658"/>
                  </a:solidFill>
                  <a:latin typeface="Inter" panose="020B0502030000000004" pitchFamily="34" charset="0"/>
                </a:rPr>
                <a:t>There's no ad slot inside a tool call. Banners and SEO never reach a shopping agent.</a:t>
              </a:r>
            </a:p>
          </p:txBody>
        </p:sp>
      </p:grpSp>
      <p:sp>
        <p:nvSpPr>
          <p:cNvPr id="56" name="TextBox 55"/>
          <p:cNvSpPr txBox="1"/>
          <p:nvPr/>
        </p:nvSpPr>
        <p:spPr>
          <a:xfrm>
            <a:off x="685800" y="5833872"/>
            <a:ext cx="10835640" cy="411480"/>
          </a:xfrm>
          <a:prstGeom prst="rect">
            <a:avLst/>
          </a:prstGeom>
          <a:noFill/>
        </p:spPr>
        <p:txBody>
          <a:bodyPr wrap="square" lIns="0" rIns="0" tIns="0" bIns="0" anchor="t">
            <a:noAutofit/>
          </a:bodyPr>
          <a:lstStyle/>
          <a:p>
            <a:pPr algn="l"/>
            <a:r>
              <a:rPr sz="1700" b="0" i="0">
                <a:solidFill>
                  <a:srgbClr val="6E6658"/>
                </a:solidFill>
                <a:latin typeface="Inter" panose="020B0502030000000004" pitchFamily="34" charset="0"/>
              </a:rPr>
              <a:t>Agents need offers they can </a:t>
            </a:r>
            <a:r>
              <a:rPr sz="1700" b="1" i="0">
                <a:solidFill>
                  <a:srgbClr val="16130E"/>
                </a:solidFill>
                <a:latin typeface="Inter" panose="020B0502030000000004" pitchFamily="34" charset="0"/>
              </a:rPr>
              <a:t>verify</a:t>
            </a:r>
            <a:r>
              <a:rPr sz="1700" b="0" i="0">
                <a:solidFill>
                  <a:srgbClr val="6E6658"/>
                </a:solidFill>
                <a:latin typeface="Inter" panose="020B0502030000000004" pitchFamily="34" charset="0"/>
              </a:rPr>
              <a:t>. Merchants need a way to </a:t>
            </a:r>
            <a:r>
              <a:rPr sz="1700" b="1" i="0">
                <a:solidFill>
                  <a:srgbClr val="16130E"/>
                </a:solidFill>
                <a:latin typeface="Inter" panose="020B0502030000000004" pitchFamily="34" charset="0"/>
              </a:rPr>
              <a:t>compete</a:t>
            </a:r>
            <a:r>
              <a:rPr sz="1700" b="0" i="0">
                <a:solidFill>
                  <a:srgbClr val="6E6658"/>
                </a:solidFill>
                <a:latin typeface="Inter" panose="020B0502030000000004" pitchFamily="34" charset="0"/>
              </a:rPr>
              <a:t> for an agent's purchase.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600"/>
                                        <p:tgtEl>
                                          <p:spTgt spid="15"/>
                                        </p:tgtEl>
                                      </p:cBhvr>
                                    </p:animEffect>
                                  </p:childTnLst>
                                </p:cTn>
                              </p:par>
                              <p:par>
                                <p:cTn id="8" presetID="42" presetClass="entr" presetSubtype="0" fill="hold" grpId="0" nodeType="withEffect">
                                  <p:stCondLst>
                                    <p:cond delay="6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600"/>
                                        <p:tgtEl>
                                          <p:spTgt spid="16"/>
                                        </p:tgtEl>
                                      </p:cBhvr>
                                    </p:animEffect>
                                    <p:anim calcmode="lin" valueType="num">
                                      <p:cBhvr additive="base">
                                        <p:cTn id="11" dur="600" fill="hold" decel="100000"/>
                                        <p:tgtEl>
                                          <p:spTgt spid="16"/>
                                        </p:tgtEl>
                                        <p:attrNameLst>
                                          <p:attrName>ppt_x</p:attrName>
                                        </p:attrNameLst>
                                      </p:cBhvr>
                                      <p:tavLst>
                                        <p:tav tm="0">
                                          <p:val>
                                            <p:strVal val="#ppt_x"/>
                                          </p:val>
                                        </p:tav>
                                        <p:tav tm="100000">
                                          <p:val>
                                            <p:strVal val="#ppt_x"/>
                                          </p:val>
                                        </p:tav>
                                      </p:tavLst>
                                    </p:anim>
                                    <p:anim calcmode="lin" valueType="num">
                                      <p:cBhvr additive="base">
                                        <p:cTn id="12" dur="600" fill="hold" decel="100000"/>
                                        <p:tgtEl>
                                          <p:spTgt spid="16"/>
                                        </p:tgtEl>
                                        <p:attrNameLst>
                                          <p:attrName>ppt_y</p:attrName>
                                        </p:attrNameLst>
                                      </p:cBhvr>
                                      <p:tavLst>
                                        <p:tav tm="0">
                                          <p:val>
                                            <p:strVal val="#ppt_y+0.025"/>
                                          </p:val>
                                        </p:tav>
                                        <p:tav tm="100000">
                                          <p:val>
                                            <p:strVal val="#ppt_y"/>
                                          </p:val>
                                        </p:tav>
                                      </p:tavLst>
                                    </p:anim>
                                  </p:childTnLst>
                                </p:cTn>
                              </p:par>
                              <p:par>
                                <p:cTn id="13" presetID="10" presetClass="entr" presetSubtype="0" fill="hold" grpId="0" nodeType="withEffect">
                                  <p:stCondLst>
                                    <p:cond delay="20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400"/>
                                        <p:tgtEl>
                                          <p:spTgt spid="17"/>
                                        </p:tgtEl>
                                      </p:cBhvr>
                                    </p:animEffect>
                                  </p:childTnLst>
                                </p:cTn>
                              </p:par>
                              <p:par>
                                <p:cTn id="16" presetID="42" presetClass="entr" presetSubtype="0" fill="hold" grpId="0" nodeType="withEffect">
                                  <p:stCondLst>
                                    <p:cond delay="30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anim calcmode="lin" valueType="num">
                                      <p:cBhvr additive="base">
                                        <p:cTn id="19" dur="500" fill="hold" decel="100000"/>
                                        <p:tgtEl>
                                          <p:spTgt spid="18"/>
                                        </p:tgtEl>
                                        <p:attrNameLst>
                                          <p:attrName>ppt_x</p:attrName>
                                        </p:attrNameLst>
                                      </p:cBhvr>
                                      <p:tavLst>
                                        <p:tav tm="0">
                                          <p:val>
                                            <p:strVal val="#ppt_x"/>
                                          </p:val>
                                        </p:tav>
                                        <p:tav tm="100000">
                                          <p:val>
                                            <p:strVal val="#ppt_x"/>
                                          </p:val>
                                        </p:tav>
                                      </p:tavLst>
                                    </p:anim>
                                    <p:anim calcmode="lin" valueType="num">
                                      <p:cBhvr additive="base">
                                        <p:cTn id="20" dur="500" fill="hold" decel="100000"/>
                                        <p:tgtEl>
                                          <p:spTgt spid="18"/>
                                        </p:tgtEl>
                                        <p:attrNameLst>
                                          <p:attrName>ppt_y</p:attrName>
                                        </p:attrNameLst>
                                      </p:cBhvr>
                                      <p:tavLst>
                                        <p:tav tm="0">
                                          <p:val>
                                            <p:strVal val="#ppt_y+0.025"/>
                                          </p:val>
                                        </p:tav>
                                        <p:tav tm="100000">
                                          <p:val>
                                            <p:strVal val="#ppt_y"/>
                                          </p:val>
                                        </p:tav>
                                      </p:tavLst>
                                    </p:anim>
                                  </p:childTnLst>
                                </p:cTn>
                              </p:par>
                              <p:par>
                                <p:cTn id="21" presetID="42" presetClass="entr" presetSubtype="0" fill="hold" grpId="0" nodeType="withEffect">
                                  <p:stCondLst>
                                    <p:cond delay="40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500"/>
                                        <p:tgtEl>
                                          <p:spTgt spid="24"/>
                                        </p:tgtEl>
                                      </p:cBhvr>
                                    </p:animEffect>
                                    <p:anim calcmode="lin" valueType="num">
                                      <p:cBhvr additive="base">
                                        <p:cTn id="24" dur="500" fill="hold" decel="100000"/>
                                        <p:tgtEl>
                                          <p:spTgt spid="24"/>
                                        </p:tgtEl>
                                        <p:attrNameLst>
                                          <p:attrName>ppt_x</p:attrName>
                                        </p:attrNameLst>
                                      </p:cBhvr>
                                      <p:tavLst>
                                        <p:tav tm="0">
                                          <p:val>
                                            <p:strVal val="#ppt_x"/>
                                          </p:val>
                                        </p:tav>
                                        <p:tav tm="100000">
                                          <p:val>
                                            <p:strVal val="#ppt_x"/>
                                          </p:val>
                                        </p:tav>
                                      </p:tavLst>
                                    </p:anim>
                                    <p:anim calcmode="lin" valueType="num">
                                      <p:cBhvr additive="base">
                                        <p:cTn id="25" dur="500" fill="hold" decel="100000"/>
                                        <p:tgtEl>
                                          <p:spTgt spid="24"/>
                                        </p:tgtEl>
                                        <p:attrNameLst>
                                          <p:attrName>ppt_y</p:attrName>
                                        </p:attrNameLst>
                                      </p:cBhvr>
                                      <p:tavLst>
                                        <p:tav tm="0">
                                          <p:val>
                                            <p:strVal val="#ppt_y+0.025"/>
                                          </p:val>
                                        </p:tav>
                                        <p:tav tm="100000">
                                          <p:val>
                                            <p:strVal val="#ppt_y"/>
                                          </p:val>
                                        </p:tav>
                                      </p:tavLst>
                                    </p:anim>
                                  </p:childTnLst>
                                </p:cTn>
                              </p:par>
                              <p:par>
                                <p:cTn id="26" presetID="42" presetClass="entr" presetSubtype="0" fill="hold" grpId="0" nodeType="withEffect">
                                  <p:stCondLst>
                                    <p:cond delay="50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500"/>
                                        <p:tgtEl>
                                          <p:spTgt spid="30"/>
                                        </p:tgtEl>
                                      </p:cBhvr>
                                    </p:animEffect>
                                    <p:anim calcmode="lin" valueType="num">
                                      <p:cBhvr additive="base">
                                        <p:cTn id="29" dur="500" fill="hold" decel="100000"/>
                                        <p:tgtEl>
                                          <p:spTgt spid="30"/>
                                        </p:tgtEl>
                                        <p:attrNameLst>
                                          <p:attrName>ppt_x</p:attrName>
                                        </p:attrNameLst>
                                      </p:cBhvr>
                                      <p:tavLst>
                                        <p:tav tm="0">
                                          <p:val>
                                            <p:strVal val="#ppt_x"/>
                                          </p:val>
                                        </p:tav>
                                        <p:tav tm="100000">
                                          <p:val>
                                            <p:strVal val="#ppt_x"/>
                                          </p:val>
                                        </p:tav>
                                      </p:tavLst>
                                    </p:anim>
                                    <p:anim calcmode="lin" valueType="num">
                                      <p:cBhvr additive="base">
                                        <p:cTn id="30" dur="500" fill="hold" decel="100000"/>
                                        <p:tgtEl>
                                          <p:spTgt spid="30"/>
                                        </p:tgtEl>
                                        <p:attrNameLst>
                                          <p:attrName>ppt_y</p:attrName>
                                        </p:attrNameLst>
                                      </p:cBhvr>
                                      <p:tavLst>
                                        <p:tav tm="0">
                                          <p:val>
                                            <p:strVal val="#ppt_y+0.025"/>
                                          </p:val>
                                        </p:tav>
                                        <p:tav tm="100000">
                                          <p:val>
                                            <p:strVal val="#ppt_y"/>
                                          </p:val>
                                        </p:tav>
                                      </p:tavLst>
                                    </p:anim>
                                  </p:childTnLst>
                                </p:cTn>
                              </p:par>
                              <p:par>
                                <p:cTn id="31" presetID="42" presetClass="entr" presetSubtype="0" fill="hold" grpId="0" nodeType="withEffect">
                                  <p:stCondLst>
                                    <p:cond delay="600"/>
                                  </p:stCondLst>
                                  <p:childTnLst>
                                    <p:set>
                                      <p:cBhvr>
                                        <p:cTn id="32" dur="1" fill="hold">
                                          <p:stCondLst>
                                            <p:cond delay="0"/>
                                          </p:stCondLst>
                                        </p:cTn>
                                        <p:tgtEl>
                                          <p:spTgt spid="36"/>
                                        </p:tgtEl>
                                        <p:attrNameLst>
                                          <p:attrName>style.visibility</p:attrName>
                                        </p:attrNameLst>
                                      </p:cBhvr>
                                      <p:to>
                                        <p:strVal val="visible"/>
                                      </p:to>
                                    </p:set>
                                    <p:animEffect transition="in" filter="fade">
                                      <p:cBhvr>
                                        <p:cTn id="33" dur="500"/>
                                        <p:tgtEl>
                                          <p:spTgt spid="36"/>
                                        </p:tgtEl>
                                      </p:cBhvr>
                                    </p:animEffect>
                                    <p:anim calcmode="lin" valueType="num">
                                      <p:cBhvr additive="base">
                                        <p:cTn id="34" dur="500" fill="hold" decel="100000"/>
                                        <p:tgtEl>
                                          <p:spTgt spid="36"/>
                                        </p:tgtEl>
                                        <p:attrNameLst>
                                          <p:attrName>ppt_x</p:attrName>
                                        </p:attrNameLst>
                                      </p:cBhvr>
                                      <p:tavLst>
                                        <p:tav tm="0">
                                          <p:val>
                                            <p:strVal val="#ppt_x"/>
                                          </p:val>
                                        </p:tav>
                                        <p:tav tm="100000">
                                          <p:val>
                                            <p:strVal val="#ppt_x"/>
                                          </p:val>
                                        </p:tav>
                                      </p:tavLst>
                                    </p:anim>
                                    <p:anim calcmode="lin" valueType="num">
                                      <p:cBhvr additive="base">
                                        <p:cTn id="35" dur="500" fill="hold" decel="100000"/>
                                        <p:tgtEl>
                                          <p:spTgt spid="36"/>
                                        </p:tgtEl>
                                        <p:attrNameLst>
                                          <p:attrName>ppt_y</p:attrName>
                                        </p:attrNameLst>
                                      </p:cBhvr>
                                      <p:tavLst>
                                        <p:tav tm="0">
                                          <p:val>
                                            <p:strVal val="#ppt_y+0.025"/>
                                          </p:val>
                                        </p:tav>
                                        <p:tav tm="100000">
                                          <p:val>
                                            <p:strVal val="#ppt_y"/>
                                          </p:val>
                                        </p:tav>
                                      </p:tavLst>
                                    </p:anim>
                                  </p:childTnLst>
                                </p:cTn>
                              </p:par>
                              <p:par>
                                <p:cTn id="36" presetID="53" presetClass="entr" presetSubtype="16" fill="hold" grpId="0" nodeType="withEffect">
                                  <p:stCondLst>
                                    <p:cond delay="800"/>
                                  </p:stCondLst>
                                  <p:childTnLst>
                                    <p:set>
                                      <p:cBhvr>
                                        <p:cTn id="37" dur="1" fill="hold">
                                          <p:stCondLst>
                                            <p:cond delay="0"/>
                                          </p:stCondLst>
                                        </p:cTn>
                                        <p:tgtEl>
                                          <p:spTgt spid="42"/>
                                        </p:tgtEl>
                                        <p:attrNameLst>
                                          <p:attrName>style.visibility</p:attrName>
                                        </p:attrNameLst>
                                      </p:cBhvr>
                                      <p:to>
                                        <p:strVal val="visible"/>
                                      </p:to>
                                    </p:set>
                                    <p:animEffect transition="in" filter="fade">
                                      <p:cBhvr>
                                        <p:cTn id="38" dur="210"/>
                                        <p:tgtEl>
                                          <p:spTgt spid="42"/>
                                        </p:tgtEl>
                                      </p:cBhvr>
                                    </p:animEffect>
                                    <p:anim calcmode="lin" valueType="num">
                                      <p:cBhvr additive="base">
                                        <p:cTn id="39" dur="350" fill="hold" decel="100000"/>
                                        <p:tgtEl>
                                          <p:spTgt spid="42"/>
                                        </p:tgtEl>
                                        <p:attrNameLst>
                                          <p:attrName>ppt_w</p:attrName>
                                        </p:attrNameLst>
                                      </p:cBhvr>
                                      <p:tavLst>
                                        <p:tav tm="0">
                                          <p:val>
                                            <p:strVal val="#ppt_w*0.85"/>
                                          </p:val>
                                        </p:tav>
                                        <p:tav tm="100000">
                                          <p:val>
                                            <p:strVal val="#ppt_w"/>
                                          </p:val>
                                        </p:tav>
                                      </p:tavLst>
                                    </p:anim>
                                    <p:anim calcmode="lin" valueType="num">
                                      <p:cBhvr additive="base">
                                        <p:cTn id="40" dur="350" fill="hold" decel="100000"/>
                                        <p:tgtEl>
                                          <p:spTgt spid="42"/>
                                        </p:tgtEl>
                                        <p:attrNameLst>
                                          <p:attrName>ppt_h</p:attrName>
                                        </p:attrNameLst>
                                      </p:cBhvr>
                                      <p:tavLst>
                                        <p:tav tm="0">
                                          <p:val>
                                            <p:strVal val="#ppt_h*0.85"/>
                                          </p:val>
                                        </p:tav>
                                        <p:tav tm="100000">
                                          <p:val>
                                            <p:strVal val="#ppt_h"/>
                                          </p:val>
                                        </p:tav>
                                      </p:tavLst>
                                    </p:anim>
                                  </p:childTnLst>
                                </p:cTn>
                              </p:par>
                              <p:par>
                                <p:cTn id="41" presetID="10" presetClass="entr" presetSubtype="0" fill="hold" grpId="0" nodeType="withEffect">
                                  <p:stCondLst>
                                    <p:cond delay="850"/>
                                  </p:stCondLst>
                                  <p:childTnLst>
                                    <p:set>
                                      <p:cBhvr>
                                        <p:cTn id="42" dur="1" fill="hold">
                                          <p:stCondLst>
                                            <p:cond delay="0"/>
                                          </p:stCondLst>
                                        </p:cTn>
                                        <p:tgtEl>
                                          <p:spTgt spid="45"/>
                                        </p:tgtEl>
                                        <p:attrNameLst>
                                          <p:attrName>style.visibility</p:attrName>
                                        </p:attrNameLst>
                                      </p:cBhvr>
                                      <p:to>
                                        <p:strVal val="visible"/>
                                      </p:to>
                                    </p:set>
                                    <p:animEffect transition="in" filter="fade">
                                      <p:cBhvr>
                                        <p:cTn id="43" dur="400"/>
                                        <p:tgtEl>
                                          <p:spTgt spid="45"/>
                                        </p:tgtEl>
                                      </p:cBhvr>
                                    </p:animEffect>
                                  </p:childTnLst>
                                </p:cTn>
                              </p:par>
                              <p:par>
                                <p:cTn id="44" presetID="42" presetClass="entr" presetSubtype="0" fill="hold" grpId="0" nodeType="withEffect">
                                  <p:stCondLst>
                                    <p:cond delay="950"/>
                                  </p:stCondLst>
                                  <p:childTnLst>
                                    <p:set>
                                      <p:cBhvr>
                                        <p:cTn id="45" dur="1" fill="hold">
                                          <p:stCondLst>
                                            <p:cond delay="0"/>
                                          </p:stCondLst>
                                        </p:cTn>
                                        <p:tgtEl>
                                          <p:spTgt spid="46"/>
                                        </p:tgtEl>
                                        <p:attrNameLst>
                                          <p:attrName>style.visibility</p:attrName>
                                        </p:attrNameLst>
                                      </p:cBhvr>
                                      <p:to>
                                        <p:strVal val="visible"/>
                                      </p:to>
                                    </p:set>
                                    <p:animEffect transition="in" filter="fade">
                                      <p:cBhvr>
                                        <p:cTn id="46" dur="500"/>
                                        <p:tgtEl>
                                          <p:spTgt spid="46"/>
                                        </p:tgtEl>
                                      </p:cBhvr>
                                    </p:animEffect>
                                    <p:anim calcmode="lin" valueType="num">
                                      <p:cBhvr additive="base">
                                        <p:cTn id="47" dur="500" fill="hold" decel="100000"/>
                                        <p:tgtEl>
                                          <p:spTgt spid="46"/>
                                        </p:tgtEl>
                                        <p:attrNameLst>
                                          <p:attrName>ppt_x</p:attrName>
                                        </p:attrNameLst>
                                      </p:cBhvr>
                                      <p:tavLst>
                                        <p:tav tm="0">
                                          <p:val>
                                            <p:strVal val="#ppt_x"/>
                                          </p:val>
                                        </p:tav>
                                        <p:tav tm="100000">
                                          <p:val>
                                            <p:strVal val="#ppt_x"/>
                                          </p:val>
                                        </p:tav>
                                      </p:tavLst>
                                    </p:anim>
                                    <p:anim calcmode="lin" valueType="num">
                                      <p:cBhvr additive="base">
                                        <p:cTn id="48" dur="500" fill="hold" decel="100000"/>
                                        <p:tgtEl>
                                          <p:spTgt spid="46"/>
                                        </p:tgtEl>
                                        <p:attrNameLst>
                                          <p:attrName>ppt_y</p:attrName>
                                        </p:attrNameLst>
                                      </p:cBhvr>
                                      <p:tavLst>
                                        <p:tav tm="0">
                                          <p:val>
                                            <p:strVal val="#ppt_y+0.025"/>
                                          </p:val>
                                        </p:tav>
                                        <p:tav tm="100000">
                                          <p:val>
                                            <p:strVal val="#ppt_y"/>
                                          </p:val>
                                        </p:tav>
                                      </p:tavLst>
                                    </p:anim>
                                  </p:childTnLst>
                                </p:cTn>
                              </p:par>
                              <p:par>
                                <p:cTn id="49" presetID="42" presetClass="entr" presetSubtype="0" fill="hold" grpId="0" nodeType="withEffect">
                                  <p:stCondLst>
                                    <p:cond delay="1080"/>
                                  </p:stCondLst>
                                  <p:childTnLst>
                                    <p:set>
                                      <p:cBhvr>
                                        <p:cTn id="50" dur="1" fill="hold">
                                          <p:stCondLst>
                                            <p:cond delay="0"/>
                                          </p:stCondLst>
                                        </p:cTn>
                                        <p:tgtEl>
                                          <p:spTgt spid="51"/>
                                        </p:tgtEl>
                                        <p:attrNameLst>
                                          <p:attrName>style.visibility</p:attrName>
                                        </p:attrNameLst>
                                      </p:cBhvr>
                                      <p:to>
                                        <p:strVal val="visible"/>
                                      </p:to>
                                    </p:set>
                                    <p:animEffect transition="in" filter="fade">
                                      <p:cBhvr>
                                        <p:cTn id="51" dur="500"/>
                                        <p:tgtEl>
                                          <p:spTgt spid="51"/>
                                        </p:tgtEl>
                                      </p:cBhvr>
                                    </p:animEffect>
                                    <p:anim calcmode="lin" valueType="num">
                                      <p:cBhvr additive="base">
                                        <p:cTn id="52" dur="500" fill="hold" decel="100000"/>
                                        <p:tgtEl>
                                          <p:spTgt spid="51"/>
                                        </p:tgtEl>
                                        <p:attrNameLst>
                                          <p:attrName>ppt_x</p:attrName>
                                        </p:attrNameLst>
                                      </p:cBhvr>
                                      <p:tavLst>
                                        <p:tav tm="0">
                                          <p:val>
                                            <p:strVal val="#ppt_x"/>
                                          </p:val>
                                        </p:tav>
                                        <p:tav tm="100000">
                                          <p:val>
                                            <p:strVal val="#ppt_x"/>
                                          </p:val>
                                        </p:tav>
                                      </p:tavLst>
                                    </p:anim>
                                    <p:anim calcmode="lin" valueType="num">
                                      <p:cBhvr additive="base">
                                        <p:cTn id="53" dur="500" fill="hold" decel="100000"/>
                                        <p:tgtEl>
                                          <p:spTgt spid="51"/>
                                        </p:tgtEl>
                                        <p:attrNameLst>
                                          <p:attrName>ppt_y</p:attrName>
                                        </p:attrNameLst>
                                      </p:cBhvr>
                                      <p:tavLst>
                                        <p:tav tm="0">
                                          <p:val>
                                            <p:strVal val="#ppt_y+0.025"/>
                                          </p:val>
                                        </p:tav>
                                        <p:tav tm="100000">
                                          <p:val>
                                            <p:strVal val="#ppt_y"/>
                                          </p:val>
                                        </p:tav>
                                      </p:tavLst>
                                    </p:anim>
                                  </p:childTnLst>
                                </p:cTn>
                              </p:par>
                              <p:par>
                                <p:cTn id="54" presetID="42" presetClass="entr" presetSubtype="0" fill="hold" grpId="0" nodeType="withEffect">
                                  <p:stCondLst>
                                    <p:cond delay="1300"/>
                                  </p:stCondLst>
                                  <p:childTnLst>
                                    <p:set>
                                      <p:cBhvr>
                                        <p:cTn id="55" dur="1" fill="hold">
                                          <p:stCondLst>
                                            <p:cond delay="0"/>
                                          </p:stCondLst>
                                        </p:cTn>
                                        <p:tgtEl>
                                          <p:spTgt spid="56"/>
                                        </p:tgtEl>
                                        <p:attrNameLst>
                                          <p:attrName>style.visibility</p:attrName>
                                        </p:attrNameLst>
                                      </p:cBhvr>
                                      <p:to>
                                        <p:strVal val="visible"/>
                                      </p:to>
                                    </p:set>
                                    <p:animEffect transition="in" filter="fade">
                                      <p:cBhvr>
                                        <p:cTn id="56" dur="600"/>
                                        <p:tgtEl>
                                          <p:spTgt spid="56"/>
                                        </p:tgtEl>
                                      </p:cBhvr>
                                    </p:animEffect>
                                    <p:anim calcmode="lin" valueType="num">
                                      <p:cBhvr additive="base">
                                        <p:cTn id="57" dur="600" fill="hold" decel="100000"/>
                                        <p:tgtEl>
                                          <p:spTgt spid="56"/>
                                        </p:tgtEl>
                                        <p:attrNameLst>
                                          <p:attrName>ppt_x</p:attrName>
                                        </p:attrNameLst>
                                      </p:cBhvr>
                                      <p:tavLst>
                                        <p:tav tm="0">
                                          <p:val>
                                            <p:strVal val="#ppt_x"/>
                                          </p:val>
                                        </p:tav>
                                        <p:tav tm="100000">
                                          <p:val>
                                            <p:strVal val="#ppt_x"/>
                                          </p:val>
                                        </p:tav>
                                      </p:tavLst>
                                    </p:anim>
                                    <p:anim calcmode="lin" valueType="num">
                                      <p:cBhvr additive="base">
                                        <p:cTn id="58" dur="600" fill="hold" decel="100000"/>
                                        <p:tgtEl>
                                          <p:spTgt spid="56"/>
                                        </p:tgtEl>
                                        <p:attrNameLst>
                                          <p:attrName>ppt_y</p:attrName>
                                        </p:attrNameLst>
                                      </p:cBhvr>
                                      <p:tavLst>
                                        <p:tav tm="0">
                                          <p:val>
                                            <p:strVal val="#ppt_y+0.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45" grpId="0" animBg="1"/>
      <p:bldP spid="56"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grpSp>
        <p:nvGrpSpPr>
          <p:cNvPr id="2" name="Group 1"/>
          <p:cNvGrpSpPr/>
          <p:nvPr/>
        </p:nvGrpSpPr>
        <p:grpSpPr>
          <a:xfrm>
            <a:off x="685800" y="384048"/>
            <a:ext cx="292608" cy="292608"/>
            <a:chOff x="685800" y="384048"/>
            <a:chExt cx="292608" cy="292608"/>
          </a:xfrm>
        </p:grpSpPr>
        <p:sp>
          <p:nvSpPr>
            <p:cNvPr id="3" name="Oval 2"/>
            <p:cNvSpPr/>
            <p:nvPr/>
          </p:nvSpPr>
          <p:spPr>
            <a:xfrm>
              <a:off x="685800" y="384048"/>
              <a:ext cx="292608" cy="292608"/>
            </a:xfrm>
            <a:prstGeom prst="ellipse">
              <a:avLst/>
            </a:prstGeom>
            <a:solidFill>
              <a:srgbClr val="16130E"/>
            </a:solidFill>
            <a:ln>
              <a:noFill/>
            </a:ln>
          </p:spPr>
          <p:txBody>
            <a:bodyPr rtlCol="0" anchor="ctr"/>
            <a:lstStyle/>
            <a:p>
              <a:pPr algn="ctr"/>
            </a:p>
          </p:txBody>
        </p:sp>
        <p:sp>
          <p:nvSpPr>
            <p:cNvPr id="4" name="Freeform 3"/>
            <p:cNvSpPr/>
            <p:nvPr/>
          </p:nvSpPr>
          <p:spPr>
            <a:xfrm>
              <a:off x="772852" y="517188"/>
              <a:ext cx="72424" cy="72424"/>
            </a:xfrm>
            <a:custGeom>
              <a:avLst/>
              <a:gdLst/>
              <a:ahLst/>
              <a:cxnLst/>
              <a:rect l="l" t="t" r="r" b="b"/>
              <a:pathLst>
                <a:path w="11" h="11">
                  <a:moveTo>
                    <a:pt x="11" y="2"/>
                  </a:moveTo>
                  <a:lnTo>
                    <a:pt x="3" y="10"/>
                  </a:lnTo>
                  <a:lnTo>
                    <a:pt x="2" y="11"/>
                  </a:lnTo>
                  <a:lnTo>
                    <a:pt x="1" y="10"/>
                  </a:lnTo>
                  <a:lnTo>
                    <a:pt x="0" y="9"/>
                  </a:lnTo>
                  <a:lnTo>
                    <a:pt x="1" y="8"/>
                  </a:lnTo>
                  <a:lnTo>
                    <a:pt x="9" y="0"/>
                  </a:lnTo>
                </a:path>
              </a:pathLst>
            </a:custGeom>
            <a:noFill/>
            <a:ln w="13167" cap="rnd">
              <a:solidFill>
                <a:srgbClr val="F4EFE4"/>
              </a:solidFill>
              <a:round/>
            </a:ln>
          </p:spPr>
          <p:txBody>
            <a:bodyPr rtlCol="0" anchor="ctr"/>
            <a:lstStyle/>
            <a:p>
              <a:pPr algn="ctr"/>
            </a:p>
          </p:txBody>
        </p:sp>
        <p:sp>
          <p:nvSpPr>
            <p:cNvPr id="5" name="Freeform 4"/>
            <p:cNvSpPr/>
            <p:nvPr/>
          </p:nvSpPr>
          <p:spPr>
            <a:xfrm>
              <a:off x="858444" y="517188"/>
              <a:ext cx="39504" cy="39504"/>
            </a:xfrm>
            <a:custGeom>
              <a:avLst/>
              <a:gdLst/>
              <a:ahLst/>
              <a:cxnLst/>
              <a:rect l="l" t="t" r="r" b="b"/>
              <a:pathLst>
                <a:path w="6" h="6">
                  <a:moveTo>
                    <a:pt x="0" y="6"/>
                  </a:moveTo>
                  <a:lnTo>
                    <a:pt x="6" y="0"/>
                  </a:lnTo>
                </a:path>
              </a:pathLst>
            </a:custGeom>
            <a:noFill/>
            <a:ln w="13167" cap="rnd">
              <a:solidFill>
                <a:srgbClr val="F4EFE4"/>
              </a:solidFill>
              <a:round/>
            </a:ln>
          </p:spPr>
          <p:txBody>
            <a:bodyPr rtlCol="0" anchor="ctr"/>
            <a:lstStyle/>
            <a:p>
              <a:pPr algn="ctr"/>
            </a:p>
          </p:txBody>
        </p:sp>
        <p:sp>
          <p:nvSpPr>
            <p:cNvPr id="6" name="Freeform 5"/>
            <p:cNvSpPr/>
            <p:nvPr/>
          </p:nvSpPr>
          <p:spPr>
            <a:xfrm>
              <a:off x="805772" y="464516"/>
              <a:ext cx="39504" cy="39504"/>
            </a:xfrm>
            <a:custGeom>
              <a:avLst/>
              <a:gdLst/>
              <a:ahLst/>
              <a:cxnLst/>
              <a:rect l="l" t="t" r="r" b="b"/>
              <a:pathLst>
                <a:path w="6" h="6">
                  <a:moveTo>
                    <a:pt x="0" y="6"/>
                  </a:moveTo>
                  <a:lnTo>
                    <a:pt x="6" y="0"/>
                  </a:lnTo>
                </a:path>
              </a:pathLst>
            </a:custGeom>
            <a:noFill/>
            <a:ln w="13167" cap="rnd">
              <a:solidFill>
                <a:srgbClr val="F4EFE4"/>
              </a:solidFill>
              <a:round/>
            </a:ln>
          </p:spPr>
          <p:txBody>
            <a:bodyPr rtlCol="0" anchor="ctr"/>
            <a:lstStyle/>
            <a:p>
              <a:pPr algn="ctr"/>
            </a:p>
          </p:txBody>
        </p:sp>
        <p:sp>
          <p:nvSpPr>
            <p:cNvPr id="7" name="Freeform 6"/>
            <p:cNvSpPr/>
            <p:nvPr/>
          </p:nvSpPr>
          <p:spPr>
            <a:xfrm>
              <a:off x="812356" y="497436"/>
              <a:ext cx="52672" cy="52672"/>
            </a:xfrm>
            <a:custGeom>
              <a:avLst/>
              <a:gdLst/>
              <a:ahLst/>
              <a:cxnLst/>
              <a:rect l="l" t="t" r="r" b="b"/>
              <a:pathLst>
                <a:path w="8" h="8">
                  <a:moveTo>
                    <a:pt x="0" y="0"/>
                  </a:moveTo>
                  <a:lnTo>
                    <a:pt x="8" y="8"/>
                  </a:lnTo>
                </a:path>
              </a:pathLst>
            </a:custGeom>
            <a:noFill/>
            <a:ln w="13167" cap="rnd">
              <a:solidFill>
                <a:srgbClr val="F4EFE4"/>
              </a:solidFill>
              <a:round/>
            </a:ln>
          </p:spPr>
          <p:txBody>
            <a:bodyPr rtlCol="0" anchor="ctr"/>
            <a:lstStyle/>
            <a:p>
              <a:pPr algn="ctr"/>
            </a:p>
          </p:txBody>
        </p:sp>
        <p:sp>
          <p:nvSpPr>
            <p:cNvPr id="8" name="Freeform 7"/>
            <p:cNvSpPr/>
            <p:nvPr/>
          </p:nvSpPr>
          <p:spPr>
            <a:xfrm>
              <a:off x="838692" y="471100"/>
              <a:ext cx="52672" cy="52672"/>
            </a:xfrm>
            <a:custGeom>
              <a:avLst/>
              <a:gdLst/>
              <a:ahLst/>
              <a:cxnLst/>
              <a:rect l="l" t="t" r="r" b="b"/>
              <a:pathLst>
                <a:path w="8" h="8">
                  <a:moveTo>
                    <a:pt x="8" y="8"/>
                  </a:moveTo>
                  <a:lnTo>
                    <a:pt x="0" y="0"/>
                  </a:lnTo>
                </a:path>
              </a:pathLst>
            </a:custGeom>
            <a:noFill/>
            <a:ln w="13167" cap="rnd">
              <a:solidFill>
                <a:srgbClr val="F4EFE4"/>
              </a:solidFill>
              <a:round/>
            </a:ln>
          </p:spPr>
          <p:txBody>
            <a:bodyPr rtlCol="0" anchor="ctr"/>
            <a:lstStyle/>
            <a:p>
              <a:pPr algn="ctr"/>
            </a:p>
          </p:txBody>
        </p:sp>
      </p:grpSp>
      <p:sp>
        <p:nvSpPr>
          <p:cNvPr id="9" name="TextBox 8"/>
          <p:cNvSpPr txBox="1"/>
          <p:nvPr/>
        </p:nvSpPr>
        <p:spPr>
          <a:xfrm>
            <a:off x="1060704" y="347472"/>
            <a:ext cx="2286000" cy="365760"/>
          </a:xfrm>
          <a:prstGeom prst="rect">
            <a:avLst/>
          </a:prstGeom>
          <a:noFill/>
        </p:spPr>
        <p:txBody>
          <a:bodyPr wrap="square" lIns="0" rIns="0" tIns="0" bIns="0" anchor="ctr">
            <a:noAutofit/>
          </a:bodyPr>
          <a:lstStyle/>
          <a:p>
            <a:pPr algn="l"/>
            <a:r>
              <a:rPr sz="1700" b="0" i="0">
                <a:solidFill>
                  <a:srgbClr val="16130E"/>
                </a:solidFill>
                <a:latin typeface="Georgia" panose="02040502050405020303" pitchFamily="18" charset="0"/>
              </a:rPr>
              <a:t>Bidwire</a:t>
            </a:r>
          </a:p>
        </p:txBody>
      </p:sp>
      <p:sp>
        <p:nvSpPr>
          <p:cNvPr id="10" name="TextBox 9"/>
          <p:cNvSpPr txBox="1"/>
          <p:nvPr/>
        </p:nvSpPr>
        <p:spPr>
          <a:xfrm>
            <a:off x="6019495" y="420624"/>
            <a:ext cx="5486400" cy="219456"/>
          </a:xfrm>
          <a:prstGeom prst="rect">
            <a:avLst/>
          </a:prstGeom>
          <a:noFill/>
        </p:spPr>
        <p:txBody>
          <a:bodyPr wrap="square" lIns="0" rIns="0" tIns="0" bIns="0" anchor="ctr">
            <a:noAutofit/>
          </a:bodyPr>
          <a:lstStyle/>
          <a:p>
            <a:pPr algn="r"/>
            <a:r>
              <a:rPr sz="850" b="1" i="0" spc="110">
                <a:solidFill>
                  <a:srgbClr val="9C937F"/>
                </a:solidFill>
                <a:latin typeface="Inter" panose="020B0502030000000004" pitchFamily="34" charset="0"/>
              </a:rPr>
              <a:t>LOT 03  ·  THE INSIGHT</a:t>
            </a:r>
          </a:p>
        </p:txBody>
      </p:sp>
      <p:sp>
        <p:nvSpPr>
          <p:cNvPr id="11" name="Rectangle 10"/>
          <p:cNvSpPr/>
          <p:nvPr/>
        </p:nvSpPr>
        <p:spPr>
          <a:xfrm>
            <a:off x="685800" y="822960"/>
            <a:ext cx="10820095" cy="7315"/>
          </a:xfrm>
          <a:prstGeom prst="rect">
            <a:avLst/>
          </a:prstGeom>
          <a:solidFill>
            <a:srgbClr val="E2D9C6"/>
          </a:solidFill>
          <a:ln>
            <a:noFill/>
          </a:ln>
        </p:spPr>
        <p:txBody>
          <a:bodyPr rtlCol="0" anchor="ctr"/>
          <a:lstStyle/>
          <a:p>
            <a:pPr algn="ctr"/>
          </a:p>
        </p:txBody>
      </p:sp>
      <p:sp>
        <p:nvSpPr>
          <p:cNvPr id="12" name="TextBox 11"/>
          <p:cNvSpPr txBox="1"/>
          <p:nvPr/>
        </p:nvSpPr>
        <p:spPr>
          <a:xfrm>
            <a:off x="685800" y="6400800"/>
            <a:ext cx="6400800" cy="237744"/>
          </a:xfrm>
          <a:prstGeom prst="rect">
            <a:avLst/>
          </a:prstGeom>
          <a:noFill/>
        </p:spPr>
        <p:txBody>
          <a:bodyPr wrap="square" lIns="0" rIns="0" tIns="0" bIns="0" anchor="ctr">
            <a:noAutofit/>
          </a:bodyPr>
          <a:lstStyle/>
          <a:p>
            <a:pPr algn="l"/>
            <a:r>
              <a:rPr sz="850" b="0" i="0">
                <a:solidFill>
                  <a:srgbClr val="9C937F"/>
                </a:solidFill>
                <a:latin typeface="Inter" panose="020B0502030000000004" pitchFamily="34" charset="0"/>
              </a:rPr>
              <a:t>Bidwire · the auction house for AI agents · YC Make Something Agents Want · Oct 18, 2026</a:t>
            </a:r>
          </a:p>
        </p:txBody>
      </p:sp>
      <p:sp>
        <p:nvSpPr>
          <p:cNvPr id="13" name="TextBox 12"/>
          <p:cNvSpPr txBox="1"/>
          <p:nvPr/>
        </p:nvSpPr>
        <p:spPr>
          <a:xfrm>
            <a:off x="6933895" y="6400800"/>
            <a:ext cx="4572000" cy="237744"/>
          </a:xfrm>
          <a:prstGeom prst="rect">
            <a:avLst/>
          </a:prstGeom>
          <a:noFill/>
        </p:spPr>
        <p:txBody>
          <a:bodyPr wrap="square" lIns="0" rIns="0" tIns="0" bIns="0" anchor="ctr">
            <a:noAutofit/>
          </a:bodyPr>
          <a:lstStyle/>
          <a:p>
            <a:pPr algn="r"/>
            <a:r>
              <a:rPr sz="850" b="0" i="0">
                <a:solidFill>
                  <a:srgbClr val="9C937F"/>
                </a:solidFill>
                <a:latin typeface="Inter" panose="020B0502030000000004" pitchFamily="34" charset="0"/>
              </a:rPr>
              <a:t>github.com/vnmoorthy/bidwire</a:t>
            </a:r>
          </a:p>
        </p:txBody>
      </p:sp>
      <p:sp>
        <p:nvSpPr>
          <p:cNvPr id="14" name="Rectangle 13"/>
          <p:cNvSpPr/>
          <p:nvPr/>
        </p:nvSpPr>
        <p:spPr>
          <a:xfrm>
            <a:off x="0" y="6825996"/>
            <a:ext cx="12191695" cy="32004"/>
          </a:xfrm>
          <a:prstGeom prst="rect">
            <a:avLst/>
          </a:prstGeom>
          <a:solidFill>
            <a:srgbClr val="E2D9C6"/>
          </a:solidFill>
          <a:ln>
            <a:noFill/>
          </a:ln>
        </p:spPr>
        <p:txBody>
          <a:bodyPr rtlCol="0" anchor="ctr"/>
          <a:lstStyle/>
          <a:p>
            <a:pPr algn="ctr"/>
          </a:p>
        </p:txBody>
      </p:sp>
      <p:sp>
        <p:nvSpPr>
          <p:cNvPr id="15" name="Rectangle 14"/>
          <p:cNvSpPr/>
          <p:nvPr/>
        </p:nvSpPr>
        <p:spPr>
          <a:xfrm>
            <a:off x="0" y="6825996"/>
            <a:ext cx="3657509" cy="32004"/>
          </a:xfrm>
          <a:prstGeom prst="rect">
            <a:avLst/>
          </a:prstGeom>
          <a:solidFill>
            <a:srgbClr val="B0894F"/>
          </a:solidFill>
          <a:ln>
            <a:noFill/>
          </a:ln>
        </p:spPr>
        <p:txBody>
          <a:bodyPr rtlCol="0" anchor="ctr"/>
          <a:lstStyle/>
          <a:p>
            <a:pPr algn="ctr"/>
          </a:p>
        </p:txBody>
      </p:sp>
      <p:sp>
        <p:nvSpPr>
          <p:cNvPr id="16" name="TextBox 15"/>
          <p:cNvSpPr txBox="1"/>
          <p:nvPr/>
        </p:nvSpPr>
        <p:spPr>
          <a:xfrm>
            <a:off x="685800" y="960120"/>
            <a:ext cx="10835640" cy="914400"/>
          </a:xfrm>
          <a:prstGeom prst="rect">
            <a:avLst/>
          </a:prstGeom>
          <a:noFill/>
        </p:spPr>
        <p:txBody>
          <a:bodyPr wrap="square" lIns="0" rIns="0" tIns="0" bIns="0" anchor="ctr">
            <a:noAutofit/>
          </a:bodyPr>
          <a:lstStyle/>
          <a:p>
            <a:pPr algn="l"/>
            <a:r>
              <a:rPr sz="5800" b="0" i="0" spc="-100">
                <a:solidFill>
                  <a:srgbClr val="16130E"/>
                </a:solidFill>
                <a:latin typeface="Georgia" panose="02040502050405020303" pitchFamily="18" charset="0"/>
              </a:rPr>
              <a:t>For an agent, </a:t>
            </a:r>
            <a:r>
              <a:rPr sz="5800" b="0" i="1" spc="-100">
                <a:solidFill>
                  <a:srgbClr val="B0894F"/>
                </a:solidFill>
                <a:latin typeface="Georgia" panose="02040502050405020303" pitchFamily="18" charset="0"/>
              </a:rPr>
              <a:t>the ad is the offer.</a:t>
            </a:r>
          </a:p>
        </p:txBody>
      </p:sp>
      <p:sp>
        <p:nvSpPr>
          <p:cNvPr id="17" name="TextBox 16"/>
          <p:cNvSpPr txBox="1"/>
          <p:nvPr/>
        </p:nvSpPr>
        <p:spPr>
          <a:xfrm>
            <a:off x="685800" y="1920240"/>
            <a:ext cx="10835640" cy="411480"/>
          </a:xfrm>
          <a:prstGeom prst="rect">
            <a:avLst/>
          </a:prstGeom>
          <a:noFill/>
        </p:spPr>
        <p:txBody>
          <a:bodyPr wrap="square" lIns="0" rIns="0" tIns="0" bIns="0" anchor="t">
            <a:noAutofit/>
          </a:bodyPr>
          <a:lstStyle/>
          <a:p>
            <a:pPr algn="l"/>
            <a:r>
              <a:rPr sz="1900" b="0" i="0">
                <a:solidFill>
                  <a:srgbClr val="6E6658"/>
                </a:solidFill>
                <a:latin typeface="Inter" panose="020B0502030000000004" pitchFamily="34" charset="0"/>
              </a:rPr>
              <a:t>So merchants raise a paddle with claims a machine can check, and we check every one.</a:t>
            </a:r>
          </a:p>
        </p:txBody>
      </p:sp>
      <p:grpSp>
        <p:nvGrpSpPr>
          <p:cNvPr id="18" name="Group 17"/>
          <p:cNvGrpSpPr/>
          <p:nvPr/>
        </p:nvGrpSpPr>
        <p:grpSpPr>
          <a:xfrm>
            <a:off x="685800" y="2578608"/>
            <a:ext cx="3474720" cy="2724912"/>
            <a:chOff x="685800" y="2578608"/>
            <a:chExt cx="3474720" cy="2724912"/>
          </a:xfrm>
        </p:grpSpPr>
        <p:sp>
          <p:nvSpPr>
            <p:cNvPr id="19" name="Rounded Rectangle 18"/>
            <p:cNvSpPr/>
            <p:nvPr/>
          </p:nvSpPr>
          <p:spPr>
            <a:xfrm>
              <a:off x="685800" y="2578608"/>
              <a:ext cx="3474720" cy="2724912"/>
            </a:xfrm>
            <a:prstGeom prst="roundRect">
              <a:avLst>
                <a:gd name="adj" fmla="val 2013"/>
              </a:avLst>
            </a:prstGeom>
            <a:solidFill>
              <a:srgbClr val="FFFDF7"/>
            </a:solidFill>
            <a:ln w="9525">
              <a:solidFill>
                <a:srgbClr val="E2D9C6"/>
              </a:solidFill>
            </a:ln>
          </p:spPr>
          <p:txBody>
            <a:bodyPr rtlCol="0" anchor="ctr"/>
            <a:lstStyle/>
            <a:p>
              <a:pPr algn="ctr"/>
            </a:p>
          </p:txBody>
        </p:sp>
        <p:sp>
          <p:nvSpPr>
            <p:cNvPr id="20" name="TextBox 19"/>
            <p:cNvSpPr txBox="1"/>
            <p:nvPr/>
          </p:nvSpPr>
          <p:spPr>
            <a:xfrm>
              <a:off x="941832" y="2743200"/>
              <a:ext cx="914400" cy="548640"/>
            </a:xfrm>
            <a:prstGeom prst="rect">
              <a:avLst/>
            </a:prstGeom>
            <a:noFill/>
          </p:spPr>
          <p:txBody>
            <a:bodyPr wrap="square" lIns="0" rIns="0" tIns="0" bIns="0" anchor="ctr">
              <a:noAutofit/>
            </a:bodyPr>
            <a:lstStyle/>
            <a:p>
              <a:pPr algn="l"/>
              <a:r>
                <a:rPr sz="3400" b="0" i="0">
                  <a:solidFill>
                    <a:srgbClr val="B0894F"/>
                  </a:solidFill>
                  <a:latin typeface="Georgia" panose="02040502050405020303" pitchFamily="18" charset="0"/>
                </a:rPr>
                <a:t>1</a:t>
              </a:r>
            </a:p>
          </p:txBody>
        </p:sp>
        <p:sp>
          <p:nvSpPr>
            <p:cNvPr id="21" name="TextBox 20"/>
            <p:cNvSpPr txBox="1"/>
            <p:nvPr/>
          </p:nvSpPr>
          <p:spPr>
            <a:xfrm>
              <a:off x="941832" y="3328416"/>
              <a:ext cx="3017520" cy="365760"/>
            </a:xfrm>
            <a:prstGeom prst="rect">
              <a:avLst/>
            </a:prstGeom>
            <a:noFill/>
          </p:spPr>
          <p:txBody>
            <a:bodyPr wrap="square" lIns="0" rIns="0" tIns="0" bIns="0" anchor="ctr">
              <a:noAutofit/>
            </a:bodyPr>
            <a:lstStyle/>
            <a:p>
              <a:pPr algn="l"/>
              <a:r>
                <a:rPr sz="1900" b="0" i="0">
                  <a:solidFill>
                    <a:srgbClr val="16130E"/>
                  </a:solidFill>
                  <a:latin typeface="Georgia" panose="02040502050405020303" pitchFamily="18" charset="0"/>
                </a:rPr>
                <a:t>Bid with verifiable claims</a:t>
              </a:r>
            </a:p>
          </p:txBody>
        </p:sp>
        <p:sp>
          <p:nvSpPr>
            <p:cNvPr id="22" name="TextBox 21"/>
            <p:cNvSpPr txBox="1"/>
            <p:nvPr/>
          </p:nvSpPr>
          <p:spPr>
            <a:xfrm>
              <a:off x="941832" y="3749040"/>
              <a:ext cx="2980944" cy="960120"/>
            </a:xfrm>
            <a:prstGeom prst="rect">
              <a:avLst/>
            </a:prstGeom>
            <a:noFill/>
          </p:spPr>
          <p:txBody>
            <a:bodyPr wrap="square" lIns="0" rIns="0" tIns="0" bIns="0" anchor="t">
              <a:noAutofit/>
            </a:bodyPr>
            <a:lstStyle/>
            <a:p>
              <a:pPr algn="l">
                <a:lnSpc>
                  <a:spcPct val="110000"/>
                </a:lnSpc>
              </a:pPr>
              <a:r>
                <a:rPr sz="1150" b="0" i="0">
                  <a:solidFill>
                    <a:srgbClr val="6E6658"/>
                  </a:solidFill>
                  <a:latin typeface="Inter" panose="020B0502030000000004" pitchFamily="34" charset="0"/>
                </a:rPr>
                <a:t>Delivered price, delivery days and features, checked against the merchant's own product page (schema.org JSON-LD) and live checkout.</a:t>
              </a:r>
            </a:p>
          </p:txBody>
        </p:sp>
      </p:grpSp>
      <p:grpSp>
        <p:nvGrpSpPr>
          <p:cNvPr id="23" name="Group 22"/>
          <p:cNvGrpSpPr/>
          <p:nvPr/>
        </p:nvGrpSpPr>
        <p:grpSpPr>
          <a:xfrm>
            <a:off x="941832" y="4754880"/>
            <a:ext cx="728980" cy="292608"/>
            <a:chOff x="941832" y="4754880"/>
            <a:chExt cx="728980" cy="292608"/>
          </a:xfrm>
        </p:grpSpPr>
        <p:sp>
          <p:nvSpPr>
            <p:cNvPr id="24" name="Rounded Rectangle 23"/>
            <p:cNvSpPr/>
            <p:nvPr/>
          </p:nvSpPr>
          <p:spPr>
            <a:xfrm>
              <a:off x="941832" y="4754880"/>
              <a:ext cx="728980" cy="292608"/>
            </a:xfrm>
            <a:prstGeom prst="roundRect">
              <a:avLst>
                <a:gd name="adj" fmla="val 50000"/>
              </a:avLst>
            </a:prstGeom>
            <a:solidFill>
              <a:srgbClr val="E5F0E8"/>
            </a:solidFill>
            <a:ln>
              <a:noFill/>
            </a:ln>
          </p:spPr>
          <p:txBody>
            <a:bodyPr rtlCol="0" anchor="ctr"/>
            <a:lstStyle/>
            <a:p>
              <a:pPr algn="ctr"/>
            </a:p>
          </p:txBody>
        </p:sp>
        <p:sp>
          <p:nvSpPr>
            <p:cNvPr id="25" name="TextBox 24"/>
            <p:cNvSpPr txBox="1"/>
            <p:nvPr/>
          </p:nvSpPr>
          <p:spPr>
            <a:xfrm>
              <a:off x="941832" y="4754880"/>
              <a:ext cx="728980" cy="292608"/>
            </a:xfrm>
            <a:prstGeom prst="rect">
              <a:avLst/>
            </a:prstGeom>
            <a:noFill/>
          </p:spPr>
          <p:txBody>
            <a:bodyPr wrap="square" lIns="0" rIns="0" tIns="0" bIns="0" anchor="ctr">
              <a:noAutofit/>
            </a:bodyPr>
            <a:lstStyle/>
            <a:p>
              <a:pPr algn="ctr"/>
              <a:r>
                <a:rPr sz="950" b="1" i="0">
                  <a:solidFill>
                    <a:srgbClr val="2D6A48"/>
                  </a:solidFill>
                  <a:latin typeface="Inter" panose="020B0502030000000004" pitchFamily="34" charset="0"/>
                </a:rPr>
                <a:t>Price ✓</a:t>
              </a:r>
            </a:p>
          </p:txBody>
        </p:sp>
      </p:grpSp>
      <p:grpSp>
        <p:nvGrpSpPr>
          <p:cNvPr id="26" name="Group 25"/>
          <p:cNvGrpSpPr/>
          <p:nvPr/>
        </p:nvGrpSpPr>
        <p:grpSpPr>
          <a:xfrm>
            <a:off x="1743964" y="4754880"/>
            <a:ext cx="999236" cy="292608"/>
            <a:chOff x="1743964" y="4754880"/>
            <a:chExt cx="999236" cy="292608"/>
          </a:xfrm>
        </p:grpSpPr>
        <p:sp>
          <p:nvSpPr>
            <p:cNvPr id="27" name="Rounded Rectangle 26"/>
            <p:cNvSpPr/>
            <p:nvPr/>
          </p:nvSpPr>
          <p:spPr>
            <a:xfrm>
              <a:off x="1743964" y="4754880"/>
              <a:ext cx="999236" cy="292608"/>
            </a:xfrm>
            <a:prstGeom prst="roundRect">
              <a:avLst>
                <a:gd name="adj" fmla="val 50000"/>
              </a:avLst>
            </a:prstGeom>
            <a:solidFill>
              <a:srgbClr val="E5F0E8"/>
            </a:solidFill>
            <a:ln>
              <a:noFill/>
            </a:ln>
          </p:spPr>
          <p:txBody>
            <a:bodyPr rtlCol="0" anchor="ctr"/>
            <a:lstStyle/>
            <a:p>
              <a:pPr algn="ctr"/>
            </a:p>
          </p:txBody>
        </p:sp>
        <p:sp>
          <p:nvSpPr>
            <p:cNvPr id="28" name="TextBox 27"/>
            <p:cNvSpPr txBox="1"/>
            <p:nvPr/>
          </p:nvSpPr>
          <p:spPr>
            <a:xfrm>
              <a:off x="1743964" y="4754880"/>
              <a:ext cx="999236" cy="292608"/>
            </a:xfrm>
            <a:prstGeom prst="rect">
              <a:avLst/>
            </a:prstGeom>
            <a:noFill/>
          </p:spPr>
          <p:txBody>
            <a:bodyPr wrap="square" lIns="0" rIns="0" tIns="0" bIns="0" anchor="ctr">
              <a:noAutofit/>
            </a:bodyPr>
            <a:lstStyle/>
            <a:p>
              <a:pPr algn="ctr"/>
              <a:r>
                <a:rPr sz="950" b="1" i="0">
                  <a:solidFill>
                    <a:srgbClr val="2D6A48"/>
                  </a:solidFill>
                  <a:latin typeface="Inter" panose="020B0502030000000004" pitchFamily="34" charset="0"/>
                </a:rPr>
                <a:t>Ship days ✓</a:t>
              </a:r>
            </a:p>
          </p:txBody>
        </p:sp>
      </p:grpSp>
      <p:grpSp>
        <p:nvGrpSpPr>
          <p:cNvPr id="29" name="Group 28"/>
          <p:cNvGrpSpPr/>
          <p:nvPr/>
        </p:nvGrpSpPr>
        <p:grpSpPr>
          <a:xfrm>
            <a:off x="2816352" y="4754880"/>
            <a:ext cx="931672" cy="292608"/>
            <a:chOff x="2816352" y="4754880"/>
            <a:chExt cx="931672" cy="292608"/>
          </a:xfrm>
        </p:grpSpPr>
        <p:sp>
          <p:nvSpPr>
            <p:cNvPr id="30" name="Rounded Rectangle 29"/>
            <p:cNvSpPr/>
            <p:nvPr/>
          </p:nvSpPr>
          <p:spPr>
            <a:xfrm>
              <a:off x="2816352" y="4754880"/>
              <a:ext cx="931672" cy="292608"/>
            </a:xfrm>
            <a:prstGeom prst="roundRect">
              <a:avLst>
                <a:gd name="adj" fmla="val 50000"/>
              </a:avLst>
            </a:prstGeom>
            <a:solidFill>
              <a:srgbClr val="E5F0E8"/>
            </a:solidFill>
            <a:ln>
              <a:noFill/>
            </a:ln>
          </p:spPr>
          <p:txBody>
            <a:bodyPr rtlCol="0" anchor="ctr"/>
            <a:lstStyle/>
            <a:p>
              <a:pPr algn="ctr"/>
            </a:p>
          </p:txBody>
        </p:sp>
        <p:sp>
          <p:nvSpPr>
            <p:cNvPr id="31" name="TextBox 30"/>
            <p:cNvSpPr txBox="1"/>
            <p:nvPr/>
          </p:nvSpPr>
          <p:spPr>
            <a:xfrm>
              <a:off x="2816352" y="4754880"/>
              <a:ext cx="931672" cy="292608"/>
            </a:xfrm>
            <a:prstGeom prst="rect">
              <a:avLst/>
            </a:prstGeom>
            <a:noFill/>
          </p:spPr>
          <p:txBody>
            <a:bodyPr wrap="square" lIns="0" rIns="0" tIns="0" bIns="0" anchor="ctr">
              <a:noAutofit/>
            </a:bodyPr>
            <a:lstStyle/>
            <a:p>
              <a:pPr algn="ctr"/>
              <a:r>
                <a:rPr sz="950" b="1" i="0">
                  <a:solidFill>
                    <a:srgbClr val="2D6A48"/>
                  </a:solidFill>
                  <a:latin typeface="Inter" panose="020B0502030000000004" pitchFamily="34" charset="0"/>
                </a:rPr>
                <a:t>Features ✓</a:t>
              </a:r>
            </a:p>
          </p:txBody>
        </p:sp>
      </p:grpSp>
      <p:grpSp>
        <p:nvGrpSpPr>
          <p:cNvPr id="32" name="Group 31"/>
          <p:cNvGrpSpPr/>
          <p:nvPr/>
        </p:nvGrpSpPr>
        <p:grpSpPr>
          <a:xfrm>
            <a:off x="4357116" y="2578608"/>
            <a:ext cx="3474720" cy="2724912"/>
            <a:chOff x="4357116" y="2578608"/>
            <a:chExt cx="3474720" cy="2724912"/>
          </a:xfrm>
        </p:grpSpPr>
        <p:sp>
          <p:nvSpPr>
            <p:cNvPr id="33" name="Rounded Rectangle 32"/>
            <p:cNvSpPr/>
            <p:nvPr/>
          </p:nvSpPr>
          <p:spPr>
            <a:xfrm>
              <a:off x="4357116" y="2578608"/>
              <a:ext cx="3474720" cy="2724912"/>
            </a:xfrm>
            <a:prstGeom prst="roundRect">
              <a:avLst>
                <a:gd name="adj" fmla="val 2013"/>
              </a:avLst>
            </a:prstGeom>
            <a:solidFill>
              <a:srgbClr val="FFFDF7"/>
            </a:solidFill>
            <a:ln w="9525">
              <a:solidFill>
                <a:srgbClr val="E2D9C6"/>
              </a:solidFill>
            </a:ln>
          </p:spPr>
          <p:txBody>
            <a:bodyPr rtlCol="0" anchor="ctr"/>
            <a:lstStyle/>
            <a:p>
              <a:pPr algn="ctr"/>
            </a:p>
          </p:txBody>
        </p:sp>
        <p:sp>
          <p:nvSpPr>
            <p:cNvPr id="34" name="TextBox 33"/>
            <p:cNvSpPr txBox="1"/>
            <p:nvPr/>
          </p:nvSpPr>
          <p:spPr>
            <a:xfrm>
              <a:off x="4613148" y="2743200"/>
              <a:ext cx="914400" cy="548640"/>
            </a:xfrm>
            <a:prstGeom prst="rect">
              <a:avLst/>
            </a:prstGeom>
            <a:noFill/>
          </p:spPr>
          <p:txBody>
            <a:bodyPr wrap="square" lIns="0" rIns="0" tIns="0" bIns="0" anchor="ctr">
              <a:noAutofit/>
            </a:bodyPr>
            <a:lstStyle/>
            <a:p>
              <a:pPr algn="l"/>
              <a:r>
                <a:rPr sz="3400" b="0" i="0">
                  <a:solidFill>
                    <a:srgbClr val="B0894F"/>
                  </a:solidFill>
                  <a:latin typeface="Georgia" panose="02040502050405020303" pitchFamily="18" charset="0"/>
                </a:rPr>
                <a:t>2</a:t>
              </a:r>
            </a:p>
          </p:txBody>
        </p:sp>
        <p:sp>
          <p:nvSpPr>
            <p:cNvPr id="35" name="TextBox 34"/>
            <p:cNvSpPr txBox="1"/>
            <p:nvPr/>
          </p:nvSpPr>
          <p:spPr>
            <a:xfrm>
              <a:off x="4613148" y="3328416"/>
              <a:ext cx="3017520" cy="365760"/>
            </a:xfrm>
            <a:prstGeom prst="rect">
              <a:avLst/>
            </a:prstGeom>
            <a:noFill/>
          </p:spPr>
          <p:txBody>
            <a:bodyPr wrap="square" lIns="0" rIns="0" tIns="0" bIns="0" anchor="ctr">
              <a:noAutofit/>
            </a:bodyPr>
            <a:lstStyle/>
            <a:p>
              <a:pPr algn="l"/>
              <a:r>
                <a:rPr sz="1900" b="0" i="0">
                  <a:solidFill>
                    <a:srgbClr val="16130E"/>
                  </a:solidFill>
                  <a:latin typeface="Georgia" panose="02040502050405020303" pitchFamily="18" charset="0"/>
                </a:rPr>
                <a:t>Rank on merit</a:t>
              </a:r>
            </a:p>
          </p:txBody>
        </p:sp>
        <p:sp>
          <p:nvSpPr>
            <p:cNvPr id="36" name="TextBox 35"/>
            <p:cNvSpPr txBox="1"/>
            <p:nvPr/>
          </p:nvSpPr>
          <p:spPr>
            <a:xfrm>
              <a:off x="4613148" y="3749040"/>
              <a:ext cx="2980944" cy="960120"/>
            </a:xfrm>
            <a:prstGeom prst="rect">
              <a:avLst/>
            </a:prstGeom>
            <a:noFill/>
          </p:spPr>
          <p:txBody>
            <a:bodyPr wrap="square" lIns="0" rIns="0" tIns="0" bIns="0" anchor="t">
              <a:noAutofit/>
            </a:bodyPr>
            <a:lstStyle/>
            <a:p>
              <a:pPr algn="l">
                <a:lnSpc>
                  <a:spcPct val="110000"/>
                </a:lnSpc>
              </a:pPr>
              <a:r>
                <a:rPr sz="1150" b="0" i="0">
                  <a:solidFill>
                    <a:srgbClr val="6E6658"/>
                  </a:solidFill>
                  <a:latin typeface="Inter" panose="020B0502030000000004" pitchFamily="34" charset="0"/>
                </a:rPr>
                <a:t>Verified offers are scored 0–100 with public weights. Agents can read the policy as an MCP resource.</a:t>
              </a:r>
            </a:p>
          </p:txBody>
        </p:sp>
      </p:grpSp>
      <p:grpSp>
        <p:nvGrpSpPr>
          <p:cNvPr id="37" name="Group 36"/>
          <p:cNvGrpSpPr/>
          <p:nvPr/>
        </p:nvGrpSpPr>
        <p:grpSpPr>
          <a:xfrm>
            <a:off x="4613148" y="4754880"/>
            <a:ext cx="1162202" cy="292608"/>
            <a:chOff x="4613148" y="4754880"/>
            <a:chExt cx="1162202" cy="292608"/>
          </a:xfrm>
        </p:grpSpPr>
        <p:sp>
          <p:nvSpPr>
            <p:cNvPr id="38" name="Rounded Rectangle 37"/>
            <p:cNvSpPr/>
            <p:nvPr/>
          </p:nvSpPr>
          <p:spPr>
            <a:xfrm>
              <a:off x="4613148" y="4754880"/>
              <a:ext cx="1162202" cy="292608"/>
            </a:xfrm>
            <a:prstGeom prst="roundRect">
              <a:avLst>
                <a:gd name="adj" fmla="val 6250"/>
              </a:avLst>
            </a:prstGeom>
            <a:solidFill>
              <a:srgbClr val="16130E"/>
            </a:solidFill>
            <a:ln>
              <a:noFill/>
            </a:ln>
          </p:spPr>
          <p:txBody>
            <a:bodyPr rtlCol="0" anchor="ctr"/>
            <a:lstStyle/>
            <a:p>
              <a:pPr algn="ctr"/>
            </a:p>
          </p:txBody>
        </p:sp>
        <p:sp>
          <p:nvSpPr>
            <p:cNvPr id="39" name="TextBox 38"/>
            <p:cNvSpPr txBox="1"/>
            <p:nvPr/>
          </p:nvSpPr>
          <p:spPr>
            <a:xfrm>
              <a:off x="4613148" y="4754880"/>
              <a:ext cx="1162202" cy="292608"/>
            </a:xfrm>
            <a:prstGeom prst="rect">
              <a:avLst/>
            </a:prstGeom>
            <a:noFill/>
          </p:spPr>
          <p:txBody>
            <a:bodyPr wrap="square" lIns="0" rIns="0" tIns="0" bIns="0" anchor="ctr">
              <a:noAutofit/>
            </a:bodyPr>
            <a:lstStyle/>
            <a:p>
              <a:pPr algn="ctr"/>
              <a:r>
                <a:rPr sz="800" b="1" i="0">
                  <a:solidFill>
                    <a:srgbClr val="FFFDF7"/>
                  </a:solidFill>
                  <a:latin typeface="Inter" panose="020B0502030000000004" pitchFamily="34" charset="0"/>
                </a:rPr>
                <a:t>Price 40</a:t>
              </a:r>
            </a:p>
          </p:txBody>
        </p:sp>
      </p:grpSp>
      <p:grpSp>
        <p:nvGrpSpPr>
          <p:cNvPr id="40" name="Group 39"/>
          <p:cNvGrpSpPr/>
          <p:nvPr/>
        </p:nvGrpSpPr>
        <p:grpSpPr>
          <a:xfrm>
            <a:off x="5798210" y="4754880"/>
            <a:ext cx="717804" cy="292608"/>
            <a:chOff x="5798210" y="4754880"/>
            <a:chExt cx="717804" cy="292608"/>
          </a:xfrm>
        </p:grpSpPr>
        <p:sp>
          <p:nvSpPr>
            <p:cNvPr id="41" name="Rounded Rectangle 40"/>
            <p:cNvSpPr/>
            <p:nvPr/>
          </p:nvSpPr>
          <p:spPr>
            <a:xfrm>
              <a:off x="5798210" y="4754880"/>
              <a:ext cx="717804" cy="292608"/>
            </a:xfrm>
            <a:prstGeom prst="roundRect">
              <a:avLst>
                <a:gd name="adj" fmla="val 6250"/>
              </a:avLst>
            </a:prstGeom>
            <a:solidFill>
              <a:srgbClr val="3B352B"/>
            </a:solidFill>
            <a:ln>
              <a:noFill/>
            </a:ln>
          </p:spPr>
          <p:txBody>
            <a:bodyPr rtlCol="0" anchor="ctr"/>
            <a:lstStyle/>
            <a:p>
              <a:pPr algn="ctr"/>
            </a:p>
          </p:txBody>
        </p:sp>
        <p:sp>
          <p:nvSpPr>
            <p:cNvPr id="42" name="TextBox 41"/>
            <p:cNvSpPr txBox="1"/>
            <p:nvPr/>
          </p:nvSpPr>
          <p:spPr>
            <a:xfrm>
              <a:off x="5798210" y="4754880"/>
              <a:ext cx="717804" cy="292608"/>
            </a:xfrm>
            <a:prstGeom prst="rect">
              <a:avLst/>
            </a:prstGeom>
            <a:noFill/>
          </p:spPr>
          <p:txBody>
            <a:bodyPr wrap="square" lIns="0" rIns="0" tIns="0" bIns="0" anchor="ctr">
              <a:noAutofit/>
            </a:bodyPr>
            <a:lstStyle/>
            <a:p>
              <a:pPr algn="ctr"/>
              <a:r>
                <a:rPr sz="800" b="1" i="0">
                  <a:solidFill>
                    <a:srgbClr val="FFFDF7"/>
                  </a:solidFill>
                  <a:latin typeface="Inter" panose="020B0502030000000004" pitchFamily="34" charset="0"/>
                </a:rPr>
                <a:t>25</a:t>
              </a:r>
            </a:p>
          </p:txBody>
        </p:sp>
      </p:grpSp>
      <p:grpSp>
        <p:nvGrpSpPr>
          <p:cNvPr id="43" name="Group 42"/>
          <p:cNvGrpSpPr/>
          <p:nvPr/>
        </p:nvGrpSpPr>
        <p:grpSpPr>
          <a:xfrm>
            <a:off x="6538874" y="4754880"/>
            <a:ext cx="421538" cy="292608"/>
            <a:chOff x="6538874" y="4754880"/>
            <a:chExt cx="421538" cy="292608"/>
          </a:xfrm>
        </p:grpSpPr>
        <p:sp>
          <p:nvSpPr>
            <p:cNvPr id="44" name="Rounded Rectangle 43"/>
            <p:cNvSpPr/>
            <p:nvPr/>
          </p:nvSpPr>
          <p:spPr>
            <a:xfrm>
              <a:off x="6538874" y="4754880"/>
              <a:ext cx="421538" cy="292608"/>
            </a:xfrm>
            <a:prstGeom prst="roundRect">
              <a:avLst>
                <a:gd name="adj" fmla="val 6250"/>
              </a:avLst>
            </a:prstGeom>
            <a:solidFill>
              <a:srgbClr val="6E6658"/>
            </a:solidFill>
            <a:ln>
              <a:noFill/>
            </a:ln>
          </p:spPr>
          <p:txBody>
            <a:bodyPr rtlCol="0" anchor="ctr"/>
            <a:lstStyle/>
            <a:p>
              <a:pPr algn="ctr"/>
            </a:p>
          </p:txBody>
        </p:sp>
        <p:sp>
          <p:nvSpPr>
            <p:cNvPr id="45" name="TextBox 44"/>
            <p:cNvSpPr txBox="1"/>
            <p:nvPr/>
          </p:nvSpPr>
          <p:spPr>
            <a:xfrm>
              <a:off x="6538874" y="4754880"/>
              <a:ext cx="421538" cy="292608"/>
            </a:xfrm>
            <a:prstGeom prst="rect">
              <a:avLst/>
            </a:prstGeom>
            <a:noFill/>
          </p:spPr>
          <p:txBody>
            <a:bodyPr wrap="square" lIns="0" rIns="0" tIns="0" bIns="0" anchor="ctr">
              <a:noAutofit/>
            </a:bodyPr>
            <a:lstStyle/>
            <a:p>
              <a:pPr algn="ctr"/>
              <a:r>
                <a:rPr sz="800" b="1" i="0">
                  <a:solidFill>
                    <a:srgbClr val="FFFDF7"/>
                  </a:solidFill>
                  <a:latin typeface="Inter" panose="020B0502030000000004" pitchFamily="34" charset="0"/>
                </a:rPr>
                <a:t>15</a:t>
              </a:r>
            </a:p>
          </p:txBody>
        </p:sp>
      </p:grpSp>
      <p:grpSp>
        <p:nvGrpSpPr>
          <p:cNvPr id="46" name="Group 45"/>
          <p:cNvGrpSpPr/>
          <p:nvPr/>
        </p:nvGrpSpPr>
        <p:grpSpPr>
          <a:xfrm>
            <a:off x="6983273" y="4754880"/>
            <a:ext cx="421538" cy="292608"/>
            <a:chOff x="6983273" y="4754880"/>
            <a:chExt cx="421538" cy="292608"/>
          </a:xfrm>
        </p:grpSpPr>
        <p:sp>
          <p:nvSpPr>
            <p:cNvPr id="47" name="Rounded Rectangle 46"/>
            <p:cNvSpPr/>
            <p:nvPr/>
          </p:nvSpPr>
          <p:spPr>
            <a:xfrm>
              <a:off x="6983273" y="4754880"/>
              <a:ext cx="421538" cy="292608"/>
            </a:xfrm>
            <a:prstGeom prst="roundRect">
              <a:avLst>
                <a:gd name="adj" fmla="val 6250"/>
              </a:avLst>
            </a:prstGeom>
            <a:solidFill>
              <a:srgbClr val="A89E89"/>
            </a:solidFill>
            <a:ln>
              <a:noFill/>
            </a:ln>
          </p:spPr>
          <p:txBody>
            <a:bodyPr rtlCol="0" anchor="ctr"/>
            <a:lstStyle/>
            <a:p>
              <a:pPr algn="ctr"/>
            </a:p>
          </p:txBody>
        </p:sp>
        <p:sp>
          <p:nvSpPr>
            <p:cNvPr id="48" name="TextBox 47"/>
            <p:cNvSpPr txBox="1"/>
            <p:nvPr/>
          </p:nvSpPr>
          <p:spPr>
            <a:xfrm>
              <a:off x="6983273" y="4754880"/>
              <a:ext cx="421538" cy="292608"/>
            </a:xfrm>
            <a:prstGeom prst="rect">
              <a:avLst/>
            </a:prstGeom>
            <a:noFill/>
          </p:spPr>
          <p:txBody>
            <a:bodyPr wrap="square" lIns="0" rIns="0" tIns="0" bIns="0" anchor="ctr">
              <a:noAutofit/>
            </a:bodyPr>
            <a:lstStyle/>
            <a:p>
              <a:pPr algn="ctr"/>
              <a:r>
                <a:rPr sz="800" b="1" i="0">
                  <a:solidFill>
                    <a:srgbClr val="16130E"/>
                  </a:solidFill>
                  <a:latin typeface="Inter" panose="020B0502030000000004" pitchFamily="34" charset="0"/>
                </a:rPr>
                <a:t>15</a:t>
              </a:r>
            </a:p>
          </p:txBody>
        </p:sp>
      </p:grpSp>
      <p:grpSp>
        <p:nvGrpSpPr>
          <p:cNvPr id="49" name="Group 48"/>
          <p:cNvGrpSpPr/>
          <p:nvPr/>
        </p:nvGrpSpPr>
        <p:grpSpPr>
          <a:xfrm>
            <a:off x="7427671" y="4754880"/>
            <a:ext cx="125273" cy="292608"/>
            <a:chOff x="7427671" y="4754880"/>
            <a:chExt cx="125273" cy="292608"/>
          </a:xfrm>
        </p:grpSpPr>
        <p:sp>
          <p:nvSpPr>
            <p:cNvPr id="50" name="Rounded Rectangle 49"/>
            <p:cNvSpPr/>
            <p:nvPr/>
          </p:nvSpPr>
          <p:spPr>
            <a:xfrm>
              <a:off x="7427671" y="4754880"/>
              <a:ext cx="125273" cy="292608"/>
            </a:xfrm>
            <a:prstGeom prst="roundRect">
              <a:avLst>
                <a:gd name="adj" fmla="val 14598"/>
              </a:avLst>
            </a:prstGeom>
            <a:solidFill>
              <a:srgbClr val="D8CDB6"/>
            </a:solidFill>
            <a:ln>
              <a:noFill/>
            </a:ln>
          </p:spPr>
          <p:txBody>
            <a:bodyPr rtlCol="0" anchor="ctr"/>
            <a:lstStyle/>
            <a:p>
              <a:pPr algn="ctr"/>
            </a:p>
          </p:txBody>
        </p:sp>
        <p:sp>
          <p:nvSpPr>
            <p:cNvPr id="51" name="TextBox 50"/>
            <p:cNvSpPr txBox="1"/>
            <p:nvPr/>
          </p:nvSpPr>
          <p:spPr>
            <a:xfrm>
              <a:off x="7427671" y="4754880"/>
              <a:ext cx="125273" cy="292608"/>
            </a:xfrm>
            <a:prstGeom prst="rect">
              <a:avLst/>
            </a:prstGeom>
            <a:noFill/>
          </p:spPr>
          <p:txBody>
            <a:bodyPr wrap="square" lIns="0" rIns="0" tIns="0" bIns="0" anchor="ctr">
              <a:noAutofit/>
            </a:bodyPr>
            <a:lstStyle/>
            <a:p>
              <a:pPr algn="ctr"/>
              <a:r>
                <a:rPr sz="800" b="1" i="0">
                  <a:solidFill>
                    <a:srgbClr val="16130E"/>
                  </a:solidFill>
                  <a:latin typeface="Inter" panose="020B0502030000000004" pitchFamily="34" charset="0"/>
                </a:rPr>
                <a:t>5</a:t>
              </a:r>
            </a:p>
          </p:txBody>
        </p:sp>
      </p:grpSp>
      <p:grpSp>
        <p:nvGrpSpPr>
          <p:cNvPr id="52" name="Group 51"/>
          <p:cNvGrpSpPr/>
          <p:nvPr/>
        </p:nvGrpSpPr>
        <p:grpSpPr>
          <a:xfrm>
            <a:off x="8028432" y="2578608"/>
            <a:ext cx="3474720" cy="2724912"/>
            <a:chOff x="8028432" y="2578608"/>
            <a:chExt cx="3474720" cy="2724912"/>
          </a:xfrm>
        </p:grpSpPr>
        <p:sp>
          <p:nvSpPr>
            <p:cNvPr id="53" name="Rounded Rectangle 52"/>
            <p:cNvSpPr/>
            <p:nvPr/>
          </p:nvSpPr>
          <p:spPr>
            <a:xfrm>
              <a:off x="8028432" y="2578608"/>
              <a:ext cx="3474720" cy="2724912"/>
            </a:xfrm>
            <a:prstGeom prst="roundRect">
              <a:avLst>
                <a:gd name="adj" fmla="val 2013"/>
              </a:avLst>
            </a:prstGeom>
            <a:solidFill>
              <a:srgbClr val="FFFDF7"/>
            </a:solidFill>
            <a:ln w="9525">
              <a:solidFill>
                <a:srgbClr val="E2D9C6"/>
              </a:solidFill>
            </a:ln>
          </p:spPr>
          <p:txBody>
            <a:bodyPr rtlCol="0" anchor="ctr"/>
            <a:lstStyle/>
            <a:p>
              <a:pPr algn="ctr"/>
            </a:p>
          </p:txBody>
        </p:sp>
        <p:sp>
          <p:nvSpPr>
            <p:cNvPr id="54" name="TextBox 53"/>
            <p:cNvSpPr txBox="1"/>
            <p:nvPr/>
          </p:nvSpPr>
          <p:spPr>
            <a:xfrm>
              <a:off x="8284464" y="2743200"/>
              <a:ext cx="914400" cy="548640"/>
            </a:xfrm>
            <a:prstGeom prst="rect">
              <a:avLst/>
            </a:prstGeom>
            <a:noFill/>
          </p:spPr>
          <p:txBody>
            <a:bodyPr wrap="square" lIns="0" rIns="0" tIns="0" bIns="0" anchor="ctr">
              <a:noAutofit/>
            </a:bodyPr>
            <a:lstStyle/>
            <a:p>
              <a:pPr algn="l"/>
              <a:r>
                <a:rPr sz="3400" b="0" i="0">
                  <a:solidFill>
                    <a:srgbClr val="B0894F"/>
                  </a:solidFill>
                  <a:latin typeface="Georgia" panose="02040502050405020303" pitchFamily="18" charset="0"/>
                </a:rPr>
                <a:t>3</a:t>
              </a:r>
            </a:p>
          </p:txBody>
        </p:sp>
        <p:sp>
          <p:nvSpPr>
            <p:cNvPr id="55" name="TextBox 54"/>
            <p:cNvSpPr txBox="1"/>
            <p:nvPr/>
          </p:nvSpPr>
          <p:spPr>
            <a:xfrm>
              <a:off x="8284464" y="3328416"/>
              <a:ext cx="3017520" cy="365760"/>
            </a:xfrm>
            <a:prstGeom prst="rect">
              <a:avLst/>
            </a:prstGeom>
            <a:noFill/>
          </p:spPr>
          <p:txBody>
            <a:bodyPr wrap="square" lIns="0" rIns="0" tIns="0" bIns="0" anchor="ctr">
              <a:noAutofit/>
            </a:bodyPr>
            <a:lstStyle/>
            <a:p>
              <a:pPr algn="l"/>
              <a:r>
                <a:rPr sz="1900" b="0" i="0">
                  <a:solidFill>
                    <a:srgbClr val="16130E"/>
                  </a:solidFill>
                  <a:latin typeface="Georgia" panose="02040502050405020303" pitchFamily="18" charset="0"/>
                </a:rPr>
                <a:t>Commission can't buy rank</a:t>
              </a:r>
            </a:p>
          </p:txBody>
        </p:sp>
        <p:sp>
          <p:nvSpPr>
            <p:cNvPr id="56" name="TextBox 55"/>
            <p:cNvSpPr txBox="1"/>
            <p:nvPr/>
          </p:nvSpPr>
          <p:spPr>
            <a:xfrm>
              <a:off x="8284464" y="3749040"/>
              <a:ext cx="2980944" cy="960120"/>
            </a:xfrm>
            <a:prstGeom prst="rect">
              <a:avLst/>
            </a:prstGeom>
            <a:noFill/>
          </p:spPr>
          <p:txBody>
            <a:bodyPr wrap="square" lIns="0" rIns="0" tIns="0" bIns="0" anchor="t">
              <a:noAutofit/>
            </a:bodyPr>
            <a:lstStyle/>
            <a:p>
              <a:pPr algn="l">
                <a:lnSpc>
                  <a:spcPct val="110000"/>
                </a:lnSpc>
              </a:pPr>
              <a:r>
                <a:rPr sz="1150" b="0" i="0">
                  <a:solidFill>
                    <a:srgbClr val="6E6658"/>
                  </a:solidFill>
                  <a:latin typeface="Inter" panose="020B0502030000000004" pitchFamily="34" charset="0"/>
                </a:rPr>
                <a:t>A merchant pays commission only when an agent buys, and it only breaks near-ties (under 0.5 merit points).</a:t>
              </a:r>
            </a:p>
          </p:txBody>
        </p:sp>
      </p:grpSp>
      <p:grpSp>
        <p:nvGrpSpPr>
          <p:cNvPr id="57" name="Group 56"/>
          <p:cNvGrpSpPr/>
          <p:nvPr/>
        </p:nvGrpSpPr>
        <p:grpSpPr>
          <a:xfrm>
            <a:off x="8284464" y="4754880"/>
            <a:ext cx="1134364" cy="292608"/>
            <a:chOff x="8284464" y="4754880"/>
            <a:chExt cx="1134364" cy="292608"/>
          </a:xfrm>
        </p:grpSpPr>
        <p:sp>
          <p:nvSpPr>
            <p:cNvPr id="58" name="Rounded Rectangle 57"/>
            <p:cNvSpPr/>
            <p:nvPr/>
          </p:nvSpPr>
          <p:spPr>
            <a:xfrm>
              <a:off x="8284464" y="4754880"/>
              <a:ext cx="1134364" cy="292608"/>
            </a:xfrm>
            <a:prstGeom prst="roundRect">
              <a:avLst>
                <a:gd name="adj" fmla="val 50000"/>
              </a:avLst>
            </a:prstGeom>
            <a:solidFill>
              <a:srgbClr val="F6EBD6"/>
            </a:solidFill>
            <a:ln>
              <a:noFill/>
            </a:ln>
          </p:spPr>
          <p:txBody>
            <a:bodyPr rtlCol="0" anchor="ctr"/>
            <a:lstStyle/>
            <a:p>
              <a:pPr algn="ctr"/>
            </a:p>
          </p:txBody>
        </p:sp>
        <p:sp>
          <p:nvSpPr>
            <p:cNvPr id="59" name="TextBox 58"/>
            <p:cNvSpPr txBox="1"/>
            <p:nvPr/>
          </p:nvSpPr>
          <p:spPr>
            <a:xfrm>
              <a:off x="8284464" y="4754880"/>
              <a:ext cx="1134364" cy="292608"/>
            </a:xfrm>
            <a:prstGeom prst="rect">
              <a:avLst/>
            </a:prstGeom>
            <a:noFill/>
          </p:spPr>
          <p:txBody>
            <a:bodyPr wrap="square" lIns="0" rIns="0" tIns="0" bIns="0" anchor="ctr">
              <a:noAutofit/>
            </a:bodyPr>
            <a:lstStyle/>
            <a:p>
              <a:pPr algn="ctr"/>
              <a:r>
                <a:rPr sz="950" b="1" i="0">
                  <a:solidFill>
                    <a:srgbClr val="94641F"/>
                  </a:solidFill>
                  <a:latin typeface="Inter" panose="020B0502030000000004" pitchFamily="34" charset="0"/>
                </a:rPr>
                <a:t>Bribe ignored</a:t>
              </a:r>
            </a:p>
          </p:txBody>
        </p:sp>
      </p:grpSp>
      <p:sp>
        <p:nvSpPr>
          <p:cNvPr id="60" name="TextBox 59"/>
          <p:cNvSpPr txBox="1"/>
          <p:nvPr/>
        </p:nvSpPr>
        <p:spPr>
          <a:xfrm>
            <a:off x="9528556" y="4754880"/>
            <a:ext cx="1920240" cy="292608"/>
          </a:xfrm>
          <a:prstGeom prst="rect">
            <a:avLst/>
          </a:prstGeom>
          <a:noFill/>
        </p:spPr>
        <p:txBody>
          <a:bodyPr wrap="square" lIns="0" rIns="0" tIns="0" bIns="0" anchor="ctr">
            <a:noAutofit/>
          </a:bodyPr>
          <a:lstStyle/>
          <a:p>
            <a:pPr algn="l"/>
            <a:r>
              <a:rPr sz="950" b="0" i="0">
                <a:solidFill>
                  <a:srgbClr val="6E6658"/>
                </a:solidFill>
                <a:latin typeface="Inter" panose="020B0502030000000004" pitchFamily="34" charset="0"/>
              </a:rPr>
              <a:t>Offered $35 commission · still No. 5</a:t>
            </a:r>
          </a:p>
        </p:txBody>
      </p:sp>
      <p:grpSp>
        <p:nvGrpSpPr>
          <p:cNvPr id="61" name="Group 60"/>
          <p:cNvGrpSpPr/>
          <p:nvPr/>
        </p:nvGrpSpPr>
        <p:grpSpPr>
          <a:xfrm>
            <a:off x="685800" y="5559552"/>
            <a:ext cx="10817352" cy="548640"/>
            <a:chOff x="685800" y="5559552"/>
            <a:chExt cx="10817352" cy="548640"/>
          </a:xfrm>
        </p:grpSpPr>
        <p:sp>
          <p:nvSpPr>
            <p:cNvPr id="62" name="Rounded Rectangle 61"/>
            <p:cNvSpPr/>
            <p:nvPr/>
          </p:nvSpPr>
          <p:spPr>
            <a:xfrm>
              <a:off x="685800" y="5559552"/>
              <a:ext cx="10817352" cy="548640"/>
            </a:xfrm>
            <a:prstGeom prst="roundRect">
              <a:avLst>
                <a:gd name="adj" fmla="val 10000"/>
              </a:avLst>
            </a:prstGeom>
            <a:solidFill>
              <a:srgbClr val="FFFDF7"/>
            </a:solidFill>
            <a:ln w="9525">
              <a:solidFill>
                <a:srgbClr val="E2D9C6"/>
              </a:solidFill>
            </a:ln>
          </p:spPr>
          <p:txBody>
            <a:bodyPr rtlCol="0" anchor="ctr"/>
            <a:lstStyle/>
            <a:p>
              <a:pPr algn="ctr"/>
            </a:p>
          </p:txBody>
        </p:sp>
        <p:sp>
          <p:nvSpPr>
            <p:cNvPr id="63" name="TextBox 62"/>
            <p:cNvSpPr txBox="1"/>
            <p:nvPr/>
          </p:nvSpPr>
          <p:spPr>
            <a:xfrm>
              <a:off x="914400" y="5559552"/>
              <a:ext cx="10424160" cy="548640"/>
            </a:xfrm>
            <a:prstGeom prst="rect">
              <a:avLst/>
            </a:prstGeom>
            <a:noFill/>
          </p:spPr>
          <p:txBody>
            <a:bodyPr wrap="square" lIns="0" rIns="0" tIns="0" bIns="0" anchor="ctr">
              <a:noAutofit/>
            </a:bodyPr>
            <a:lstStyle/>
            <a:p>
              <a:pPr algn="l"/>
              <a:r>
                <a:rPr sz="1300" b="0" i="0">
                  <a:solidFill>
                    <a:srgbClr val="6E6658"/>
                  </a:solidFill>
                  <a:latin typeface="Inter" panose="020B0502030000000004" pitchFamily="34" charset="0"/>
                </a:rPr>
                <a:t>YC prompt: rebuild a tool that was built for humans.</a:t>
              </a:r>
              <a:r>
                <a:rPr sz="1300" b="0" i="0">
                  <a:solidFill>
                    <a:srgbClr val="16130E"/>
                  </a:solidFill>
                  <a:latin typeface="Inter" panose="020B0502030000000004" pitchFamily="34" charset="0"/>
                </a:rPr>
                <a:t>      Search: Google → Exa      ·      Ads: Google Ads → </a:t>
              </a:r>
              <a:r>
                <a:rPr sz="1300" b="1" i="0">
                  <a:solidFill>
                    <a:srgbClr val="16130E"/>
                  </a:solidFill>
                  <a:latin typeface="Inter" panose="020B0502030000000004" pitchFamily="34" charset="0"/>
                </a:rPr>
                <a:t>Bidwire</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600"/>
                                        <p:tgtEl>
                                          <p:spTgt spid="15"/>
                                        </p:tgtEl>
                                      </p:cBhvr>
                                    </p:animEffect>
                                  </p:childTnLst>
                                </p:cTn>
                              </p:par>
                              <p:par>
                                <p:cTn id="8" presetID="42" presetClass="entr" presetSubtype="0" fill="hold" grpId="0" nodeType="withEffect">
                                  <p:stCondLst>
                                    <p:cond delay="6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650"/>
                                        <p:tgtEl>
                                          <p:spTgt spid="16"/>
                                        </p:tgtEl>
                                      </p:cBhvr>
                                    </p:animEffect>
                                    <p:anim calcmode="lin" valueType="num">
                                      <p:cBhvr additive="base">
                                        <p:cTn id="11" dur="650" fill="hold" decel="100000"/>
                                        <p:tgtEl>
                                          <p:spTgt spid="16"/>
                                        </p:tgtEl>
                                        <p:attrNameLst>
                                          <p:attrName>ppt_x</p:attrName>
                                        </p:attrNameLst>
                                      </p:cBhvr>
                                      <p:tavLst>
                                        <p:tav tm="0">
                                          <p:val>
                                            <p:strVal val="#ppt_x"/>
                                          </p:val>
                                        </p:tav>
                                        <p:tav tm="100000">
                                          <p:val>
                                            <p:strVal val="#ppt_x"/>
                                          </p:val>
                                        </p:tav>
                                      </p:tavLst>
                                    </p:anim>
                                    <p:anim calcmode="lin" valueType="num">
                                      <p:cBhvr additive="base">
                                        <p:cTn id="12" dur="650" fill="hold" decel="100000"/>
                                        <p:tgtEl>
                                          <p:spTgt spid="16"/>
                                        </p:tgtEl>
                                        <p:attrNameLst>
                                          <p:attrName>ppt_y</p:attrName>
                                        </p:attrNameLst>
                                      </p:cBhvr>
                                      <p:tavLst>
                                        <p:tav tm="0">
                                          <p:val>
                                            <p:strVal val="#ppt_y+0.025"/>
                                          </p:val>
                                        </p:tav>
                                        <p:tav tm="100000">
                                          <p:val>
                                            <p:strVal val="#ppt_y"/>
                                          </p:val>
                                        </p:tav>
                                      </p:tavLst>
                                    </p:anim>
                                  </p:childTnLst>
                                </p:cTn>
                              </p:par>
                              <p:par>
                                <p:cTn id="13" presetID="10" presetClass="entr" presetSubtype="0" fill="hold" grpId="0" nodeType="withEffect">
                                  <p:stCondLst>
                                    <p:cond delay="30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42" presetClass="entr" presetSubtype="0" fill="hold" grpId="0" nodeType="withEffect">
                                  <p:stCondLst>
                                    <p:cond delay="50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50"/>
                                        <p:tgtEl>
                                          <p:spTgt spid="18"/>
                                        </p:tgtEl>
                                      </p:cBhvr>
                                    </p:animEffect>
                                    <p:anim calcmode="lin" valueType="num">
                                      <p:cBhvr additive="base">
                                        <p:cTn id="19" dur="550" fill="hold" decel="100000"/>
                                        <p:tgtEl>
                                          <p:spTgt spid="18"/>
                                        </p:tgtEl>
                                        <p:attrNameLst>
                                          <p:attrName>ppt_x</p:attrName>
                                        </p:attrNameLst>
                                      </p:cBhvr>
                                      <p:tavLst>
                                        <p:tav tm="0">
                                          <p:val>
                                            <p:strVal val="#ppt_x"/>
                                          </p:val>
                                        </p:tav>
                                        <p:tav tm="100000">
                                          <p:val>
                                            <p:strVal val="#ppt_x"/>
                                          </p:val>
                                        </p:tav>
                                      </p:tavLst>
                                    </p:anim>
                                    <p:anim calcmode="lin" valueType="num">
                                      <p:cBhvr additive="base">
                                        <p:cTn id="20" dur="550" fill="hold" decel="100000"/>
                                        <p:tgtEl>
                                          <p:spTgt spid="18"/>
                                        </p:tgtEl>
                                        <p:attrNameLst>
                                          <p:attrName>ppt_y</p:attrName>
                                        </p:attrNameLst>
                                      </p:cBhvr>
                                      <p:tavLst>
                                        <p:tav tm="0">
                                          <p:val>
                                            <p:strVal val="#ppt_y+0.025"/>
                                          </p:val>
                                        </p:tav>
                                        <p:tav tm="100000">
                                          <p:val>
                                            <p:strVal val="#ppt_y"/>
                                          </p:val>
                                        </p:tav>
                                      </p:tavLst>
                                    </p:anim>
                                  </p:childTnLst>
                                </p:cTn>
                              </p:par>
                              <p:par>
                                <p:cTn id="21" presetID="53" presetClass="entr" presetSubtype="16" fill="hold" grpId="0" nodeType="withEffect">
                                  <p:stCondLst>
                                    <p:cond delay="110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180"/>
                                        <p:tgtEl>
                                          <p:spTgt spid="23"/>
                                        </p:tgtEl>
                                      </p:cBhvr>
                                    </p:animEffect>
                                    <p:anim calcmode="lin" valueType="num">
                                      <p:cBhvr additive="base">
                                        <p:cTn id="24" dur="300" fill="hold" decel="100000"/>
                                        <p:tgtEl>
                                          <p:spTgt spid="23"/>
                                        </p:tgtEl>
                                        <p:attrNameLst>
                                          <p:attrName>ppt_w</p:attrName>
                                        </p:attrNameLst>
                                      </p:cBhvr>
                                      <p:tavLst>
                                        <p:tav tm="0">
                                          <p:val>
                                            <p:strVal val="#ppt_w*0.85"/>
                                          </p:val>
                                        </p:tav>
                                        <p:tav tm="100000">
                                          <p:val>
                                            <p:strVal val="#ppt_w"/>
                                          </p:val>
                                        </p:tav>
                                      </p:tavLst>
                                    </p:anim>
                                    <p:anim calcmode="lin" valueType="num">
                                      <p:cBhvr additive="base">
                                        <p:cTn id="25" dur="300" fill="hold" decel="100000"/>
                                        <p:tgtEl>
                                          <p:spTgt spid="23"/>
                                        </p:tgtEl>
                                        <p:attrNameLst>
                                          <p:attrName>ppt_h</p:attrName>
                                        </p:attrNameLst>
                                      </p:cBhvr>
                                      <p:tavLst>
                                        <p:tav tm="0">
                                          <p:val>
                                            <p:strVal val="#ppt_h*0.85"/>
                                          </p:val>
                                        </p:tav>
                                        <p:tav tm="100000">
                                          <p:val>
                                            <p:strVal val="#ppt_h"/>
                                          </p:val>
                                        </p:tav>
                                      </p:tavLst>
                                    </p:anim>
                                  </p:childTnLst>
                                </p:cTn>
                              </p:par>
                              <p:par>
                                <p:cTn id="26" presetID="53" presetClass="entr" presetSubtype="16" fill="hold" grpId="0" nodeType="withEffect">
                                  <p:stCondLst>
                                    <p:cond delay="120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180"/>
                                        <p:tgtEl>
                                          <p:spTgt spid="26"/>
                                        </p:tgtEl>
                                      </p:cBhvr>
                                    </p:animEffect>
                                    <p:anim calcmode="lin" valueType="num">
                                      <p:cBhvr additive="base">
                                        <p:cTn id="29" dur="300" fill="hold" decel="100000"/>
                                        <p:tgtEl>
                                          <p:spTgt spid="26"/>
                                        </p:tgtEl>
                                        <p:attrNameLst>
                                          <p:attrName>ppt_w</p:attrName>
                                        </p:attrNameLst>
                                      </p:cBhvr>
                                      <p:tavLst>
                                        <p:tav tm="0">
                                          <p:val>
                                            <p:strVal val="#ppt_w*0.85"/>
                                          </p:val>
                                        </p:tav>
                                        <p:tav tm="100000">
                                          <p:val>
                                            <p:strVal val="#ppt_w"/>
                                          </p:val>
                                        </p:tav>
                                      </p:tavLst>
                                    </p:anim>
                                    <p:anim calcmode="lin" valueType="num">
                                      <p:cBhvr additive="base">
                                        <p:cTn id="30" dur="300" fill="hold" decel="100000"/>
                                        <p:tgtEl>
                                          <p:spTgt spid="26"/>
                                        </p:tgtEl>
                                        <p:attrNameLst>
                                          <p:attrName>ppt_h</p:attrName>
                                        </p:attrNameLst>
                                      </p:cBhvr>
                                      <p:tavLst>
                                        <p:tav tm="0">
                                          <p:val>
                                            <p:strVal val="#ppt_h*0.85"/>
                                          </p:val>
                                        </p:tav>
                                        <p:tav tm="100000">
                                          <p:val>
                                            <p:strVal val="#ppt_h"/>
                                          </p:val>
                                        </p:tav>
                                      </p:tavLst>
                                    </p:anim>
                                  </p:childTnLst>
                                </p:cTn>
                              </p:par>
                              <p:par>
                                <p:cTn id="31" presetID="53" presetClass="entr" presetSubtype="16" fill="hold" grpId="0" nodeType="withEffect">
                                  <p:stCondLst>
                                    <p:cond delay="130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180"/>
                                        <p:tgtEl>
                                          <p:spTgt spid="29"/>
                                        </p:tgtEl>
                                      </p:cBhvr>
                                    </p:animEffect>
                                    <p:anim calcmode="lin" valueType="num">
                                      <p:cBhvr additive="base">
                                        <p:cTn id="34" dur="300" fill="hold" decel="100000"/>
                                        <p:tgtEl>
                                          <p:spTgt spid="29"/>
                                        </p:tgtEl>
                                        <p:attrNameLst>
                                          <p:attrName>ppt_w</p:attrName>
                                        </p:attrNameLst>
                                      </p:cBhvr>
                                      <p:tavLst>
                                        <p:tav tm="0">
                                          <p:val>
                                            <p:strVal val="#ppt_w*0.85"/>
                                          </p:val>
                                        </p:tav>
                                        <p:tav tm="100000">
                                          <p:val>
                                            <p:strVal val="#ppt_w"/>
                                          </p:val>
                                        </p:tav>
                                      </p:tavLst>
                                    </p:anim>
                                    <p:anim calcmode="lin" valueType="num">
                                      <p:cBhvr additive="base">
                                        <p:cTn id="35" dur="300" fill="hold" decel="100000"/>
                                        <p:tgtEl>
                                          <p:spTgt spid="29"/>
                                        </p:tgtEl>
                                        <p:attrNameLst>
                                          <p:attrName>ppt_h</p:attrName>
                                        </p:attrNameLst>
                                      </p:cBhvr>
                                      <p:tavLst>
                                        <p:tav tm="0">
                                          <p:val>
                                            <p:strVal val="#ppt_h*0.85"/>
                                          </p:val>
                                        </p:tav>
                                        <p:tav tm="100000">
                                          <p:val>
                                            <p:strVal val="#ppt_h"/>
                                          </p:val>
                                        </p:tav>
                                      </p:tavLst>
                                    </p:anim>
                                  </p:childTnLst>
                                </p:cTn>
                              </p:par>
                              <p:par>
                                <p:cTn id="36" presetID="42" presetClass="entr" presetSubtype="0" fill="hold" grpId="0" nodeType="withEffect">
                                  <p:stCondLst>
                                    <p:cond delay="65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550"/>
                                        <p:tgtEl>
                                          <p:spTgt spid="32"/>
                                        </p:tgtEl>
                                      </p:cBhvr>
                                    </p:animEffect>
                                    <p:anim calcmode="lin" valueType="num">
                                      <p:cBhvr additive="base">
                                        <p:cTn id="39" dur="550" fill="hold" decel="100000"/>
                                        <p:tgtEl>
                                          <p:spTgt spid="32"/>
                                        </p:tgtEl>
                                        <p:attrNameLst>
                                          <p:attrName>ppt_x</p:attrName>
                                        </p:attrNameLst>
                                      </p:cBhvr>
                                      <p:tavLst>
                                        <p:tav tm="0">
                                          <p:val>
                                            <p:strVal val="#ppt_x"/>
                                          </p:val>
                                        </p:tav>
                                        <p:tav tm="100000">
                                          <p:val>
                                            <p:strVal val="#ppt_x"/>
                                          </p:val>
                                        </p:tav>
                                      </p:tavLst>
                                    </p:anim>
                                    <p:anim calcmode="lin" valueType="num">
                                      <p:cBhvr additive="base">
                                        <p:cTn id="40" dur="550" fill="hold" decel="100000"/>
                                        <p:tgtEl>
                                          <p:spTgt spid="32"/>
                                        </p:tgtEl>
                                        <p:attrNameLst>
                                          <p:attrName>ppt_y</p:attrName>
                                        </p:attrNameLst>
                                      </p:cBhvr>
                                      <p:tavLst>
                                        <p:tav tm="0">
                                          <p:val>
                                            <p:strVal val="#ppt_y+0.025"/>
                                          </p:val>
                                        </p:tav>
                                        <p:tav tm="100000">
                                          <p:val>
                                            <p:strVal val="#ppt_y"/>
                                          </p:val>
                                        </p:tav>
                                      </p:tavLst>
                                    </p:anim>
                                  </p:childTnLst>
                                </p:cTn>
                              </p:par>
                              <p:par>
                                <p:cTn id="41" presetID="22" presetClass="entr" presetSubtype="8" fill="hold" grpId="0" nodeType="withEffect">
                                  <p:stCondLst>
                                    <p:cond delay="1150"/>
                                  </p:stCondLst>
                                  <p:childTnLst>
                                    <p:set>
                                      <p:cBhvr>
                                        <p:cTn id="42" dur="1" fill="hold">
                                          <p:stCondLst>
                                            <p:cond delay="0"/>
                                          </p:stCondLst>
                                        </p:cTn>
                                        <p:tgtEl>
                                          <p:spTgt spid="37"/>
                                        </p:tgtEl>
                                        <p:attrNameLst>
                                          <p:attrName>style.visibility</p:attrName>
                                        </p:attrNameLst>
                                      </p:cBhvr>
                                      <p:to>
                                        <p:strVal val="visible"/>
                                      </p:to>
                                    </p:set>
                                    <p:animEffect transition="in" filter="wipe(left)">
                                      <p:cBhvr>
                                        <p:cTn id="43" dur="400"/>
                                        <p:tgtEl>
                                          <p:spTgt spid="37"/>
                                        </p:tgtEl>
                                      </p:cBhvr>
                                    </p:animEffect>
                                  </p:childTnLst>
                                </p:cTn>
                              </p:par>
                              <p:par>
                                <p:cTn id="44" presetID="22" presetClass="entr" presetSubtype="8" fill="hold" grpId="0" nodeType="withEffect">
                                  <p:stCondLst>
                                    <p:cond delay="1270"/>
                                  </p:stCondLst>
                                  <p:childTnLst>
                                    <p:set>
                                      <p:cBhvr>
                                        <p:cTn id="45" dur="1" fill="hold">
                                          <p:stCondLst>
                                            <p:cond delay="0"/>
                                          </p:stCondLst>
                                        </p:cTn>
                                        <p:tgtEl>
                                          <p:spTgt spid="40"/>
                                        </p:tgtEl>
                                        <p:attrNameLst>
                                          <p:attrName>style.visibility</p:attrName>
                                        </p:attrNameLst>
                                      </p:cBhvr>
                                      <p:to>
                                        <p:strVal val="visible"/>
                                      </p:to>
                                    </p:set>
                                    <p:animEffect transition="in" filter="wipe(left)">
                                      <p:cBhvr>
                                        <p:cTn id="46" dur="400"/>
                                        <p:tgtEl>
                                          <p:spTgt spid="40"/>
                                        </p:tgtEl>
                                      </p:cBhvr>
                                    </p:animEffect>
                                  </p:childTnLst>
                                </p:cTn>
                              </p:par>
                              <p:par>
                                <p:cTn id="47" presetID="22" presetClass="entr" presetSubtype="8" fill="hold" grpId="0" nodeType="withEffect">
                                  <p:stCondLst>
                                    <p:cond delay="1390"/>
                                  </p:stCondLst>
                                  <p:childTnLst>
                                    <p:set>
                                      <p:cBhvr>
                                        <p:cTn id="48" dur="1" fill="hold">
                                          <p:stCondLst>
                                            <p:cond delay="0"/>
                                          </p:stCondLst>
                                        </p:cTn>
                                        <p:tgtEl>
                                          <p:spTgt spid="43"/>
                                        </p:tgtEl>
                                        <p:attrNameLst>
                                          <p:attrName>style.visibility</p:attrName>
                                        </p:attrNameLst>
                                      </p:cBhvr>
                                      <p:to>
                                        <p:strVal val="visible"/>
                                      </p:to>
                                    </p:set>
                                    <p:animEffect transition="in" filter="wipe(left)">
                                      <p:cBhvr>
                                        <p:cTn id="49" dur="400"/>
                                        <p:tgtEl>
                                          <p:spTgt spid="43"/>
                                        </p:tgtEl>
                                      </p:cBhvr>
                                    </p:animEffect>
                                  </p:childTnLst>
                                </p:cTn>
                              </p:par>
                              <p:par>
                                <p:cTn id="50" presetID="22" presetClass="entr" presetSubtype="8" fill="hold" grpId="0" nodeType="withEffect">
                                  <p:stCondLst>
                                    <p:cond delay="1510"/>
                                  </p:stCondLst>
                                  <p:childTnLst>
                                    <p:set>
                                      <p:cBhvr>
                                        <p:cTn id="51" dur="1" fill="hold">
                                          <p:stCondLst>
                                            <p:cond delay="0"/>
                                          </p:stCondLst>
                                        </p:cTn>
                                        <p:tgtEl>
                                          <p:spTgt spid="46"/>
                                        </p:tgtEl>
                                        <p:attrNameLst>
                                          <p:attrName>style.visibility</p:attrName>
                                        </p:attrNameLst>
                                      </p:cBhvr>
                                      <p:to>
                                        <p:strVal val="visible"/>
                                      </p:to>
                                    </p:set>
                                    <p:animEffect transition="in" filter="wipe(left)">
                                      <p:cBhvr>
                                        <p:cTn id="52" dur="400"/>
                                        <p:tgtEl>
                                          <p:spTgt spid="46"/>
                                        </p:tgtEl>
                                      </p:cBhvr>
                                    </p:animEffect>
                                  </p:childTnLst>
                                </p:cTn>
                              </p:par>
                              <p:par>
                                <p:cTn id="53" presetID="22" presetClass="entr" presetSubtype="8" fill="hold" grpId="0" nodeType="withEffect">
                                  <p:stCondLst>
                                    <p:cond delay="1630"/>
                                  </p:stCondLst>
                                  <p:childTnLst>
                                    <p:set>
                                      <p:cBhvr>
                                        <p:cTn id="54" dur="1" fill="hold">
                                          <p:stCondLst>
                                            <p:cond delay="0"/>
                                          </p:stCondLst>
                                        </p:cTn>
                                        <p:tgtEl>
                                          <p:spTgt spid="49"/>
                                        </p:tgtEl>
                                        <p:attrNameLst>
                                          <p:attrName>style.visibility</p:attrName>
                                        </p:attrNameLst>
                                      </p:cBhvr>
                                      <p:to>
                                        <p:strVal val="visible"/>
                                      </p:to>
                                    </p:set>
                                    <p:animEffect transition="in" filter="wipe(left)">
                                      <p:cBhvr>
                                        <p:cTn id="55" dur="400"/>
                                        <p:tgtEl>
                                          <p:spTgt spid="49"/>
                                        </p:tgtEl>
                                      </p:cBhvr>
                                    </p:animEffect>
                                  </p:childTnLst>
                                </p:cTn>
                              </p:par>
                              <p:par>
                                <p:cTn id="56" presetID="42" presetClass="entr" presetSubtype="0" fill="hold" grpId="0" nodeType="withEffect">
                                  <p:stCondLst>
                                    <p:cond delay="800"/>
                                  </p:stCondLst>
                                  <p:childTnLst>
                                    <p:set>
                                      <p:cBhvr>
                                        <p:cTn id="57" dur="1" fill="hold">
                                          <p:stCondLst>
                                            <p:cond delay="0"/>
                                          </p:stCondLst>
                                        </p:cTn>
                                        <p:tgtEl>
                                          <p:spTgt spid="52"/>
                                        </p:tgtEl>
                                        <p:attrNameLst>
                                          <p:attrName>style.visibility</p:attrName>
                                        </p:attrNameLst>
                                      </p:cBhvr>
                                      <p:to>
                                        <p:strVal val="visible"/>
                                      </p:to>
                                    </p:set>
                                    <p:animEffect transition="in" filter="fade">
                                      <p:cBhvr>
                                        <p:cTn id="58" dur="550"/>
                                        <p:tgtEl>
                                          <p:spTgt spid="52"/>
                                        </p:tgtEl>
                                      </p:cBhvr>
                                    </p:animEffect>
                                    <p:anim calcmode="lin" valueType="num">
                                      <p:cBhvr additive="base">
                                        <p:cTn id="59" dur="550" fill="hold" decel="100000"/>
                                        <p:tgtEl>
                                          <p:spTgt spid="52"/>
                                        </p:tgtEl>
                                        <p:attrNameLst>
                                          <p:attrName>ppt_x</p:attrName>
                                        </p:attrNameLst>
                                      </p:cBhvr>
                                      <p:tavLst>
                                        <p:tav tm="0">
                                          <p:val>
                                            <p:strVal val="#ppt_x"/>
                                          </p:val>
                                        </p:tav>
                                        <p:tav tm="100000">
                                          <p:val>
                                            <p:strVal val="#ppt_x"/>
                                          </p:val>
                                        </p:tav>
                                      </p:tavLst>
                                    </p:anim>
                                    <p:anim calcmode="lin" valueType="num">
                                      <p:cBhvr additive="base">
                                        <p:cTn id="60" dur="550" fill="hold" decel="100000"/>
                                        <p:tgtEl>
                                          <p:spTgt spid="52"/>
                                        </p:tgtEl>
                                        <p:attrNameLst>
                                          <p:attrName>ppt_y</p:attrName>
                                        </p:attrNameLst>
                                      </p:cBhvr>
                                      <p:tavLst>
                                        <p:tav tm="0">
                                          <p:val>
                                            <p:strVal val="#ppt_y+0.025"/>
                                          </p:val>
                                        </p:tav>
                                        <p:tav tm="100000">
                                          <p:val>
                                            <p:strVal val="#ppt_y"/>
                                          </p:val>
                                        </p:tav>
                                      </p:tavLst>
                                    </p:anim>
                                  </p:childTnLst>
                                </p:cTn>
                              </p:par>
                              <p:par>
                                <p:cTn id="61" presetID="53" presetClass="entr" presetSubtype="16" fill="hold" grpId="0" nodeType="withEffect">
                                  <p:stCondLst>
                                    <p:cond delay="1550"/>
                                  </p:stCondLst>
                                  <p:childTnLst>
                                    <p:set>
                                      <p:cBhvr>
                                        <p:cTn id="62" dur="1" fill="hold">
                                          <p:stCondLst>
                                            <p:cond delay="0"/>
                                          </p:stCondLst>
                                        </p:cTn>
                                        <p:tgtEl>
                                          <p:spTgt spid="57"/>
                                        </p:tgtEl>
                                        <p:attrNameLst>
                                          <p:attrName>style.visibility</p:attrName>
                                        </p:attrNameLst>
                                      </p:cBhvr>
                                      <p:to>
                                        <p:strVal val="visible"/>
                                      </p:to>
                                    </p:set>
                                    <p:animEffect transition="in" filter="fade">
                                      <p:cBhvr>
                                        <p:cTn id="63" dur="180"/>
                                        <p:tgtEl>
                                          <p:spTgt spid="57"/>
                                        </p:tgtEl>
                                      </p:cBhvr>
                                    </p:animEffect>
                                    <p:anim calcmode="lin" valueType="num">
                                      <p:cBhvr additive="base">
                                        <p:cTn id="64" dur="300" fill="hold" decel="100000"/>
                                        <p:tgtEl>
                                          <p:spTgt spid="57"/>
                                        </p:tgtEl>
                                        <p:attrNameLst>
                                          <p:attrName>ppt_w</p:attrName>
                                        </p:attrNameLst>
                                      </p:cBhvr>
                                      <p:tavLst>
                                        <p:tav tm="0">
                                          <p:val>
                                            <p:strVal val="#ppt_w*1.35"/>
                                          </p:val>
                                        </p:tav>
                                        <p:tav tm="100000">
                                          <p:val>
                                            <p:strVal val="#ppt_w"/>
                                          </p:val>
                                        </p:tav>
                                      </p:tavLst>
                                    </p:anim>
                                    <p:anim calcmode="lin" valueType="num">
                                      <p:cBhvr additive="base">
                                        <p:cTn id="65" dur="300" fill="hold" decel="100000"/>
                                        <p:tgtEl>
                                          <p:spTgt spid="57"/>
                                        </p:tgtEl>
                                        <p:attrNameLst>
                                          <p:attrName>ppt_h</p:attrName>
                                        </p:attrNameLst>
                                      </p:cBhvr>
                                      <p:tavLst>
                                        <p:tav tm="0">
                                          <p:val>
                                            <p:strVal val="#ppt_h*1.35"/>
                                          </p:val>
                                        </p:tav>
                                        <p:tav tm="100000">
                                          <p:val>
                                            <p:strVal val="#ppt_h"/>
                                          </p:val>
                                        </p:tav>
                                      </p:tavLst>
                                    </p:anim>
                                  </p:childTnLst>
                                </p:cTn>
                              </p:par>
                              <p:par>
                                <p:cTn id="66" presetID="10" presetClass="entr" presetSubtype="0" fill="hold" grpId="0" nodeType="withEffect">
                                  <p:stCondLst>
                                    <p:cond delay="1650"/>
                                  </p:stCondLst>
                                  <p:childTnLst>
                                    <p:set>
                                      <p:cBhvr>
                                        <p:cTn id="67" dur="1" fill="hold">
                                          <p:stCondLst>
                                            <p:cond delay="0"/>
                                          </p:stCondLst>
                                        </p:cTn>
                                        <p:tgtEl>
                                          <p:spTgt spid="60"/>
                                        </p:tgtEl>
                                        <p:attrNameLst>
                                          <p:attrName>style.visibility</p:attrName>
                                        </p:attrNameLst>
                                      </p:cBhvr>
                                      <p:to>
                                        <p:strVal val="visible"/>
                                      </p:to>
                                    </p:set>
                                    <p:animEffect transition="in" filter="fade">
                                      <p:cBhvr>
                                        <p:cTn id="68" dur="300"/>
                                        <p:tgtEl>
                                          <p:spTgt spid="60"/>
                                        </p:tgtEl>
                                      </p:cBhvr>
                                    </p:animEffect>
                                  </p:childTnLst>
                                </p:cTn>
                              </p:par>
                              <p:par>
                                <p:cTn id="69" presetID="10" presetClass="entr" presetSubtype="0" fill="hold" grpId="0" nodeType="withEffect">
                                  <p:stCondLst>
                                    <p:cond delay="1850"/>
                                  </p:stCondLst>
                                  <p:childTnLst>
                                    <p:set>
                                      <p:cBhvr>
                                        <p:cTn id="70" dur="1" fill="hold">
                                          <p:stCondLst>
                                            <p:cond delay="0"/>
                                          </p:stCondLst>
                                        </p:cTn>
                                        <p:tgtEl>
                                          <p:spTgt spid="61"/>
                                        </p:tgtEl>
                                        <p:attrNameLst>
                                          <p:attrName>style.visibility</p:attrName>
                                        </p:attrNameLst>
                                      </p:cBhvr>
                                      <p:to>
                                        <p:strVal val="visible"/>
                                      </p:to>
                                    </p:set>
                                    <p:animEffect transition="in" filter="fade">
                                      <p:cBhvr>
                                        <p:cTn id="71"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60"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grpSp>
        <p:nvGrpSpPr>
          <p:cNvPr id="2" name="Group 1"/>
          <p:cNvGrpSpPr/>
          <p:nvPr/>
        </p:nvGrpSpPr>
        <p:grpSpPr>
          <a:xfrm>
            <a:off x="685800" y="384048"/>
            <a:ext cx="292608" cy="292608"/>
            <a:chOff x="685800" y="384048"/>
            <a:chExt cx="292608" cy="292608"/>
          </a:xfrm>
        </p:grpSpPr>
        <p:sp>
          <p:nvSpPr>
            <p:cNvPr id="3" name="Oval 2"/>
            <p:cNvSpPr/>
            <p:nvPr/>
          </p:nvSpPr>
          <p:spPr>
            <a:xfrm>
              <a:off x="685800" y="384048"/>
              <a:ext cx="292608" cy="292608"/>
            </a:xfrm>
            <a:prstGeom prst="ellipse">
              <a:avLst/>
            </a:prstGeom>
            <a:solidFill>
              <a:srgbClr val="16130E"/>
            </a:solidFill>
            <a:ln>
              <a:noFill/>
            </a:ln>
          </p:spPr>
          <p:txBody>
            <a:bodyPr rtlCol="0" anchor="ctr"/>
            <a:lstStyle/>
            <a:p>
              <a:pPr algn="ctr"/>
            </a:p>
          </p:txBody>
        </p:sp>
        <p:sp>
          <p:nvSpPr>
            <p:cNvPr id="4" name="Freeform 3"/>
            <p:cNvSpPr/>
            <p:nvPr/>
          </p:nvSpPr>
          <p:spPr>
            <a:xfrm>
              <a:off x="772852" y="517188"/>
              <a:ext cx="72424" cy="72424"/>
            </a:xfrm>
            <a:custGeom>
              <a:avLst/>
              <a:gdLst/>
              <a:ahLst/>
              <a:cxnLst/>
              <a:rect l="l" t="t" r="r" b="b"/>
              <a:pathLst>
                <a:path w="11" h="11">
                  <a:moveTo>
                    <a:pt x="11" y="2"/>
                  </a:moveTo>
                  <a:lnTo>
                    <a:pt x="3" y="10"/>
                  </a:lnTo>
                  <a:lnTo>
                    <a:pt x="2" y="11"/>
                  </a:lnTo>
                  <a:lnTo>
                    <a:pt x="1" y="10"/>
                  </a:lnTo>
                  <a:lnTo>
                    <a:pt x="0" y="9"/>
                  </a:lnTo>
                  <a:lnTo>
                    <a:pt x="1" y="8"/>
                  </a:lnTo>
                  <a:lnTo>
                    <a:pt x="9" y="0"/>
                  </a:lnTo>
                </a:path>
              </a:pathLst>
            </a:custGeom>
            <a:noFill/>
            <a:ln w="13167" cap="rnd">
              <a:solidFill>
                <a:srgbClr val="F4EFE4"/>
              </a:solidFill>
              <a:round/>
            </a:ln>
          </p:spPr>
          <p:txBody>
            <a:bodyPr rtlCol="0" anchor="ctr"/>
            <a:lstStyle/>
            <a:p>
              <a:pPr algn="ctr"/>
            </a:p>
          </p:txBody>
        </p:sp>
        <p:sp>
          <p:nvSpPr>
            <p:cNvPr id="5" name="Freeform 4"/>
            <p:cNvSpPr/>
            <p:nvPr/>
          </p:nvSpPr>
          <p:spPr>
            <a:xfrm>
              <a:off x="858444" y="517188"/>
              <a:ext cx="39504" cy="39504"/>
            </a:xfrm>
            <a:custGeom>
              <a:avLst/>
              <a:gdLst/>
              <a:ahLst/>
              <a:cxnLst/>
              <a:rect l="l" t="t" r="r" b="b"/>
              <a:pathLst>
                <a:path w="6" h="6">
                  <a:moveTo>
                    <a:pt x="0" y="6"/>
                  </a:moveTo>
                  <a:lnTo>
                    <a:pt x="6" y="0"/>
                  </a:lnTo>
                </a:path>
              </a:pathLst>
            </a:custGeom>
            <a:noFill/>
            <a:ln w="13167" cap="rnd">
              <a:solidFill>
                <a:srgbClr val="F4EFE4"/>
              </a:solidFill>
              <a:round/>
            </a:ln>
          </p:spPr>
          <p:txBody>
            <a:bodyPr rtlCol="0" anchor="ctr"/>
            <a:lstStyle/>
            <a:p>
              <a:pPr algn="ctr"/>
            </a:p>
          </p:txBody>
        </p:sp>
        <p:sp>
          <p:nvSpPr>
            <p:cNvPr id="6" name="Freeform 5"/>
            <p:cNvSpPr/>
            <p:nvPr/>
          </p:nvSpPr>
          <p:spPr>
            <a:xfrm>
              <a:off x="805772" y="464516"/>
              <a:ext cx="39504" cy="39504"/>
            </a:xfrm>
            <a:custGeom>
              <a:avLst/>
              <a:gdLst/>
              <a:ahLst/>
              <a:cxnLst/>
              <a:rect l="l" t="t" r="r" b="b"/>
              <a:pathLst>
                <a:path w="6" h="6">
                  <a:moveTo>
                    <a:pt x="0" y="6"/>
                  </a:moveTo>
                  <a:lnTo>
                    <a:pt x="6" y="0"/>
                  </a:lnTo>
                </a:path>
              </a:pathLst>
            </a:custGeom>
            <a:noFill/>
            <a:ln w="13167" cap="rnd">
              <a:solidFill>
                <a:srgbClr val="F4EFE4"/>
              </a:solidFill>
              <a:round/>
            </a:ln>
          </p:spPr>
          <p:txBody>
            <a:bodyPr rtlCol="0" anchor="ctr"/>
            <a:lstStyle/>
            <a:p>
              <a:pPr algn="ctr"/>
            </a:p>
          </p:txBody>
        </p:sp>
        <p:sp>
          <p:nvSpPr>
            <p:cNvPr id="7" name="Freeform 6"/>
            <p:cNvSpPr/>
            <p:nvPr/>
          </p:nvSpPr>
          <p:spPr>
            <a:xfrm>
              <a:off x="812356" y="497436"/>
              <a:ext cx="52672" cy="52672"/>
            </a:xfrm>
            <a:custGeom>
              <a:avLst/>
              <a:gdLst/>
              <a:ahLst/>
              <a:cxnLst/>
              <a:rect l="l" t="t" r="r" b="b"/>
              <a:pathLst>
                <a:path w="8" h="8">
                  <a:moveTo>
                    <a:pt x="0" y="0"/>
                  </a:moveTo>
                  <a:lnTo>
                    <a:pt x="8" y="8"/>
                  </a:lnTo>
                </a:path>
              </a:pathLst>
            </a:custGeom>
            <a:noFill/>
            <a:ln w="13167" cap="rnd">
              <a:solidFill>
                <a:srgbClr val="F4EFE4"/>
              </a:solidFill>
              <a:round/>
            </a:ln>
          </p:spPr>
          <p:txBody>
            <a:bodyPr rtlCol="0" anchor="ctr"/>
            <a:lstStyle/>
            <a:p>
              <a:pPr algn="ctr"/>
            </a:p>
          </p:txBody>
        </p:sp>
        <p:sp>
          <p:nvSpPr>
            <p:cNvPr id="8" name="Freeform 7"/>
            <p:cNvSpPr/>
            <p:nvPr/>
          </p:nvSpPr>
          <p:spPr>
            <a:xfrm>
              <a:off x="838692" y="471100"/>
              <a:ext cx="52672" cy="52672"/>
            </a:xfrm>
            <a:custGeom>
              <a:avLst/>
              <a:gdLst/>
              <a:ahLst/>
              <a:cxnLst/>
              <a:rect l="l" t="t" r="r" b="b"/>
              <a:pathLst>
                <a:path w="8" h="8">
                  <a:moveTo>
                    <a:pt x="8" y="8"/>
                  </a:moveTo>
                  <a:lnTo>
                    <a:pt x="0" y="0"/>
                  </a:lnTo>
                </a:path>
              </a:pathLst>
            </a:custGeom>
            <a:noFill/>
            <a:ln w="13167" cap="rnd">
              <a:solidFill>
                <a:srgbClr val="F4EFE4"/>
              </a:solidFill>
              <a:round/>
            </a:ln>
          </p:spPr>
          <p:txBody>
            <a:bodyPr rtlCol="0" anchor="ctr"/>
            <a:lstStyle/>
            <a:p>
              <a:pPr algn="ctr"/>
            </a:p>
          </p:txBody>
        </p:sp>
      </p:grpSp>
      <p:sp>
        <p:nvSpPr>
          <p:cNvPr id="9" name="TextBox 8"/>
          <p:cNvSpPr txBox="1"/>
          <p:nvPr/>
        </p:nvSpPr>
        <p:spPr>
          <a:xfrm>
            <a:off x="1060704" y="347472"/>
            <a:ext cx="2286000" cy="365760"/>
          </a:xfrm>
          <a:prstGeom prst="rect">
            <a:avLst/>
          </a:prstGeom>
          <a:noFill/>
        </p:spPr>
        <p:txBody>
          <a:bodyPr wrap="square" lIns="0" rIns="0" tIns="0" bIns="0" anchor="ctr">
            <a:noAutofit/>
          </a:bodyPr>
          <a:lstStyle/>
          <a:p>
            <a:pPr algn="l"/>
            <a:r>
              <a:rPr sz="1700" b="0" i="0">
                <a:solidFill>
                  <a:srgbClr val="16130E"/>
                </a:solidFill>
                <a:latin typeface="Georgia" panose="02040502050405020303" pitchFamily="18" charset="0"/>
              </a:rPr>
              <a:t>Bidwire</a:t>
            </a:r>
          </a:p>
        </p:txBody>
      </p:sp>
      <p:sp>
        <p:nvSpPr>
          <p:cNvPr id="10" name="TextBox 9"/>
          <p:cNvSpPr txBox="1"/>
          <p:nvPr/>
        </p:nvSpPr>
        <p:spPr>
          <a:xfrm>
            <a:off x="6019495" y="420624"/>
            <a:ext cx="5486400" cy="219456"/>
          </a:xfrm>
          <a:prstGeom prst="rect">
            <a:avLst/>
          </a:prstGeom>
          <a:noFill/>
        </p:spPr>
        <p:txBody>
          <a:bodyPr wrap="square" lIns="0" rIns="0" tIns="0" bIns="0" anchor="ctr">
            <a:noAutofit/>
          </a:bodyPr>
          <a:lstStyle/>
          <a:p>
            <a:pPr algn="r"/>
            <a:r>
              <a:rPr sz="850" b="1" i="0" spc="110">
                <a:solidFill>
                  <a:srgbClr val="9C937F"/>
                </a:solidFill>
                <a:latin typeface="Inter" panose="020B0502030000000004" pitchFamily="34" charset="0"/>
              </a:rPr>
              <a:t>LOT 04  ·  HOW A LOT SELLS</a:t>
            </a:r>
          </a:p>
        </p:txBody>
      </p:sp>
      <p:sp>
        <p:nvSpPr>
          <p:cNvPr id="11" name="Rectangle 10"/>
          <p:cNvSpPr/>
          <p:nvPr/>
        </p:nvSpPr>
        <p:spPr>
          <a:xfrm>
            <a:off x="685800" y="822960"/>
            <a:ext cx="10820095" cy="7315"/>
          </a:xfrm>
          <a:prstGeom prst="rect">
            <a:avLst/>
          </a:prstGeom>
          <a:solidFill>
            <a:srgbClr val="E2D9C6"/>
          </a:solidFill>
          <a:ln>
            <a:noFill/>
          </a:ln>
        </p:spPr>
        <p:txBody>
          <a:bodyPr rtlCol="0" anchor="ctr"/>
          <a:lstStyle/>
          <a:p>
            <a:pPr algn="ctr"/>
          </a:p>
        </p:txBody>
      </p:sp>
      <p:sp>
        <p:nvSpPr>
          <p:cNvPr id="12" name="TextBox 11"/>
          <p:cNvSpPr txBox="1"/>
          <p:nvPr/>
        </p:nvSpPr>
        <p:spPr>
          <a:xfrm>
            <a:off x="685800" y="6400800"/>
            <a:ext cx="6400800" cy="237744"/>
          </a:xfrm>
          <a:prstGeom prst="rect">
            <a:avLst/>
          </a:prstGeom>
          <a:noFill/>
        </p:spPr>
        <p:txBody>
          <a:bodyPr wrap="square" lIns="0" rIns="0" tIns="0" bIns="0" anchor="ctr">
            <a:noAutofit/>
          </a:bodyPr>
          <a:lstStyle/>
          <a:p>
            <a:pPr algn="l"/>
            <a:r>
              <a:rPr sz="850" b="0" i="0">
                <a:solidFill>
                  <a:srgbClr val="9C937F"/>
                </a:solidFill>
                <a:latin typeface="Inter" panose="020B0502030000000004" pitchFamily="34" charset="0"/>
              </a:rPr>
              <a:t>Bidwire · the auction house for AI agents · YC Make Something Agents Want · Oct 18, 2026</a:t>
            </a:r>
          </a:p>
        </p:txBody>
      </p:sp>
      <p:sp>
        <p:nvSpPr>
          <p:cNvPr id="13" name="TextBox 12"/>
          <p:cNvSpPr txBox="1"/>
          <p:nvPr/>
        </p:nvSpPr>
        <p:spPr>
          <a:xfrm>
            <a:off x="6933895" y="6400800"/>
            <a:ext cx="4572000" cy="237744"/>
          </a:xfrm>
          <a:prstGeom prst="rect">
            <a:avLst/>
          </a:prstGeom>
          <a:noFill/>
        </p:spPr>
        <p:txBody>
          <a:bodyPr wrap="square" lIns="0" rIns="0" tIns="0" bIns="0" anchor="ctr">
            <a:noAutofit/>
          </a:bodyPr>
          <a:lstStyle/>
          <a:p>
            <a:pPr algn="r"/>
            <a:r>
              <a:rPr sz="850" b="0" i="0">
                <a:solidFill>
                  <a:srgbClr val="9C937F"/>
                </a:solidFill>
                <a:latin typeface="Inter" panose="020B0502030000000004" pitchFamily="34" charset="0"/>
              </a:rPr>
              <a:t>github.com/vnmoorthy/bidwire</a:t>
            </a:r>
          </a:p>
        </p:txBody>
      </p:sp>
      <p:sp>
        <p:nvSpPr>
          <p:cNvPr id="14" name="Rectangle 13"/>
          <p:cNvSpPr/>
          <p:nvPr/>
        </p:nvSpPr>
        <p:spPr>
          <a:xfrm>
            <a:off x="0" y="6825996"/>
            <a:ext cx="12191695" cy="32004"/>
          </a:xfrm>
          <a:prstGeom prst="rect">
            <a:avLst/>
          </a:prstGeom>
          <a:solidFill>
            <a:srgbClr val="E2D9C6"/>
          </a:solidFill>
          <a:ln>
            <a:noFill/>
          </a:ln>
        </p:spPr>
        <p:txBody>
          <a:bodyPr rtlCol="0" anchor="ctr"/>
          <a:lstStyle/>
          <a:p>
            <a:pPr algn="ctr"/>
          </a:p>
        </p:txBody>
      </p:sp>
      <p:sp>
        <p:nvSpPr>
          <p:cNvPr id="15" name="Rectangle 14"/>
          <p:cNvSpPr/>
          <p:nvPr/>
        </p:nvSpPr>
        <p:spPr>
          <a:xfrm>
            <a:off x="0" y="6825996"/>
            <a:ext cx="4876678" cy="32004"/>
          </a:xfrm>
          <a:prstGeom prst="rect">
            <a:avLst/>
          </a:prstGeom>
          <a:solidFill>
            <a:srgbClr val="B0894F"/>
          </a:solidFill>
          <a:ln>
            <a:noFill/>
          </a:ln>
        </p:spPr>
        <p:txBody>
          <a:bodyPr rtlCol="0" anchor="ctr"/>
          <a:lstStyle/>
          <a:p>
            <a:pPr algn="ctr"/>
          </a:p>
        </p:txBody>
      </p:sp>
      <p:sp>
        <p:nvSpPr>
          <p:cNvPr id="16" name="TextBox 15"/>
          <p:cNvSpPr txBox="1"/>
          <p:nvPr/>
        </p:nvSpPr>
        <p:spPr>
          <a:xfrm>
            <a:off x="685800" y="987552"/>
            <a:ext cx="10835640" cy="603504"/>
          </a:xfrm>
          <a:prstGeom prst="rect">
            <a:avLst/>
          </a:prstGeom>
          <a:noFill/>
        </p:spPr>
        <p:txBody>
          <a:bodyPr wrap="square" lIns="0" rIns="0" tIns="0" bIns="0" anchor="t">
            <a:noAutofit/>
          </a:bodyPr>
          <a:lstStyle/>
          <a:p>
            <a:pPr algn="l">
              <a:lnSpc>
                <a:spcPct val="98000"/>
              </a:lnSpc>
            </a:pPr>
            <a:r>
              <a:rPr sz="3800" b="0" i="0" spc="-40">
                <a:solidFill>
                  <a:srgbClr val="16130E"/>
                </a:solidFill>
                <a:latin typeface="Georgia" panose="02040502050405020303" pitchFamily="18" charset="0"/>
              </a:rPr>
              <a:t>One tool call in. </a:t>
            </a:r>
            <a:r>
              <a:rPr sz="3800" b="0" i="1" spc="-40">
                <a:solidFill>
                  <a:srgbClr val="6E6658"/>
                </a:solidFill>
                <a:latin typeface="Georgia" panose="02040502050405020303" pitchFamily="18" charset="0"/>
              </a:rPr>
              <a:t>A verified purchase out.</a:t>
            </a:r>
          </a:p>
        </p:txBody>
      </p:sp>
      <p:grpSp>
        <p:nvGrpSpPr>
          <p:cNvPr id="17" name="Group 16"/>
          <p:cNvGrpSpPr/>
          <p:nvPr/>
        </p:nvGrpSpPr>
        <p:grpSpPr>
          <a:xfrm>
            <a:off x="685800" y="1828800"/>
            <a:ext cx="1385316" cy="2148840"/>
            <a:chOff x="685800" y="1828800"/>
            <a:chExt cx="1385316" cy="2148840"/>
          </a:xfrm>
        </p:grpSpPr>
        <p:sp>
          <p:nvSpPr>
            <p:cNvPr id="18" name="Rounded Rectangle 17"/>
            <p:cNvSpPr/>
            <p:nvPr/>
          </p:nvSpPr>
          <p:spPr>
            <a:xfrm>
              <a:off x="685800" y="1828800"/>
              <a:ext cx="1385316" cy="2148840"/>
            </a:xfrm>
            <a:prstGeom prst="roundRect">
              <a:avLst>
                <a:gd name="adj" fmla="val 3960"/>
              </a:avLst>
            </a:prstGeom>
            <a:solidFill>
              <a:srgbClr val="FFFDF7"/>
            </a:solidFill>
            <a:ln w="9525">
              <a:solidFill>
                <a:srgbClr val="E2D9C6"/>
              </a:solidFill>
            </a:ln>
          </p:spPr>
          <p:txBody>
            <a:bodyPr rtlCol="0" anchor="ctr"/>
            <a:lstStyle/>
            <a:p>
              <a:pPr algn="ctr"/>
            </a:p>
          </p:txBody>
        </p:sp>
        <p:sp>
          <p:nvSpPr>
            <p:cNvPr id="19" name="TextBox 18"/>
            <p:cNvSpPr txBox="1"/>
            <p:nvPr/>
          </p:nvSpPr>
          <p:spPr>
            <a:xfrm>
              <a:off x="832104" y="1938528"/>
              <a:ext cx="548640" cy="457200"/>
            </a:xfrm>
            <a:prstGeom prst="rect">
              <a:avLst/>
            </a:prstGeom>
            <a:noFill/>
          </p:spPr>
          <p:txBody>
            <a:bodyPr wrap="square" lIns="0" rIns="0" tIns="0" bIns="0" anchor="ctr">
              <a:noAutofit/>
            </a:bodyPr>
            <a:lstStyle/>
            <a:p>
              <a:pPr algn="l"/>
              <a:r>
                <a:rPr sz="2400" b="0" i="0">
                  <a:solidFill>
                    <a:srgbClr val="B0894F"/>
                  </a:solidFill>
                  <a:latin typeface="Georgia" panose="02040502050405020303" pitchFamily="18" charset="0"/>
                </a:rPr>
                <a:t>1</a:t>
              </a:r>
            </a:p>
          </p:txBody>
        </p:sp>
        <p:sp>
          <p:nvSpPr>
            <p:cNvPr id="20" name="TextBox 19"/>
            <p:cNvSpPr txBox="1"/>
            <p:nvPr/>
          </p:nvSpPr>
          <p:spPr>
            <a:xfrm>
              <a:off x="832104" y="2432304"/>
              <a:ext cx="1147572" cy="457200"/>
            </a:xfrm>
            <a:prstGeom prst="rect">
              <a:avLst/>
            </a:prstGeom>
            <a:noFill/>
          </p:spPr>
          <p:txBody>
            <a:bodyPr wrap="square" lIns="0" rIns="0" tIns="0" bIns="0" anchor="t">
              <a:noAutofit/>
            </a:bodyPr>
            <a:lstStyle/>
            <a:p>
              <a:pPr algn="l">
                <a:lnSpc>
                  <a:spcPct val="95000"/>
                </a:lnSpc>
              </a:pPr>
              <a:r>
                <a:rPr sz="1200" b="1" i="0">
                  <a:solidFill>
                    <a:srgbClr val="233F6E"/>
                  </a:solidFill>
                  <a:latin typeface="JetBrains Mono" panose="02000009000000000000" pitchFamily="49" charset="0"/>
                </a:rPr>
                <a:t>find_offers</a:t>
              </a:r>
            </a:p>
          </p:txBody>
        </p:sp>
        <p:sp>
          <p:nvSpPr>
            <p:cNvPr id="21" name="TextBox 20"/>
            <p:cNvSpPr txBox="1"/>
            <p:nvPr/>
          </p:nvSpPr>
          <p:spPr>
            <a:xfrm>
              <a:off x="832104" y="2889504"/>
              <a:ext cx="1129284" cy="1051560"/>
            </a:xfrm>
            <a:prstGeom prst="rect">
              <a:avLst/>
            </a:prstGeom>
            <a:noFill/>
          </p:spPr>
          <p:txBody>
            <a:bodyPr wrap="square" lIns="0" rIns="0" tIns="0" bIns="0" anchor="t">
              <a:noAutofit/>
            </a:bodyPr>
            <a:lstStyle/>
            <a:p>
              <a:pPr algn="l">
                <a:lnSpc>
                  <a:spcPct val="108000"/>
                </a:lnSpc>
              </a:pPr>
              <a:r>
                <a:rPr sz="1000" b="0" i="0">
                  <a:solidFill>
                    <a:srgbClr val="6E6658"/>
                  </a:solidFill>
                  <a:latin typeface="Inter" panose="020B0502030000000004" pitchFamily="34" charset="0"/>
                </a:rPr>
                <a:t>The agent opens a lot: need, budget, deadline and must-haves.</a:t>
              </a:r>
            </a:p>
          </p:txBody>
        </p:sp>
      </p:grpSp>
      <p:cxnSp>
        <p:nvCxnSpPr>
          <p:cNvPr id="22" name="Connector 21"/>
          <p:cNvCxnSpPr/>
          <p:nvPr/>
        </p:nvCxnSpPr>
        <p:spPr>
          <a:xfrm>
            <a:off x="2098548" y="2903220"/>
            <a:ext cx="137160" cy="0"/>
          </a:xfrm>
          <a:prstGeom prst="line">
            <a:avLst/>
          </a:prstGeom>
          <a:ln w="19050">
            <a:solidFill>
              <a:srgbClr val="CFC3AA"/>
            </a:solidFill>
            <a:tailEnd type="triangle" w="med" len="med"/>
          </a:ln>
        </p:spPr>
      </p:cxnSp>
      <p:grpSp>
        <p:nvGrpSpPr>
          <p:cNvPr id="23" name="Group 22"/>
          <p:cNvGrpSpPr/>
          <p:nvPr/>
        </p:nvGrpSpPr>
        <p:grpSpPr>
          <a:xfrm>
            <a:off x="2258568" y="1828800"/>
            <a:ext cx="1385316" cy="2148840"/>
            <a:chOff x="2258568" y="1828800"/>
            <a:chExt cx="1385316" cy="2148840"/>
          </a:xfrm>
        </p:grpSpPr>
        <p:sp>
          <p:nvSpPr>
            <p:cNvPr id="24" name="Rounded Rectangle 23"/>
            <p:cNvSpPr/>
            <p:nvPr/>
          </p:nvSpPr>
          <p:spPr>
            <a:xfrm>
              <a:off x="2258568" y="1828800"/>
              <a:ext cx="1385316" cy="2148840"/>
            </a:xfrm>
            <a:prstGeom prst="roundRect">
              <a:avLst>
                <a:gd name="adj" fmla="val 3960"/>
              </a:avLst>
            </a:prstGeom>
            <a:solidFill>
              <a:srgbClr val="FFFDF7"/>
            </a:solidFill>
            <a:ln w="9525">
              <a:solidFill>
                <a:srgbClr val="E2D9C6"/>
              </a:solidFill>
            </a:ln>
          </p:spPr>
          <p:txBody>
            <a:bodyPr rtlCol="0" anchor="ctr"/>
            <a:lstStyle/>
            <a:p>
              <a:pPr algn="ctr"/>
            </a:p>
          </p:txBody>
        </p:sp>
        <p:sp>
          <p:nvSpPr>
            <p:cNvPr id="25" name="TextBox 24"/>
            <p:cNvSpPr txBox="1"/>
            <p:nvPr/>
          </p:nvSpPr>
          <p:spPr>
            <a:xfrm>
              <a:off x="2404872" y="1938528"/>
              <a:ext cx="548640" cy="457200"/>
            </a:xfrm>
            <a:prstGeom prst="rect">
              <a:avLst/>
            </a:prstGeom>
            <a:noFill/>
          </p:spPr>
          <p:txBody>
            <a:bodyPr wrap="square" lIns="0" rIns="0" tIns="0" bIns="0" anchor="ctr">
              <a:noAutofit/>
            </a:bodyPr>
            <a:lstStyle/>
            <a:p>
              <a:pPr algn="l"/>
              <a:r>
                <a:rPr sz="2400" b="0" i="0">
                  <a:solidFill>
                    <a:srgbClr val="B0894F"/>
                  </a:solidFill>
                  <a:latin typeface="Georgia" panose="02040502050405020303" pitchFamily="18" charset="0"/>
                </a:rPr>
                <a:t>2</a:t>
              </a:r>
            </a:p>
          </p:txBody>
        </p:sp>
        <p:sp>
          <p:nvSpPr>
            <p:cNvPr id="26" name="TextBox 25"/>
            <p:cNvSpPr txBox="1"/>
            <p:nvPr/>
          </p:nvSpPr>
          <p:spPr>
            <a:xfrm>
              <a:off x="2404872" y="2432304"/>
              <a:ext cx="1147572" cy="457200"/>
            </a:xfrm>
            <a:prstGeom prst="rect">
              <a:avLst/>
            </a:prstGeom>
            <a:noFill/>
          </p:spPr>
          <p:txBody>
            <a:bodyPr wrap="square" lIns="0" rIns="0" tIns="0" bIns="0" anchor="t">
              <a:noAutofit/>
            </a:bodyPr>
            <a:lstStyle/>
            <a:p>
              <a:pPr algn="l">
                <a:lnSpc>
                  <a:spcPct val="95000"/>
                </a:lnSpc>
              </a:pPr>
              <a:r>
                <a:rPr sz="1500" b="0" i="0">
                  <a:solidFill>
                    <a:srgbClr val="16130E"/>
                  </a:solidFill>
                  <a:latin typeface="Georgia" panose="02040502050405020303" pitchFamily="18" charset="0"/>
                </a:rPr>
                <a:t>Paddles go up</a:t>
              </a:r>
            </a:p>
          </p:txBody>
        </p:sp>
        <p:sp>
          <p:nvSpPr>
            <p:cNvPr id="27" name="TextBox 26"/>
            <p:cNvSpPr txBox="1"/>
            <p:nvPr/>
          </p:nvSpPr>
          <p:spPr>
            <a:xfrm>
              <a:off x="2404872" y="2889504"/>
              <a:ext cx="1129284" cy="1051560"/>
            </a:xfrm>
            <a:prstGeom prst="rect">
              <a:avLst/>
            </a:prstGeom>
            <a:noFill/>
          </p:spPr>
          <p:txBody>
            <a:bodyPr wrap="square" lIns="0" rIns="0" tIns="0" bIns="0" anchor="t">
              <a:noAutofit/>
            </a:bodyPr>
            <a:lstStyle/>
            <a:p>
              <a:pPr algn="l">
                <a:lnSpc>
                  <a:spcPct val="108000"/>
                </a:lnSpc>
              </a:pPr>
              <a:r>
                <a:rPr sz="1000" b="0" i="0">
                  <a:solidFill>
                    <a:srgbClr val="6E6658"/>
                  </a:solidFill>
                  <a:latin typeface="Inter" panose="020B0502030000000004" pitchFamily="34" charset="0"/>
                </a:rPr>
                <a:t>A 12-second live auction. Bots, people on phones and merchant agents bid.</a:t>
              </a:r>
            </a:p>
          </p:txBody>
        </p:sp>
      </p:grpSp>
      <p:cxnSp>
        <p:nvCxnSpPr>
          <p:cNvPr id="28" name="Connector 27"/>
          <p:cNvCxnSpPr/>
          <p:nvPr/>
        </p:nvCxnSpPr>
        <p:spPr>
          <a:xfrm>
            <a:off x="3671316" y="2903220"/>
            <a:ext cx="137160" cy="0"/>
          </a:xfrm>
          <a:prstGeom prst="line">
            <a:avLst/>
          </a:prstGeom>
          <a:ln w="19050">
            <a:solidFill>
              <a:srgbClr val="CFC3AA"/>
            </a:solidFill>
            <a:tailEnd type="triangle" w="med" len="med"/>
          </a:ln>
        </p:spPr>
      </p:cxnSp>
      <p:grpSp>
        <p:nvGrpSpPr>
          <p:cNvPr id="29" name="Group 28"/>
          <p:cNvGrpSpPr/>
          <p:nvPr/>
        </p:nvGrpSpPr>
        <p:grpSpPr>
          <a:xfrm>
            <a:off x="3831336" y="1828800"/>
            <a:ext cx="1385316" cy="2148840"/>
            <a:chOff x="3831336" y="1828800"/>
            <a:chExt cx="1385316" cy="2148840"/>
          </a:xfrm>
        </p:grpSpPr>
        <p:sp>
          <p:nvSpPr>
            <p:cNvPr id="30" name="Rounded Rectangle 29"/>
            <p:cNvSpPr/>
            <p:nvPr/>
          </p:nvSpPr>
          <p:spPr>
            <a:xfrm>
              <a:off x="3831336" y="1828800"/>
              <a:ext cx="1385316" cy="2148840"/>
            </a:xfrm>
            <a:prstGeom prst="roundRect">
              <a:avLst>
                <a:gd name="adj" fmla="val 3960"/>
              </a:avLst>
            </a:prstGeom>
            <a:solidFill>
              <a:srgbClr val="FFFDF7"/>
            </a:solidFill>
            <a:ln w="9525">
              <a:solidFill>
                <a:srgbClr val="E2D9C6"/>
              </a:solidFill>
            </a:ln>
          </p:spPr>
          <p:txBody>
            <a:bodyPr rtlCol="0" anchor="ctr"/>
            <a:lstStyle/>
            <a:p>
              <a:pPr algn="ctr"/>
            </a:p>
          </p:txBody>
        </p:sp>
        <p:sp>
          <p:nvSpPr>
            <p:cNvPr id="31" name="TextBox 30"/>
            <p:cNvSpPr txBox="1"/>
            <p:nvPr/>
          </p:nvSpPr>
          <p:spPr>
            <a:xfrm>
              <a:off x="3977640" y="1938528"/>
              <a:ext cx="548640" cy="457200"/>
            </a:xfrm>
            <a:prstGeom prst="rect">
              <a:avLst/>
            </a:prstGeom>
            <a:noFill/>
          </p:spPr>
          <p:txBody>
            <a:bodyPr wrap="square" lIns="0" rIns="0" tIns="0" bIns="0" anchor="ctr">
              <a:noAutofit/>
            </a:bodyPr>
            <a:lstStyle/>
            <a:p>
              <a:pPr algn="l"/>
              <a:r>
                <a:rPr sz="2400" b="0" i="0">
                  <a:solidFill>
                    <a:srgbClr val="B0894F"/>
                  </a:solidFill>
                  <a:latin typeface="Georgia" panose="02040502050405020303" pitchFamily="18" charset="0"/>
                </a:rPr>
                <a:t>3</a:t>
              </a:r>
            </a:p>
          </p:txBody>
        </p:sp>
        <p:sp>
          <p:nvSpPr>
            <p:cNvPr id="32" name="TextBox 31"/>
            <p:cNvSpPr txBox="1"/>
            <p:nvPr/>
          </p:nvSpPr>
          <p:spPr>
            <a:xfrm>
              <a:off x="3977640" y="2432304"/>
              <a:ext cx="1147572" cy="457200"/>
            </a:xfrm>
            <a:prstGeom prst="rect">
              <a:avLst/>
            </a:prstGeom>
            <a:noFill/>
          </p:spPr>
          <p:txBody>
            <a:bodyPr wrap="square" lIns="0" rIns="0" tIns="0" bIns="0" anchor="t">
              <a:noAutofit/>
            </a:bodyPr>
            <a:lstStyle/>
            <a:p>
              <a:pPr algn="l">
                <a:lnSpc>
                  <a:spcPct val="95000"/>
                </a:lnSpc>
              </a:pPr>
              <a:r>
                <a:rPr sz="1500" b="0" i="0">
                  <a:solidFill>
                    <a:srgbClr val="16130E"/>
                  </a:solidFill>
                  <a:latin typeface="Georgia" panose="02040502050405020303" pitchFamily="18" charset="0"/>
                </a:rPr>
                <a:t>Verify</a:t>
              </a:r>
            </a:p>
          </p:txBody>
        </p:sp>
        <p:sp>
          <p:nvSpPr>
            <p:cNvPr id="33" name="TextBox 32"/>
            <p:cNvSpPr txBox="1"/>
            <p:nvPr/>
          </p:nvSpPr>
          <p:spPr>
            <a:xfrm>
              <a:off x="3977640" y="2889504"/>
              <a:ext cx="1129284" cy="1051560"/>
            </a:xfrm>
            <a:prstGeom prst="rect">
              <a:avLst/>
            </a:prstGeom>
            <a:noFill/>
          </p:spPr>
          <p:txBody>
            <a:bodyPr wrap="square" lIns="0" rIns="0" tIns="0" bIns="0" anchor="t">
              <a:noAutofit/>
            </a:bodyPr>
            <a:lstStyle/>
            <a:p>
              <a:pPr algn="l">
                <a:lnSpc>
                  <a:spcPct val="108000"/>
                </a:lnSpc>
              </a:pPr>
              <a:r>
                <a:rPr sz="1000" b="0" i="0">
                  <a:solidFill>
                    <a:srgbClr val="6E6658"/>
                  </a:solidFill>
                  <a:latin typeface="Inter" panose="020B0502030000000004" pitchFamily="34" charset="0"/>
                </a:rPr>
                <a:t>Fetch the product page JSON-LD and the checkout quote. 6 checks.</a:t>
              </a:r>
            </a:p>
          </p:txBody>
        </p:sp>
      </p:grpSp>
      <p:cxnSp>
        <p:nvCxnSpPr>
          <p:cNvPr id="34" name="Connector 33"/>
          <p:cNvCxnSpPr/>
          <p:nvPr/>
        </p:nvCxnSpPr>
        <p:spPr>
          <a:xfrm>
            <a:off x="5244084" y="2903220"/>
            <a:ext cx="137160" cy="0"/>
          </a:xfrm>
          <a:prstGeom prst="line">
            <a:avLst/>
          </a:prstGeom>
          <a:ln w="19050">
            <a:solidFill>
              <a:srgbClr val="CFC3AA"/>
            </a:solidFill>
            <a:tailEnd type="triangle" w="med" len="med"/>
          </a:ln>
        </p:spPr>
      </p:cxnSp>
      <p:cxnSp>
        <p:nvCxnSpPr>
          <p:cNvPr id="35" name="Connector 34"/>
          <p:cNvCxnSpPr/>
          <p:nvPr/>
        </p:nvCxnSpPr>
        <p:spPr>
          <a:xfrm>
            <a:off x="4523994" y="4005072"/>
            <a:ext cx="0" cy="256032"/>
          </a:xfrm>
          <a:prstGeom prst="line">
            <a:avLst/>
          </a:prstGeom>
          <a:ln w="12700">
            <a:solidFill>
              <a:srgbClr val="CFC3AA"/>
            </a:solidFill>
            <a:prstDash val="dash"/>
          </a:ln>
        </p:spPr>
      </p:cxnSp>
      <p:grpSp>
        <p:nvGrpSpPr>
          <p:cNvPr id="36" name="Group 35"/>
          <p:cNvGrpSpPr/>
          <p:nvPr/>
        </p:nvGrpSpPr>
        <p:grpSpPr>
          <a:xfrm>
            <a:off x="3831336" y="4279392"/>
            <a:ext cx="1385316" cy="1024128"/>
            <a:chOff x="3831336" y="4279392"/>
            <a:chExt cx="1385316" cy="1024128"/>
          </a:xfrm>
        </p:grpSpPr>
        <p:sp>
          <p:nvSpPr>
            <p:cNvPr id="37" name="Rounded Rectangle 36"/>
            <p:cNvSpPr/>
            <p:nvPr/>
          </p:nvSpPr>
          <p:spPr>
            <a:xfrm>
              <a:off x="3831336" y="4279392"/>
              <a:ext cx="1385316" cy="1024128"/>
            </a:xfrm>
            <a:prstGeom prst="roundRect">
              <a:avLst>
                <a:gd name="adj" fmla="val 5357"/>
              </a:avLst>
            </a:prstGeom>
            <a:solidFill>
              <a:srgbClr val="F6E3DF"/>
            </a:solidFill>
            <a:ln>
              <a:noFill/>
            </a:ln>
          </p:spPr>
          <p:txBody>
            <a:bodyPr rtlCol="0" anchor="ctr"/>
            <a:lstStyle/>
            <a:p>
              <a:pPr algn="ctr"/>
            </a:p>
          </p:txBody>
        </p:sp>
        <p:sp>
          <p:nvSpPr>
            <p:cNvPr id="38" name="TextBox 37"/>
            <p:cNvSpPr txBox="1"/>
            <p:nvPr/>
          </p:nvSpPr>
          <p:spPr>
            <a:xfrm>
              <a:off x="3959352" y="4370832"/>
              <a:ext cx="1184148" cy="237744"/>
            </a:xfrm>
            <a:prstGeom prst="rect">
              <a:avLst/>
            </a:prstGeom>
            <a:noFill/>
          </p:spPr>
          <p:txBody>
            <a:bodyPr wrap="square" lIns="0" rIns="0" tIns="0" bIns="0" anchor="ctr">
              <a:noAutofit/>
            </a:bodyPr>
            <a:lstStyle/>
            <a:p>
              <a:pPr algn="l"/>
              <a:r>
                <a:rPr sz="1000" b="1" i="0">
                  <a:solidFill>
                    <a:srgbClr val="8E2A22"/>
                  </a:solidFill>
                  <a:latin typeface="Inter" panose="020B0502030000000004" pitchFamily="34" charset="0"/>
                </a:rPr>
                <a:t>Withdrawn</a:t>
              </a:r>
            </a:p>
          </p:txBody>
        </p:sp>
        <p:sp>
          <p:nvSpPr>
            <p:cNvPr id="39" name="TextBox 38"/>
            <p:cNvSpPr txBox="1"/>
            <p:nvPr/>
          </p:nvSpPr>
          <p:spPr>
            <a:xfrm>
              <a:off x="3959352" y="4636008"/>
              <a:ext cx="1165860" cy="640080"/>
            </a:xfrm>
            <a:prstGeom prst="rect">
              <a:avLst/>
            </a:prstGeom>
            <a:noFill/>
          </p:spPr>
          <p:txBody>
            <a:bodyPr wrap="square" lIns="0" rIns="0" tIns="0" bIns="0" anchor="t">
              <a:noAutofit/>
            </a:bodyPr>
            <a:lstStyle/>
            <a:p>
              <a:pPr algn="l">
                <a:lnSpc>
                  <a:spcPct val="105000"/>
                </a:lnSpc>
              </a:pPr>
              <a:r>
                <a:rPr sz="950" b="0" i="0">
                  <a:solidFill>
                    <a:srgbClr val="16130E"/>
                  </a:solidFill>
                  <a:latin typeface="Inter" panose="020B0502030000000004" pitchFamily="34" charset="0"/>
                </a:rPr>
                <a:t>Misrepresentation or prompt injection. Trust −12 for every agent.</a:t>
              </a:r>
            </a:p>
          </p:txBody>
        </p:sp>
      </p:grpSp>
      <p:grpSp>
        <p:nvGrpSpPr>
          <p:cNvPr id="40" name="Group 39"/>
          <p:cNvGrpSpPr/>
          <p:nvPr/>
        </p:nvGrpSpPr>
        <p:grpSpPr>
          <a:xfrm>
            <a:off x="5404104" y="1828800"/>
            <a:ext cx="1385316" cy="2148840"/>
            <a:chOff x="5404104" y="1828800"/>
            <a:chExt cx="1385316" cy="2148840"/>
          </a:xfrm>
        </p:grpSpPr>
        <p:sp>
          <p:nvSpPr>
            <p:cNvPr id="41" name="Rounded Rectangle 40"/>
            <p:cNvSpPr/>
            <p:nvPr/>
          </p:nvSpPr>
          <p:spPr>
            <a:xfrm>
              <a:off x="5404104" y="1828800"/>
              <a:ext cx="1385316" cy="2148840"/>
            </a:xfrm>
            <a:prstGeom prst="roundRect">
              <a:avLst>
                <a:gd name="adj" fmla="val 3960"/>
              </a:avLst>
            </a:prstGeom>
            <a:solidFill>
              <a:srgbClr val="FFFDF7"/>
            </a:solidFill>
            <a:ln w="9525">
              <a:solidFill>
                <a:srgbClr val="E2D9C6"/>
              </a:solidFill>
            </a:ln>
          </p:spPr>
          <p:txBody>
            <a:bodyPr rtlCol="0" anchor="ctr"/>
            <a:lstStyle/>
            <a:p>
              <a:pPr algn="ctr"/>
            </a:p>
          </p:txBody>
        </p:sp>
        <p:sp>
          <p:nvSpPr>
            <p:cNvPr id="42" name="TextBox 41"/>
            <p:cNvSpPr txBox="1"/>
            <p:nvPr/>
          </p:nvSpPr>
          <p:spPr>
            <a:xfrm>
              <a:off x="5550408" y="1938528"/>
              <a:ext cx="548640" cy="457200"/>
            </a:xfrm>
            <a:prstGeom prst="rect">
              <a:avLst/>
            </a:prstGeom>
            <a:noFill/>
          </p:spPr>
          <p:txBody>
            <a:bodyPr wrap="square" lIns="0" rIns="0" tIns="0" bIns="0" anchor="ctr">
              <a:noAutofit/>
            </a:bodyPr>
            <a:lstStyle/>
            <a:p>
              <a:pPr algn="l"/>
              <a:r>
                <a:rPr sz="2400" b="0" i="0">
                  <a:solidFill>
                    <a:srgbClr val="B0894F"/>
                  </a:solidFill>
                  <a:latin typeface="Georgia" panose="02040502050405020303" pitchFamily="18" charset="0"/>
                </a:rPr>
                <a:t>4</a:t>
              </a:r>
            </a:p>
          </p:txBody>
        </p:sp>
        <p:sp>
          <p:nvSpPr>
            <p:cNvPr id="43" name="TextBox 42"/>
            <p:cNvSpPr txBox="1"/>
            <p:nvPr/>
          </p:nvSpPr>
          <p:spPr>
            <a:xfrm>
              <a:off x="5550408" y="2432304"/>
              <a:ext cx="1147572" cy="457200"/>
            </a:xfrm>
            <a:prstGeom prst="rect">
              <a:avLst/>
            </a:prstGeom>
            <a:noFill/>
          </p:spPr>
          <p:txBody>
            <a:bodyPr wrap="square" lIns="0" rIns="0" tIns="0" bIns="0" anchor="t">
              <a:noAutofit/>
            </a:bodyPr>
            <a:lstStyle/>
            <a:p>
              <a:pPr algn="l">
                <a:lnSpc>
                  <a:spcPct val="95000"/>
                </a:lnSpc>
              </a:pPr>
              <a:r>
                <a:rPr sz="1500" b="0" i="0">
                  <a:solidFill>
                    <a:srgbClr val="16130E"/>
                  </a:solidFill>
                  <a:latin typeface="Georgia" panose="02040502050405020303" pitchFamily="18" charset="0"/>
                </a:rPr>
                <a:t>Rank on merit</a:t>
              </a:r>
            </a:p>
          </p:txBody>
        </p:sp>
        <p:sp>
          <p:nvSpPr>
            <p:cNvPr id="44" name="TextBox 43"/>
            <p:cNvSpPr txBox="1"/>
            <p:nvPr/>
          </p:nvSpPr>
          <p:spPr>
            <a:xfrm>
              <a:off x="5550408" y="2889504"/>
              <a:ext cx="1129284" cy="1051560"/>
            </a:xfrm>
            <a:prstGeom prst="rect">
              <a:avLst/>
            </a:prstGeom>
            <a:noFill/>
          </p:spPr>
          <p:txBody>
            <a:bodyPr wrap="square" lIns="0" rIns="0" tIns="0" bIns="0" anchor="t">
              <a:noAutofit/>
            </a:bodyPr>
            <a:lstStyle/>
            <a:p>
              <a:pPr algn="l">
                <a:lnSpc>
                  <a:spcPct val="108000"/>
                </a:lnSpc>
              </a:pPr>
              <a:r>
                <a:rPr sz="1000" b="0" i="0">
                  <a:solidFill>
                    <a:srgbClr val="6E6658"/>
                  </a:solidFill>
                  <a:latin typeface="Inter" panose="020B0502030000000004" pitchFamily="34" charset="0"/>
                </a:rPr>
                <a:t>Price 40, must-haves 25, delivery 15, trust 15, returns 5.</a:t>
              </a:r>
            </a:p>
          </p:txBody>
        </p:sp>
      </p:grpSp>
      <p:cxnSp>
        <p:nvCxnSpPr>
          <p:cNvPr id="45" name="Connector 44"/>
          <p:cNvCxnSpPr/>
          <p:nvPr/>
        </p:nvCxnSpPr>
        <p:spPr>
          <a:xfrm>
            <a:off x="6816852" y="2903220"/>
            <a:ext cx="137160" cy="0"/>
          </a:xfrm>
          <a:prstGeom prst="line">
            <a:avLst/>
          </a:prstGeom>
          <a:ln w="19050">
            <a:solidFill>
              <a:srgbClr val="CFC3AA"/>
            </a:solidFill>
            <a:tailEnd type="triangle" w="med" len="med"/>
          </a:ln>
        </p:spPr>
      </p:cxnSp>
      <p:cxnSp>
        <p:nvCxnSpPr>
          <p:cNvPr id="46" name="Connector 45"/>
          <p:cNvCxnSpPr/>
          <p:nvPr/>
        </p:nvCxnSpPr>
        <p:spPr>
          <a:xfrm>
            <a:off x="6096762" y="4005072"/>
            <a:ext cx="0" cy="256032"/>
          </a:xfrm>
          <a:prstGeom prst="line">
            <a:avLst/>
          </a:prstGeom>
          <a:ln w="12700">
            <a:solidFill>
              <a:srgbClr val="CFC3AA"/>
            </a:solidFill>
            <a:prstDash val="dash"/>
          </a:ln>
        </p:spPr>
      </p:cxnSp>
      <p:grpSp>
        <p:nvGrpSpPr>
          <p:cNvPr id="47" name="Group 46"/>
          <p:cNvGrpSpPr/>
          <p:nvPr/>
        </p:nvGrpSpPr>
        <p:grpSpPr>
          <a:xfrm>
            <a:off x="5404104" y="4279392"/>
            <a:ext cx="1385316" cy="1024128"/>
            <a:chOff x="5404104" y="4279392"/>
            <a:chExt cx="1385316" cy="1024128"/>
          </a:xfrm>
        </p:grpSpPr>
        <p:sp>
          <p:nvSpPr>
            <p:cNvPr id="48" name="Rounded Rectangle 47"/>
            <p:cNvSpPr/>
            <p:nvPr/>
          </p:nvSpPr>
          <p:spPr>
            <a:xfrm>
              <a:off x="5404104" y="4279392"/>
              <a:ext cx="1385316" cy="1024128"/>
            </a:xfrm>
            <a:prstGeom prst="roundRect">
              <a:avLst>
                <a:gd name="adj" fmla="val 5357"/>
              </a:avLst>
            </a:prstGeom>
            <a:solidFill>
              <a:srgbClr val="F6EBD6"/>
            </a:solidFill>
            <a:ln>
              <a:noFill/>
            </a:ln>
          </p:spPr>
          <p:txBody>
            <a:bodyPr rtlCol="0" anchor="ctr"/>
            <a:lstStyle/>
            <a:p>
              <a:pPr algn="ctr"/>
            </a:p>
          </p:txBody>
        </p:sp>
        <p:sp>
          <p:nvSpPr>
            <p:cNvPr id="49" name="TextBox 48"/>
            <p:cNvSpPr txBox="1"/>
            <p:nvPr/>
          </p:nvSpPr>
          <p:spPr>
            <a:xfrm>
              <a:off x="5532120" y="4370832"/>
              <a:ext cx="1184148" cy="237744"/>
            </a:xfrm>
            <a:prstGeom prst="rect">
              <a:avLst/>
            </a:prstGeom>
            <a:noFill/>
          </p:spPr>
          <p:txBody>
            <a:bodyPr wrap="square" lIns="0" rIns="0" tIns="0" bIns="0" anchor="ctr">
              <a:noAutofit/>
            </a:bodyPr>
            <a:lstStyle/>
            <a:p>
              <a:pPr algn="l"/>
              <a:r>
                <a:rPr sz="1000" b="1" i="0">
                  <a:solidFill>
                    <a:srgbClr val="94641F"/>
                  </a:solidFill>
                  <a:latin typeface="Inter" panose="020B0502030000000004" pitchFamily="34" charset="0"/>
                </a:rPr>
                <a:t>Bribe ignored</a:t>
              </a:r>
            </a:p>
          </p:txBody>
        </p:sp>
        <p:sp>
          <p:nvSpPr>
            <p:cNvPr id="50" name="TextBox 49"/>
            <p:cNvSpPr txBox="1"/>
            <p:nvPr/>
          </p:nvSpPr>
          <p:spPr>
            <a:xfrm>
              <a:off x="5532120" y="4636008"/>
              <a:ext cx="1165860" cy="640080"/>
            </a:xfrm>
            <a:prstGeom prst="rect">
              <a:avLst/>
            </a:prstGeom>
            <a:noFill/>
          </p:spPr>
          <p:txBody>
            <a:bodyPr wrap="square" lIns="0" rIns="0" tIns="0" bIns="0" anchor="t">
              <a:noAutofit/>
            </a:bodyPr>
            <a:lstStyle/>
            <a:p>
              <a:pPr algn="l">
                <a:lnSpc>
                  <a:spcPct val="105000"/>
                </a:lnSpc>
              </a:pPr>
              <a:r>
                <a:rPr sz="950" b="0" i="0">
                  <a:solidFill>
                    <a:srgbClr val="16130E"/>
                  </a:solidFill>
                  <a:latin typeface="Inter" panose="020B0502030000000004" pitchFamily="34" charset="0"/>
                </a:rPr>
                <a:t>Commission only breaks near-ties.</a:t>
              </a:r>
            </a:p>
          </p:txBody>
        </p:sp>
      </p:grpSp>
      <p:grpSp>
        <p:nvGrpSpPr>
          <p:cNvPr id="51" name="Group 50"/>
          <p:cNvGrpSpPr/>
          <p:nvPr/>
        </p:nvGrpSpPr>
        <p:grpSpPr>
          <a:xfrm>
            <a:off x="6976872" y="1828800"/>
            <a:ext cx="1385316" cy="2148840"/>
            <a:chOff x="6976872" y="1828800"/>
            <a:chExt cx="1385316" cy="2148840"/>
          </a:xfrm>
        </p:grpSpPr>
        <p:sp>
          <p:nvSpPr>
            <p:cNvPr id="52" name="Rounded Rectangle 51"/>
            <p:cNvSpPr/>
            <p:nvPr/>
          </p:nvSpPr>
          <p:spPr>
            <a:xfrm>
              <a:off x="6976872" y="1828800"/>
              <a:ext cx="1385316" cy="2148840"/>
            </a:xfrm>
            <a:prstGeom prst="roundRect">
              <a:avLst>
                <a:gd name="adj" fmla="val 3960"/>
              </a:avLst>
            </a:prstGeom>
            <a:solidFill>
              <a:srgbClr val="FFFDF7"/>
            </a:solidFill>
            <a:ln w="9525">
              <a:solidFill>
                <a:srgbClr val="E2D9C6"/>
              </a:solidFill>
            </a:ln>
          </p:spPr>
          <p:txBody>
            <a:bodyPr rtlCol="0" anchor="ctr"/>
            <a:lstStyle/>
            <a:p>
              <a:pPr algn="ctr"/>
            </a:p>
          </p:txBody>
        </p:sp>
        <p:sp>
          <p:nvSpPr>
            <p:cNvPr id="53" name="TextBox 52"/>
            <p:cNvSpPr txBox="1"/>
            <p:nvPr/>
          </p:nvSpPr>
          <p:spPr>
            <a:xfrm>
              <a:off x="7123176" y="1938528"/>
              <a:ext cx="548640" cy="457200"/>
            </a:xfrm>
            <a:prstGeom prst="rect">
              <a:avLst/>
            </a:prstGeom>
            <a:noFill/>
          </p:spPr>
          <p:txBody>
            <a:bodyPr wrap="square" lIns="0" rIns="0" tIns="0" bIns="0" anchor="ctr">
              <a:noAutofit/>
            </a:bodyPr>
            <a:lstStyle/>
            <a:p>
              <a:pPr algn="l"/>
              <a:r>
                <a:rPr sz="2400" b="0" i="0">
                  <a:solidFill>
                    <a:srgbClr val="B0894F"/>
                  </a:solidFill>
                  <a:latin typeface="Georgia" panose="02040502050405020303" pitchFamily="18" charset="0"/>
                </a:rPr>
                <a:t>5</a:t>
              </a:r>
            </a:p>
          </p:txBody>
        </p:sp>
        <p:sp>
          <p:nvSpPr>
            <p:cNvPr id="54" name="TextBox 53"/>
            <p:cNvSpPr txBox="1"/>
            <p:nvPr/>
          </p:nvSpPr>
          <p:spPr>
            <a:xfrm>
              <a:off x="7123176" y="2432304"/>
              <a:ext cx="1147572" cy="457200"/>
            </a:xfrm>
            <a:prstGeom prst="rect">
              <a:avLst/>
            </a:prstGeom>
            <a:noFill/>
          </p:spPr>
          <p:txBody>
            <a:bodyPr wrap="square" lIns="0" rIns="0" tIns="0" bIns="0" anchor="t">
              <a:noAutofit/>
            </a:bodyPr>
            <a:lstStyle/>
            <a:p>
              <a:pPr algn="l">
                <a:lnSpc>
                  <a:spcPct val="95000"/>
                </a:lnSpc>
              </a:pPr>
              <a:r>
                <a:rPr sz="1200" b="1" i="0">
                  <a:solidFill>
                    <a:srgbClr val="233F6E"/>
                  </a:solidFill>
                  <a:latin typeface="JetBrains Mono" panose="02000009000000000000" pitchFamily="49" charset="0"/>
                </a:rPr>
                <a:t>buy_offer</a:t>
              </a:r>
            </a:p>
          </p:txBody>
        </p:sp>
        <p:sp>
          <p:nvSpPr>
            <p:cNvPr id="55" name="TextBox 54"/>
            <p:cNvSpPr txBox="1"/>
            <p:nvPr/>
          </p:nvSpPr>
          <p:spPr>
            <a:xfrm>
              <a:off x="7123176" y="2889504"/>
              <a:ext cx="1129284" cy="1051560"/>
            </a:xfrm>
            <a:prstGeom prst="rect">
              <a:avLst/>
            </a:prstGeom>
            <a:noFill/>
          </p:spPr>
          <p:txBody>
            <a:bodyPr wrap="square" lIns="0" rIns="0" tIns="0" bIns="0" anchor="t">
              <a:noAutofit/>
            </a:bodyPr>
            <a:lstStyle/>
            <a:p>
              <a:pPr algn="l">
                <a:lnSpc>
                  <a:spcPct val="108000"/>
                </a:lnSpc>
              </a:pPr>
              <a:r>
                <a:rPr sz="1000" b="0" i="0">
                  <a:solidFill>
                    <a:srgbClr val="6E6658"/>
                  </a:solidFill>
                  <a:latin typeface="Inter" panose="020B0502030000000004" pitchFamily="34" charset="0"/>
                </a:rPr>
                <a:t>Going once, going twice, sold: paid from the agent's prepaid wallet.</a:t>
              </a:r>
            </a:p>
          </p:txBody>
        </p:sp>
      </p:grpSp>
      <p:cxnSp>
        <p:nvCxnSpPr>
          <p:cNvPr id="56" name="Connector 55"/>
          <p:cNvCxnSpPr/>
          <p:nvPr/>
        </p:nvCxnSpPr>
        <p:spPr>
          <a:xfrm>
            <a:off x="8389620" y="2903220"/>
            <a:ext cx="137160" cy="0"/>
          </a:xfrm>
          <a:prstGeom prst="line">
            <a:avLst/>
          </a:prstGeom>
          <a:ln w="19050">
            <a:solidFill>
              <a:srgbClr val="CFC3AA"/>
            </a:solidFill>
            <a:tailEnd type="triangle" w="med" len="med"/>
          </a:ln>
        </p:spPr>
      </p:cxnSp>
      <p:cxnSp>
        <p:nvCxnSpPr>
          <p:cNvPr id="57" name="Connector 56"/>
          <p:cNvCxnSpPr/>
          <p:nvPr/>
        </p:nvCxnSpPr>
        <p:spPr>
          <a:xfrm>
            <a:off x="7669530" y="4005072"/>
            <a:ext cx="0" cy="256032"/>
          </a:xfrm>
          <a:prstGeom prst="line">
            <a:avLst/>
          </a:prstGeom>
          <a:ln w="12700">
            <a:solidFill>
              <a:srgbClr val="CFC3AA"/>
            </a:solidFill>
            <a:prstDash val="dash"/>
          </a:ln>
        </p:spPr>
      </p:cxnSp>
      <p:grpSp>
        <p:nvGrpSpPr>
          <p:cNvPr id="58" name="Group 57"/>
          <p:cNvGrpSpPr/>
          <p:nvPr/>
        </p:nvGrpSpPr>
        <p:grpSpPr>
          <a:xfrm>
            <a:off x="6976872" y="4279392"/>
            <a:ext cx="1385316" cy="1024128"/>
            <a:chOff x="6976872" y="4279392"/>
            <a:chExt cx="1385316" cy="1024128"/>
          </a:xfrm>
        </p:grpSpPr>
        <p:sp>
          <p:nvSpPr>
            <p:cNvPr id="59" name="Rounded Rectangle 58"/>
            <p:cNvSpPr/>
            <p:nvPr/>
          </p:nvSpPr>
          <p:spPr>
            <a:xfrm>
              <a:off x="6976872" y="4279392"/>
              <a:ext cx="1385316" cy="1024128"/>
            </a:xfrm>
            <a:prstGeom prst="roundRect">
              <a:avLst>
                <a:gd name="adj" fmla="val 5357"/>
              </a:avLst>
            </a:prstGeom>
            <a:solidFill>
              <a:srgbClr val="E6ECF6"/>
            </a:solidFill>
            <a:ln>
              <a:noFill/>
            </a:ln>
          </p:spPr>
          <p:txBody>
            <a:bodyPr rtlCol="0" anchor="ctr"/>
            <a:lstStyle/>
            <a:p>
              <a:pPr algn="ctr"/>
            </a:p>
          </p:txBody>
        </p:sp>
        <p:sp>
          <p:nvSpPr>
            <p:cNvPr id="60" name="TextBox 59"/>
            <p:cNvSpPr txBox="1"/>
            <p:nvPr/>
          </p:nvSpPr>
          <p:spPr>
            <a:xfrm>
              <a:off x="7104888" y="4370832"/>
              <a:ext cx="1184148" cy="237744"/>
            </a:xfrm>
            <a:prstGeom prst="rect">
              <a:avLst/>
            </a:prstGeom>
            <a:noFill/>
          </p:spPr>
          <p:txBody>
            <a:bodyPr wrap="square" lIns="0" rIns="0" tIns="0" bIns="0" anchor="ctr">
              <a:noAutofit/>
            </a:bodyPr>
            <a:lstStyle/>
            <a:p>
              <a:pPr algn="l"/>
              <a:r>
                <a:rPr sz="1000" b="1" i="0">
                  <a:solidFill>
                    <a:srgbClr val="233F6E"/>
                  </a:solidFill>
                  <a:latin typeface="Inter" panose="020B0502030000000004" pitchFamily="34" charset="0"/>
                </a:rPr>
                <a:t>Sold out</a:t>
              </a:r>
            </a:p>
          </p:txBody>
        </p:sp>
        <p:sp>
          <p:nvSpPr>
            <p:cNvPr id="61" name="TextBox 60"/>
            <p:cNvSpPr txBox="1"/>
            <p:nvPr/>
          </p:nvSpPr>
          <p:spPr>
            <a:xfrm>
              <a:off x="7104888" y="4636008"/>
              <a:ext cx="1165860" cy="640080"/>
            </a:xfrm>
            <a:prstGeom prst="rect">
              <a:avLst/>
            </a:prstGeom>
            <a:noFill/>
          </p:spPr>
          <p:txBody>
            <a:bodyPr wrap="square" lIns="0" rIns="0" tIns="0" bIns="0" anchor="t">
              <a:noAutofit/>
            </a:bodyPr>
            <a:lstStyle/>
            <a:p>
              <a:pPr algn="l">
                <a:lnSpc>
                  <a:spcPct val="105000"/>
                </a:lnSpc>
              </a:pPr>
              <a:r>
                <a:rPr sz="950" b="0" i="0">
                  <a:solidFill>
                    <a:srgbClr val="16130E"/>
                  </a:solidFill>
                  <a:latin typeface="Inter" panose="020B0502030000000004" pitchFamily="34" charset="0"/>
                </a:rPr>
                <a:t>out_of_stock + next best offer. The agent recovers.</a:t>
              </a:r>
            </a:p>
          </p:txBody>
        </p:sp>
      </p:grpSp>
      <p:grpSp>
        <p:nvGrpSpPr>
          <p:cNvPr id="62" name="Group 61"/>
          <p:cNvGrpSpPr/>
          <p:nvPr/>
        </p:nvGrpSpPr>
        <p:grpSpPr>
          <a:xfrm>
            <a:off x="8549640" y="1828800"/>
            <a:ext cx="1385316" cy="2148840"/>
            <a:chOff x="8549640" y="1828800"/>
            <a:chExt cx="1385316" cy="2148840"/>
          </a:xfrm>
        </p:grpSpPr>
        <p:sp>
          <p:nvSpPr>
            <p:cNvPr id="63" name="Rounded Rectangle 62"/>
            <p:cNvSpPr/>
            <p:nvPr/>
          </p:nvSpPr>
          <p:spPr>
            <a:xfrm>
              <a:off x="8549640" y="1828800"/>
              <a:ext cx="1385316" cy="2148840"/>
            </a:xfrm>
            <a:prstGeom prst="roundRect">
              <a:avLst>
                <a:gd name="adj" fmla="val 3960"/>
              </a:avLst>
            </a:prstGeom>
            <a:solidFill>
              <a:srgbClr val="FFFDF7"/>
            </a:solidFill>
            <a:ln w="9525">
              <a:solidFill>
                <a:srgbClr val="E2D9C6"/>
              </a:solidFill>
            </a:ln>
          </p:spPr>
          <p:txBody>
            <a:bodyPr rtlCol="0" anchor="ctr"/>
            <a:lstStyle/>
            <a:p>
              <a:pPr algn="ctr"/>
            </a:p>
          </p:txBody>
        </p:sp>
        <p:sp>
          <p:nvSpPr>
            <p:cNvPr id="64" name="TextBox 63"/>
            <p:cNvSpPr txBox="1"/>
            <p:nvPr/>
          </p:nvSpPr>
          <p:spPr>
            <a:xfrm>
              <a:off x="8695944" y="1938528"/>
              <a:ext cx="548640" cy="457200"/>
            </a:xfrm>
            <a:prstGeom prst="rect">
              <a:avLst/>
            </a:prstGeom>
            <a:noFill/>
          </p:spPr>
          <p:txBody>
            <a:bodyPr wrap="square" lIns="0" rIns="0" tIns="0" bIns="0" anchor="ctr">
              <a:noAutofit/>
            </a:bodyPr>
            <a:lstStyle/>
            <a:p>
              <a:pPr algn="l"/>
              <a:r>
                <a:rPr sz="2400" b="0" i="0">
                  <a:solidFill>
                    <a:srgbClr val="B0894F"/>
                  </a:solidFill>
                  <a:latin typeface="Georgia" panose="02040502050405020303" pitchFamily="18" charset="0"/>
                </a:rPr>
                <a:t>6</a:t>
              </a:r>
            </a:p>
          </p:txBody>
        </p:sp>
        <p:sp>
          <p:nvSpPr>
            <p:cNvPr id="65" name="TextBox 64"/>
            <p:cNvSpPr txBox="1"/>
            <p:nvPr/>
          </p:nvSpPr>
          <p:spPr>
            <a:xfrm>
              <a:off x="8695944" y="2432304"/>
              <a:ext cx="1147572" cy="457200"/>
            </a:xfrm>
            <a:prstGeom prst="rect">
              <a:avLst/>
            </a:prstGeom>
            <a:noFill/>
          </p:spPr>
          <p:txBody>
            <a:bodyPr wrap="square" lIns="0" rIns="0" tIns="0" bIns="0" anchor="t">
              <a:noAutofit/>
            </a:bodyPr>
            <a:lstStyle/>
            <a:p>
              <a:pPr algn="l">
                <a:lnSpc>
                  <a:spcPct val="95000"/>
                </a:lnSpc>
              </a:pPr>
              <a:r>
                <a:rPr sz="1500" b="0" i="0">
                  <a:solidFill>
                    <a:srgbClr val="16130E"/>
                  </a:solidFill>
                  <a:latin typeface="Georgia" panose="02040502050405020303" pitchFamily="18" charset="0"/>
                </a:rPr>
                <a:t>Spending policy</a:t>
              </a:r>
            </a:p>
          </p:txBody>
        </p:sp>
        <p:sp>
          <p:nvSpPr>
            <p:cNvPr id="66" name="TextBox 65"/>
            <p:cNvSpPr txBox="1"/>
            <p:nvPr/>
          </p:nvSpPr>
          <p:spPr>
            <a:xfrm>
              <a:off x="8695944" y="2889504"/>
              <a:ext cx="1129284" cy="1051560"/>
            </a:xfrm>
            <a:prstGeom prst="rect">
              <a:avLst/>
            </a:prstGeom>
            <a:noFill/>
          </p:spPr>
          <p:txBody>
            <a:bodyPr wrap="square" lIns="0" rIns="0" tIns="0" bIns="0" anchor="t">
              <a:noAutofit/>
            </a:bodyPr>
            <a:lstStyle/>
            <a:p>
              <a:pPr algn="l">
                <a:lnSpc>
                  <a:spcPct val="108000"/>
                </a:lnSpc>
              </a:pPr>
              <a:r>
                <a:rPr sz="1000" b="0" i="0">
                  <a:solidFill>
                    <a:srgbClr val="6E6658"/>
                  </a:solidFill>
                  <a:latin typeface="Inter" panose="020B0502030000000004" pitchFamily="34" charset="0"/>
                </a:rPr>
                <a:t>Over the limit? Inkbox texts the human: “Reply YES 1234”.</a:t>
              </a:r>
            </a:p>
          </p:txBody>
        </p:sp>
      </p:grpSp>
      <p:cxnSp>
        <p:nvCxnSpPr>
          <p:cNvPr id="67" name="Connector 66"/>
          <p:cNvCxnSpPr/>
          <p:nvPr/>
        </p:nvCxnSpPr>
        <p:spPr>
          <a:xfrm>
            <a:off x="9962388" y="2903220"/>
            <a:ext cx="137160" cy="0"/>
          </a:xfrm>
          <a:prstGeom prst="line">
            <a:avLst/>
          </a:prstGeom>
          <a:ln w="19050">
            <a:solidFill>
              <a:srgbClr val="CFC3AA"/>
            </a:solidFill>
            <a:tailEnd type="triangle" w="med" len="med"/>
          </a:ln>
        </p:spPr>
      </p:cxnSp>
      <p:cxnSp>
        <p:nvCxnSpPr>
          <p:cNvPr id="68" name="Connector 67"/>
          <p:cNvCxnSpPr/>
          <p:nvPr/>
        </p:nvCxnSpPr>
        <p:spPr>
          <a:xfrm>
            <a:off x="9242298" y="4005072"/>
            <a:ext cx="0" cy="256032"/>
          </a:xfrm>
          <a:prstGeom prst="line">
            <a:avLst/>
          </a:prstGeom>
          <a:ln w="12700">
            <a:solidFill>
              <a:srgbClr val="CFC3AA"/>
            </a:solidFill>
            <a:prstDash val="dash"/>
          </a:ln>
        </p:spPr>
      </p:cxnSp>
      <p:grpSp>
        <p:nvGrpSpPr>
          <p:cNvPr id="69" name="Group 68"/>
          <p:cNvGrpSpPr/>
          <p:nvPr/>
        </p:nvGrpSpPr>
        <p:grpSpPr>
          <a:xfrm>
            <a:off x="8549640" y="4279392"/>
            <a:ext cx="1385316" cy="1024128"/>
            <a:chOff x="8549640" y="4279392"/>
            <a:chExt cx="1385316" cy="1024128"/>
          </a:xfrm>
        </p:grpSpPr>
        <p:sp>
          <p:nvSpPr>
            <p:cNvPr id="70" name="Rounded Rectangle 69"/>
            <p:cNvSpPr/>
            <p:nvPr/>
          </p:nvSpPr>
          <p:spPr>
            <a:xfrm>
              <a:off x="8549640" y="4279392"/>
              <a:ext cx="1385316" cy="1024128"/>
            </a:xfrm>
            <a:prstGeom prst="roundRect">
              <a:avLst>
                <a:gd name="adj" fmla="val 5357"/>
              </a:avLst>
            </a:prstGeom>
            <a:solidFill>
              <a:srgbClr val="E5F0E8"/>
            </a:solidFill>
            <a:ln>
              <a:noFill/>
            </a:ln>
          </p:spPr>
          <p:txBody>
            <a:bodyPr rtlCol="0" anchor="ctr"/>
            <a:lstStyle/>
            <a:p>
              <a:pPr algn="ctr"/>
            </a:p>
          </p:txBody>
        </p:sp>
        <p:sp>
          <p:nvSpPr>
            <p:cNvPr id="71" name="TextBox 70"/>
            <p:cNvSpPr txBox="1"/>
            <p:nvPr/>
          </p:nvSpPr>
          <p:spPr>
            <a:xfrm>
              <a:off x="8677656" y="4370832"/>
              <a:ext cx="1184148" cy="237744"/>
            </a:xfrm>
            <a:prstGeom prst="rect">
              <a:avLst/>
            </a:prstGeom>
            <a:noFill/>
          </p:spPr>
          <p:txBody>
            <a:bodyPr wrap="square" lIns="0" rIns="0" tIns="0" bIns="0" anchor="ctr">
              <a:noAutofit/>
            </a:bodyPr>
            <a:lstStyle/>
            <a:p>
              <a:pPr algn="l"/>
              <a:r>
                <a:rPr sz="1000" b="1" i="0">
                  <a:solidFill>
                    <a:srgbClr val="2D6A48"/>
                  </a:solidFill>
                  <a:latin typeface="Inter" panose="020B0502030000000004" pitchFamily="34" charset="0"/>
                </a:rPr>
                <a:t>Approved</a:t>
              </a:r>
            </a:p>
          </p:txBody>
        </p:sp>
        <p:sp>
          <p:nvSpPr>
            <p:cNvPr id="72" name="TextBox 71"/>
            <p:cNvSpPr txBox="1"/>
            <p:nvPr/>
          </p:nvSpPr>
          <p:spPr>
            <a:xfrm>
              <a:off x="8677656" y="4636008"/>
              <a:ext cx="1165860" cy="640080"/>
            </a:xfrm>
            <a:prstGeom prst="rect">
              <a:avLst/>
            </a:prstGeom>
            <a:noFill/>
          </p:spPr>
          <p:txBody>
            <a:bodyPr wrap="square" lIns="0" rIns="0" tIns="0" bIns="0" anchor="t">
              <a:noAutofit/>
            </a:bodyPr>
            <a:lstStyle/>
            <a:p>
              <a:pPr algn="l">
                <a:lnSpc>
                  <a:spcPct val="105000"/>
                </a:lnSpc>
              </a:pPr>
              <a:r>
                <a:rPr sz="950" b="0" i="0">
                  <a:solidFill>
                    <a:srgbClr val="16130E"/>
                  </a:solidFill>
                  <a:latin typeface="Inter" panose="020B0502030000000004" pitchFamily="34" charset="0"/>
                </a:rPr>
                <a:t>The human replies YES 1234.</a:t>
              </a:r>
            </a:p>
          </p:txBody>
        </p:sp>
      </p:grpSp>
      <p:grpSp>
        <p:nvGrpSpPr>
          <p:cNvPr id="73" name="Group 72"/>
          <p:cNvGrpSpPr/>
          <p:nvPr/>
        </p:nvGrpSpPr>
        <p:grpSpPr>
          <a:xfrm>
            <a:off x="10122408" y="1828800"/>
            <a:ext cx="1385316" cy="2148840"/>
            <a:chOff x="10122408" y="1828800"/>
            <a:chExt cx="1385316" cy="2148840"/>
          </a:xfrm>
        </p:grpSpPr>
        <p:sp>
          <p:nvSpPr>
            <p:cNvPr id="74" name="Rounded Rectangle 73"/>
            <p:cNvSpPr/>
            <p:nvPr/>
          </p:nvSpPr>
          <p:spPr>
            <a:xfrm>
              <a:off x="10122408" y="1828800"/>
              <a:ext cx="1385316" cy="2148840"/>
            </a:xfrm>
            <a:prstGeom prst="roundRect">
              <a:avLst>
                <a:gd name="adj" fmla="val 3960"/>
              </a:avLst>
            </a:prstGeom>
            <a:solidFill>
              <a:srgbClr val="FFFDF7"/>
            </a:solidFill>
            <a:ln w="9525">
              <a:solidFill>
                <a:srgbClr val="E2D9C6"/>
              </a:solidFill>
            </a:ln>
          </p:spPr>
          <p:txBody>
            <a:bodyPr rtlCol="0" anchor="ctr"/>
            <a:lstStyle/>
            <a:p>
              <a:pPr algn="ctr"/>
            </a:p>
          </p:txBody>
        </p:sp>
        <p:sp>
          <p:nvSpPr>
            <p:cNvPr id="75" name="TextBox 74"/>
            <p:cNvSpPr txBox="1"/>
            <p:nvPr/>
          </p:nvSpPr>
          <p:spPr>
            <a:xfrm>
              <a:off x="10268712" y="1938528"/>
              <a:ext cx="548640" cy="457200"/>
            </a:xfrm>
            <a:prstGeom prst="rect">
              <a:avLst/>
            </a:prstGeom>
            <a:noFill/>
          </p:spPr>
          <p:txBody>
            <a:bodyPr wrap="square" lIns="0" rIns="0" tIns="0" bIns="0" anchor="ctr">
              <a:noAutofit/>
            </a:bodyPr>
            <a:lstStyle/>
            <a:p>
              <a:pPr algn="l"/>
              <a:r>
                <a:rPr sz="2400" b="0" i="0">
                  <a:solidFill>
                    <a:srgbClr val="B0894F"/>
                  </a:solidFill>
                  <a:latin typeface="Georgia" panose="02040502050405020303" pitchFamily="18" charset="0"/>
                </a:rPr>
                <a:t>7</a:t>
              </a:r>
            </a:p>
          </p:txBody>
        </p:sp>
        <p:sp>
          <p:nvSpPr>
            <p:cNvPr id="76" name="TextBox 75"/>
            <p:cNvSpPr txBox="1"/>
            <p:nvPr/>
          </p:nvSpPr>
          <p:spPr>
            <a:xfrm>
              <a:off x="10268712" y="2432304"/>
              <a:ext cx="1147572" cy="457200"/>
            </a:xfrm>
            <a:prstGeom prst="rect">
              <a:avLst/>
            </a:prstGeom>
            <a:noFill/>
          </p:spPr>
          <p:txBody>
            <a:bodyPr wrap="square" lIns="0" rIns="0" tIns="0" bIns="0" anchor="t">
              <a:noAutofit/>
            </a:bodyPr>
            <a:lstStyle/>
            <a:p>
              <a:pPr algn="l">
                <a:lnSpc>
                  <a:spcPct val="95000"/>
                </a:lnSpc>
              </a:pPr>
              <a:r>
                <a:rPr sz="1500" b="0" i="0">
                  <a:solidFill>
                    <a:srgbClr val="16130E"/>
                  </a:solidFill>
                  <a:latin typeface="Georgia" panose="02040502050405020303" pitchFamily="18" charset="0"/>
                </a:rPr>
                <a:t>Settlement ledger</a:t>
              </a:r>
            </a:p>
          </p:txBody>
        </p:sp>
        <p:sp>
          <p:nvSpPr>
            <p:cNvPr id="77" name="TextBox 76"/>
            <p:cNvSpPr txBox="1"/>
            <p:nvPr/>
          </p:nvSpPr>
          <p:spPr>
            <a:xfrm>
              <a:off x="10268712" y="2889504"/>
              <a:ext cx="1129284" cy="1051560"/>
            </a:xfrm>
            <a:prstGeom prst="rect">
              <a:avLst/>
            </a:prstGeom>
            <a:noFill/>
          </p:spPr>
          <p:txBody>
            <a:bodyPr wrap="square" lIns="0" rIns="0" tIns="0" bIns="0" anchor="t">
              <a:noAutofit/>
            </a:bodyPr>
            <a:lstStyle/>
            <a:p>
              <a:pPr algn="l">
                <a:lnSpc>
                  <a:spcPct val="108000"/>
                </a:lnSpc>
              </a:pPr>
              <a:r>
                <a:rPr sz="1000" b="0" i="0">
                  <a:solidFill>
                    <a:srgbClr val="6E6658"/>
                  </a:solidFill>
                  <a:latin typeface="Inter" panose="020B0502030000000004" pitchFamily="34" charset="0"/>
                </a:rPr>
                <a:t>Double-entry. Every transaction sums to $0. Receipt sent.</a:t>
              </a:r>
            </a:p>
          </p:txBody>
        </p:sp>
      </p:grpSp>
      <p:grpSp>
        <p:nvGrpSpPr>
          <p:cNvPr id="78" name="Group 77"/>
          <p:cNvGrpSpPr/>
          <p:nvPr/>
        </p:nvGrpSpPr>
        <p:grpSpPr>
          <a:xfrm>
            <a:off x="685800" y="5641848"/>
            <a:ext cx="10817352" cy="585216"/>
            <a:chOff x="685800" y="5641848"/>
            <a:chExt cx="10817352" cy="585216"/>
          </a:xfrm>
        </p:grpSpPr>
        <p:sp>
          <p:nvSpPr>
            <p:cNvPr id="79" name="Rounded Rectangle 78"/>
            <p:cNvSpPr/>
            <p:nvPr/>
          </p:nvSpPr>
          <p:spPr>
            <a:xfrm>
              <a:off x="685800" y="5641848"/>
              <a:ext cx="10817352" cy="585216"/>
            </a:xfrm>
            <a:prstGeom prst="roundRect">
              <a:avLst>
                <a:gd name="adj" fmla="val 9375"/>
              </a:avLst>
            </a:prstGeom>
            <a:solidFill>
              <a:srgbClr val="FFFDF7"/>
            </a:solidFill>
            <a:ln w="9525">
              <a:solidFill>
                <a:srgbClr val="E2D9C6"/>
              </a:solidFill>
            </a:ln>
          </p:spPr>
          <p:txBody>
            <a:bodyPr rtlCol="0" anchor="ctr"/>
            <a:lstStyle/>
            <a:p>
              <a:pPr algn="ctr"/>
            </a:p>
          </p:txBody>
        </p:sp>
      </p:grpSp>
      <p:grpSp>
        <p:nvGrpSpPr>
          <p:cNvPr id="80" name="Group 79"/>
          <p:cNvGrpSpPr/>
          <p:nvPr/>
        </p:nvGrpSpPr>
        <p:grpSpPr>
          <a:xfrm>
            <a:off x="914400" y="5641848"/>
            <a:ext cx="2430018" cy="585216"/>
            <a:chOff x="914400" y="5641848"/>
            <a:chExt cx="2430018" cy="585216"/>
          </a:xfrm>
        </p:grpSpPr>
        <p:sp>
          <p:nvSpPr>
            <p:cNvPr id="81" name="TextBox 80"/>
            <p:cNvSpPr txBox="1"/>
            <p:nvPr/>
          </p:nvSpPr>
          <p:spPr>
            <a:xfrm>
              <a:off x="914400" y="5641848"/>
              <a:ext cx="2430018" cy="585216"/>
            </a:xfrm>
            <a:prstGeom prst="rect">
              <a:avLst/>
            </a:prstGeom>
            <a:noFill/>
          </p:spPr>
          <p:txBody>
            <a:bodyPr wrap="square" lIns="0" rIns="0" tIns="0" bIns="0" anchor="ctr">
              <a:noAutofit/>
            </a:bodyPr>
            <a:lstStyle/>
            <a:p>
              <a:pPr algn="l"/>
              <a:r>
                <a:rPr sz="2100" b="0" i="0">
                  <a:solidFill>
                    <a:srgbClr val="16130E"/>
                  </a:solidFill>
                  <a:latin typeface="Georgia" panose="02040502050405020303" pitchFamily="18" charset="0"/>
                </a:rPr>
                <a:t>2</a:t>
              </a:r>
              <a:r>
                <a:rPr sz="1100" b="0" i="0">
                  <a:solidFill>
                    <a:srgbClr val="6E6658"/>
                  </a:solidFill>
                  <a:latin typeface="Inter" panose="020B0502030000000004" pitchFamily="34" charset="0"/>
                </a:rPr>
                <a:t>   calls for the agent</a:t>
              </a:r>
            </a:p>
          </p:txBody>
        </p:sp>
      </p:grpSp>
      <p:sp>
        <p:nvSpPr>
          <p:cNvPr id="82" name="Rectangle 81"/>
          <p:cNvSpPr/>
          <p:nvPr/>
        </p:nvSpPr>
        <p:spPr>
          <a:xfrm>
            <a:off x="3390138" y="5769864"/>
            <a:ext cx="7315" cy="329184"/>
          </a:xfrm>
          <a:prstGeom prst="rect">
            <a:avLst/>
          </a:prstGeom>
          <a:solidFill>
            <a:srgbClr val="E2D9C6"/>
          </a:solidFill>
          <a:ln>
            <a:noFill/>
          </a:ln>
        </p:spPr>
        <p:txBody>
          <a:bodyPr rtlCol="0" anchor="ctr"/>
          <a:lstStyle/>
          <a:p>
            <a:pPr algn="ctr"/>
          </a:p>
        </p:txBody>
      </p:sp>
      <p:grpSp>
        <p:nvGrpSpPr>
          <p:cNvPr id="83" name="Group 82"/>
          <p:cNvGrpSpPr/>
          <p:nvPr/>
        </p:nvGrpSpPr>
        <p:grpSpPr>
          <a:xfrm>
            <a:off x="3618738" y="5641848"/>
            <a:ext cx="2430018" cy="585216"/>
            <a:chOff x="3618738" y="5641848"/>
            <a:chExt cx="2430018" cy="585216"/>
          </a:xfrm>
        </p:grpSpPr>
        <p:sp>
          <p:nvSpPr>
            <p:cNvPr id="84" name="TextBox 83"/>
            <p:cNvSpPr txBox="1"/>
            <p:nvPr/>
          </p:nvSpPr>
          <p:spPr>
            <a:xfrm>
              <a:off x="3618738" y="5641848"/>
              <a:ext cx="2430018" cy="585216"/>
            </a:xfrm>
            <a:prstGeom prst="rect">
              <a:avLst/>
            </a:prstGeom>
            <a:noFill/>
          </p:spPr>
          <p:txBody>
            <a:bodyPr wrap="square" lIns="0" rIns="0" tIns="0" bIns="0" anchor="ctr">
              <a:noAutofit/>
            </a:bodyPr>
            <a:lstStyle/>
            <a:p>
              <a:pPr algn="l"/>
              <a:r>
                <a:rPr sz="2100" b="0" i="0">
                  <a:solidFill>
                    <a:srgbClr val="16130E"/>
                  </a:solidFill>
                  <a:latin typeface="Georgia" panose="02040502050405020303" pitchFamily="18" charset="0"/>
                </a:rPr>
                <a:t>~12 s</a:t>
              </a:r>
              <a:r>
                <a:rPr sz="1100" b="0" i="0">
                  <a:solidFill>
                    <a:srgbClr val="6E6658"/>
                  </a:solidFill>
                  <a:latin typeface="Inter" panose="020B0502030000000004" pitchFamily="34" charset="0"/>
                </a:rPr>
                <a:t>   per lot</a:t>
              </a:r>
            </a:p>
          </p:txBody>
        </p:sp>
      </p:grpSp>
      <p:sp>
        <p:nvSpPr>
          <p:cNvPr id="85" name="Rectangle 84"/>
          <p:cNvSpPr/>
          <p:nvPr/>
        </p:nvSpPr>
        <p:spPr>
          <a:xfrm>
            <a:off x="6094476" y="5769864"/>
            <a:ext cx="7315" cy="329184"/>
          </a:xfrm>
          <a:prstGeom prst="rect">
            <a:avLst/>
          </a:prstGeom>
          <a:solidFill>
            <a:srgbClr val="E2D9C6"/>
          </a:solidFill>
          <a:ln>
            <a:noFill/>
          </a:ln>
        </p:spPr>
        <p:txBody>
          <a:bodyPr rtlCol="0" anchor="ctr"/>
          <a:lstStyle/>
          <a:p>
            <a:pPr algn="ctr"/>
          </a:p>
        </p:txBody>
      </p:sp>
      <p:grpSp>
        <p:nvGrpSpPr>
          <p:cNvPr id="86" name="Group 85"/>
          <p:cNvGrpSpPr/>
          <p:nvPr/>
        </p:nvGrpSpPr>
        <p:grpSpPr>
          <a:xfrm>
            <a:off x="6323076" y="5641848"/>
            <a:ext cx="2430018" cy="585216"/>
            <a:chOff x="6323076" y="5641848"/>
            <a:chExt cx="2430018" cy="585216"/>
          </a:xfrm>
        </p:grpSpPr>
        <p:sp>
          <p:nvSpPr>
            <p:cNvPr id="87" name="TextBox 86"/>
            <p:cNvSpPr txBox="1"/>
            <p:nvPr/>
          </p:nvSpPr>
          <p:spPr>
            <a:xfrm>
              <a:off x="6323076" y="5641848"/>
              <a:ext cx="2430018" cy="585216"/>
            </a:xfrm>
            <a:prstGeom prst="rect">
              <a:avLst/>
            </a:prstGeom>
            <a:noFill/>
          </p:spPr>
          <p:txBody>
            <a:bodyPr wrap="square" lIns="0" rIns="0" tIns="0" bIns="0" anchor="ctr">
              <a:noAutofit/>
            </a:bodyPr>
            <a:lstStyle/>
            <a:p>
              <a:pPr algn="l"/>
              <a:r>
                <a:rPr sz="2100" b="0" i="0">
                  <a:solidFill>
                    <a:srgbClr val="2D6A48"/>
                  </a:solidFill>
                  <a:latin typeface="Georgia" panose="02040502050405020303" pitchFamily="18" charset="0"/>
                </a:rPr>
                <a:t>6</a:t>
              </a:r>
              <a:r>
                <a:rPr sz="1100" b="0" i="0">
                  <a:solidFill>
                    <a:srgbClr val="6E6658"/>
                  </a:solidFill>
                  <a:latin typeface="Inter" panose="020B0502030000000004" pitchFamily="34" charset="0"/>
                </a:rPr>
                <a:t>   checks per paddle</a:t>
              </a:r>
            </a:p>
          </p:txBody>
        </p:sp>
      </p:grpSp>
      <p:sp>
        <p:nvSpPr>
          <p:cNvPr id="88" name="Rectangle 87"/>
          <p:cNvSpPr/>
          <p:nvPr/>
        </p:nvSpPr>
        <p:spPr>
          <a:xfrm>
            <a:off x="8798814" y="5769864"/>
            <a:ext cx="7315" cy="329184"/>
          </a:xfrm>
          <a:prstGeom prst="rect">
            <a:avLst/>
          </a:prstGeom>
          <a:solidFill>
            <a:srgbClr val="E2D9C6"/>
          </a:solidFill>
          <a:ln>
            <a:noFill/>
          </a:ln>
        </p:spPr>
        <p:txBody>
          <a:bodyPr rtlCol="0" anchor="ctr"/>
          <a:lstStyle/>
          <a:p>
            <a:pPr algn="ctr"/>
          </a:p>
        </p:txBody>
      </p:sp>
      <p:grpSp>
        <p:nvGrpSpPr>
          <p:cNvPr id="89" name="Group 88"/>
          <p:cNvGrpSpPr/>
          <p:nvPr/>
        </p:nvGrpSpPr>
        <p:grpSpPr>
          <a:xfrm>
            <a:off x="9027414" y="5641848"/>
            <a:ext cx="2430018" cy="585216"/>
            <a:chOff x="9027414" y="5641848"/>
            <a:chExt cx="2430018" cy="585216"/>
          </a:xfrm>
        </p:grpSpPr>
        <p:sp>
          <p:nvSpPr>
            <p:cNvPr id="90" name="TextBox 89"/>
            <p:cNvSpPr txBox="1"/>
            <p:nvPr/>
          </p:nvSpPr>
          <p:spPr>
            <a:xfrm>
              <a:off x="9027414" y="5641848"/>
              <a:ext cx="2430018" cy="585216"/>
            </a:xfrm>
            <a:prstGeom prst="rect">
              <a:avLst/>
            </a:prstGeom>
            <a:noFill/>
          </p:spPr>
          <p:txBody>
            <a:bodyPr wrap="square" lIns="0" rIns="0" tIns="0" bIns="0" anchor="ctr">
              <a:noAutofit/>
            </a:bodyPr>
            <a:lstStyle/>
            <a:p>
              <a:pPr algn="l"/>
              <a:r>
                <a:rPr sz="2100" b="0" i="0">
                  <a:solidFill>
                    <a:srgbClr val="94641F"/>
                  </a:solidFill>
                  <a:latin typeface="Georgia" panose="02040502050405020303" pitchFamily="18" charset="0"/>
                </a:rPr>
                <a:t>0%</a:t>
              </a:r>
              <a:r>
                <a:rPr sz="1100" b="0" i="0">
                  <a:solidFill>
                    <a:srgbClr val="6E6658"/>
                  </a:solidFill>
                  <a:latin typeface="Inter" panose="020B0502030000000004" pitchFamily="34" charset="0"/>
                </a:rPr>
                <a:t>   of rank for sale</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600"/>
                                        <p:tgtEl>
                                          <p:spTgt spid="15"/>
                                        </p:tgtEl>
                                      </p:cBhvr>
                                    </p:animEffect>
                                  </p:childTnLst>
                                </p:cTn>
                              </p:par>
                              <p:par>
                                <p:cTn id="8" presetID="42" presetClass="entr" presetSubtype="0" fill="hold" grpId="0" nodeType="withEffect">
                                  <p:stCondLst>
                                    <p:cond delay="6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600"/>
                                        <p:tgtEl>
                                          <p:spTgt spid="16"/>
                                        </p:tgtEl>
                                      </p:cBhvr>
                                    </p:animEffect>
                                    <p:anim calcmode="lin" valueType="num">
                                      <p:cBhvr additive="base">
                                        <p:cTn id="11" dur="600" fill="hold" decel="100000"/>
                                        <p:tgtEl>
                                          <p:spTgt spid="16"/>
                                        </p:tgtEl>
                                        <p:attrNameLst>
                                          <p:attrName>ppt_x</p:attrName>
                                        </p:attrNameLst>
                                      </p:cBhvr>
                                      <p:tavLst>
                                        <p:tav tm="0">
                                          <p:val>
                                            <p:strVal val="#ppt_x"/>
                                          </p:val>
                                        </p:tav>
                                        <p:tav tm="100000">
                                          <p:val>
                                            <p:strVal val="#ppt_x"/>
                                          </p:val>
                                        </p:tav>
                                      </p:tavLst>
                                    </p:anim>
                                    <p:anim calcmode="lin" valueType="num">
                                      <p:cBhvr additive="base">
                                        <p:cTn id="12" dur="600" fill="hold" decel="100000"/>
                                        <p:tgtEl>
                                          <p:spTgt spid="16"/>
                                        </p:tgtEl>
                                        <p:attrNameLst>
                                          <p:attrName>ppt_y</p:attrName>
                                        </p:attrNameLst>
                                      </p:cBhvr>
                                      <p:tavLst>
                                        <p:tav tm="0">
                                          <p:val>
                                            <p:strVal val="#ppt_y+0.025"/>
                                          </p:val>
                                        </p:tav>
                                        <p:tav tm="100000">
                                          <p:val>
                                            <p:strVal val="#ppt_y"/>
                                          </p:val>
                                        </p:tav>
                                      </p:tavLst>
                                    </p:anim>
                                  </p:childTnLst>
                                </p:cTn>
                              </p:par>
                              <p:par>
                                <p:cTn id="13" presetID="42" presetClass="entr" presetSubtype="0" fill="hold" grpId="0" nodeType="withEffect">
                                  <p:stCondLst>
                                    <p:cond delay="25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450"/>
                                        <p:tgtEl>
                                          <p:spTgt spid="17"/>
                                        </p:tgtEl>
                                      </p:cBhvr>
                                    </p:animEffect>
                                    <p:anim calcmode="lin" valueType="num">
                                      <p:cBhvr additive="base">
                                        <p:cTn id="16" dur="450" fill="hold" decel="100000"/>
                                        <p:tgtEl>
                                          <p:spTgt spid="17"/>
                                        </p:tgtEl>
                                        <p:attrNameLst>
                                          <p:attrName>ppt_x</p:attrName>
                                        </p:attrNameLst>
                                      </p:cBhvr>
                                      <p:tavLst>
                                        <p:tav tm="0">
                                          <p:val>
                                            <p:strVal val="#ppt_x"/>
                                          </p:val>
                                        </p:tav>
                                        <p:tav tm="100000">
                                          <p:val>
                                            <p:strVal val="#ppt_x"/>
                                          </p:val>
                                        </p:tav>
                                      </p:tavLst>
                                    </p:anim>
                                    <p:anim calcmode="lin" valueType="num">
                                      <p:cBhvr additive="base">
                                        <p:cTn id="17" dur="450" fill="hold" decel="100000"/>
                                        <p:tgtEl>
                                          <p:spTgt spid="17"/>
                                        </p:tgtEl>
                                        <p:attrNameLst>
                                          <p:attrName>ppt_y</p:attrName>
                                        </p:attrNameLst>
                                      </p:cBhvr>
                                      <p:tavLst>
                                        <p:tav tm="0">
                                          <p:val>
                                            <p:strVal val="#ppt_y+0.025"/>
                                          </p:val>
                                        </p:tav>
                                        <p:tav tm="100000">
                                          <p:val>
                                            <p:strVal val="#ppt_y"/>
                                          </p:val>
                                        </p:tav>
                                      </p:tavLst>
                                    </p:anim>
                                  </p:childTnLst>
                                </p:cTn>
                              </p:par>
                              <p:par>
                                <p:cTn id="18" presetID="22" presetClass="entr" presetSubtype="8" fill="hold" grpId="0" nodeType="withEffect">
                                  <p:stCondLst>
                                    <p:cond delay="350"/>
                                  </p:stCondLst>
                                  <p:childTnLst>
                                    <p:set>
                                      <p:cBhvr>
                                        <p:cTn id="19" dur="1" fill="hold">
                                          <p:stCondLst>
                                            <p:cond delay="0"/>
                                          </p:stCondLst>
                                        </p:cTn>
                                        <p:tgtEl>
                                          <p:spTgt spid="22"/>
                                        </p:tgtEl>
                                        <p:attrNameLst>
                                          <p:attrName>style.visibility</p:attrName>
                                        </p:attrNameLst>
                                      </p:cBhvr>
                                      <p:to>
                                        <p:strVal val="visible"/>
                                      </p:to>
                                    </p:set>
                                    <p:animEffect transition="in" filter="wipe(left)">
                                      <p:cBhvr>
                                        <p:cTn id="20" dur="220"/>
                                        <p:tgtEl>
                                          <p:spTgt spid="22"/>
                                        </p:tgtEl>
                                      </p:cBhvr>
                                    </p:animEffect>
                                  </p:childTnLst>
                                </p:cTn>
                              </p:par>
                              <p:par>
                                <p:cTn id="21" presetID="42" presetClass="entr" presetSubtype="0" fill="hold" grpId="0" nodeType="withEffect">
                                  <p:stCondLst>
                                    <p:cond delay="39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50"/>
                                        <p:tgtEl>
                                          <p:spTgt spid="23"/>
                                        </p:tgtEl>
                                      </p:cBhvr>
                                    </p:animEffect>
                                    <p:anim calcmode="lin" valueType="num">
                                      <p:cBhvr additive="base">
                                        <p:cTn id="24" dur="450" fill="hold" decel="100000"/>
                                        <p:tgtEl>
                                          <p:spTgt spid="23"/>
                                        </p:tgtEl>
                                        <p:attrNameLst>
                                          <p:attrName>ppt_x</p:attrName>
                                        </p:attrNameLst>
                                      </p:cBhvr>
                                      <p:tavLst>
                                        <p:tav tm="0">
                                          <p:val>
                                            <p:strVal val="#ppt_x"/>
                                          </p:val>
                                        </p:tav>
                                        <p:tav tm="100000">
                                          <p:val>
                                            <p:strVal val="#ppt_x"/>
                                          </p:val>
                                        </p:tav>
                                      </p:tavLst>
                                    </p:anim>
                                    <p:anim calcmode="lin" valueType="num">
                                      <p:cBhvr additive="base">
                                        <p:cTn id="25" dur="450" fill="hold" decel="100000"/>
                                        <p:tgtEl>
                                          <p:spTgt spid="23"/>
                                        </p:tgtEl>
                                        <p:attrNameLst>
                                          <p:attrName>ppt_y</p:attrName>
                                        </p:attrNameLst>
                                      </p:cBhvr>
                                      <p:tavLst>
                                        <p:tav tm="0">
                                          <p:val>
                                            <p:strVal val="#ppt_y+0.025"/>
                                          </p:val>
                                        </p:tav>
                                        <p:tav tm="100000">
                                          <p:val>
                                            <p:strVal val="#ppt_y"/>
                                          </p:val>
                                        </p:tav>
                                      </p:tavLst>
                                    </p:anim>
                                  </p:childTnLst>
                                </p:cTn>
                              </p:par>
                              <p:par>
                                <p:cTn id="26" presetID="22" presetClass="entr" presetSubtype="8" fill="hold" grpId="0" nodeType="withEffect">
                                  <p:stCondLst>
                                    <p:cond delay="490"/>
                                  </p:stCondLst>
                                  <p:childTnLst>
                                    <p:set>
                                      <p:cBhvr>
                                        <p:cTn id="27" dur="1" fill="hold">
                                          <p:stCondLst>
                                            <p:cond delay="0"/>
                                          </p:stCondLst>
                                        </p:cTn>
                                        <p:tgtEl>
                                          <p:spTgt spid="28"/>
                                        </p:tgtEl>
                                        <p:attrNameLst>
                                          <p:attrName>style.visibility</p:attrName>
                                        </p:attrNameLst>
                                      </p:cBhvr>
                                      <p:to>
                                        <p:strVal val="visible"/>
                                      </p:to>
                                    </p:set>
                                    <p:animEffect transition="in" filter="wipe(left)">
                                      <p:cBhvr>
                                        <p:cTn id="28" dur="220"/>
                                        <p:tgtEl>
                                          <p:spTgt spid="28"/>
                                        </p:tgtEl>
                                      </p:cBhvr>
                                    </p:animEffect>
                                  </p:childTnLst>
                                </p:cTn>
                              </p:par>
                              <p:par>
                                <p:cTn id="29" presetID="42" presetClass="entr" presetSubtype="0" fill="hold" grpId="0" nodeType="withEffect">
                                  <p:stCondLst>
                                    <p:cond delay="53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50"/>
                                        <p:tgtEl>
                                          <p:spTgt spid="29"/>
                                        </p:tgtEl>
                                      </p:cBhvr>
                                    </p:animEffect>
                                    <p:anim calcmode="lin" valueType="num">
                                      <p:cBhvr additive="base">
                                        <p:cTn id="32" dur="450" fill="hold" decel="100000"/>
                                        <p:tgtEl>
                                          <p:spTgt spid="29"/>
                                        </p:tgtEl>
                                        <p:attrNameLst>
                                          <p:attrName>ppt_x</p:attrName>
                                        </p:attrNameLst>
                                      </p:cBhvr>
                                      <p:tavLst>
                                        <p:tav tm="0">
                                          <p:val>
                                            <p:strVal val="#ppt_x"/>
                                          </p:val>
                                        </p:tav>
                                        <p:tav tm="100000">
                                          <p:val>
                                            <p:strVal val="#ppt_x"/>
                                          </p:val>
                                        </p:tav>
                                      </p:tavLst>
                                    </p:anim>
                                    <p:anim calcmode="lin" valueType="num">
                                      <p:cBhvr additive="base">
                                        <p:cTn id="33" dur="450" fill="hold" decel="100000"/>
                                        <p:tgtEl>
                                          <p:spTgt spid="29"/>
                                        </p:tgtEl>
                                        <p:attrNameLst>
                                          <p:attrName>ppt_y</p:attrName>
                                        </p:attrNameLst>
                                      </p:cBhvr>
                                      <p:tavLst>
                                        <p:tav tm="0">
                                          <p:val>
                                            <p:strVal val="#ppt_y+0.025"/>
                                          </p:val>
                                        </p:tav>
                                        <p:tav tm="100000">
                                          <p:val>
                                            <p:strVal val="#ppt_y"/>
                                          </p:val>
                                        </p:tav>
                                      </p:tavLst>
                                    </p:anim>
                                  </p:childTnLst>
                                </p:cTn>
                              </p:par>
                              <p:par>
                                <p:cTn id="34" presetID="22" presetClass="entr" presetSubtype="8" fill="hold" grpId="0" nodeType="withEffect">
                                  <p:stCondLst>
                                    <p:cond delay="630"/>
                                  </p:stCondLst>
                                  <p:childTnLst>
                                    <p:set>
                                      <p:cBhvr>
                                        <p:cTn id="35" dur="1" fill="hold">
                                          <p:stCondLst>
                                            <p:cond delay="0"/>
                                          </p:stCondLst>
                                        </p:cTn>
                                        <p:tgtEl>
                                          <p:spTgt spid="34"/>
                                        </p:tgtEl>
                                        <p:attrNameLst>
                                          <p:attrName>style.visibility</p:attrName>
                                        </p:attrNameLst>
                                      </p:cBhvr>
                                      <p:to>
                                        <p:strVal val="visible"/>
                                      </p:to>
                                    </p:set>
                                    <p:animEffect transition="in" filter="wipe(left)">
                                      <p:cBhvr>
                                        <p:cTn id="36" dur="220"/>
                                        <p:tgtEl>
                                          <p:spTgt spid="34"/>
                                        </p:tgtEl>
                                      </p:cBhvr>
                                    </p:animEffect>
                                  </p:childTnLst>
                                </p:cTn>
                              </p:par>
                              <p:par>
                                <p:cTn id="37" presetID="10" presetClass="entr" presetSubtype="0" fill="hold" grpId="0" nodeType="withEffect">
                                  <p:stCondLst>
                                    <p:cond delay="1450"/>
                                  </p:stCondLst>
                                  <p:childTnLst>
                                    <p:set>
                                      <p:cBhvr>
                                        <p:cTn id="38" dur="1" fill="hold">
                                          <p:stCondLst>
                                            <p:cond delay="0"/>
                                          </p:stCondLst>
                                        </p:cTn>
                                        <p:tgtEl>
                                          <p:spTgt spid="35"/>
                                        </p:tgtEl>
                                        <p:attrNameLst>
                                          <p:attrName>style.visibility</p:attrName>
                                        </p:attrNameLst>
                                      </p:cBhvr>
                                      <p:to>
                                        <p:strVal val="visible"/>
                                      </p:to>
                                    </p:set>
                                    <p:animEffect transition="in" filter="fade">
                                      <p:cBhvr>
                                        <p:cTn id="39" dur="250"/>
                                        <p:tgtEl>
                                          <p:spTgt spid="35"/>
                                        </p:tgtEl>
                                      </p:cBhvr>
                                    </p:animEffect>
                                  </p:childTnLst>
                                </p:cTn>
                              </p:par>
                              <p:par>
                                <p:cTn id="40" presetID="42" presetClass="entr" presetSubtype="0" fill="hold" grpId="0" nodeType="withEffect">
                                  <p:stCondLst>
                                    <p:cond delay="1500"/>
                                  </p:stCondLst>
                                  <p:childTnLst>
                                    <p:set>
                                      <p:cBhvr>
                                        <p:cTn id="41" dur="1" fill="hold">
                                          <p:stCondLst>
                                            <p:cond delay="0"/>
                                          </p:stCondLst>
                                        </p:cTn>
                                        <p:tgtEl>
                                          <p:spTgt spid="36"/>
                                        </p:tgtEl>
                                        <p:attrNameLst>
                                          <p:attrName>style.visibility</p:attrName>
                                        </p:attrNameLst>
                                      </p:cBhvr>
                                      <p:to>
                                        <p:strVal val="visible"/>
                                      </p:to>
                                    </p:set>
                                    <p:animEffect transition="in" filter="fade">
                                      <p:cBhvr>
                                        <p:cTn id="42" dur="400"/>
                                        <p:tgtEl>
                                          <p:spTgt spid="36"/>
                                        </p:tgtEl>
                                      </p:cBhvr>
                                    </p:animEffect>
                                    <p:anim calcmode="lin" valueType="num">
                                      <p:cBhvr additive="base">
                                        <p:cTn id="43" dur="400" fill="hold" decel="100000"/>
                                        <p:tgtEl>
                                          <p:spTgt spid="36"/>
                                        </p:tgtEl>
                                        <p:attrNameLst>
                                          <p:attrName>ppt_x</p:attrName>
                                        </p:attrNameLst>
                                      </p:cBhvr>
                                      <p:tavLst>
                                        <p:tav tm="0">
                                          <p:val>
                                            <p:strVal val="#ppt_x"/>
                                          </p:val>
                                        </p:tav>
                                        <p:tav tm="100000">
                                          <p:val>
                                            <p:strVal val="#ppt_x"/>
                                          </p:val>
                                        </p:tav>
                                      </p:tavLst>
                                    </p:anim>
                                    <p:anim calcmode="lin" valueType="num">
                                      <p:cBhvr additive="base">
                                        <p:cTn id="44" dur="400" fill="hold" decel="100000"/>
                                        <p:tgtEl>
                                          <p:spTgt spid="36"/>
                                        </p:tgtEl>
                                        <p:attrNameLst>
                                          <p:attrName>ppt_y</p:attrName>
                                        </p:attrNameLst>
                                      </p:cBhvr>
                                      <p:tavLst>
                                        <p:tav tm="0">
                                          <p:val>
                                            <p:strVal val="#ppt_y+0.025"/>
                                          </p:val>
                                        </p:tav>
                                        <p:tav tm="100000">
                                          <p:val>
                                            <p:strVal val="#ppt_y"/>
                                          </p:val>
                                        </p:tav>
                                      </p:tavLst>
                                    </p:anim>
                                  </p:childTnLst>
                                </p:cTn>
                              </p:par>
                              <p:par>
                                <p:cTn id="45" presetID="42" presetClass="entr" presetSubtype="0" fill="hold" grpId="0" nodeType="withEffect">
                                  <p:stCondLst>
                                    <p:cond delay="670"/>
                                  </p:stCondLst>
                                  <p:childTnLst>
                                    <p:set>
                                      <p:cBhvr>
                                        <p:cTn id="46" dur="1" fill="hold">
                                          <p:stCondLst>
                                            <p:cond delay="0"/>
                                          </p:stCondLst>
                                        </p:cTn>
                                        <p:tgtEl>
                                          <p:spTgt spid="40"/>
                                        </p:tgtEl>
                                        <p:attrNameLst>
                                          <p:attrName>style.visibility</p:attrName>
                                        </p:attrNameLst>
                                      </p:cBhvr>
                                      <p:to>
                                        <p:strVal val="visible"/>
                                      </p:to>
                                    </p:set>
                                    <p:animEffect transition="in" filter="fade">
                                      <p:cBhvr>
                                        <p:cTn id="47" dur="450"/>
                                        <p:tgtEl>
                                          <p:spTgt spid="40"/>
                                        </p:tgtEl>
                                      </p:cBhvr>
                                    </p:animEffect>
                                    <p:anim calcmode="lin" valueType="num">
                                      <p:cBhvr additive="base">
                                        <p:cTn id="48" dur="450" fill="hold" decel="100000"/>
                                        <p:tgtEl>
                                          <p:spTgt spid="40"/>
                                        </p:tgtEl>
                                        <p:attrNameLst>
                                          <p:attrName>ppt_x</p:attrName>
                                        </p:attrNameLst>
                                      </p:cBhvr>
                                      <p:tavLst>
                                        <p:tav tm="0">
                                          <p:val>
                                            <p:strVal val="#ppt_x"/>
                                          </p:val>
                                        </p:tav>
                                        <p:tav tm="100000">
                                          <p:val>
                                            <p:strVal val="#ppt_x"/>
                                          </p:val>
                                        </p:tav>
                                      </p:tavLst>
                                    </p:anim>
                                    <p:anim calcmode="lin" valueType="num">
                                      <p:cBhvr additive="base">
                                        <p:cTn id="49" dur="450" fill="hold" decel="100000"/>
                                        <p:tgtEl>
                                          <p:spTgt spid="40"/>
                                        </p:tgtEl>
                                        <p:attrNameLst>
                                          <p:attrName>ppt_y</p:attrName>
                                        </p:attrNameLst>
                                      </p:cBhvr>
                                      <p:tavLst>
                                        <p:tav tm="0">
                                          <p:val>
                                            <p:strVal val="#ppt_y+0.025"/>
                                          </p:val>
                                        </p:tav>
                                        <p:tav tm="100000">
                                          <p:val>
                                            <p:strVal val="#ppt_y"/>
                                          </p:val>
                                        </p:tav>
                                      </p:tavLst>
                                    </p:anim>
                                  </p:childTnLst>
                                </p:cTn>
                              </p:par>
                              <p:par>
                                <p:cTn id="50" presetID="22" presetClass="entr" presetSubtype="8" fill="hold" grpId="0" nodeType="withEffect">
                                  <p:stCondLst>
                                    <p:cond delay="770"/>
                                  </p:stCondLst>
                                  <p:childTnLst>
                                    <p:set>
                                      <p:cBhvr>
                                        <p:cTn id="51" dur="1" fill="hold">
                                          <p:stCondLst>
                                            <p:cond delay="0"/>
                                          </p:stCondLst>
                                        </p:cTn>
                                        <p:tgtEl>
                                          <p:spTgt spid="45"/>
                                        </p:tgtEl>
                                        <p:attrNameLst>
                                          <p:attrName>style.visibility</p:attrName>
                                        </p:attrNameLst>
                                      </p:cBhvr>
                                      <p:to>
                                        <p:strVal val="visible"/>
                                      </p:to>
                                    </p:set>
                                    <p:animEffect transition="in" filter="wipe(left)">
                                      <p:cBhvr>
                                        <p:cTn id="52" dur="220"/>
                                        <p:tgtEl>
                                          <p:spTgt spid="45"/>
                                        </p:tgtEl>
                                      </p:cBhvr>
                                    </p:animEffect>
                                  </p:childTnLst>
                                </p:cTn>
                              </p:par>
                              <p:par>
                                <p:cTn id="53" presetID="10" presetClass="entr" presetSubtype="0" fill="hold" grpId="0" nodeType="withEffect">
                                  <p:stCondLst>
                                    <p:cond delay="1590"/>
                                  </p:stCondLst>
                                  <p:childTnLst>
                                    <p:set>
                                      <p:cBhvr>
                                        <p:cTn id="54" dur="1" fill="hold">
                                          <p:stCondLst>
                                            <p:cond delay="0"/>
                                          </p:stCondLst>
                                        </p:cTn>
                                        <p:tgtEl>
                                          <p:spTgt spid="46"/>
                                        </p:tgtEl>
                                        <p:attrNameLst>
                                          <p:attrName>style.visibility</p:attrName>
                                        </p:attrNameLst>
                                      </p:cBhvr>
                                      <p:to>
                                        <p:strVal val="visible"/>
                                      </p:to>
                                    </p:set>
                                    <p:animEffect transition="in" filter="fade">
                                      <p:cBhvr>
                                        <p:cTn id="55" dur="250"/>
                                        <p:tgtEl>
                                          <p:spTgt spid="46"/>
                                        </p:tgtEl>
                                      </p:cBhvr>
                                    </p:animEffect>
                                  </p:childTnLst>
                                </p:cTn>
                              </p:par>
                              <p:par>
                                <p:cTn id="56" presetID="42" presetClass="entr" presetSubtype="0" fill="hold" grpId="0" nodeType="withEffect">
                                  <p:stCondLst>
                                    <p:cond delay="1640"/>
                                  </p:stCondLst>
                                  <p:childTnLst>
                                    <p:set>
                                      <p:cBhvr>
                                        <p:cTn id="57" dur="1" fill="hold">
                                          <p:stCondLst>
                                            <p:cond delay="0"/>
                                          </p:stCondLst>
                                        </p:cTn>
                                        <p:tgtEl>
                                          <p:spTgt spid="47"/>
                                        </p:tgtEl>
                                        <p:attrNameLst>
                                          <p:attrName>style.visibility</p:attrName>
                                        </p:attrNameLst>
                                      </p:cBhvr>
                                      <p:to>
                                        <p:strVal val="visible"/>
                                      </p:to>
                                    </p:set>
                                    <p:animEffect transition="in" filter="fade">
                                      <p:cBhvr>
                                        <p:cTn id="58" dur="400"/>
                                        <p:tgtEl>
                                          <p:spTgt spid="47"/>
                                        </p:tgtEl>
                                      </p:cBhvr>
                                    </p:animEffect>
                                    <p:anim calcmode="lin" valueType="num">
                                      <p:cBhvr additive="base">
                                        <p:cTn id="59" dur="400" fill="hold" decel="100000"/>
                                        <p:tgtEl>
                                          <p:spTgt spid="47"/>
                                        </p:tgtEl>
                                        <p:attrNameLst>
                                          <p:attrName>ppt_x</p:attrName>
                                        </p:attrNameLst>
                                      </p:cBhvr>
                                      <p:tavLst>
                                        <p:tav tm="0">
                                          <p:val>
                                            <p:strVal val="#ppt_x"/>
                                          </p:val>
                                        </p:tav>
                                        <p:tav tm="100000">
                                          <p:val>
                                            <p:strVal val="#ppt_x"/>
                                          </p:val>
                                        </p:tav>
                                      </p:tavLst>
                                    </p:anim>
                                    <p:anim calcmode="lin" valueType="num">
                                      <p:cBhvr additive="base">
                                        <p:cTn id="60" dur="400" fill="hold" decel="100000"/>
                                        <p:tgtEl>
                                          <p:spTgt spid="47"/>
                                        </p:tgtEl>
                                        <p:attrNameLst>
                                          <p:attrName>ppt_y</p:attrName>
                                        </p:attrNameLst>
                                      </p:cBhvr>
                                      <p:tavLst>
                                        <p:tav tm="0">
                                          <p:val>
                                            <p:strVal val="#ppt_y+0.025"/>
                                          </p:val>
                                        </p:tav>
                                        <p:tav tm="100000">
                                          <p:val>
                                            <p:strVal val="#ppt_y"/>
                                          </p:val>
                                        </p:tav>
                                      </p:tavLst>
                                    </p:anim>
                                  </p:childTnLst>
                                </p:cTn>
                              </p:par>
                              <p:par>
                                <p:cTn id="61" presetID="42" presetClass="entr" presetSubtype="0" fill="hold" grpId="0" nodeType="withEffect">
                                  <p:stCondLst>
                                    <p:cond delay="810"/>
                                  </p:stCondLst>
                                  <p:childTnLst>
                                    <p:set>
                                      <p:cBhvr>
                                        <p:cTn id="62" dur="1" fill="hold">
                                          <p:stCondLst>
                                            <p:cond delay="0"/>
                                          </p:stCondLst>
                                        </p:cTn>
                                        <p:tgtEl>
                                          <p:spTgt spid="51"/>
                                        </p:tgtEl>
                                        <p:attrNameLst>
                                          <p:attrName>style.visibility</p:attrName>
                                        </p:attrNameLst>
                                      </p:cBhvr>
                                      <p:to>
                                        <p:strVal val="visible"/>
                                      </p:to>
                                    </p:set>
                                    <p:animEffect transition="in" filter="fade">
                                      <p:cBhvr>
                                        <p:cTn id="63" dur="450"/>
                                        <p:tgtEl>
                                          <p:spTgt spid="51"/>
                                        </p:tgtEl>
                                      </p:cBhvr>
                                    </p:animEffect>
                                    <p:anim calcmode="lin" valueType="num">
                                      <p:cBhvr additive="base">
                                        <p:cTn id="64" dur="450" fill="hold" decel="100000"/>
                                        <p:tgtEl>
                                          <p:spTgt spid="51"/>
                                        </p:tgtEl>
                                        <p:attrNameLst>
                                          <p:attrName>ppt_x</p:attrName>
                                        </p:attrNameLst>
                                      </p:cBhvr>
                                      <p:tavLst>
                                        <p:tav tm="0">
                                          <p:val>
                                            <p:strVal val="#ppt_x"/>
                                          </p:val>
                                        </p:tav>
                                        <p:tav tm="100000">
                                          <p:val>
                                            <p:strVal val="#ppt_x"/>
                                          </p:val>
                                        </p:tav>
                                      </p:tavLst>
                                    </p:anim>
                                    <p:anim calcmode="lin" valueType="num">
                                      <p:cBhvr additive="base">
                                        <p:cTn id="65" dur="450" fill="hold" decel="100000"/>
                                        <p:tgtEl>
                                          <p:spTgt spid="51"/>
                                        </p:tgtEl>
                                        <p:attrNameLst>
                                          <p:attrName>ppt_y</p:attrName>
                                        </p:attrNameLst>
                                      </p:cBhvr>
                                      <p:tavLst>
                                        <p:tav tm="0">
                                          <p:val>
                                            <p:strVal val="#ppt_y+0.025"/>
                                          </p:val>
                                        </p:tav>
                                        <p:tav tm="100000">
                                          <p:val>
                                            <p:strVal val="#ppt_y"/>
                                          </p:val>
                                        </p:tav>
                                      </p:tavLst>
                                    </p:anim>
                                  </p:childTnLst>
                                </p:cTn>
                              </p:par>
                              <p:par>
                                <p:cTn id="66" presetID="22" presetClass="entr" presetSubtype="8" fill="hold" grpId="0" nodeType="withEffect">
                                  <p:stCondLst>
                                    <p:cond delay="910"/>
                                  </p:stCondLst>
                                  <p:childTnLst>
                                    <p:set>
                                      <p:cBhvr>
                                        <p:cTn id="67" dur="1" fill="hold">
                                          <p:stCondLst>
                                            <p:cond delay="0"/>
                                          </p:stCondLst>
                                        </p:cTn>
                                        <p:tgtEl>
                                          <p:spTgt spid="56"/>
                                        </p:tgtEl>
                                        <p:attrNameLst>
                                          <p:attrName>style.visibility</p:attrName>
                                        </p:attrNameLst>
                                      </p:cBhvr>
                                      <p:to>
                                        <p:strVal val="visible"/>
                                      </p:to>
                                    </p:set>
                                    <p:animEffect transition="in" filter="wipe(left)">
                                      <p:cBhvr>
                                        <p:cTn id="68" dur="220"/>
                                        <p:tgtEl>
                                          <p:spTgt spid="56"/>
                                        </p:tgtEl>
                                      </p:cBhvr>
                                    </p:animEffect>
                                  </p:childTnLst>
                                </p:cTn>
                              </p:par>
                              <p:par>
                                <p:cTn id="69" presetID="10" presetClass="entr" presetSubtype="0" fill="hold" grpId="0" nodeType="withEffect">
                                  <p:stCondLst>
                                    <p:cond delay="1730"/>
                                  </p:stCondLst>
                                  <p:childTnLst>
                                    <p:set>
                                      <p:cBhvr>
                                        <p:cTn id="70" dur="1" fill="hold">
                                          <p:stCondLst>
                                            <p:cond delay="0"/>
                                          </p:stCondLst>
                                        </p:cTn>
                                        <p:tgtEl>
                                          <p:spTgt spid="57"/>
                                        </p:tgtEl>
                                        <p:attrNameLst>
                                          <p:attrName>style.visibility</p:attrName>
                                        </p:attrNameLst>
                                      </p:cBhvr>
                                      <p:to>
                                        <p:strVal val="visible"/>
                                      </p:to>
                                    </p:set>
                                    <p:animEffect transition="in" filter="fade">
                                      <p:cBhvr>
                                        <p:cTn id="71" dur="250"/>
                                        <p:tgtEl>
                                          <p:spTgt spid="57"/>
                                        </p:tgtEl>
                                      </p:cBhvr>
                                    </p:animEffect>
                                  </p:childTnLst>
                                </p:cTn>
                              </p:par>
                              <p:par>
                                <p:cTn id="72" presetID="42" presetClass="entr" presetSubtype="0" fill="hold" grpId="0" nodeType="withEffect">
                                  <p:stCondLst>
                                    <p:cond delay="1780"/>
                                  </p:stCondLst>
                                  <p:childTnLst>
                                    <p:set>
                                      <p:cBhvr>
                                        <p:cTn id="73" dur="1" fill="hold">
                                          <p:stCondLst>
                                            <p:cond delay="0"/>
                                          </p:stCondLst>
                                        </p:cTn>
                                        <p:tgtEl>
                                          <p:spTgt spid="58"/>
                                        </p:tgtEl>
                                        <p:attrNameLst>
                                          <p:attrName>style.visibility</p:attrName>
                                        </p:attrNameLst>
                                      </p:cBhvr>
                                      <p:to>
                                        <p:strVal val="visible"/>
                                      </p:to>
                                    </p:set>
                                    <p:animEffect transition="in" filter="fade">
                                      <p:cBhvr>
                                        <p:cTn id="74" dur="400"/>
                                        <p:tgtEl>
                                          <p:spTgt spid="58"/>
                                        </p:tgtEl>
                                      </p:cBhvr>
                                    </p:animEffect>
                                    <p:anim calcmode="lin" valueType="num">
                                      <p:cBhvr additive="base">
                                        <p:cTn id="75" dur="400" fill="hold" decel="100000"/>
                                        <p:tgtEl>
                                          <p:spTgt spid="58"/>
                                        </p:tgtEl>
                                        <p:attrNameLst>
                                          <p:attrName>ppt_x</p:attrName>
                                        </p:attrNameLst>
                                      </p:cBhvr>
                                      <p:tavLst>
                                        <p:tav tm="0">
                                          <p:val>
                                            <p:strVal val="#ppt_x"/>
                                          </p:val>
                                        </p:tav>
                                        <p:tav tm="100000">
                                          <p:val>
                                            <p:strVal val="#ppt_x"/>
                                          </p:val>
                                        </p:tav>
                                      </p:tavLst>
                                    </p:anim>
                                    <p:anim calcmode="lin" valueType="num">
                                      <p:cBhvr additive="base">
                                        <p:cTn id="76" dur="400" fill="hold" decel="100000"/>
                                        <p:tgtEl>
                                          <p:spTgt spid="58"/>
                                        </p:tgtEl>
                                        <p:attrNameLst>
                                          <p:attrName>ppt_y</p:attrName>
                                        </p:attrNameLst>
                                      </p:cBhvr>
                                      <p:tavLst>
                                        <p:tav tm="0">
                                          <p:val>
                                            <p:strVal val="#ppt_y+0.025"/>
                                          </p:val>
                                        </p:tav>
                                        <p:tav tm="100000">
                                          <p:val>
                                            <p:strVal val="#ppt_y"/>
                                          </p:val>
                                        </p:tav>
                                      </p:tavLst>
                                    </p:anim>
                                  </p:childTnLst>
                                </p:cTn>
                              </p:par>
                              <p:par>
                                <p:cTn id="77" presetID="42" presetClass="entr" presetSubtype="0" fill="hold" grpId="0" nodeType="withEffect">
                                  <p:stCondLst>
                                    <p:cond delay="950"/>
                                  </p:stCondLst>
                                  <p:childTnLst>
                                    <p:set>
                                      <p:cBhvr>
                                        <p:cTn id="78" dur="1" fill="hold">
                                          <p:stCondLst>
                                            <p:cond delay="0"/>
                                          </p:stCondLst>
                                        </p:cTn>
                                        <p:tgtEl>
                                          <p:spTgt spid="62"/>
                                        </p:tgtEl>
                                        <p:attrNameLst>
                                          <p:attrName>style.visibility</p:attrName>
                                        </p:attrNameLst>
                                      </p:cBhvr>
                                      <p:to>
                                        <p:strVal val="visible"/>
                                      </p:to>
                                    </p:set>
                                    <p:animEffect transition="in" filter="fade">
                                      <p:cBhvr>
                                        <p:cTn id="79" dur="450"/>
                                        <p:tgtEl>
                                          <p:spTgt spid="62"/>
                                        </p:tgtEl>
                                      </p:cBhvr>
                                    </p:animEffect>
                                    <p:anim calcmode="lin" valueType="num">
                                      <p:cBhvr additive="base">
                                        <p:cTn id="80" dur="450" fill="hold" decel="100000"/>
                                        <p:tgtEl>
                                          <p:spTgt spid="62"/>
                                        </p:tgtEl>
                                        <p:attrNameLst>
                                          <p:attrName>ppt_x</p:attrName>
                                        </p:attrNameLst>
                                      </p:cBhvr>
                                      <p:tavLst>
                                        <p:tav tm="0">
                                          <p:val>
                                            <p:strVal val="#ppt_x"/>
                                          </p:val>
                                        </p:tav>
                                        <p:tav tm="100000">
                                          <p:val>
                                            <p:strVal val="#ppt_x"/>
                                          </p:val>
                                        </p:tav>
                                      </p:tavLst>
                                    </p:anim>
                                    <p:anim calcmode="lin" valueType="num">
                                      <p:cBhvr additive="base">
                                        <p:cTn id="81" dur="450" fill="hold" decel="100000"/>
                                        <p:tgtEl>
                                          <p:spTgt spid="62"/>
                                        </p:tgtEl>
                                        <p:attrNameLst>
                                          <p:attrName>ppt_y</p:attrName>
                                        </p:attrNameLst>
                                      </p:cBhvr>
                                      <p:tavLst>
                                        <p:tav tm="0">
                                          <p:val>
                                            <p:strVal val="#ppt_y+0.025"/>
                                          </p:val>
                                        </p:tav>
                                        <p:tav tm="100000">
                                          <p:val>
                                            <p:strVal val="#ppt_y"/>
                                          </p:val>
                                        </p:tav>
                                      </p:tavLst>
                                    </p:anim>
                                  </p:childTnLst>
                                </p:cTn>
                              </p:par>
                              <p:par>
                                <p:cTn id="82" presetID="22" presetClass="entr" presetSubtype="8" fill="hold" grpId="0" nodeType="withEffect">
                                  <p:stCondLst>
                                    <p:cond delay="1050"/>
                                  </p:stCondLst>
                                  <p:childTnLst>
                                    <p:set>
                                      <p:cBhvr>
                                        <p:cTn id="83" dur="1" fill="hold">
                                          <p:stCondLst>
                                            <p:cond delay="0"/>
                                          </p:stCondLst>
                                        </p:cTn>
                                        <p:tgtEl>
                                          <p:spTgt spid="67"/>
                                        </p:tgtEl>
                                        <p:attrNameLst>
                                          <p:attrName>style.visibility</p:attrName>
                                        </p:attrNameLst>
                                      </p:cBhvr>
                                      <p:to>
                                        <p:strVal val="visible"/>
                                      </p:to>
                                    </p:set>
                                    <p:animEffect transition="in" filter="wipe(left)">
                                      <p:cBhvr>
                                        <p:cTn id="84" dur="220"/>
                                        <p:tgtEl>
                                          <p:spTgt spid="67"/>
                                        </p:tgtEl>
                                      </p:cBhvr>
                                    </p:animEffect>
                                  </p:childTnLst>
                                </p:cTn>
                              </p:par>
                              <p:par>
                                <p:cTn id="85" presetID="10" presetClass="entr" presetSubtype="0" fill="hold" grpId="0" nodeType="withEffect">
                                  <p:stCondLst>
                                    <p:cond delay="1870"/>
                                  </p:stCondLst>
                                  <p:childTnLst>
                                    <p:set>
                                      <p:cBhvr>
                                        <p:cTn id="86" dur="1" fill="hold">
                                          <p:stCondLst>
                                            <p:cond delay="0"/>
                                          </p:stCondLst>
                                        </p:cTn>
                                        <p:tgtEl>
                                          <p:spTgt spid="68"/>
                                        </p:tgtEl>
                                        <p:attrNameLst>
                                          <p:attrName>style.visibility</p:attrName>
                                        </p:attrNameLst>
                                      </p:cBhvr>
                                      <p:to>
                                        <p:strVal val="visible"/>
                                      </p:to>
                                    </p:set>
                                    <p:animEffect transition="in" filter="fade">
                                      <p:cBhvr>
                                        <p:cTn id="87" dur="250"/>
                                        <p:tgtEl>
                                          <p:spTgt spid="68"/>
                                        </p:tgtEl>
                                      </p:cBhvr>
                                    </p:animEffect>
                                  </p:childTnLst>
                                </p:cTn>
                              </p:par>
                              <p:par>
                                <p:cTn id="88" presetID="42" presetClass="entr" presetSubtype="0" fill="hold" grpId="0" nodeType="withEffect">
                                  <p:stCondLst>
                                    <p:cond delay="1920"/>
                                  </p:stCondLst>
                                  <p:childTnLst>
                                    <p:set>
                                      <p:cBhvr>
                                        <p:cTn id="89" dur="1" fill="hold">
                                          <p:stCondLst>
                                            <p:cond delay="0"/>
                                          </p:stCondLst>
                                        </p:cTn>
                                        <p:tgtEl>
                                          <p:spTgt spid="69"/>
                                        </p:tgtEl>
                                        <p:attrNameLst>
                                          <p:attrName>style.visibility</p:attrName>
                                        </p:attrNameLst>
                                      </p:cBhvr>
                                      <p:to>
                                        <p:strVal val="visible"/>
                                      </p:to>
                                    </p:set>
                                    <p:animEffect transition="in" filter="fade">
                                      <p:cBhvr>
                                        <p:cTn id="90" dur="400"/>
                                        <p:tgtEl>
                                          <p:spTgt spid="69"/>
                                        </p:tgtEl>
                                      </p:cBhvr>
                                    </p:animEffect>
                                    <p:anim calcmode="lin" valueType="num">
                                      <p:cBhvr additive="base">
                                        <p:cTn id="91" dur="400" fill="hold" decel="100000"/>
                                        <p:tgtEl>
                                          <p:spTgt spid="69"/>
                                        </p:tgtEl>
                                        <p:attrNameLst>
                                          <p:attrName>ppt_x</p:attrName>
                                        </p:attrNameLst>
                                      </p:cBhvr>
                                      <p:tavLst>
                                        <p:tav tm="0">
                                          <p:val>
                                            <p:strVal val="#ppt_x"/>
                                          </p:val>
                                        </p:tav>
                                        <p:tav tm="100000">
                                          <p:val>
                                            <p:strVal val="#ppt_x"/>
                                          </p:val>
                                        </p:tav>
                                      </p:tavLst>
                                    </p:anim>
                                    <p:anim calcmode="lin" valueType="num">
                                      <p:cBhvr additive="base">
                                        <p:cTn id="92" dur="400" fill="hold" decel="100000"/>
                                        <p:tgtEl>
                                          <p:spTgt spid="69"/>
                                        </p:tgtEl>
                                        <p:attrNameLst>
                                          <p:attrName>ppt_y</p:attrName>
                                        </p:attrNameLst>
                                      </p:cBhvr>
                                      <p:tavLst>
                                        <p:tav tm="0">
                                          <p:val>
                                            <p:strVal val="#ppt_y+0.025"/>
                                          </p:val>
                                        </p:tav>
                                        <p:tav tm="100000">
                                          <p:val>
                                            <p:strVal val="#ppt_y"/>
                                          </p:val>
                                        </p:tav>
                                      </p:tavLst>
                                    </p:anim>
                                  </p:childTnLst>
                                </p:cTn>
                              </p:par>
                              <p:par>
                                <p:cTn id="93" presetID="42" presetClass="entr" presetSubtype="0" fill="hold" grpId="0" nodeType="withEffect">
                                  <p:stCondLst>
                                    <p:cond delay="1090"/>
                                  </p:stCondLst>
                                  <p:childTnLst>
                                    <p:set>
                                      <p:cBhvr>
                                        <p:cTn id="94" dur="1" fill="hold">
                                          <p:stCondLst>
                                            <p:cond delay="0"/>
                                          </p:stCondLst>
                                        </p:cTn>
                                        <p:tgtEl>
                                          <p:spTgt spid="73"/>
                                        </p:tgtEl>
                                        <p:attrNameLst>
                                          <p:attrName>style.visibility</p:attrName>
                                        </p:attrNameLst>
                                      </p:cBhvr>
                                      <p:to>
                                        <p:strVal val="visible"/>
                                      </p:to>
                                    </p:set>
                                    <p:animEffect transition="in" filter="fade">
                                      <p:cBhvr>
                                        <p:cTn id="95" dur="450"/>
                                        <p:tgtEl>
                                          <p:spTgt spid="73"/>
                                        </p:tgtEl>
                                      </p:cBhvr>
                                    </p:animEffect>
                                    <p:anim calcmode="lin" valueType="num">
                                      <p:cBhvr additive="base">
                                        <p:cTn id="96" dur="450" fill="hold" decel="100000"/>
                                        <p:tgtEl>
                                          <p:spTgt spid="73"/>
                                        </p:tgtEl>
                                        <p:attrNameLst>
                                          <p:attrName>ppt_x</p:attrName>
                                        </p:attrNameLst>
                                      </p:cBhvr>
                                      <p:tavLst>
                                        <p:tav tm="0">
                                          <p:val>
                                            <p:strVal val="#ppt_x"/>
                                          </p:val>
                                        </p:tav>
                                        <p:tav tm="100000">
                                          <p:val>
                                            <p:strVal val="#ppt_x"/>
                                          </p:val>
                                        </p:tav>
                                      </p:tavLst>
                                    </p:anim>
                                    <p:anim calcmode="lin" valueType="num">
                                      <p:cBhvr additive="base">
                                        <p:cTn id="97" dur="450" fill="hold" decel="100000"/>
                                        <p:tgtEl>
                                          <p:spTgt spid="73"/>
                                        </p:tgtEl>
                                        <p:attrNameLst>
                                          <p:attrName>ppt_y</p:attrName>
                                        </p:attrNameLst>
                                      </p:cBhvr>
                                      <p:tavLst>
                                        <p:tav tm="0">
                                          <p:val>
                                            <p:strVal val="#ppt_y+0.025"/>
                                          </p:val>
                                        </p:tav>
                                        <p:tav tm="100000">
                                          <p:val>
                                            <p:strVal val="#ppt_y"/>
                                          </p:val>
                                        </p:tav>
                                      </p:tavLst>
                                    </p:anim>
                                  </p:childTnLst>
                                </p:cTn>
                              </p:par>
                              <p:par>
                                <p:cTn id="98" presetID="42" presetClass="entr" presetSubtype="0" fill="hold" grpId="0" nodeType="withEffect">
                                  <p:stCondLst>
                                    <p:cond delay="2100"/>
                                  </p:stCondLst>
                                  <p:childTnLst>
                                    <p:set>
                                      <p:cBhvr>
                                        <p:cTn id="99" dur="1" fill="hold">
                                          <p:stCondLst>
                                            <p:cond delay="0"/>
                                          </p:stCondLst>
                                        </p:cTn>
                                        <p:tgtEl>
                                          <p:spTgt spid="78"/>
                                        </p:tgtEl>
                                        <p:attrNameLst>
                                          <p:attrName>style.visibility</p:attrName>
                                        </p:attrNameLst>
                                      </p:cBhvr>
                                      <p:to>
                                        <p:strVal val="visible"/>
                                      </p:to>
                                    </p:set>
                                    <p:animEffect transition="in" filter="fade">
                                      <p:cBhvr>
                                        <p:cTn id="100" dur="500"/>
                                        <p:tgtEl>
                                          <p:spTgt spid="78"/>
                                        </p:tgtEl>
                                      </p:cBhvr>
                                    </p:animEffect>
                                    <p:anim calcmode="lin" valueType="num">
                                      <p:cBhvr additive="base">
                                        <p:cTn id="101" dur="500" fill="hold" decel="100000"/>
                                        <p:tgtEl>
                                          <p:spTgt spid="78"/>
                                        </p:tgtEl>
                                        <p:attrNameLst>
                                          <p:attrName>ppt_x</p:attrName>
                                        </p:attrNameLst>
                                      </p:cBhvr>
                                      <p:tavLst>
                                        <p:tav tm="0">
                                          <p:val>
                                            <p:strVal val="#ppt_x"/>
                                          </p:val>
                                        </p:tav>
                                        <p:tav tm="100000">
                                          <p:val>
                                            <p:strVal val="#ppt_x"/>
                                          </p:val>
                                        </p:tav>
                                      </p:tavLst>
                                    </p:anim>
                                    <p:anim calcmode="lin" valueType="num">
                                      <p:cBhvr additive="base">
                                        <p:cTn id="102" dur="500" fill="hold" decel="100000"/>
                                        <p:tgtEl>
                                          <p:spTgt spid="78"/>
                                        </p:tgtEl>
                                        <p:attrNameLst>
                                          <p:attrName>ppt_y</p:attrName>
                                        </p:attrNameLst>
                                      </p:cBhvr>
                                      <p:tavLst>
                                        <p:tav tm="0">
                                          <p:val>
                                            <p:strVal val="#ppt_y+0.025"/>
                                          </p:val>
                                        </p:tav>
                                        <p:tav tm="100000">
                                          <p:val>
                                            <p:strVal val="#ppt_y"/>
                                          </p:val>
                                        </p:tav>
                                      </p:tavLst>
                                    </p:anim>
                                  </p:childTnLst>
                                </p:cTn>
                              </p:par>
                              <p:par>
                                <p:cTn id="103" presetID="42" presetClass="entr" presetSubtype="0" fill="hold" grpId="0" nodeType="withEffect">
                                  <p:stCondLst>
                                    <p:cond delay="2250"/>
                                  </p:stCondLst>
                                  <p:childTnLst>
                                    <p:set>
                                      <p:cBhvr>
                                        <p:cTn id="104" dur="1" fill="hold">
                                          <p:stCondLst>
                                            <p:cond delay="0"/>
                                          </p:stCondLst>
                                        </p:cTn>
                                        <p:tgtEl>
                                          <p:spTgt spid="80"/>
                                        </p:tgtEl>
                                        <p:attrNameLst>
                                          <p:attrName>style.visibility</p:attrName>
                                        </p:attrNameLst>
                                      </p:cBhvr>
                                      <p:to>
                                        <p:strVal val="visible"/>
                                      </p:to>
                                    </p:set>
                                    <p:animEffect transition="in" filter="fade">
                                      <p:cBhvr>
                                        <p:cTn id="105" dur="450"/>
                                        <p:tgtEl>
                                          <p:spTgt spid="80"/>
                                        </p:tgtEl>
                                      </p:cBhvr>
                                    </p:animEffect>
                                    <p:anim calcmode="lin" valueType="num">
                                      <p:cBhvr additive="base">
                                        <p:cTn id="106" dur="450" fill="hold" decel="100000"/>
                                        <p:tgtEl>
                                          <p:spTgt spid="80"/>
                                        </p:tgtEl>
                                        <p:attrNameLst>
                                          <p:attrName>ppt_x</p:attrName>
                                        </p:attrNameLst>
                                      </p:cBhvr>
                                      <p:tavLst>
                                        <p:tav tm="0">
                                          <p:val>
                                            <p:strVal val="#ppt_x"/>
                                          </p:val>
                                        </p:tav>
                                        <p:tav tm="100000">
                                          <p:val>
                                            <p:strVal val="#ppt_x"/>
                                          </p:val>
                                        </p:tav>
                                      </p:tavLst>
                                    </p:anim>
                                    <p:anim calcmode="lin" valueType="num">
                                      <p:cBhvr additive="base">
                                        <p:cTn id="107" dur="450" fill="hold" decel="100000"/>
                                        <p:tgtEl>
                                          <p:spTgt spid="80"/>
                                        </p:tgtEl>
                                        <p:attrNameLst>
                                          <p:attrName>ppt_y</p:attrName>
                                        </p:attrNameLst>
                                      </p:cBhvr>
                                      <p:tavLst>
                                        <p:tav tm="0">
                                          <p:val>
                                            <p:strVal val="#ppt_y+0.025"/>
                                          </p:val>
                                        </p:tav>
                                        <p:tav tm="100000">
                                          <p:val>
                                            <p:strVal val="#ppt_y"/>
                                          </p:val>
                                        </p:tav>
                                      </p:tavLst>
                                    </p:anim>
                                  </p:childTnLst>
                                </p:cTn>
                              </p:par>
                              <p:par>
                                <p:cTn id="108" presetID="42" presetClass="entr" presetSubtype="0" fill="hold" grpId="0" nodeType="withEffect">
                                  <p:stCondLst>
                                    <p:cond delay="2360"/>
                                  </p:stCondLst>
                                  <p:childTnLst>
                                    <p:set>
                                      <p:cBhvr>
                                        <p:cTn id="109" dur="1" fill="hold">
                                          <p:stCondLst>
                                            <p:cond delay="0"/>
                                          </p:stCondLst>
                                        </p:cTn>
                                        <p:tgtEl>
                                          <p:spTgt spid="83"/>
                                        </p:tgtEl>
                                        <p:attrNameLst>
                                          <p:attrName>style.visibility</p:attrName>
                                        </p:attrNameLst>
                                      </p:cBhvr>
                                      <p:to>
                                        <p:strVal val="visible"/>
                                      </p:to>
                                    </p:set>
                                    <p:animEffect transition="in" filter="fade">
                                      <p:cBhvr>
                                        <p:cTn id="110" dur="450"/>
                                        <p:tgtEl>
                                          <p:spTgt spid="83"/>
                                        </p:tgtEl>
                                      </p:cBhvr>
                                    </p:animEffect>
                                    <p:anim calcmode="lin" valueType="num">
                                      <p:cBhvr additive="base">
                                        <p:cTn id="111" dur="450" fill="hold" decel="100000"/>
                                        <p:tgtEl>
                                          <p:spTgt spid="83"/>
                                        </p:tgtEl>
                                        <p:attrNameLst>
                                          <p:attrName>ppt_x</p:attrName>
                                        </p:attrNameLst>
                                      </p:cBhvr>
                                      <p:tavLst>
                                        <p:tav tm="0">
                                          <p:val>
                                            <p:strVal val="#ppt_x"/>
                                          </p:val>
                                        </p:tav>
                                        <p:tav tm="100000">
                                          <p:val>
                                            <p:strVal val="#ppt_x"/>
                                          </p:val>
                                        </p:tav>
                                      </p:tavLst>
                                    </p:anim>
                                    <p:anim calcmode="lin" valueType="num">
                                      <p:cBhvr additive="base">
                                        <p:cTn id="112" dur="450" fill="hold" decel="100000"/>
                                        <p:tgtEl>
                                          <p:spTgt spid="83"/>
                                        </p:tgtEl>
                                        <p:attrNameLst>
                                          <p:attrName>ppt_y</p:attrName>
                                        </p:attrNameLst>
                                      </p:cBhvr>
                                      <p:tavLst>
                                        <p:tav tm="0">
                                          <p:val>
                                            <p:strVal val="#ppt_y+0.025"/>
                                          </p:val>
                                        </p:tav>
                                        <p:tav tm="100000">
                                          <p:val>
                                            <p:strVal val="#ppt_y"/>
                                          </p:val>
                                        </p:tav>
                                      </p:tavLst>
                                    </p:anim>
                                  </p:childTnLst>
                                </p:cTn>
                              </p:par>
                              <p:par>
                                <p:cTn id="113" presetID="42" presetClass="entr" presetSubtype="0" fill="hold" grpId="0" nodeType="withEffect">
                                  <p:stCondLst>
                                    <p:cond delay="2470"/>
                                  </p:stCondLst>
                                  <p:childTnLst>
                                    <p:set>
                                      <p:cBhvr>
                                        <p:cTn id="114" dur="1" fill="hold">
                                          <p:stCondLst>
                                            <p:cond delay="0"/>
                                          </p:stCondLst>
                                        </p:cTn>
                                        <p:tgtEl>
                                          <p:spTgt spid="86"/>
                                        </p:tgtEl>
                                        <p:attrNameLst>
                                          <p:attrName>style.visibility</p:attrName>
                                        </p:attrNameLst>
                                      </p:cBhvr>
                                      <p:to>
                                        <p:strVal val="visible"/>
                                      </p:to>
                                    </p:set>
                                    <p:animEffect transition="in" filter="fade">
                                      <p:cBhvr>
                                        <p:cTn id="115" dur="450"/>
                                        <p:tgtEl>
                                          <p:spTgt spid="86"/>
                                        </p:tgtEl>
                                      </p:cBhvr>
                                    </p:animEffect>
                                    <p:anim calcmode="lin" valueType="num">
                                      <p:cBhvr additive="base">
                                        <p:cTn id="116" dur="450" fill="hold" decel="100000"/>
                                        <p:tgtEl>
                                          <p:spTgt spid="86"/>
                                        </p:tgtEl>
                                        <p:attrNameLst>
                                          <p:attrName>ppt_x</p:attrName>
                                        </p:attrNameLst>
                                      </p:cBhvr>
                                      <p:tavLst>
                                        <p:tav tm="0">
                                          <p:val>
                                            <p:strVal val="#ppt_x"/>
                                          </p:val>
                                        </p:tav>
                                        <p:tav tm="100000">
                                          <p:val>
                                            <p:strVal val="#ppt_x"/>
                                          </p:val>
                                        </p:tav>
                                      </p:tavLst>
                                    </p:anim>
                                    <p:anim calcmode="lin" valueType="num">
                                      <p:cBhvr additive="base">
                                        <p:cTn id="117" dur="450" fill="hold" decel="100000"/>
                                        <p:tgtEl>
                                          <p:spTgt spid="86"/>
                                        </p:tgtEl>
                                        <p:attrNameLst>
                                          <p:attrName>ppt_y</p:attrName>
                                        </p:attrNameLst>
                                      </p:cBhvr>
                                      <p:tavLst>
                                        <p:tav tm="0">
                                          <p:val>
                                            <p:strVal val="#ppt_y+0.025"/>
                                          </p:val>
                                        </p:tav>
                                        <p:tav tm="100000">
                                          <p:val>
                                            <p:strVal val="#ppt_y"/>
                                          </p:val>
                                        </p:tav>
                                      </p:tavLst>
                                    </p:anim>
                                  </p:childTnLst>
                                </p:cTn>
                              </p:par>
                              <p:par>
                                <p:cTn id="118" presetID="42" presetClass="entr" presetSubtype="0" fill="hold" grpId="0" nodeType="withEffect">
                                  <p:stCondLst>
                                    <p:cond delay="2580"/>
                                  </p:stCondLst>
                                  <p:childTnLst>
                                    <p:set>
                                      <p:cBhvr>
                                        <p:cTn id="119" dur="1" fill="hold">
                                          <p:stCondLst>
                                            <p:cond delay="0"/>
                                          </p:stCondLst>
                                        </p:cTn>
                                        <p:tgtEl>
                                          <p:spTgt spid="89"/>
                                        </p:tgtEl>
                                        <p:attrNameLst>
                                          <p:attrName>style.visibility</p:attrName>
                                        </p:attrNameLst>
                                      </p:cBhvr>
                                      <p:to>
                                        <p:strVal val="visible"/>
                                      </p:to>
                                    </p:set>
                                    <p:animEffect transition="in" filter="fade">
                                      <p:cBhvr>
                                        <p:cTn id="120" dur="450"/>
                                        <p:tgtEl>
                                          <p:spTgt spid="89"/>
                                        </p:tgtEl>
                                      </p:cBhvr>
                                    </p:animEffect>
                                    <p:anim calcmode="lin" valueType="num">
                                      <p:cBhvr additive="base">
                                        <p:cTn id="121" dur="450" fill="hold" decel="100000"/>
                                        <p:tgtEl>
                                          <p:spTgt spid="89"/>
                                        </p:tgtEl>
                                        <p:attrNameLst>
                                          <p:attrName>ppt_x</p:attrName>
                                        </p:attrNameLst>
                                      </p:cBhvr>
                                      <p:tavLst>
                                        <p:tav tm="0">
                                          <p:val>
                                            <p:strVal val="#ppt_x"/>
                                          </p:val>
                                        </p:tav>
                                        <p:tav tm="100000">
                                          <p:val>
                                            <p:strVal val="#ppt_x"/>
                                          </p:val>
                                        </p:tav>
                                      </p:tavLst>
                                    </p:anim>
                                    <p:anim calcmode="lin" valueType="num">
                                      <p:cBhvr additive="base">
                                        <p:cTn id="122" dur="450" fill="hold" decel="100000"/>
                                        <p:tgtEl>
                                          <p:spTgt spid="89"/>
                                        </p:tgtEl>
                                        <p:attrNameLst>
                                          <p:attrName>ppt_y</p:attrName>
                                        </p:attrNameLst>
                                      </p:cBhvr>
                                      <p:tavLst>
                                        <p:tav tm="0">
                                          <p:val>
                                            <p:strVal val="#ppt_y+0.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grpSp>
        <p:nvGrpSpPr>
          <p:cNvPr id="2" name="Group 1"/>
          <p:cNvGrpSpPr/>
          <p:nvPr/>
        </p:nvGrpSpPr>
        <p:grpSpPr>
          <a:xfrm>
            <a:off x="685800" y="384048"/>
            <a:ext cx="292608" cy="292608"/>
            <a:chOff x="685800" y="384048"/>
            <a:chExt cx="292608" cy="292608"/>
          </a:xfrm>
        </p:grpSpPr>
        <p:sp>
          <p:nvSpPr>
            <p:cNvPr id="3" name="Oval 2"/>
            <p:cNvSpPr/>
            <p:nvPr/>
          </p:nvSpPr>
          <p:spPr>
            <a:xfrm>
              <a:off x="685800" y="384048"/>
              <a:ext cx="292608" cy="292608"/>
            </a:xfrm>
            <a:prstGeom prst="ellipse">
              <a:avLst/>
            </a:prstGeom>
            <a:solidFill>
              <a:srgbClr val="16130E"/>
            </a:solidFill>
            <a:ln>
              <a:noFill/>
            </a:ln>
          </p:spPr>
          <p:txBody>
            <a:bodyPr rtlCol="0" anchor="ctr"/>
            <a:lstStyle/>
            <a:p>
              <a:pPr algn="ctr"/>
            </a:p>
          </p:txBody>
        </p:sp>
        <p:sp>
          <p:nvSpPr>
            <p:cNvPr id="4" name="Freeform 3"/>
            <p:cNvSpPr/>
            <p:nvPr/>
          </p:nvSpPr>
          <p:spPr>
            <a:xfrm>
              <a:off x="772852" y="517188"/>
              <a:ext cx="72424" cy="72424"/>
            </a:xfrm>
            <a:custGeom>
              <a:avLst/>
              <a:gdLst/>
              <a:ahLst/>
              <a:cxnLst/>
              <a:rect l="l" t="t" r="r" b="b"/>
              <a:pathLst>
                <a:path w="11" h="11">
                  <a:moveTo>
                    <a:pt x="11" y="2"/>
                  </a:moveTo>
                  <a:lnTo>
                    <a:pt x="3" y="10"/>
                  </a:lnTo>
                  <a:lnTo>
                    <a:pt x="2" y="11"/>
                  </a:lnTo>
                  <a:lnTo>
                    <a:pt x="1" y="10"/>
                  </a:lnTo>
                  <a:lnTo>
                    <a:pt x="0" y="9"/>
                  </a:lnTo>
                  <a:lnTo>
                    <a:pt x="1" y="8"/>
                  </a:lnTo>
                  <a:lnTo>
                    <a:pt x="9" y="0"/>
                  </a:lnTo>
                </a:path>
              </a:pathLst>
            </a:custGeom>
            <a:noFill/>
            <a:ln w="13167" cap="rnd">
              <a:solidFill>
                <a:srgbClr val="F4EFE4"/>
              </a:solidFill>
              <a:round/>
            </a:ln>
          </p:spPr>
          <p:txBody>
            <a:bodyPr rtlCol="0" anchor="ctr"/>
            <a:lstStyle/>
            <a:p>
              <a:pPr algn="ctr"/>
            </a:p>
          </p:txBody>
        </p:sp>
        <p:sp>
          <p:nvSpPr>
            <p:cNvPr id="5" name="Freeform 4"/>
            <p:cNvSpPr/>
            <p:nvPr/>
          </p:nvSpPr>
          <p:spPr>
            <a:xfrm>
              <a:off x="858444" y="517188"/>
              <a:ext cx="39504" cy="39504"/>
            </a:xfrm>
            <a:custGeom>
              <a:avLst/>
              <a:gdLst/>
              <a:ahLst/>
              <a:cxnLst/>
              <a:rect l="l" t="t" r="r" b="b"/>
              <a:pathLst>
                <a:path w="6" h="6">
                  <a:moveTo>
                    <a:pt x="0" y="6"/>
                  </a:moveTo>
                  <a:lnTo>
                    <a:pt x="6" y="0"/>
                  </a:lnTo>
                </a:path>
              </a:pathLst>
            </a:custGeom>
            <a:noFill/>
            <a:ln w="13167" cap="rnd">
              <a:solidFill>
                <a:srgbClr val="F4EFE4"/>
              </a:solidFill>
              <a:round/>
            </a:ln>
          </p:spPr>
          <p:txBody>
            <a:bodyPr rtlCol="0" anchor="ctr"/>
            <a:lstStyle/>
            <a:p>
              <a:pPr algn="ctr"/>
            </a:p>
          </p:txBody>
        </p:sp>
        <p:sp>
          <p:nvSpPr>
            <p:cNvPr id="6" name="Freeform 5"/>
            <p:cNvSpPr/>
            <p:nvPr/>
          </p:nvSpPr>
          <p:spPr>
            <a:xfrm>
              <a:off x="805772" y="464516"/>
              <a:ext cx="39504" cy="39504"/>
            </a:xfrm>
            <a:custGeom>
              <a:avLst/>
              <a:gdLst/>
              <a:ahLst/>
              <a:cxnLst/>
              <a:rect l="l" t="t" r="r" b="b"/>
              <a:pathLst>
                <a:path w="6" h="6">
                  <a:moveTo>
                    <a:pt x="0" y="6"/>
                  </a:moveTo>
                  <a:lnTo>
                    <a:pt x="6" y="0"/>
                  </a:lnTo>
                </a:path>
              </a:pathLst>
            </a:custGeom>
            <a:noFill/>
            <a:ln w="13167" cap="rnd">
              <a:solidFill>
                <a:srgbClr val="F4EFE4"/>
              </a:solidFill>
              <a:round/>
            </a:ln>
          </p:spPr>
          <p:txBody>
            <a:bodyPr rtlCol="0" anchor="ctr"/>
            <a:lstStyle/>
            <a:p>
              <a:pPr algn="ctr"/>
            </a:p>
          </p:txBody>
        </p:sp>
        <p:sp>
          <p:nvSpPr>
            <p:cNvPr id="7" name="Freeform 6"/>
            <p:cNvSpPr/>
            <p:nvPr/>
          </p:nvSpPr>
          <p:spPr>
            <a:xfrm>
              <a:off x="812356" y="497436"/>
              <a:ext cx="52672" cy="52672"/>
            </a:xfrm>
            <a:custGeom>
              <a:avLst/>
              <a:gdLst/>
              <a:ahLst/>
              <a:cxnLst/>
              <a:rect l="l" t="t" r="r" b="b"/>
              <a:pathLst>
                <a:path w="8" h="8">
                  <a:moveTo>
                    <a:pt x="0" y="0"/>
                  </a:moveTo>
                  <a:lnTo>
                    <a:pt x="8" y="8"/>
                  </a:lnTo>
                </a:path>
              </a:pathLst>
            </a:custGeom>
            <a:noFill/>
            <a:ln w="13167" cap="rnd">
              <a:solidFill>
                <a:srgbClr val="F4EFE4"/>
              </a:solidFill>
              <a:round/>
            </a:ln>
          </p:spPr>
          <p:txBody>
            <a:bodyPr rtlCol="0" anchor="ctr"/>
            <a:lstStyle/>
            <a:p>
              <a:pPr algn="ctr"/>
            </a:p>
          </p:txBody>
        </p:sp>
        <p:sp>
          <p:nvSpPr>
            <p:cNvPr id="8" name="Freeform 7"/>
            <p:cNvSpPr/>
            <p:nvPr/>
          </p:nvSpPr>
          <p:spPr>
            <a:xfrm>
              <a:off x="838692" y="471100"/>
              <a:ext cx="52672" cy="52672"/>
            </a:xfrm>
            <a:custGeom>
              <a:avLst/>
              <a:gdLst/>
              <a:ahLst/>
              <a:cxnLst/>
              <a:rect l="l" t="t" r="r" b="b"/>
              <a:pathLst>
                <a:path w="8" h="8">
                  <a:moveTo>
                    <a:pt x="8" y="8"/>
                  </a:moveTo>
                  <a:lnTo>
                    <a:pt x="0" y="0"/>
                  </a:lnTo>
                </a:path>
              </a:pathLst>
            </a:custGeom>
            <a:noFill/>
            <a:ln w="13167" cap="rnd">
              <a:solidFill>
                <a:srgbClr val="F4EFE4"/>
              </a:solidFill>
              <a:round/>
            </a:ln>
          </p:spPr>
          <p:txBody>
            <a:bodyPr rtlCol="0" anchor="ctr"/>
            <a:lstStyle/>
            <a:p>
              <a:pPr algn="ctr"/>
            </a:p>
          </p:txBody>
        </p:sp>
      </p:grpSp>
      <p:sp>
        <p:nvSpPr>
          <p:cNvPr id="9" name="TextBox 8"/>
          <p:cNvSpPr txBox="1"/>
          <p:nvPr/>
        </p:nvSpPr>
        <p:spPr>
          <a:xfrm>
            <a:off x="1060704" y="347472"/>
            <a:ext cx="2286000" cy="365760"/>
          </a:xfrm>
          <a:prstGeom prst="rect">
            <a:avLst/>
          </a:prstGeom>
          <a:noFill/>
        </p:spPr>
        <p:txBody>
          <a:bodyPr wrap="square" lIns="0" rIns="0" tIns="0" bIns="0" anchor="ctr">
            <a:noAutofit/>
          </a:bodyPr>
          <a:lstStyle/>
          <a:p>
            <a:pPr algn="l"/>
            <a:r>
              <a:rPr sz="1700" b="0" i="0">
                <a:solidFill>
                  <a:srgbClr val="16130E"/>
                </a:solidFill>
                <a:latin typeface="Georgia" panose="02040502050405020303" pitchFamily="18" charset="0"/>
              </a:rPr>
              <a:t>Bidwire</a:t>
            </a:r>
          </a:p>
        </p:txBody>
      </p:sp>
      <p:sp>
        <p:nvSpPr>
          <p:cNvPr id="10" name="TextBox 9"/>
          <p:cNvSpPr txBox="1"/>
          <p:nvPr/>
        </p:nvSpPr>
        <p:spPr>
          <a:xfrm>
            <a:off x="6019495" y="420624"/>
            <a:ext cx="5486400" cy="219456"/>
          </a:xfrm>
          <a:prstGeom prst="rect">
            <a:avLst/>
          </a:prstGeom>
          <a:noFill/>
        </p:spPr>
        <p:txBody>
          <a:bodyPr wrap="square" lIns="0" rIns="0" tIns="0" bIns="0" anchor="ctr">
            <a:noAutofit/>
          </a:bodyPr>
          <a:lstStyle/>
          <a:p>
            <a:pPr algn="r"/>
            <a:r>
              <a:rPr sz="850" b="1" i="0" spc="110">
                <a:solidFill>
                  <a:srgbClr val="9C937F"/>
                </a:solidFill>
                <a:latin typeface="Inter" panose="020B0502030000000004" pitchFamily="34" charset="0"/>
              </a:rPr>
              <a:t>LOT 05  ·  LIVE DEMO HIGHLIGHTS</a:t>
            </a:r>
          </a:p>
        </p:txBody>
      </p:sp>
      <p:sp>
        <p:nvSpPr>
          <p:cNvPr id="11" name="Rectangle 10"/>
          <p:cNvSpPr/>
          <p:nvPr/>
        </p:nvSpPr>
        <p:spPr>
          <a:xfrm>
            <a:off x="685800" y="822960"/>
            <a:ext cx="10820095" cy="7315"/>
          </a:xfrm>
          <a:prstGeom prst="rect">
            <a:avLst/>
          </a:prstGeom>
          <a:solidFill>
            <a:srgbClr val="E2D9C6"/>
          </a:solidFill>
          <a:ln>
            <a:noFill/>
          </a:ln>
        </p:spPr>
        <p:txBody>
          <a:bodyPr rtlCol="0" anchor="ctr"/>
          <a:lstStyle/>
          <a:p>
            <a:pPr algn="ctr"/>
          </a:p>
        </p:txBody>
      </p:sp>
      <p:sp>
        <p:nvSpPr>
          <p:cNvPr id="12" name="TextBox 11"/>
          <p:cNvSpPr txBox="1"/>
          <p:nvPr/>
        </p:nvSpPr>
        <p:spPr>
          <a:xfrm>
            <a:off x="685800" y="6400800"/>
            <a:ext cx="6400800" cy="237744"/>
          </a:xfrm>
          <a:prstGeom prst="rect">
            <a:avLst/>
          </a:prstGeom>
          <a:noFill/>
        </p:spPr>
        <p:txBody>
          <a:bodyPr wrap="square" lIns="0" rIns="0" tIns="0" bIns="0" anchor="ctr">
            <a:noAutofit/>
          </a:bodyPr>
          <a:lstStyle/>
          <a:p>
            <a:pPr algn="l"/>
            <a:r>
              <a:rPr sz="850" b="0" i="0">
                <a:solidFill>
                  <a:srgbClr val="9C937F"/>
                </a:solidFill>
                <a:latin typeface="Inter" panose="020B0502030000000004" pitchFamily="34" charset="0"/>
              </a:rPr>
              <a:t>Bidwire · the auction house for AI agents · YC Make Something Agents Want · Oct 18, 2026</a:t>
            </a:r>
          </a:p>
        </p:txBody>
      </p:sp>
      <p:sp>
        <p:nvSpPr>
          <p:cNvPr id="13" name="TextBox 12"/>
          <p:cNvSpPr txBox="1"/>
          <p:nvPr/>
        </p:nvSpPr>
        <p:spPr>
          <a:xfrm>
            <a:off x="6933895" y="6400800"/>
            <a:ext cx="4572000" cy="237744"/>
          </a:xfrm>
          <a:prstGeom prst="rect">
            <a:avLst/>
          </a:prstGeom>
          <a:noFill/>
        </p:spPr>
        <p:txBody>
          <a:bodyPr wrap="square" lIns="0" rIns="0" tIns="0" bIns="0" anchor="ctr">
            <a:noAutofit/>
          </a:bodyPr>
          <a:lstStyle/>
          <a:p>
            <a:pPr algn="r"/>
            <a:r>
              <a:rPr sz="850" b="0" i="0">
                <a:solidFill>
                  <a:srgbClr val="9C937F"/>
                </a:solidFill>
                <a:latin typeface="Inter" panose="020B0502030000000004" pitchFamily="34" charset="0"/>
              </a:rPr>
              <a:t>github.com/vnmoorthy/bidwire</a:t>
            </a:r>
          </a:p>
        </p:txBody>
      </p:sp>
      <p:sp>
        <p:nvSpPr>
          <p:cNvPr id="14" name="Rectangle 13"/>
          <p:cNvSpPr/>
          <p:nvPr/>
        </p:nvSpPr>
        <p:spPr>
          <a:xfrm>
            <a:off x="0" y="6825996"/>
            <a:ext cx="12191695" cy="32004"/>
          </a:xfrm>
          <a:prstGeom prst="rect">
            <a:avLst/>
          </a:prstGeom>
          <a:solidFill>
            <a:srgbClr val="E2D9C6"/>
          </a:solidFill>
          <a:ln>
            <a:noFill/>
          </a:ln>
        </p:spPr>
        <p:txBody>
          <a:bodyPr rtlCol="0" anchor="ctr"/>
          <a:lstStyle/>
          <a:p>
            <a:pPr algn="ctr"/>
          </a:p>
        </p:txBody>
      </p:sp>
      <p:sp>
        <p:nvSpPr>
          <p:cNvPr id="15" name="Rectangle 14"/>
          <p:cNvSpPr/>
          <p:nvPr/>
        </p:nvSpPr>
        <p:spPr>
          <a:xfrm>
            <a:off x="0" y="6825996"/>
            <a:ext cx="6095848" cy="32004"/>
          </a:xfrm>
          <a:prstGeom prst="rect">
            <a:avLst/>
          </a:prstGeom>
          <a:solidFill>
            <a:srgbClr val="B0894F"/>
          </a:solidFill>
          <a:ln>
            <a:noFill/>
          </a:ln>
        </p:spPr>
        <p:txBody>
          <a:bodyPr rtlCol="0" anchor="ctr"/>
          <a:lstStyle/>
          <a:p>
            <a:pPr algn="ctr"/>
          </a:p>
        </p:txBody>
      </p:sp>
      <p:sp>
        <p:nvSpPr>
          <p:cNvPr id="16" name="TextBox 15"/>
          <p:cNvSpPr txBox="1"/>
          <p:nvPr/>
        </p:nvSpPr>
        <p:spPr>
          <a:xfrm>
            <a:off x="685800" y="987552"/>
            <a:ext cx="10835640" cy="548640"/>
          </a:xfrm>
          <a:prstGeom prst="rect">
            <a:avLst/>
          </a:prstGeom>
          <a:noFill/>
        </p:spPr>
        <p:txBody>
          <a:bodyPr wrap="square" lIns="0" rIns="0" tIns="0" bIns="0" anchor="t">
            <a:noAutofit/>
          </a:bodyPr>
          <a:lstStyle/>
          <a:p>
            <a:pPr algn="l">
              <a:lnSpc>
                <a:spcPct val="98000"/>
              </a:lnSpc>
            </a:pPr>
            <a:r>
              <a:rPr sz="3400" b="0" i="0" spc="-40">
                <a:solidFill>
                  <a:srgbClr val="16130E"/>
                </a:solidFill>
                <a:latin typeface="Georgia" panose="02040502050405020303" pitchFamily="18" charset="0"/>
              </a:rPr>
              <a:t>Live today: </a:t>
            </a:r>
            <a:r>
              <a:rPr sz="3400" b="0" i="1" spc="-40">
                <a:solidFill>
                  <a:srgbClr val="6E6658"/>
                </a:solidFill>
                <a:latin typeface="Georgia" panose="02040502050405020303" pitchFamily="18" charset="0"/>
              </a:rPr>
              <a:t>liars withdrawn, bribes ignored.</a:t>
            </a:r>
          </a:p>
        </p:txBody>
      </p:sp>
      <p:sp>
        <p:nvSpPr>
          <p:cNvPr id="17" name="TextBox 16"/>
          <p:cNvSpPr txBox="1"/>
          <p:nvPr/>
        </p:nvSpPr>
        <p:spPr>
          <a:xfrm>
            <a:off x="685800" y="1572768"/>
            <a:ext cx="6035040" cy="219456"/>
          </a:xfrm>
          <a:prstGeom prst="rect">
            <a:avLst/>
          </a:prstGeom>
          <a:noFill/>
        </p:spPr>
        <p:txBody>
          <a:bodyPr wrap="square" lIns="0" rIns="0" tIns="0" bIns="0" anchor="ctr">
            <a:noAutofit/>
          </a:bodyPr>
          <a:lstStyle/>
          <a:p>
            <a:pPr algn="l"/>
            <a:r>
              <a:rPr sz="850" b="1" i="0" spc="110">
                <a:solidFill>
                  <a:srgbClr val="9C937F"/>
                </a:solidFill>
                <a:latin typeface="Inter" panose="020B0502030000000004" pitchFamily="34" charset="0"/>
              </a:rPr>
              <a:t>THE SALEROOM · BID WITHDRAWN</a:t>
            </a:r>
          </a:p>
        </p:txBody>
      </p:sp>
      <p:grpSp>
        <p:nvGrpSpPr>
          <p:cNvPr id="18" name="Group 17"/>
          <p:cNvGrpSpPr/>
          <p:nvPr/>
        </p:nvGrpSpPr>
        <p:grpSpPr>
          <a:xfrm>
            <a:off x="685800" y="1828800"/>
            <a:ext cx="6035040" cy="3667887"/>
            <a:chOff x="685800" y="1828800"/>
            <a:chExt cx="6035040" cy="3667887"/>
          </a:xfrm>
        </p:grpSpPr>
        <p:sp>
          <p:nvSpPr>
            <p:cNvPr id="19" name="Rounded Rectangle 18"/>
            <p:cNvSpPr/>
            <p:nvPr/>
          </p:nvSpPr>
          <p:spPr>
            <a:xfrm>
              <a:off x="685800" y="1828800"/>
              <a:ext cx="6035040" cy="3667887"/>
            </a:xfrm>
            <a:prstGeom prst="roundRect">
              <a:avLst>
                <a:gd name="adj" fmla="val 1994"/>
              </a:avLst>
            </a:prstGeom>
            <a:solidFill>
              <a:srgbClr val="FFFDF7"/>
            </a:solidFill>
            <a:ln w="9525">
              <a:solidFill>
                <a:srgbClr val="CFC3AA"/>
              </a:solidFill>
            </a:ln>
            <a:effectLst>
              <a:outerShdw blurRad="384048" dist="109728" dir="5400000" algn="t" rotWithShape="0">
                <a:srgbClr val="16130E">
                  <a:alpha val="12000"/>
                </a:srgbClr>
              </a:outerShdw>
            </a:effectLst>
          </p:spPr>
          <p:txBody>
            <a:bodyPr rtlCol="0" anchor="ctr"/>
            <a:lstStyle/>
            <a:p>
              <a:pPr algn="ctr"/>
            </a:p>
          </p:txBody>
        </p:sp>
        <p:sp>
          <p:nvSpPr>
            <p:cNvPr id="20" name="Oval 19"/>
            <p:cNvSpPr/>
            <p:nvPr/>
          </p:nvSpPr>
          <p:spPr>
            <a:xfrm>
              <a:off x="832104" y="1929384"/>
              <a:ext cx="73152" cy="73152"/>
            </a:xfrm>
            <a:prstGeom prst="ellipse">
              <a:avLst/>
            </a:prstGeom>
            <a:solidFill>
              <a:srgbClr val="CFC3AA"/>
            </a:solidFill>
            <a:ln>
              <a:noFill/>
            </a:ln>
          </p:spPr>
          <p:txBody>
            <a:bodyPr rtlCol="0" anchor="ctr"/>
            <a:lstStyle/>
            <a:p>
              <a:pPr algn="ctr"/>
            </a:p>
          </p:txBody>
        </p:sp>
        <p:sp>
          <p:nvSpPr>
            <p:cNvPr id="21" name="Oval 20"/>
            <p:cNvSpPr/>
            <p:nvPr/>
          </p:nvSpPr>
          <p:spPr>
            <a:xfrm>
              <a:off x="969264" y="1929384"/>
              <a:ext cx="73152" cy="73152"/>
            </a:xfrm>
            <a:prstGeom prst="ellipse">
              <a:avLst/>
            </a:prstGeom>
            <a:solidFill>
              <a:srgbClr val="CFC3AA"/>
            </a:solidFill>
            <a:ln>
              <a:noFill/>
            </a:ln>
          </p:spPr>
          <p:txBody>
            <a:bodyPr rtlCol="0" anchor="ctr"/>
            <a:lstStyle/>
            <a:p>
              <a:pPr algn="ctr"/>
            </a:p>
          </p:txBody>
        </p:sp>
        <p:sp>
          <p:nvSpPr>
            <p:cNvPr id="22" name="Oval 21"/>
            <p:cNvSpPr/>
            <p:nvPr/>
          </p:nvSpPr>
          <p:spPr>
            <a:xfrm>
              <a:off x="1106424" y="1929384"/>
              <a:ext cx="73152" cy="73152"/>
            </a:xfrm>
            <a:prstGeom prst="ellipse">
              <a:avLst/>
            </a:prstGeom>
            <a:solidFill>
              <a:srgbClr val="CFC3AA"/>
            </a:solidFill>
            <a:ln>
              <a:noFill/>
            </a:ln>
          </p:spPr>
          <p:txBody>
            <a:bodyPr rtlCol="0" anchor="ctr"/>
            <a:lstStyle/>
            <a:p>
              <a:pPr algn="ctr"/>
            </a:p>
          </p:txBody>
        </p:sp>
        <p:sp>
          <p:nvSpPr>
            <p:cNvPr id="23" name="Rounded Rectangle 22"/>
            <p:cNvSpPr/>
            <p:nvPr/>
          </p:nvSpPr>
          <p:spPr>
            <a:xfrm>
              <a:off x="2496312" y="1888236"/>
              <a:ext cx="2414016" cy="155448"/>
            </a:xfrm>
            <a:prstGeom prst="roundRect">
              <a:avLst>
                <a:gd name="adj" fmla="val 50000"/>
              </a:avLst>
            </a:prstGeom>
            <a:solidFill>
              <a:srgbClr val="EFE8D9"/>
            </a:solidFill>
            <a:ln>
              <a:noFill/>
            </a:ln>
          </p:spPr>
          <p:txBody>
            <a:bodyPr rtlCol="0" anchor="ctr"/>
            <a:lstStyle/>
            <a:p>
              <a:pPr algn="ctr"/>
            </a:p>
          </p:txBody>
        </p:sp>
        <p:sp>
          <p:nvSpPr>
            <p:cNvPr id="24" name="TextBox 23"/>
            <p:cNvSpPr txBox="1"/>
            <p:nvPr/>
          </p:nvSpPr>
          <p:spPr>
            <a:xfrm>
              <a:off x="2496312" y="1888236"/>
              <a:ext cx="2414016" cy="155448"/>
            </a:xfrm>
            <a:prstGeom prst="rect">
              <a:avLst/>
            </a:prstGeom>
            <a:noFill/>
          </p:spPr>
          <p:txBody>
            <a:bodyPr wrap="square" lIns="0" rIns="0" tIns="0" bIns="0" anchor="ctr">
              <a:noAutofit/>
            </a:bodyPr>
            <a:lstStyle/>
            <a:p>
              <a:pPr algn="ctr"/>
              <a:r>
                <a:rPr sz="750" b="0" i="0">
                  <a:solidFill>
                    <a:srgbClr val="6E6658"/>
                  </a:solidFill>
                  <a:latin typeface="Inter" panose="020B0502030000000004" pitchFamily="34" charset="0"/>
                </a:rPr>
                <a:t>localhost:8787/exchange</a:t>
              </a:r>
            </a:p>
          </p:txBody>
        </p:sp>
        <p:sp>
          <p:nvSpPr>
            <p:cNvPr id="25" name="Rectangle 24"/>
            <p:cNvSpPr/>
            <p:nvPr/>
          </p:nvSpPr>
          <p:spPr>
            <a:xfrm>
              <a:off x="694944" y="2093976"/>
              <a:ext cx="6016752" cy="7315"/>
            </a:xfrm>
            <a:prstGeom prst="rect">
              <a:avLst/>
            </a:prstGeom>
            <a:solidFill>
              <a:srgbClr val="E2D9C6"/>
            </a:solidFill>
            <a:ln>
              <a:noFill/>
            </a:ln>
          </p:spPr>
          <p:txBody>
            <a:bodyPr rtlCol="0" anchor="ctr"/>
            <a:lstStyle/>
            <a:p>
              <a:pPr algn="ctr"/>
            </a:p>
          </p:txBody>
        </p:sp>
        <p:sp>
          <p:nvSpPr>
            <p:cNvPr id="26" name="Rounded Rectangle 25"/>
            <p:cNvSpPr/>
            <p:nvPr/>
          </p:nvSpPr>
          <p:spPr>
            <a:xfrm>
              <a:off x="694944" y="2103120"/>
              <a:ext cx="6016752" cy="3384423"/>
            </a:xfrm>
            <a:prstGeom prst="roundRect">
              <a:avLst>
                <a:gd name="adj" fmla="val 810"/>
              </a:avLst>
            </a:prstGeom>
            <a:solidFill>
              <a:srgbClr val="F4EFE4"/>
            </a:solidFill>
            <a:ln>
              <a:noFill/>
            </a:ln>
          </p:spPr>
          <p:txBody>
            <a:bodyPr rtlCol="0" anchor="ctr"/>
            <a:lstStyle/>
            <a:p>
              <a:pPr algn="ctr"/>
            </a:p>
          </p:txBody>
        </p:sp>
        <p:sp>
          <p:nvSpPr>
            <p:cNvPr id="27" name="Rectangle 26"/>
            <p:cNvSpPr/>
            <p:nvPr/>
          </p:nvSpPr>
          <p:spPr>
            <a:xfrm>
              <a:off x="694944" y="2103120"/>
              <a:ext cx="6016752" cy="292608"/>
            </a:xfrm>
            <a:prstGeom prst="rect">
              <a:avLst/>
            </a:prstGeom>
            <a:solidFill>
              <a:srgbClr val="FFFDF7"/>
            </a:solidFill>
            <a:ln>
              <a:noFill/>
            </a:ln>
          </p:spPr>
          <p:txBody>
            <a:bodyPr rtlCol="0" anchor="ctr"/>
            <a:lstStyle/>
            <a:p>
              <a:pPr algn="ctr"/>
            </a:p>
          </p:txBody>
        </p:sp>
        <p:sp>
          <p:nvSpPr>
            <p:cNvPr id="28" name="Rectangle 27"/>
            <p:cNvSpPr/>
            <p:nvPr/>
          </p:nvSpPr>
          <p:spPr>
            <a:xfrm>
              <a:off x="694944" y="2395728"/>
              <a:ext cx="6016752" cy="7315"/>
            </a:xfrm>
            <a:prstGeom prst="rect">
              <a:avLst/>
            </a:prstGeom>
            <a:solidFill>
              <a:srgbClr val="E2D9C6"/>
            </a:solidFill>
            <a:ln>
              <a:noFill/>
            </a:ln>
          </p:spPr>
          <p:txBody>
            <a:bodyPr rtlCol="0" anchor="ctr"/>
            <a:lstStyle/>
            <a:p>
              <a:pPr algn="ctr"/>
            </a:p>
          </p:txBody>
        </p:sp>
        <p:sp>
          <p:nvSpPr>
            <p:cNvPr id="29" name="TextBox 28"/>
            <p:cNvSpPr txBox="1"/>
            <p:nvPr/>
          </p:nvSpPr>
          <p:spPr>
            <a:xfrm>
              <a:off x="859536" y="2103120"/>
              <a:ext cx="2743200" cy="292608"/>
            </a:xfrm>
            <a:prstGeom prst="rect">
              <a:avLst/>
            </a:prstGeom>
            <a:noFill/>
          </p:spPr>
          <p:txBody>
            <a:bodyPr wrap="square" lIns="0" rIns="0" tIns="0" bIns="0" anchor="ctr">
              <a:noAutofit/>
            </a:bodyPr>
            <a:lstStyle/>
            <a:p>
              <a:pPr algn="l"/>
              <a:r>
                <a:rPr sz="1000" b="0" i="0">
                  <a:solidFill>
                    <a:srgbClr val="16130E"/>
                  </a:solidFill>
                  <a:latin typeface="Georgia" panose="02040502050405020303" pitchFamily="18" charset="0"/>
                </a:rPr>
                <a:t>Bidwire  </a:t>
              </a:r>
              <a:r>
                <a:rPr sz="750" b="0" i="0">
                  <a:solidFill>
                    <a:srgbClr val="9C937F"/>
                  </a:solidFill>
                  <a:latin typeface="Inter" panose="020B0502030000000004" pitchFamily="34" charset="0"/>
                </a:rPr>
                <a:t>Saleroom</a:t>
              </a:r>
            </a:p>
          </p:txBody>
        </p:sp>
        <p:sp>
          <p:nvSpPr>
            <p:cNvPr id="30" name="Rounded Rectangle 29"/>
            <p:cNvSpPr/>
            <p:nvPr/>
          </p:nvSpPr>
          <p:spPr>
            <a:xfrm>
              <a:off x="832104" y="2514600"/>
              <a:ext cx="3730386" cy="1421458"/>
            </a:xfrm>
            <a:prstGeom prst="roundRect">
              <a:avLst>
                <a:gd name="adj" fmla="val 3859"/>
              </a:avLst>
            </a:prstGeom>
            <a:solidFill>
              <a:srgbClr val="0F0E0C"/>
            </a:solidFill>
            <a:ln>
              <a:noFill/>
            </a:ln>
          </p:spPr>
          <p:txBody>
            <a:bodyPr rtlCol="0" anchor="ctr"/>
            <a:lstStyle/>
            <a:p>
              <a:pPr algn="ctr"/>
            </a:p>
          </p:txBody>
        </p:sp>
        <p:sp>
          <p:nvSpPr>
            <p:cNvPr id="31" name="Rounded Rectangle 30"/>
            <p:cNvSpPr/>
            <p:nvPr/>
          </p:nvSpPr>
          <p:spPr>
            <a:xfrm>
              <a:off x="877824" y="2560320"/>
              <a:ext cx="3638946" cy="1330018"/>
            </a:xfrm>
            <a:prstGeom prst="roundRect">
              <a:avLst>
                <a:gd name="adj" fmla="val 2750"/>
              </a:avLst>
            </a:prstGeom>
            <a:noFill/>
            <a:ln w="6350">
              <a:solidFill>
                <a:srgbClr val="B0894F">
                  <a:alpha val="60000"/>
                </a:srgbClr>
              </a:solidFill>
            </a:ln>
          </p:spPr>
          <p:txBody>
            <a:bodyPr rtlCol="0" anchor="ctr"/>
            <a:lstStyle/>
            <a:p>
              <a:pPr algn="ctr"/>
            </a:p>
          </p:txBody>
        </p:sp>
        <p:sp>
          <p:nvSpPr>
            <p:cNvPr id="32" name="TextBox 31"/>
            <p:cNvSpPr txBox="1"/>
            <p:nvPr/>
          </p:nvSpPr>
          <p:spPr>
            <a:xfrm>
              <a:off x="996696" y="2606040"/>
              <a:ext cx="3456066" cy="219456"/>
            </a:xfrm>
            <a:prstGeom prst="rect">
              <a:avLst/>
            </a:prstGeom>
            <a:noFill/>
          </p:spPr>
          <p:txBody>
            <a:bodyPr wrap="square" lIns="0" rIns="0" tIns="0" bIns="0" anchor="ctr">
              <a:noAutofit/>
            </a:bodyPr>
            <a:lstStyle/>
            <a:p>
              <a:pPr algn="l"/>
              <a:r>
                <a:rPr sz="600" b="1" i="0" spc="110">
                  <a:solidFill>
                    <a:srgbClr val="B0894F"/>
                  </a:solidFill>
                  <a:latin typeface="Inter" panose="020B0502030000000004" pitchFamily="34" charset="0"/>
                </a:rPr>
                <a:t>LOT · HEADPHONES · OPENED BY CLAUDE</a:t>
              </a:r>
            </a:p>
          </p:txBody>
        </p:sp>
        <p:sp>
          <p:nvSpPr>
            <p:cNvPr id="33" name="TextBox 32"/>
            <p:cNvSpPr txBox="1"/>
            <p:nvPr/>
          </p:nvSpPr>
          <p:spPr>
            <a:xfrm>
              <a:off x="996696" y="2816352"/>
              <a:ext cx="3456066" cy="182880"/>
            </a:xfrm>
            <a:prstGeom prst="rect">
              <a:avLst/>
            </a:prstGeom>
            <a:noFill/>
          </p:spPr>
          <p:txBody>
            <a:bodyPr wrap="square" lIns="0" rIns="0" tIns="0" bIns="0" anchor="ctr">
              <a:noAutofit/>
            </a:bodyPr>
            <a:lstStyle/>
            <a:p>
              <a:pPr algn="l"/>
              <a:r>
                <a:rPr sz="700" b="0" i="0">
                  <a:solidFill>
                    <a:srgbClr val="8C8270"/>
                  </a:solidFill>
                  <a:latin typeface="Inter" panose="020B0502030000000004" pitchFamily="34" charset="0"/>
                </a:rPr>
                <a:t>Best verified offer</a:t>
              </a:r>
            </a:p>
          </p:txBody>
        </p:sp>
        <p:sp>
          <p:nvSpPr>
            <p:cNvPr id="34" name="TextBox 33"/>
            <p:cNvSpPr txBox="1"/>
            <p:nvPr/>
          </p:nvSpPr>
          <p:spPr>
            <a:xfrm>
              <a:off x="996696" y="2971800"/>
              <a:ext cx="3456066" cy="568583"/>
            </a:xfrm>
            <a:prstGeom prst="rect">
              <a:avLst/>
            </a:prstGeom>
            <a:noFill/>
          </p:spPr>
          <p:txBody>
            <a:bodyPr wrap="square" lIns="0" rIns="0" tIns="0" bIns="0" anchor="ctr">
              <a:noAutofit/>
            </a:bodyPr>
            <a:lstStyle/>
            <a:p>
              <a:pPr algn="l"/>
              <a:r>
                <a:rPr sz="2400" b="0" i="0">
                  <a:solidFill>
                    <a:srgbClr val="F3E9D2"/>
                  </a:solidFill>
                  <a:latin typeface="Georgia" panose="02040502050405020303" pitchFamily="18" charset="0"/>
                </a:rPr>
                <a:t>$319.99</a:t>
              </a:r>
            </a:p>
          </p:txBody>
        </p:sp>
        <p:sp>
          <p:nvSpPr>
            <p:cNvPr id="35" name="TextBox 34"/>
            <p:cNvSpPr txBox="1"/>
            <p:nvPr/>
          </p:nvSpPr>
          <p:spPr>
            <a:xfrm>
              <a:off x="996696" y="3606874"/>
              <a:ext cx="3456066" cy="201168"/>
            </a:xfrm>
            <a:prstGeom prst="rect">
              <a:avLst/>
            </a:prstGeom>
            <a:noFill/>
          </p:spPr>
          <p:txBody>
            <a:bodyPr wrap="square" lIns="0" rIns="0" tIns="0" bIns="0" anchor="ctr">
              <a:noAutofit/>
            </a:bodyPr>
            <a:lstStyle/>
            <a:p>
              <a:pPr algn="l"/>
              <a:r>
                <a:rPr sz="750" b="0" i="0">
                  <a:solidFill>
                    <a:srgbClr val="F3E9D2"/>
                  </a:solidFill>
                  <a:latin typeface="Inter" panose="020B0502030000000004" pitchFamily="34" charset="0"/>
                </a:rPr>
                <a:t>Last Unit Labs</a:t>
              </a:r>
            </a:p>
          </p:txBody>
        </p:sp>
        <p:sp>
          <p:nvSpPr>
            <p:cNvPr id="36" name="Rounded Rectangle 35"/>
            <p:cNvSpPr/>
            <p:nvPr/>
          </p:nvSpPr>
          <p:spPr>
            <a:xfrm>
              <a:off x="4699650" y="2514600"/>
              <a:ext cx="1874886" cy="1421458"/>
            </a:xfrm>
            <a:prstGeom prst="roundRect">
              <a:avLst>
                <a:gd name="adj" fmla="val 2573"/>
              </a:avLst>
            </a:prstGeom>
            <a:solidFill>
              <a:srgbClr val="FFFDF7"/>
            </a:solidFill>
            <a:ln w="9525">
              <a:solidFill>
                <a:srgbClr val="E2D9C6"/>
              </a:solidFill>
            </a:ln>
          </p:spPr>
          <p:txBody>
            <a:bodyPr rtlCol="0" anchor="ctr"/>
            <a:lstStyle/>
            <a:p>
              <a:pPr algn="ctr"/>
            </a:p>
          </p:txBody>
        </p:sp>
        <p:sp>
          <p:nvSpPr>
            <p:cNvPr id="37" name="TextBox 36"/>
            <p:cNvSpPr txBox="1"/>
            <p:nvPr/>
          </p:nvSpPr>
          <p:spPr>
            <a:xfrm>
              <a:off x="4809378" y="2587752"/>
              <a:ext cx="1463040" cy="219456"/>
            </a:xfrm>
            <a:prstGeom prst="rect">
              <a:avLst/>
            </a:prstGeom>
            <a:noFill/>
          </p:spPr>
          <p:txBody>
            <a:bodyPr wrap="square" lIns="0" rIns="0" tIns="0" bIns="0" anchor="ctr">
              <a:noAutofit/>
            </a:bodyPr>
            <a:lstStyle/>
            <a:p>
              <a:pPr algn="l"/>
              <a:r>
                <a:rPr sz="600" b="1" i="0" spc="110">
                  <a:solidFill>
                    <a:srgbClr val="9C937F"/>
                  </a:solidFill>
                  <a:latin typeface="Inter" panose="020B0502030000000004" pitchFamily="34" charset="0"/>
                </a:rPr>
                <a:t>AGENT BIDDERS</a:t>
              </a:r>
            </a:p>
          </p:txBody>
        </p:sp>
        <p:sp>
          <p:nvSpPr>
            <p:cNvPr id="38" name="TextBox 37"/>
            <p:cNvSpPr txBox="1"/>
            <p:nvPr/>
          </p:nvSpPr>
          <p:spPr>
            <a:xfrm>
              <a:off x="4809378" y="2825496"/>
              <a:ext cx="1645920" cy="182880"/>
            </a:xfrm>
            <a:prstGeom prst="rect">
              <a:avLst/>
            </a:prstGeom>
            <a:noFill/>
          </p:spPr>
          <p:txBody>
            <a:bodyPr wrap="square" lIns="0" rIns="0" tIns="0" bIns="0" anchor="ctr">
              <a:noAutofit/>
            </a:bodyPr>
            <a:lstStyle/>
            <a:p>
              <a:pPr algn="l"/>
              <a:r>
                <a:rPr sz="650" b="0" i="0">
                  <a:solidFill>
                    <a:srgbClr val="233F6E"/>
                  </a:solidFill>
                  <a:latin typeface="JetBrains Mono" panose="02000009000000000000" pitchFamily="49" charset="0"/>
                </a:rPr>
                <a:t>find_offers</a:t>
              </a:r>
            </a:p>
          </p:txBody>
        </p:sp>
        <p:sp>
          <p:nvSpPr>
            <p:cNvPr id="39" name="TextBox 38"/>
            <p:cNvSpPr txBox="1"/>
            <p:nvPr/>
          </p:nvSpPr>
          <p:spPr>
            <a:xfrm>
              <a:off x="4809378" y="3054096"/>
              <a:ext cx="1645920" cy="182880"/>
            </a:xfrm>
            <a:prstGeom prst="rect">
              <a:avLst/>
            </a:prstGeom>
            <a:noFill/>
          </p:spPr>
          <p:txBody>
            <a:bodyPr wrap="square" lIns="0" rIns="0" tIns="0" bIns="0" anchor="ctr">
              <a:noAutofit/>
            </a:bodyPr>
            <a:lstStyle/>
            <a:p>
              <a:pPr algn="l"/>
              <a:r>
                <a:rPr sz="650" b="0" i="0">
                  <a:solidFill>
                    <a:srgbClr val="233F6E"/>
                  </a:solidFill>
                  <a:latin typeface="JetBrains Mono" panose="02000009000000000000" pitchFamily="49" charset="0"/>
                </a:rPr>
                <a:t>buy_offer</a:t>
              </a:r>
            </a:p>
          </p:txBody>
        </p:sp>
        <p:sp>
          <p:nvSpPr>
            <p:cNvPr id="40" name="TextBox 39"/>
            <p:cNvSpPr txBox="1"/>
            <p:nvPr/>
          </p:nvSpPr>
          <p:spPr>
            <a:xfrm>
              <a:off x="4809378" y="3282696"/>
              <a:ext cx="1645920" cy="182880"/>
            </a:xfrm>
            <a:prstGeom prst="rect">
              <a:avLst/>
            </a:prstGeom>
            <a:noFill/>
          </p:spPr>
          <p:txBody>
            <a:bodyPr wrap="square" lIns="0" rIns="0" tIns="0" bIns="0" anchor="ctr">
              <a:noAutofit/>
            </a:bodyPr>
            <a:lstStyle/>
            <a:p>
              <a:pPr algn="l"/>
              <a:r>
                <a:rPr sz="650" b="0" i="0">
                  <a:solidFill>
                    <a:srgbClr val="233F6E"/>
                  </a:solidFill>
                  <a:latin typeface="JetBrains Mono" panose="02000009000000000000" pitchFamily="49" charset="0"/>
                </a:rPr>
                <a:t>check_approval</a:t>
              </a:r>
            </a:p>
          </p:txBody>
        </p:sp>
        <p:sp>
          <p:nvSpPr>
            <p:cNvPr id="41" name="Rounded Rectangle 40"/>
            <p:cNvSpPr/>
            <p:nvPr/>
          </p:nvSpPr>
          <p:spPr>
            <a:xfrm>
              <a:off x="832104" y="4064074"/>
              <a:ext cx="5742432" cy="1313741"/>
            </a:xfrm>
            <a:prstGeom prst="roundRect">
              <a:avLst>
                <a:gd name="adj" fmla="val 2784"/>
              </a:avLst>
            </a:prstGeom>
            <a:solidFill>
              <a:srgbClr val="FFFDF7"/>
            </a:solidFill>
            <a:ln w="9525">
              <a:solidFill>
                <a:srgbClr val="E2D9C6"/>
              </a:solidFill>
            </a:ln>
          </p:spPr>
          <p:txBody>
            <a:bodyPr rtlCol="0" anchor="ctr"/>
            <a:lstStyle/>
            <a:p>
              <a:pPr algn="ctr"/>
            </a:p>
          </p:txBody>
        </p:sp>
        <p:sp>
          <p:nvSpPr>
            <p:cNvPr id="42" name="TextBox 41"/>
            <p:cNvSpPr txBox="1"/>
            <p:nvPr/>
          </p:nvSpPr>
          <p:spPr>
            <a:xfrm>
              <a:off x="923544" y="4091506"/>
              <a:ext cx="365760" cy="251775"/>
            </a:xfrm>
            <a:prstGeom prst="rect">
              <a:avLst/>
            </a:prstGeom>
            <a:noFill/>
          </p:spPr>
          <p:txBody>
            <a:bodyPr wrap="square" lIns="0" rIns="0" tIns="0" bIns="0" anchor="ctr">
              <a:noAutofit/>
            </a:bodyPr>
            <a:lstStyle/>
            <a:p>
              <a:pPr algn="l"/>
              <a:r>
                <a:rPr sz="900" b="0" i="0">
                  <a:solidFill>
                    <a:srgbClr val="16130E"/>
                  </a:solidFill>
                  <a:latin typeface="Georgia" panose="02040502050405020303" pitchFamily="18" charset="0"/>
                </a:rPr>
                <a:t>1</a:t>
              </a:r>
            </a:p>
          </p:txBody>
        </p:sp>
        <p:sp>
          <p:nvSpPr>
            <p:cNvPr id="43" name="TextBox 42"/>
            <p:cNvSpPr txBox="1"/>
            <p:nvPr/>
          </p:nvSpPr>
          <p:spPr>
            <a:xfrm>
              <a:off x="1243584" y="4091506"/>
              <a:ext cx="3008376" cy="251775"/>
            </a:xfrm>
            <a:prstGeom prst="rect">
              <a:avLst/>
            </a:prstGeom>
            <a:noFill/>
          </p:spPr>
          <p:txBody>
            <a:bodyPr wrap="square" lIns="0" rIns="0" tIns="0" bIns="0" anchor="ctr">
              <a:noAutofit/>
            </a:bodyPr>
            <a:lstStyle/>
            <a:p>
              <a:pPr algn="l"/>
              <a:r>
                <a:rPr sz="750" b="1" i="0">
                  <a:solidFill>
                    <a:srgbClr val="16130E"/>
                  </a:solidFill>
                  <a:latin typeface="Inter" panose="020B0502030000000004" pitchFamily="34" charset="0"/>
                </a:rPr>
                <a:t>Last Unit Labs</a:t>
              </a:r>
            </a:p>
          </p:txBody>
        </p:sp>
        <p:sp>
          <p:nvSpPr>
            <p:cNvPr id="44" name="Rounded Rectangle 43"/>
            <p:cNvSpPr/>
            <p:nvPr/>
          </p:nvSpPr>
          <p:spPr>
            <a:xfrm>
              <a:off x="6013704" y="4139669"/>
              <a:ext cx="423672" cy="155448"/>
            </a:xfrm>
            <a:prstGeom prst="roundRect">
              <a:avLst>
                <a:gd name="adj" fmla="val 50000"/>
              </a:avLst>
            </a:prstGeom>
            <a:solidFill>
              <a:srgbClr val="F5EBD6"/>
            </a:solidFill>
            <a:ln>
              <a:noFill/>
            </a:ln>
          </p:spPr>
          <p:txBody>
            <a:bodyPr rtlCol="0" anchor="ctr"/>
            <a:lstStyle/>
            <a:p>
              <a:pPr algn="ctr"/>
            </a:p>
          </p:txBody>
        </p:sp>
        <p:sp>
          <p:nvSpPr>
            <p:cNvPr id="45" name="TextBox 44"/>
            <p:cNvSpPr txBox="1"/>
            <p:nvPr/>
          </p:nvSpPr>
          <p:spPr>
            <a:xfrm>
              <a:off x="6013704" y="4139669"/>
              <a:ext cx="423672" cy="155448"/>
            </a:xfrm>
            <a:prstGeom prst="rect">
              <a:avLst/>
            </a:prstGeom>
            <a:noFill/>
          </p:spPr>
          <p:txBody>
            <a:bodyPr wrap="square" lIns="0" rIns="0" tIns="0" bIns="0" anchor="ctr">
              <a:noAutofit/>
            </a:bodyPr>
            <a:lstStyle/>
            <a:p>
              <a:pPr algn="ctr"/>
              <a:r>
                <a:rPr sz="650" b="1" i="0">
                  <a:solidFill>
                    <a:srgbClr val="B0894F"/>
                  </a:solidFill>
                  <a:latin typeface="Inter" panose="020B0502030000000004" pitchFamily="34" charset="0"/>
                </a:rPr>
                <a:t>Hammer</a:t>
              </a:r>
            </a:p>
          </p:txBody>
        </p:sp>
        <p:sp>
          <p:nvSpPr>
            <p:cNvPr id="46" name="Rectangle 45"/>
            <p:cNvSpPr/>
            <p:nvPr/>
          </p:nvSpPr>
          <p:spPr>
            <a:xfrm>
              <a:off x="877824" y="4343281"/>
              <a:ext cx="5650992" cy="5486"/>
            </a:xfrm>
            <a:prstGeom prst="rect">
              <a:avLst/>
            </a:prstGeom>
            <a:solidFill>
              <a:srgbClr val="E2D9C6"/>
            </a:solidFill>
            <a:ln>
              <a:noFill/>
            </a:ln>
          </p:spPr>
          <p:txBody>
            <a:bodyPr rtlCol="0" anchor="ctr"/>
            <a:lstStyle/>
            <a:p>
              <a:pPr algn="ctr"/>
            </a:p>
          </p:txBody>
        </p:sp>
        <p:sp>
          <p:nvSpPr>
            <p:cNvPr id="47" name="TextBox 46"/>
            <p:cNvSpPr txBox="1"/>
            <p:nvPr/>
          </p:nvSpPr>
          <p:spPr>
            <a:xfrm>
              <a:off x="923544" y="4343281"/>
              <a:ext cx="365760" cy="251775"/>
            </a:xfrm>
            <a:prstGeom prst="rect">
              <a:avLst/>
            </a:prstGeom>
            <a:noFill/>
          </p:spPr>
          <p:txBody>
            <a:bodyPr wrap="square" lIns="0" rIns="0" tIns="0" bIns="0" anchor="ctr">
              <a:noAutofit/>
            </a:bodyPr>
            <a:lstStyle/>
            <a:p>
              <a:pPr algn="l"/>
              <a:r>
                <a:rPr sz="900" b="0" i="0">
                  <a:solidFill>
                    <a:srgbClr val="16130E"/>
                  </a:solidFill>
                  <a:latin typeface="Georgia" panose="02040502050405020303" pitchFamily="18" charset="0"/>
                </a:rPr>
                <a:t>2</a:t>
              </a:r>
            </a:p>
          </p:txBody>
        </p:sp>
        <p:sp>
          <p:nvSpPr>
            <p:cNvPr id="48" name="TextBox 47"/>
            <p:cNvSpPr txBox="1"/>
            <p:nvPr/>
          </p:nvSpPr>
          <p:spPr>
            <a:xfrm>
              <a:off x="1243584" y="4343281"/>
              <a:ext cx="3008376" cy="251775"/>
            </a:xfrm>
            <a:prstGeom prst="rect">
              <a:avLst/>
            </a:prstGeom>
            <a:noFill/>
          </p:spPr>
          <p:txBody>
            <a:bodyPr wrap="square" lIns="0" rIns="0" tIns="0" bIns="0" anchor="ctr">
              <a:noAutofit/>
            </a:bodyPr>
            <a:lstStyle/>
            <a:p>
              <a:pPr algn="l"/>
              <a:r>
                <a:rPr sz="750" b="1" i="0">
                  <a:solidFill>
                    <a:srgbClr val="16130E"/>
                  </a:solidFill>
                  <a:latin typeface="Inter" panose="020B0502030000000004" pitchFamily="34" charset="0"/>
                </a:rPr>
                <a:t>Parcel &amp; Pine</a:t>
              </a:r>
            </a:p>
          </p:txBody>
        </p:sp>
        <p:sp>
          <p:nvSpPr>
            <p:cNvPr id="49" name="Rounded Rectangle 48"/>
            <p:cNvSpPr/>
            <p:nvPr/>
          </p:nvSpPr>
          <p:spPr>
            <a:xfrm>
              <a:off x="5921248" y="4391445"/>
              <a:ext cx="516128" cy="155448"/>
            </a:xfrm>
            <a:prstGeom prst="roundRect">
              <a:avLst>
                <a:gd name="adj" fmla="val 50000"/>
              </a:avLst>
            </a:prstGeom>
            <a:solidFill>
              <a:srgbClr val="E5F0E8"/>
            </a:solidFill>
            <a:ln>
              <a:noFill/>
            </a:ln>
          </p:spPr>
          <p:txBody>
            <a:bodyPr rtlCol="0" anchor="ctr"/>
            <a:lstStyle/>
            <a:p>
              <a:pPr algn="ctr"/>
            </a:p>
          </p:txBody>
        </p:sp>
        <p:sp>
          <p:nvSpPr>
            <p:cNvPr id="50" name="TextBox 49"/>
            <p:cNvSpPr txBox="1"/>
            <p:nvPr/>
          </p:nvSpPr>
          <p:spPr>
            <a:xfrm>
              <a:off x="5921248" y="4391445"/>
              <a:ext cx="516128" cy="155448"/>
            </a:xfrm>
            <a:prstGeom prst="rect">
              <a:avLst/>
            </a:prstGeom>
            <a:noFill/>
          </p:spPr>
          <p:txBody>
            <a:bodyPr wrap="square" lIns="0" rIns="0" tIns="0" bIns="0" anchor="ctr">
              <a:noAutofit/>
            </a:bodyPr>
            <a:lstStyle/>
            <a:p>
              <a:pPr algn="ctr"/>
              <a:r>
                <a:rPr sz="650" b="1" i="0">
                  <a:solidFill>
                    <a:srgbClr val="2D6A48"/>
                  </a:solidFill>
                  <a:latin typeface="Inter" panose="020B0502030000000004" pitchFamily="34" charset="0"/>
                </a:rPr>
                <a:t>Verified</a:t>
              </a:r>
            </a:p>
          </p:txBody>
        </p:sp>
        <p:sp>
          <p:nvSpPr>
            <p:cNvPr id="51" name="Rectangle 50"/>
            <p:cNvSpPr/>
            <p:nvPr/>
          </p:nvSpPr>
          <p:spPr>
            <a:xfrm>
              <a:off x="877824" y="4595057"/>
              <a:ext cx="5650992" cy="5486"/>
            </a:xfrm>
            <a:prstGeom prst="rect">
              <a:avLst/>
            </a:prstGeom>
            <a:solidFill>
              <a:srgbClr val="E2D9C6"/>
            </a:solidFill>
            <a:ln>
              <a:noFill/>
            </a:ln>
          </p:spPr>
          <p:txBody>
            <a:bodyPr rtlCol="0" anchor="ctr"/>
            <a:lstStyle/>
            <a:p>
              <a:pPr algn="ctr"/>
            </a:p>
          </p:txBody>
        </p:sp>
        <p:sp>
          <p:nvSpPr>
            <p:cNvPr id="52" name="TextBox 51"/>
            <p:cNvSpPr txBox="1"/>
            <p:nvPr/>
          </p:nvSpPr>
          <p:spPr>
            <a:xfrm>
              <a:off x="923544" y="4595057"/>
              <a:ext cx="365760" cy="251775"/>
            </a:xfrm>
            <a:prstGeom prst="rect">
              <a:avLst/>
            </a:prstGeom>
            <a:noFill/>
          </p:spPr>
          <p:txBody>
            <a:bodyPr wrap="square" lIns="0" rIns="0" tIns="0" bIns="0" anchor="ctr">
              <a:noAutofit/>
            </a:bodyPr>
            <a:lstStyle/>
            <a:p>
              <a:pPr algn="l"/>
              <a:r>
                <a:rPr sz="900" b="0" i="0">
                  <a:solidFill>
                    <a:srgbClr val="16130E"/>
                  </a:solidFill>
                  <a:latin typeface="Georgia" panose="02040502050405020303" pitchFamily="18" charset="0"/>
                </a:rPr>
                <a:t>3</a:t>
              </a:r>
            </a:p>
          </p:txBody>
        </p:sp>
        <p:sp>
          <p:nvSpPr>
            <p:cNvPr id="53" name="TextBox 52"/>
            <p:cNvSpPr txBox="1"/>
            <p:nvPr/>
          </p:nvSpPr>
          <p:spPr>
            <a:xfrm>
              <a:off x="1243584" y="4595057"/>
              <a:ext cx="3008376" cy="251775"/>
            </a:xfrm>
            <a:prstGeom prst="rect">
              <a:avLst/>
            </a:prstGeom>
            <a:noFill/>
          </p:spPr>
          <p:txBody>
            <a:bodyPr wrap="square" lIns="0" rIns="0" tIns="0" bIns="0" anchor="ctr">
              <a:noAutofit/>
            </a:bodyPr>
            <a:lstStyle/>
            <a:p>
              <a:pPr algn="l"/>
              <a:r>
                <a:rPr sz="750" b="1" i="0">
                  <a:solidFill>
                    <a:srgbClr val="16130E"/>
                  </a:solidFill>
                  <a:latin typeface="Inter" panose="020B0502030000000004" pitchFamily="34" charset="0"/>
                </a:rPr>
                <a:t>Northwind Electronics</a:t>
              </a:r>
            </a:p>
          </p:txBody>
        </p:sp>
        <p:sp>
          <p:nvSpPr>
            <p:cNvPr id="54" name="Rounded Rectangle 53"/>
            <p:cNvSpPr/>
            <p:nvPr/>
          </p:nvSpPr>
          <p:spPr>
            <a:xfrm>
              <a:off x="5921248" y="4643220"/>
              <a:ext cx="516128" cy="155448"/>
            </a:xfrm>
            <a:prstGeom prst="roundRect">
              <a:avLst>
                <a:gd name="adj" fmla="val 50000"/>
              </a:avLst>
            </a:prstGeom>
            <a:solidFill>
              <a:srgbClr val="E5F0E8"/>
            </a:solidFill>
            <a:ln>
              <a:noFill/>
            </a:ln>
          </p:spPr>
          <p:txBody>
            <a:bodyPr rtlCol="0" anchor="ctr"/>
            <a:lstStyle/>
            <a:p>
              <a:pPr algn="ctr"/>
            </a:p>
          </p:txBody>
        </p:sp>
        <p:sp>
          <p:nvSpPr>
            <p:cNvPr id="55" name="TextBox 54"/>
            <p:cNvSpPr txBox="1"/>
            <p:nvPr/>
          </p:nvSpPr>
          <p:spPr>
            <a:xfrm>
              <a:off x="5921248" y="4643220"/>
              <a:ext cx="516128" cy="155448"/>
            </a:xfrm>
            <a:prstGeom prst="rect">
              <a:avLst/>
            </a:prstGeom>
            <a:noFill/>
          </p:spPr>
          <p:txBody>
            <a:bodyPr wrap="square" lIns="0" rIns="0" tIns="0" bIns="0" anchor="ctr">
              <a:noAutofit/>
            </a:bodyPr>
            <a:lstStyle/>
            <a:p>
              <a:pPr algn="ctr"/>
              <a:r>
                <a:rPr sz="650" b="1" i="0">
                  <a:solidFill>
                    <a:srgbClr val="2D6A48"/>
                  </a:solidFill>
                  <a:latin typeface="Inter" panose="020B0502030000000004" pitchFamily="34" charset="0"/>
                </a:rPr>
                <a:t>Verified</a:t>
              </a:r>
            </a:p>
          </p:txBody>
        </p:sp>
        <p:sp>
          <p:nvSpPr>
            <p:cNvPr id="56" name="Rectangle 55"/>
            <p:cNvSpPr/>
            <p:nvPr/>
          </p:nvSpPr>
          <p:spPr>
            <a:xfrm>
              <a:off x="877824" y="4846832"/>
              <a:ext cx="5650992" cy="5486"/>
            </a:xfrm>
            <a:prstGeom prst="rect">
              <a:avLst/>
            </a:prstGeom>
            <a:solidFill>
              <a:srgbClr val="E2D9C6"/>
            </a:solidFill>
            <a:ln>
              <a:noFill/>
            </a:ln>
          </p:spPr>
          <p:txBody>
            <a:bodyPr rtlCol="0" anchor="ctr"/>
            <a:lstStyle/>
            <a:p>
              <a:pPr algn="ctr"/>
            </a:p>
          </p:txBody>
        </p:sp>
        <p:sp>
          <p:nvSpPr>
            <p:cNvPr id="57" name="TextBox 56"/>
            <p:cNvSpPr txBox="1"/>
            <p:nvPr/>
          </p:nvSpPr>
          <p:spPr>
            <a:xfrm>
              <a:off x="923544" y="4846832"/>
              <a:ext cx="365760" cy="251775"/>
            </a:xfrm>
            <a:prstGeom prst="rect">
              <a:avLst/>
            </a:prstGeom>
            <a:noFill/>
          </p:spPr>
          <p:txBody>
            <a:bodyPr wrap="square" lIns="0" rIns="0" tIns="0" bIns="0" anchor="ctr">
              <a:noAutofit/>
            </a:bodyPr>
            <a:lstStyle/>
            <a:p>
              <a:pPr algn="l"/>
              <a:r>
                <a:rPr sz="900" b="0" i="0">
                  <a:solidFill>
                    <a:srgbClr val="16130E"/>
                  </a:solidFill>
                  <a:latin typeface="Georgia" panose="02040502050405020303" pitchFamily="18" charset="0"/>
                </a:rPr>
                <a:t>5</a:t>
              </a:r>
            </a:p>
          </p:txBody>
        </p:sp>
        <p:sp>
          <p:nvSpPr>
            <p:cNvPr id="58" name="TextBox 57"/>
            <p:cNvSpPr txBox="1"/>
            <p:nvPr/>
          </p:nvSpPr>
          <p:spPr>
            <a:xfrm>
              <a:off x="1243584" y="4846832"/>
              <a:ext cx="3008376" cy="251775"/>
            </a:xfrm>
            <a:prstGeom prst="rect">
              <a:avLst/>
            </a:prstGeom>
            <a:noFill/>
          </p:spPr>
          <p:txBody>
            <a:bodyPr wrap="square" lIns="0" rIns="0" tIns="0" bIns="0" anchor="ctr">
              <a:noAutofit/>
            </a:bodyPr>
            <a:lstStyle/>
            <a:p>
              <a:pPr algn="l"/>
              <a:r>
                <a:rPr sz="750" b="1" i="0">
                  <a:solidFill>
                    <a:srgbClr val="16130E"/>
                  </a:solidFill>
                  <a:latin typeface="Inter" panose="020B0502030000000004" pitchFamily="34" charset="0"/>
                </a:rPr>
                <a:t>MegaMart Ads Co.</a:t>
              </a:r>
            </a:p>
          </p:txBody>
        </p:sp>
        <p:sp>
          <p:nvSpPr>
            <p:cNvPr id="59" name="Rounded Rectangle 58"/>
            <p:cNvSpPr/>
            <p:nvPr/>
          </p:nvSpPr>
          <p:spPr>
            <a:xfrm>
              <a:off x="5690108" y="4894996"/>
              <a:ext cx="747268" cy="155448"/>
            </a:xfrm>
            <a:prstGeom prst="roundRect">
              <a:avLst>
                <a:gd name="adj" fmla="val 50000"/>
              </a:avLst>
            </a:prstGeom>
            <a:solidFill>
              <a:srgbClr val="F6EBD6"/>
            </a:solidFill>
            <a:ln>
              <a:noFill/>
            </a:ln>
          </p:spPr>
          <p:txBody>
            <a:bodyPr rtlCol="0" anchor="ctr"/>
            <a:lstStyle/>
            <a:p>
              <a:pPr algn="ctr"/>
            </a:p>
          </p:txBody>
        </p:sp>
        <p:sp>
          <p:nvSpPr>
            <p:cNvPr id="60" name="TextBox 59"/>
            <p:cNvSpPr txBox="1"/>
            <p:nvPr/>
          </p:nvSpPr>
          <p:spPr>
            <a:xfrm>
              <a:off x="5690108" y="4894996"/>
              <a:ext cx="747268" cy="155448"/>
            </a:xfrm>
            <a:prstGeom prst="rect">
              <a:avLst/>
            </a:prstGeom>
            <a:noFill/>
          </p:spPr>
          <p:txBody>
            <a:bodyPr wrap="square" lIns="0" rIns="0" tIns="0" bIns="0" anchor="ctr">
              <a:noAutofit/>
            </a:bodyPr>
            <a:lstStyle/>
            <a:p>
              <a:pPr algn="ctr"/>
              <a:r>
                <a:rPr sz="650" b="1" i="0">
                  <a:solidFill>
                    <a:srgbClr val="94641F"/>
                  </a:solidFill>
                  <a:latin typeface="Inter" panose="020B0502030000000004" pitchFamily="34" charset="0"/>
                </a:rPr>
                <a:t>Bribe ignored</a:t>
              </a:r>
            </a:p>
          </p:txBody>
        </p:sp>
        <p:sp>
          <p:nvSpPr>
            <p:cNvPr id="61" name="Rectangle 60"/>
            <p:cNvSpPr/>
            <p:nvPr/>
          </p:nvSpPr>
          <p:spPr>
            <a:xfrm>
              <a:off x="877824" y="5098608"/>
              <a:ext cx="5650992" cy="5486"/>
            </a:xfrm>
            <a:prstGeom prst="rect">
              <a:avLst/>
            </a:prstGeom>
            <a:solidFill>
              <a:srgbClr val="E2D9C6"/>
            </a:solidFill>
            <a:ln>
              <a:noFill/>
            </a:ln>
          </p:spPr>
          <p:txBody>
            <a:bodyPr rtlCol="0" anchor="ctr"/>
            <a:lstStyle/>
            <a:p>
              <a:pPr algn="ctr"/>
            </a:p>
          </p:txBody>
        </p:sp>
        <p:sp>
          <p:nvSpPr>
            <p:cNvPr id="62" name="TextBox 61"/>
            <p:cNvSpPr txBox="1"/>
            <p:nvPr/>
          </p:nvSpPr>
          <p:spPr>
            <a:xfrm>
              <a:off x="923544" y="5098608"/>
              <a:ext cx="365760" cy="251775"/>
            </a:xfrm>
            <a:prstGeom prst="rect">
              <a:avLst/>
            </a:prstGeom>
            <a:noFill/>
          </p:spPr>
          <p:txBody>
            <a:bodyPr wrap="square" lIns="0" rIns="0" tIns="0" bIns="0" anchor="ctr">
              <a:noAutofit/>
            </a:bodyPr>
            <a:lstStyle/>
            <a:p>
              <a:pPr algn="l"/>
              <a:r>
                <a:rPr sz="900" b="0" i="0">
                  <a:solidFill>
                    <a:srgbClr val="16130E"/>
                  </a:solidFill>
                  <a:latin typeface="Georgia" panose="02040502050405020303" pitchFamily="18" charset="0"/>
                </a:rPr>
                <a:t>—</a:t>
              </a:r>
            </a:p>
          </p:txBody>
        </p:sp>
        <p:sp>
          <p:nvSpPr>
            <p:cNvPr id="63" name="TextBox 62"/>
            <p:cNvSpPr txBox="1"/>
            <p:nvPr/>
          </p:nvSpPr>
          <p:spPr>
            <a:xfrm>
              <a:off x="1243584" y="5098608"/>
              <a:ext cx="3008376" cy="251775"/>
            </a:xfrm>
            <a:prstGeom prst="rect">
              <a:avLst/>
            </a:prstGeom>
            <a:noFill/>
          </p:spPr>
          <p:txBody>
            <a:bodyPr wrap="square" lIns="0" rIns="0" tIns="0" bIns="0" anchor="ctr">
              <a:noAutofit/>
            </a:bodyPr>
            <a:lstStyle/>
            <a:p>
              <a:pPr algn="l"/>
              <a:r>
                <a:rPr sz="750" b="1" i="0">
                  <a:solidFill>
                    <a:srgbClr val="16130E"/>
                  </a:solidFill>
                  <a:latin typeface="Inter" panose="020B0502030000000004" pitchFamily="34" charset="0"/>
                </a:rPr>
                <a:t>DealDrop Direct</a:t>
              </a:r>
            </a:p>
          </p:txBody>
        </p:sp>
        <p:sp>
          <p:nvSpPr>
            <p:cNvPr id="64" name="Rounded Rectangle 63"/>
            <p:cNvSpPr/>
            <p:nvPr/>
          </p:nvSpPr>
          <p:spPr>
            <a:xfrm>
              <a:off x="5875020" y="5146771"/>
              <a:ext cx="562356" cy="155448"/>
            </a:xfrm>
            <a:prstGeom prst="roundRect">
              <a:avLst>
                <a:gd name="adj" fmla="val 50000"/>
              </a:avLst>
            </a:prstGeom>
            <a:solidFill>
              <a:srgbClr val="F6E3DF"/>
            </a:solidFill>
            <a:ln>
              <a:noFill/>
            </a:ln>
          </p:spPr>
          <p:txBody>
            <a:bodyPr rtlCol="0" anchor="ctr"/>
            <a:lstStyle/>
            <a:p>
              <a:pPr algn="ctr"/>
            </a:p>
          </p:txBody>
        </p:sp>
        <p:sp>
          <p:nvSpPr>
            <p:cNvPr id="65" name="TextBox 64"/>
            <p:cNvSpPr txBox="1"/>
            <p:nvPr/>
          </p:nvSpPr>
          <p:spPr>
            <a:xfrm>
              <a:off x="5875020" y="5146771"/>
              <a:ext cx="562356" cy="155448"/>
            </a:xfrm>
            <a:prstGeom prst="rect">
              <a:avLst/>
            </a:prstGeom>
            <a:noFill/>
          </p:spPr>
          <p:txBody>
            <a:bodyPr wrap="square" lIns="0" rIns="0" tIns="0" bIns="0" anchor="ctr">
              <a:noAutofit/>
            </a:bodyPr>
            <a:lstStyle/>
            <a:p>
              <a:pPr algn="ctr"/>
              <a:r>
                <a:rPr sz="650" b="1" i="0">
                  <a:solidFill>
                    <a:srgbClr val="8E2A22"/>
                  </a:solidFill>
                  <a:latin typeface="Inter" panose="020B0502030000000004" pitchFamily="34" charset="0"/>
                </a:rPr>
                <a:t>Withdrawn</a:t>
              </a:r>
            </a:p>
          </p:txBody>
        </p:sp>
        <p:sp>
          <p:nvSpPr>
            <p:cNvPr id="66" name="TextBox 65"/>
            <p:cNvSpPr txBox="1"/>
            <p:nvPr/>
          </p:nvSpPr>
          <p:spPr>
            <a:xfrm>
              <a:off x="777240" y="5268087"/>
              <a:ext cx="5852160" cy="182880"/>
            </a:xfrm>
            <a:prstGeom prst="rect">
              <a:avLst/>
            </a:prstGeom>
            <a:noFill/>
          </p:spPr>
          <p:txBody>
            <a:bodyPr wrap="square" lIns="0" rIns="0" tIns="0" bIns="0" anchor="ctr">
              <a:noAutofit/>
            </a:bodyPr>
            <a:lstStyle/>
            <a:p>
              <a:pPr algn="r"/>
              <a:r>
                <a:rPr sz="700" b="0" i="0">
                  <a:solidFill>
                    <a:srgbClr val="9C937F"/>
                  </a:solidFill>
                  <a:latin typeface="JetBrains Mono" panose="02000009000000000000" pitchFamily="49" charset="0"/>
                </a:rPr>
                <a:t>Placeholder: screenshots/exchange-liar.png</a:t>
              </a:r>
            </a:p>
          </p:txBody>
        </p:sp>
      </p:grpSp>
      <p:grpSp>
        <p:nvGrpSpPr>
          <p:cNvPr id="67" name="Group 66"/>
          <p:cNvGrpSpPr/>
          <p:nvPr/>
        </p:nvGrpSpPr>
        <p:grpSpPr>
          <a:xfrm>
            <a:off x="685800" y="5577840"/>
            <a:ext cx="1938528" cy="749808"/>
            <a:chOff x="685800" y="5577840"/>
            <a:chExt cx="1938528" cy="749808"/>
          </a:xfrm>
        </p:grpSpPr>
        <p:sp>
          <p:nvSpPr>
            <p:cNvPr id="68" name="Rounded Rectangle 67"/>
            <p:cNvSpPr/>
            <p:nvPr/>
          </p:nvSpPr>
          <p:spPr>
            <a:xfrm>
              <a:off x="685800" y="5577840"/>
              <a:ext cx="1938528" cy="749808"/>
            </a:xfrm>
            <a:prstGeom prst="roundRect">
              <a:avLst>
                <a:gd name="adj" fmla="val 7317"/>
              </a:avLst>
            </a:prstGeom>
            <a:solidFill>
              <a:srgbClr val="FFFDF7"/>
            </a:solidFill>
            <a:ln w="9525">
              <a:solidFill>
                <a:srgbClr val="E2D9C6"/>
              </a:solidFill>
            </a:ln>
          </p:spPr>
          <p:txBody>
            <a:bodyPr rtlCol="0" anchor="ctr"/>
            <a:lstStyle/>
            <a:p>
              <a:pPr algn="ctr"/>
            </a:p>
          </p:txBody>
        </p:sp>
        <p:sp>
          <p:nvSpPr>
            <p:cNvPr id="69" name="Rounded Rectangle 68"/>
            <p:cNvSpPr/>
            <p:nvPr/>
          </p:nvSpPr>
          <p:spPr>
            <a:xfrm>
              <a:off x="795528" y="5660136"/>
              <a:ext cx="922528" cy="210312"/>
            </a:xfrm>
            <a:prstGeom prst="roundRect">
              <a:avLst>
                <a:gd name="adj" fmla="val 50000"/>
              </a:avLst>
            </a:prstGeom>
            <a:solidFill>
              <a:srgbClr val="F6EBD6"/>
            </a:solidFill>
            <a:ln>
              <a:noFill/>
            </a:ln>
          </p:spPr>
          <p:txBody>
            <a:bodyPr rtlCol="0" anchor="ctr"/>
            <a:lstStyle/>
            <a:p>
              <a:pPr algn="ctr"/>
            </a:p>
          </p:txBody>
        </p:sp>
        <p:sp>
          <p:nvSpPr>
            <p:cNvPr id="70" name="TextBox 69"/>
            <p:cNvSpPr txBox="1"/>
            <p:nvPr/>
          </p:nvSpPr>
          <p:spPr>
            <a:xfrm>
              <a:off x="795528" y="5660136"/>
              <a:ext cx="922528" cy="210312"/>
            </a:xfrm>
            <a:prstGeom prst="rect">
              <a:avLst/>
            </a:prstGeom>
            <a:noFill/>
          </p:spPr>
          <p:txBody>
            <a:bodyPr wrap="square" lIns="0" rIns="0" tIns="0" bIns="0" anchor="ctr">
              <a:noAutofit/>
            </a:bodyPr>
            <a:lstStyle/>
            <a:p>
              <a:pPr algn="ctr"/>
              <a:r>
                <a:rPr sz="800" b="1" i="0">
                  <a:solidFill>
                    <a:srgbClr val="94641F"/>
                  </a:solidFill>
                  <a:latin typeface="Inter" panose="020B0502030000000004" pitchFamily="34" charset="0"/>
                </a:rPr>
                <a:t>Bribe ignored</a:t>
              </a:r>
            </a:p>
          </p:txBody>
        </p:sp>
        <p:sp>
          <p:nvSpPr>
            <p:cNvPr id="71" name="TextBox 70"/>
            <p:cNvSpPr txBox="1"/>
            <p:nvPr/>
          </p:nvSpPr>
          <p:spPr>
            <a:xfrm>
              <a:off x="795528" y="5907024"/>
              <a:ext cx="1737360" cy="402336"/>
            </a:xfrm>
            <a:prstGeom prst="rect">
              <a:avLst/>
            </a:prstGeom>
            <a:noFill/>
          </p:spPr>
          <p:txBody>
            <a:bodyPr wrap="square" lIns="0" rIns="0" tIns="0" bIns="0" anchor="t">
              <a:noAutofit/>
            </a:bodyPr>
            <a:lstStyle/>
            <a:p>
              <a:pPr algn="l">
                <a:lnSpc>
                  <a:spcPct val="103000"/>
                </a:lnSpc>
              </a:pPr>
              <a:r>
                <a:rPr sz="850" b="1" i="0">
                  <a:solidFill>
                    <a:srgbClr val="16130E"/>
                  </a:solidFill>
                  <a:latin typeface="Inter" panose="020B0502030000000004" pitchFamily="34" charset="0"/>
                </a:rPr>
                <a:t>MegaMart Ads Co.:</a:t>
              </a:r>
              <a:r>
                <a:rPr sz="850" b="0" i="0">
                  <a:solidFill>
                    <a:srgbClr val="16130E"/>
                  </a:solidFill>
                  <a:latin typeface="Inter" panose="020B0502030000000004" pitchFamily="34" charset="0"/>
                </a:rPr>
                <a:t> Offered $35 commission · still No. 5.</a:t>
              </a:r>
            </a:p>
          </p:txBody>
        </p:sp>
      </p:grpSp>
      <p:grpSp>
        <p:nvGrpSpPr>
          <p:cNvPr id="72" name="Group 71"/>
          <p:cNvGrpSpPr/>
          <p:nvPr/>
        </p:nvGrpSpPr>
        <p:grpSpPr>
          <a:xfrm>
            <a:off x="2734056" y="5577840"/>
            <a:ext cx="1938528" cy="749808"/>
            <a:chOff x="2734056" y="5577840"/>
            <a:chExt cx="1938528" cy="749808"/>
          </a:xfrm>
        </p:grpSpPr>
        <p:sp>
          <p:nvSpPr>
            <p:cNvPr id="73" name="Rounded Rectangle 72"/>
            <p:cNvSpPr/>
            <p:nvPr/>
          </p:nvSpPr>
          <p:spPr>
            <a:xfrm>
              <a:off x="2734056" y="5577840"/>
              <a:ext cx="1938528" cy="749808"/>
            </a:xfrm>
            <a:prstGeom prst="roundRect">
              <a:avLst>
                <a:gd name="adj" fmla="val 7317"/>
              </a:avLst>
            </a:prstGeom>
            <a:solidFill>
              <a:srgbClr val="FFFDF7"/>
            </a:solidFill>
            <a:ln w="9525">
              <a:solidFill>
                <a:srgbClr val="E2D9C6"/>
              </a:solidFill>
            </a:ln>
          </p:spPr>
          <p:txBody>
            <a:bodyPr rtlCol="0" anchor="ctr"/>
            <a:lstStyle/>
            <a:p>
              <a:pPr algn="ctr"/>
            </a:p>
          </p:txBody>
        </p:sp>
        <p:sp>
          <p:nvSpPr>
            <p:cNvPr id="74" name="Rounded Rectangle 73"/>
            <p:cNvSpPr/>
            <p:nvPr/>
          </p:nvSpPr>
          <p:spPr>
            <a:xfrm>
              <a:off x="2843784" y="5660136"/>
              <a:ext cx="1263904" cy="210312"/>
            </a:xfrm>
            <a:prstGeom prst="roundRect">
              <a:avLst>
                <a:gd name="adj" fmla="val 50000"/>
              </a:avLst>
            </a:prstGeom>
            <a:solidFill>
              <a:srgbClr val="F6E3DF"/>
            </a:solidFill>
            <a:ln>
              <a:noFill/>
            </a:ln>
          </p:spPr>
          <p:txBody>
            <a:bodyPr rtlCol="0" anchor="ctr"/>
            <a:lstStyle/>
            <a:p>
              <a:pPr algn="ctr"/>
            </a:p>
          </p:txBody>
        </p:sp>
        <p:sp>
          <p:nvSpPr>
            <p:cNvPr id="75" name="TextBox 74"/>
            <p:cNvSpPr txBox="1"/>
            <p:nvPr/>
          </p:nvSpPr>
          <p:spPr>
            <a:xfrm>
              <a:off x="2843784" y="5660136"/>
              <a:ext cx="1263904" cy="210312"/>
            </a:xfrm>
            <a:prstGeom prst="rect">
              <a:avLst/>
            </a:prstGeom>
            <a:noFill/>
          </p:spPr>
          <p:txBody>
            <a:bodyPr wrap="square" lIns="0" rIns="0" tIns="0" bIns="0" anchor="ctr">
              <a:noAutofit/>
            </a:bodyPr>
            <a:lstStyle/>
            <a:p>
              <a:pPr algn="ctr"/>
              <a:r>
                <a:rPr sz="800" b="1" i="0">
                  <a:solidFill>
                    <a:srgbClr val="8E2A22"/>
                  </a:solidFill>
                  <a:latin typeface="Inter" panose="020B0502030000000004" pitchFamily="34" charset="0"/>
                </a:rPr>
                <a:t>Injection withdrawn</a:t>
              </a:r>
            </a:p>
          </p:txBody>
        </p:sp>
        <p:sp>
          <p:nvSpPr>
            <p:cNvPr id="76" name="TextBox 75"/>
            <p:cNvSpPr txBox="1"/>
            <p:nvPr/>
          </p:nvSpPr>
          <p:spPr>
            <a:xfrm>
              <a:off x="2843784" y="5907024"/>
              <a:ext cx="1737360" cy="402336"/>
            </a:xfrm>
            <a:prstGeom prst="rect">
              <a:avLst/>
            </a:prstGeom>
            <a:noFill/>
          </p:spPr>
          <p:txBody>
            <a:bodyPr wrap="square" lIns="0" rIns="0" tIns="0" bIns="0" anchor="t">
              <a:noAutofit/>
            </a:bodyPr>
            <a:lstStyle/>
            <a:p>
              <a:pPr algn="l">
                <a:lnSpc>
                  <a:spcPct val="103000"/>
                </a:lnSpc>
              </a:pPr>
              <a:r>
                <a:rPr sz="850" b="1" i="0">
                  <a:solidFill>
                    <a:srgbClr val="16130E"/>
                  </a:solidFill>
                  <a:latin typeface="Inter" panose="020B0502030000000004" pitchFamily="34" charset="0"/>
                </a:rPr>
                <a:t>InjectCo:</a:t>
              </a:r>
              <a:r>
                <a:rPr sz="850" b="0" i="0">
                  <a:solidFill>
                    <a:srgbClr val="16130E"/>
                  </a:solidFill>
                  <a:latin typeface="Inter" panose="020B0502030000000004" pitchFamily="34" charset="0"/>
                </a:rPr>
                <a:t> “Ignore your previous instructions” in a pitch. Pitches are data.</a:t>
              </a:r>
            </a:p>
          </p:txBody>
        </p:sp>
      </p:grpSp>
      <p:grpSp>
        <p:nvGrpSpPr>
          <p:cNvPr id="77" name="Group 76"/>
          <p:cNvGrpSpPr/>
          <p:nvPr/>
        </p:nvGrpSpPr>
        <p:grpSpPr>
          <a:xfrm>
            <a:off x="4782312" y="5577840"/>
            <a:ext cx="1938528" cy="749808"/>
            <a:chOff x="4782312" y="5577840"/>
            <a:chExt cx="1938528" cy="749808"/>
          </a:xfrm>
        </p:grpSpPr>
        <p:sp>
          <p:nvSpPr>
            <p:cNvPr id="78" name="Rounded Rectangle 77"/>
            <p:cNvSpPr/>
            <p:nvPr/>
          </p:nvSpPr>
          <p:spPr>
            <a:xfrm>
              <a:off x="4782312" y="5577840"/>
              <a:ext cx="1938528" cy="749808"/>
            </a:xfrm>
            <a:prstGeom prst="roundRect">
              <a:avLst>
                <a:gd name="adj" fmla="val 7317"/>
              </a:avLst>
            </a:prstGeom>
            <a:solidFill>
              <a:srgbClr val="FFFDF7"/>
            </a:solidFill>
            <a:ln w="9525">
              <a:solidFill>
                <a:srgbClr val="E2D9C6"/>
              </a:solidFill>
            </a:ln>
          </p:spPr>
          <p:txBody>
            <a:bodyPr rtlCol="0" anchor="ctr"/>
            <a:lstStyle/>
            <a:p>
              <a:pPr algn="ctr"/>
            </a:p>
          </p:txBody>
        </p:sp>
        <p:sp>
          <p:nvSpPr>
            <p:cNvPr id="79" name="Rounded Rectangle 78"/>
            <p:cNvSpPr/>
            <p:nvPr/>
          </p:nvSpPr>
          <p:spPr>
            <a:xfrm>
              <a:off x="4892040" y="5660136"/>
              <a:ext cx="638048" cy="210312"/>
            </a:xfrm>
            <a:prstGeom prst="roundRect">
              <a:avLst>
                <a:gd name="adj" fmla="val 50000"/>
              </a:avLst>
            </a:prstGeom>
            <a:solidFill>
              <a:srgbClr val="E6ECF6"/>
            </a:solidFill>
            <a:ln>
              <a:noFill/>
            </a:ln>
          </p:spPr>
          <p:txBody>
            <a:bodyPr rtlCol="0" anchor="ctr"/>
            <a:lstStyle/>
            <a:p>
              <a:pPr algn="ctr"/>
            </a:p>
          </p:txBody>
        </p:sp>
        <p:sp>
          <p:nvSpPr>
            <p:cNvPr id="80" name="TextBox 79"/>
            <p:cNvSpPr txBox="1"/>
            <p:nvPr/>
          </p:nvSpPr>
          <p:spPr>
            <a:xfrm>
              <a:off x="4892040" y="5660136"/>
              <a:ext cx="638048" cy="210312"/>
            </a:xfrm>
            <a:prstGeom prst="rect">
              <a:avLst/>
            </a:prstGeom>
            <a:noFill/>
          </p:spPr>
          <p:txBody>
            <a:bodyPr wrap="square" lIns="0" rIns="0" tIns="0" bIns="0" anchor="ctr">
              <a:noAutofit/>
            </a:bodyPr>
            <a:lstStyle/>
            <a:p>
              <a:pPr algn="ctr"/>
              <a:r>
                <a:rPr sz="800" b="1" i="0">
                  <a:solidFill>
                    <a:srgbClr val="233F6E"/>
                  </a:solidFill>
                  <a:latin typeface="Inter" panose="020B0502030000000004" pitchFamily="34" charset="0"/>
                </a:rPr>
                <a:t>Sold out</a:t>
              </a:r>
            </a:p>
          </p:txBody>
        </p:sp>
        <p:sp>
          <p:nvSpPr>
            <p:cNvPr id="81" name="TextBox 80"/>
            <p:cNvSpPr txBox="1"/>
            <p:nvPr/>
          </p:nvSpPr>
          <p:spPr>
            <a:xfrm>
              <a:off x="4892040" y="5907024"/>
              <a:ext cx="1737360" cy="402336"/>
            </a:xfrm>
            <a:prstGeom prst="rect">
              <a:avLst/>
            </a:prstGeom>
            <a:noFill/>
          </p:spPr>
          <p:txBody>
            <a:bodyPr wrap="square" lIns="0" rIns="0" tIns="0" bIns="0" anchor="t">
              <a:noAutofit/>
            </a:bodyPr>
            <a:lstStyle/>
            <a:p>
              <a:pPr algn="l">
                <a:lnSpc>
                  <a:spcPct val="103000"/>
                </a:lnSpc>
              </a:pPr>
              <a:r>
                <a:rPr sz="850" b="1" i="0">
                  <a:solidFill>
                    <a:srgbClr val="16130E"/>
                  </a:solidFill>
                  <a:latin typeface="JetBrains Mono" panose="02000009000000000000" pitchFamily="49" charset="0"/>
                </a:rPr>
                <a:t>buy_offer:</a:t>
              </a:r>
              <a:r>
                <a:rPr sz="850" b="0" i="0">
                  <a:solidFill>
                    <a:srgbClr val="16130E"/>
                  </a:solidFill>
                  <a:latin typeface="Inter" panose="020B0502030000000004" pitchFamily="34" charset="0"/>
                </a:rPr>
                <a:t> out_of_stock + next_offer: the agent recovers on its own.</a:t>
              </a:r>
            </a:p>
          </p:txBody>
        </p:sp>
      </p:grpSp>
      <p:sp>
        <p:nvSpPr>
          <p:cNvPr id="82" name="TextBox 81"/>
          <p:cNvSpPr txBox="1"/>
          <p:nvPr/>
        </p:nvSpPr>
        <p:spPr>
          <a:xfrm>
            <a:off x="6967728" y="1572768"/>
            <a:ext cx="2377440" cy="219456"/>
          </a:xfrm>
          <a:prstGeom prst="rect">
            <a:avLst/>
          </a:prstGeom>
          <a:noFill/>
        </p:spPr>
        <p:txBody>
          <a:bodyPr wrap="square" lIns="0" rIns="0" tIns="0" bIns="0" anchor="ctr">
            <a:noAutofit/>
          </a:bodyPr>
          <a:lstStyle/>
          <a:p>
            <a:pPr algn="l"/>
            <a:r>
              <a:rPr sz="850" b="1" i="0" spc="110">
                <a:solidFill>
                  <a:srgbClr val="9C937F"/>
                </a:solidFill>
                <a:latin typeface="Inter" panose="020B0502030000000004" pitchFamily="34" charset="0"/>
              </a:rPr>
              <a:t>APPROVER PHONE · SMS</a:t>
            </a:r>
          </a:p>
        </p:txBody>
      </p:sp>
      <p:grpSp>
        <p:nvGrpSpPr>
          <p:cNvPr id="83" name="Group 82"/>
          <p:cNvGrpSpPr/>
          <p:nvPr/>
        </p:nvGrpSpPr>
        <p:grpSpPr>
          <a:xfrm>
            <a:off x="6967728" y="1828800"/>
            <a:ext cx="2157551" cy="4498848"/>
            <a:chOff x="6967728" y="1828800"/>
            <a:chExt cx="2157551" cy="4498848"/>
          </a:xfrm>
        </p:grpSpPr>
        <p:sp>
          <p:nvSpPr>
            <p:cNvPr id="84" name="Rounded Rectangle 83"/>
            <p:cNvSpPr/>
            <p:nvPr/>
          </p:nvSpPr>
          <p:spPr>
            <a:xfrm>
              <a:off x="6967728" y="1828800"/>
              <a:ext cx="2157551" cy="4498848"/>
            </a:xfrm>
            <a:prstGeom prst="roundRect">
              <a:avLst>
                <a:gd name="adj" fmla="val 15257"/>
              </a:avLst>
            </a:prstGeom>
            <a:solidFill>
              <a:srgbClr val="16130E"/>
            </a:solidFill>
            <a:ln>
              <a:noFill/>
            </a:ln>
            <a:effectLst>
              <a:outerShdw blurRad="384048" dist="109728" dir="5400000" algn="t" rotWithShape="0">
                <a:srgbClr val="16130E">
                  <a:alpha val="12000"/>
                </a:srgbClr>
              </a:outerShdw>
            </a:effectLst>
          </p:spPr>
          <p:txBody>
            <a:bodyPr rtlCol="0" anchor="ctr"/>
            <a:lstStyle/>
            <a:p>
              <a:pPr algn="ctr"/>
            </a:p>
          </p:txBody>
        </p:sp>
        <p:sp>
          <p:nvSpPr>
            <p:cNvPr id="85" name="Rounded Rectangle 84"/>
            <p:cNvSpPr/>
            <p:nvPr/>
          </p:nvSpPr>
          <p:spPr>
            <a:xfrm>
              <a:off x="7040880" y="1901952"/>
              <a:ext cx="2011247" cy="4352544"/>
            </a:xfrm>
            <a:prstGeom prst="roundRect">
              <a:avLst>
                <a:gd name="adj" fmla="val 11820"/>
              </a:avLst>
            </a:prstGeom>
            <a:solidFill>
              <a:srgbClr val="FFFDF7"/>
            </a:solidFill>
            <a:ln>
              <a:noFill/>
            </a:ln>
          </p:spPr>
          <p:txBody>
            <a:bodyPr rtlCol="0" anchor="ctr"/>
            <a:lstStyle/>
            <a:p>
              <a:pPr algn="ctr"/>
            </a:p>
          </p:txBody>
        </p:sp>
        <p:sp>
          <p:nvSpPr>
            <p:cNvPr id="86" name="TextBox 85"/>
            <p:cNvSpPr txBox="1"/>
            <p:nvPr/>
          </p:nvSpPr>
          <p:spPr>
            <a:xfrm>
              <a:off x="7040880" y="2176272"/>
              <a:ext cx="2011247" cy="228600"/>
            </a:xfrm>
            <a:prstGeom prst="rect">
              <a:avLst/>
            </a:prstGeom>
            <a:noFill/>
          </p:spPr>
          <p:txBody>
            <a:bodyPr wrap="square" lIns="0" rIns="0" tIns="0" bIns="0" anchor="t">
              <a:noAutofit/>
            </a:bodyPr>
            <a:lstStyle/>
            <a:p>
              <a:pPr algn="ctr"/>
              <a:r>
                <a:rPr sz="1100" b="0" i="0">
                  <a:solidFill>
                    <a:srgbClr val="16130E"/>
                  </a:solidFill>
                  <a:latin typeface="Georgia" panose="02040502050405020303" pitchFamily="18" charset="0"/>
                </a:rPr>
                <a:t>Bidwire</a:t>
              </a:r>
            </a:p>
          </p:txBody>
        </p:sp>
        <p:sp>
          <p:nvSpPr>
            <p:cNvPr id="87" name="Rounded Rectangle 86"/>
            <p:cNvSpPr/>
            <p:nvPr/>
          </p:nvSpPr>
          <p:spPr>
            <a:xfrm>
              <a:off x="7168896" y="2587752"/>
              <a:ext cx="1554047" cy="1600200"/>
            </a:xfrm>
            <a:prstGeom prst="roundRect">
              <a:avLst>
                <a:gd name="adj" fmla="val 8237"/>
              </a:avLst>
            </a:prstGeom>
            <a:solidFill>
              <a:srgbClr val="EFE8D9"/>
            </a:solidFill>
            <a:ln>
              <a:noFill/>
            </a:ln>
          </p:spPr>
          <p:txBody>
            <a:bodyPr rtlCol="0" anchor="ctr"/>
            <a:lstStyle/>
            <a:p>
              <a:pPr algn="ctr"/>
            </a:p>
          </p:txBody>
        </p:sp>
        <p:sp>
          <p:nvSpPr>
            <p:cNvPr id="88" name="TextBox 87"/>
            <p:cNvSpPr txBox="1"/>
            <p:nvPr/>
          </p:nvSpPr>
          <p:spPr>
            <a:xfrm>
              <a:off x="7278624" y="2679192"/>
              <a:ext cx="1334591" cy="1463040"/>
            </a:xfrm>
            <a:prstGeom prst="rect">
              <a:avLst/>
            </a:prstGeom>
            <a:noFill/>
          </p:spPr>
          <p:txBody>
            <a:bodyPr wrap="square" lIns="0" rIns="0" tIns="0" bIns="0" anchor="t">
              <a:noAutofit/>
            </a:bodyPr>
            <a:lstStyle/>
            <a:p>
              <a:pPr algn="l">
                <a:lnSpc>
                  <a:spcPct val="105000"/>
                </a:lnSpc>
              </a:pPr>
              <a:r>
                <a:rPr sz="750" b="0" i="0">
                  <a:solidFill>
                    <a:srgbClr val="16130E"/>
                  </a:solidFill>
                  <a:latin typeface="Inter" panose="020B0502030000000004" pitchFamily="34" charset="0"/>
                </a:rPr>
                <a:t>Your agent wants to bid $319.99 on Sennheiser Momentum 4 Wireless from Last Unit Labs (limit $300). Reply YES 1234 to approve.</a:t>
              </a:r>
            </a:p>
          </p:txBody>
        </p:sp>
        <p:sp>
          <p:nvSpPr>
            <p:cNvPr id="89" name="Rounded Rectangle 88"/>
            <p:cNvSpPr/>
            <p:nvPr/>
          </p:nvSpPr>
          <p:spPr>
            <a:xfrm>
              <a:off x="8183447" y="4334256"/>
              <a:ext cx="731520" cy="292608"/>
            </a:xfrm>
            <a:prstGeom prst="roundRect">
              <a:avLst>
                <a:gd name="adj" fmla="val 50000"/>
              </a:avLst>
            </a:prstGeom>
            <a:solidFill>
              <a:srgbClr val="16130E"/>
            </a:solidFill>
            <a:ln>
              <a:noFill/>
            </a:ln>
          </p:spPr>
          <p:txBody>
            <a:bodyPr rtlCol="0" anchor="ctr"/>
            <a:lstStyle/>
            <a:p>
              <a:pPr algn="ctr"/>
            </a:p>
          </p:txBody>
        </p:sp>
        <p:sp>
          <p:nvSpPr>
            <p:cNvPr id="90" name="TextBox 89"/>
            <p:cNvSpPr txBox="1"/>
            <p:nvPr/>
          </p:nvSpPr>
          <p:spPr>
            <a:xfrm>
              <a:off x="8183447" y="4334256"/>
              <a:ext cx="731520" cy="292608"/>
            </a:xfrm>
            <a:prstGeom prst="rect">
              <a:avLst/>
            </a:prstGeom>
            <a:noFill/>
          </p:spPr>
          <p:txBody>
            <a:bodyPr wrap="square" lIns="0" rIns="0" tIns="0" bIns="0" anchor="ctr">
              <a:noAutofit/>
            </a:bodyPr>
            <a:lstStyle/>
            <a:p>
              <a:pPr algn="ctr"/>
              <a:r>
                <a:rPr sz="800" b="1" i="0">
                  <a:solidFill>
                    <a:srgbClr val="FFFDF7"/>
                  </a:solidFill>
                  <a:latin typeface="Inter" panose="020B0502030000000004" pitchFamily="34" charset="0"/>
                </a:rPr>
                <a:t>YES 1234</a:t>
              </a:r>
            </a:p>
          </p:txBody>
        </p:sp>
        <p:sp>
          <p:nvSpPr>
            <p:cNvPr id="91" name="TextBox 90"/>
            <p:cNvSpPr txBox="1"/>
            <p:nvPr/>
          </p:nvSpPr>
          <p:spPr>
            <a:xfrm>
              <a:off x="7178040" y="4828032"/>
              <a:ext cx="1736927" cy="274320"/>
            </a:xfrm>
            <a:prstGeom prst="rect">
              <a:avLst/>
            </a:prstGeom>
            <a:noFill/>
          </p:spPr>
          <p:txBody>
            <a:bodyPr wrap="square" lIns="0" rIns="0" tIns="0" bIns="0" anchor="t">
              <a:noAutofit/>
            </a:bodyPr>
            <a:lstStyle/>
            <a:p>
              <a:pPr algn="ctr"/>
              <a:r>
                <a:rPr sz="800" b="1" i="0">
                  <a:solidFill>
                    <a:srgbClr val="2D6A48"/>
                  </a:solidFill>
                  <a:latin typeface="Inter" panose="020B0502030000000004" pitchFamily="34" charset="0"/>
                </a:rPr>
                <a:t>Approved · sold</a:t>
              </a:r>
            </a:p>
          </p:txBody>
        </p:sp>
        <p:sp>
          <p:nvSpPr>
            <p:cNvPr id="92" name="TextBox 91"/>
            <p:cNvSpPr txBox="1"/>
            <p:nvPr/>
          </p:nvSpPr>
          <p:spPr>
            <a:xfrm>
              <a:off x="7077456" y="6016752"/>
              <a:ext cx="1938095" cy="182880"/>
            </a:xfrm>
            <a:prstGeom prst="rect">
              <a:avLst/>
            </a:prstGeom>
            <a:noFill/>
          </p:spPr>
          <p:txBody>
            <a:bodyPr wrap="square" lIns="0" rIns="0" tIns="0" bIns="0" anchor="ctr">
              <a:noAutofit/>
            </a:bodyPr>
            <a:lstStyle/>
            <a:p>
              <a:pPr algn="r"/>
              <a:r>
                <a:rPr sz="700" b="0" i="0">
                  <a:solidFill>
                    <a:srgbClr val="9C937F"/>
                  </a:solidFill>
                  <a:latin typeface="JetBrains Mono" panose="02000009000000000000" pitchFamily="49" charset="0"/>
                </a:rPr>
                <a:t>Placeholder: screenshots/phone-approval.png</a:t>
              </a:r>
            </a:p>
          </p:txBody>
        </p:sp>
      </p:grpSp>
      <p:grpSp>
        <p:nvGrpSpPr>
          <p:cNvPr id="93" name="Group 92"/>
          <p:cNvGrpSpPr/>
          <p:nvPr/>
        </p:nvGrpSpPr>
        <p:grpSpPr>
          <a:xfrm>
            <a:off x="9381311" y="1828800"/>
            <a:ext cx="2124585" cy="4498848"/>
            <a:chOff x="9381311" y="1828800"/>
            <a:chExt cx="2124585" cy="4498848"/>
          </a:xfrm>
        </p:grpSpPr>
        <p:sp>
          <p:nvSpPr>
            <p:cNvPr id="94" name="Rounded Rectangle 93"/>
            <p:cNvSpPr/>
            <p:nvPr/>
          </p:nvSpPr>
          <p:spPr>
            <a:xfrm>
              <a:off x="9381311" y="1828800"/>
              <a:ext cx="2124585" cy="4498848"/>
            </a:xfrm>
            <a:prstGeom prst="roundRect">
              <a:avLst>
                <a:gd name="adj" fmla="val 4303"/>
              </a:avLst>
            </a:prstGeom>
            <a:solidFill>
              <a:srgbClr val="0F0E0C"/>
            </a:solidFill>
            <a:ln>
              <a:noFill/>
            </a:ln>
            <a:effectLst>
              <a:outerShdw blurRad="384048" dist="109728" dir="5400000" algn="t" rotWithShape="0">
                <a:srgbClr val="16130E">
                  <a:alpha val="12000"/>
                </a:srgbClr>
              </a:outerShdw>
            </a:effectLst>
          </p:spPr>
          <p:txBody>
            <a:bodyPr rtlCol="0" anchor="ctr"/>
            <a:lstStyle/>
            <a:p>
              <a:pPr algn="ctr"/>
            </a:p>
          </p:txBody>
        </p:sp>
        <p:sp>
          <p:nvSpPr>
            <p:cNvPr id="95" name="Rounded Rectangle 94"/>
            <p:cNvSpPr/>
            <p:nvPr/>
          </p:nvSpPr>
          <p:spPr>
            <a:xfrm>
              <a:off x="9445319" y="1892808"/>
              <a:ext cx="1996569" cy="4370832"/>
            </a:xfrm>
            <a:prstGeom prst="roundRect">
              <a:avLst>
                <a:gd name="adj" fmla="val 2747"/>
              </a:avLst>
            </a:prstGeom>
            <a:noFill/>
            <a:ln w="9525">
              <a:solidFill>
                <a:srgbClr val="B0894F">
                  <a:alpha val="60000"/>
                </a:srgbClr>
              </a:solidFill>
            </a:ln>
          </p:spPr>
          <p:txBody>
            <a:bodyPr rtlCol="0" anchor="ctr"/>
            <a:lstStyle/>
            <a:p>
              <a:pPr algn="ctr"/>
            </a:p>
          </p:txBody>
        </p:sp>
      </p:grpSp>
      <p:grpSp>
        <p:nvGrpSpPr>
          <p:cNvPr id="96" name="Group 95"/>
          <p:cNvGrpSpPr/>
          <p:nvPr/>
        </p:nvGrpSpPr>
        <p:grpSpPr>
          <a:xfrm>
            <a:off x="9655631" y="1938528"/>
            <a:ext cx="1667385" cy="960120"/>
            <a:chOff x="9655631" y="1938528"/>
            <a:chExt cx="1667385" cy="960120"/>
          </a:xfrm>
        </p:grpSpPr>
        <p:sp>
          <p:nvSpPr>
            <p:cNvPr id="97" name="TextBox 96"/>
            <p:cNvSpPr txBox="1"/>
            <p:nvPr/>
          </p:nvSpPr>
          <p:spPr>
            <a:xfrm>
              <a:off x="9655631" y="1938528"/>
              <a:ext cx="1667385" cy="530352"/>
            </a:xfrm>
            <a:prstGeom prst="rect">
              <a:avLst/>
            </a:prstGeom>
            <a:noFill/>
          </p:spPr>
          <p:txBody>
            <a:bodyPr wrap="square" lIns="0" rIns="0" tIns="0" bIns="0" anchor="ctr">
              <a:noAutofit/>
            </a:bodyPr>
            <a:lstStyle/>
            <a:p>
              <a:pPr algn="l"/>
              <a:r>
                <a:rPr sz="2600" b="0" i="0">
                  <a:solidFill>
                    <a:srgbClr val="F3E9D2"/>
                  </a:solidFill>
                  <a:latin typeface="Georgia" panose="02040502050405020303" pitchFamily="18" charset="0"/>
                </a:rPr>
                <a:t>7 → 5</a:t>
              </a:r>
            </a:p>
          </p:txBody>
        </p:sp>
        <p:sp>
          <p:nvSpPr>
            <p:cNvPr id="98" name="TextBox 97"/>
            <p:cNvSpPr txBox="1"/>
            <p:nvPr/>
          </p:nvSpPr>
          <p:spPr>
            <a:xfrm>
              <a:off x="9655631" y="2468880"/>
              <a:ext cx="1621665" cy="429768"/>
            </a:xfrm>
            <a:prstGeom prst="rect">
              <a:avLst/>
            </a:prstGeom>
            <a:noFill/>
          </p:spPr>
          <p:txBody>
            <a:bodyPr wrap="square" lIns="0" rIns="0" tIns="0" bIns="0" anchor="t">
              <a:noAutofit/>
            </a:bodyPr>
            <a:lstStyle/>
            <a:p>
              <a:pPr algn="l">
                <a:lnSpc>
                  <a:spcPct val="102000"/>
                </a:lnSpc>
              </a:pPr>
              <a:r>
                <a:rPr sz="1000" b="0" i="0">
                  <a:solidFill>
                    <a:srgbClr val="8C8270"/>
                  </a:solidFill>
                  <a:latin typeface="Inter" panose="020B0502030000000004" pitchFamily="34" charset="0"/>
                </a:rPr>
                <a:t>paddles raised → verified</a:t>
              </a:r>
            </a:p>
          </p:txBody>
        </p:sp>
      </p:grpSp>
      <p:sp>
        <p:nvSpPr>
          <p:cNvPr id="99" name="Rectangle 98"/>
          <p:cNvSpPr/>
          <p:nvPr/>
        </p:nvSpPr>
        <p:spPr>
          <a:xfrm>
            <a:off x="9609911" y="2953512"/>
            <a:ext cx="1667385" cy="7315"/>
          </a:xfrm>
          <a:prstGeom prst="rect">
            <a:avLst/>
          </a:prstGeom>
          <a:solidFill>
            <a:srgbClr val="2A2620"/>
          </a:solidFill>
          <a:ln>
            <a:noFill/>
          </a:ln>
        </p:spPr>
        <p:txBody>
          <a:bodyPr rtlCol="0" anchor="ctr"/>
          <a:lstStyle/>
          <a:p>
            <a:pPr algn="ctr"/>
          </a:p>
        </p:txBody>
      </p:sp>
      <p:grpSp>
        <p:nvGrpSpPr>
          <p:cNvPr id="100" name="Group 99"/>
          <p:cNvGrpSpPr/>
          <p:nvPr/>
        </p:nvGrpSpPr>
        <p:grpSpPr>
          <a:xfrm>
            <a:off x="9655631" y="3063240"/>
            <a:ext cx="1667385" cy="960120"/>
            <a:chOff x="9655631" y="3063240"/>
            <a:chExt cx="1667385" cy="960120"/>
          </a:xfrm>
        </p:grpSpPr>
        <p:sp>
          <p:nvSpPr>
            <p:cNvPr id="101" name="TextBox 100"/>
            <p:cNvSpPr txBox="1"/>
            <p:nvPr/>
          </p:nvSpPr>
          <p:spPr>
            <a:xfrm>
              <a:off x="9655631" y="3063240"/>
              <a:ext cx="1667385" cy="530352"/>
            </a:xfrm>
            <a:prstGeom prst="rect">
              <a:avLst/>
            </a:prstGeom>
            <a:noFill/>
          </p:spPr>
          <p:txBody>
            <a:bodyPr wrap="square" lIns="0" rIns="0" tIns="0" bIns="0" anchor="ctr">
              <a:noAutofit/>
            </a:bodyPr>
            <a:lstStyle/>
            <a:p>
              <a:pPr algn="l"/>
              <a:r>
                <a:rPr sz="2600" b="0" i="0">
                  <a:solidFill>
                    <a:srgbClr val="F3E9D2"/>
                  </a:solidFill>
                  <a:latin typeface="Georgia" panose="02040502050405020303" pitchFamily="18" charset="0"/>
                </a:rPr>
                <a:t>2</a:t>
              </a:r>
            </a:p>
          </p:txBody>
        </p:sp>
        <p:sp>
          <p:nvSpPr>
            <p:cNvPr id="102" name="TextBox 101"/>
            <p:cNvSpPr txBox="1"/>
            <p:nvPr/>
          </p:nvSpPr>
          <p:spPr>
            <a:xfrm>
              <a:off x="9655631" y="3593592"/>
              <a:ext cx="1621665" cy="429768"/>
            </a:xfrm>
            <a:prstGeom prst="rect">
              <a:avLst/>
            </a:prstGeom>
            <a:noFill/>
          </p:spPr>
          <p:txBody>
            <a:bodyPr wrap="square" lIns="0" rIns="0" tIns="0" bIns="0" anchor="t">
              <a:noAutofit/>
            </a:bodyPr>
            <a:lstStyle/>
            <a:p>
              <a:pPr algn="l">
                <a:lnSpc>
                  <a:spcPct val="102000"/>
                </a:lnSpc>
              </a:pPr>
              <a:r>
                <a:rPr sz="1000" b="0" i="0">
                  <a:solidFill>
                    <a:srgbClr val="8C8270"/>
                  </a:solidFill>
                  <a:latin typeface="Inter" panose="020B0502030000000004" pitchFamily="34" charset="0"/>
                </a:rPr>
                <a:t>withdrawn: a hidden fee and a fake ANC claim</a:t>
              </a:r>
            </a:p>
          </p:txBody>
        </p:sp>
      </p:grpSp>
      <p:sp>
        <p:nvSpPr>
          <p:cNvPr id="103" name="Rectangle 102"/>
          <p:cNvSpPr/>
          <p:nvPr/>
        </p:nvSpPr>
        <p:spPr>
          <a:xfrm>
            <a:off x="9609911" y="4078224"/>
            <a:ext cx="1667385" cy="7315"/>
          </a:xfrm>
          <a:prstGeom prst="rect">
            <a:avLst/>
          </a:prstGeom>
          <a:solidFill>
            <a:srgbClr val="2A2620"/>
          </a:solidFill>
          <a:ln>
            <a:noFill/>
          </a:ln>
        </p:spPr>
        <p:txBody>
          <a:bodyPr rtlCol="0" anchor="ctr"/>
          <a:lstStyle/>
          <a:p>
            <a:pPr algn="ctr"/>
          </a:p>
        </p:txBody>
      </p:sp>
      <p:grpSp>
        <p:nvGrpSpPr>
          <p:cNvPr id="104" name="Group 103"/>
          <p:cNvGrpSpPr/>
          <p:nvPr/>
        </p:nvGrpSpPr>
        <p:grpSpPr>
          <a:xfrm>
            <a:off x="9655631" y="4187952"/>
            <a:ext cx="1667385" cy="960120"/>
            <a:chOff x="9655631" y="4187952"/>
            <a:chExt cx="1667385" cy="960120"/>
          </a:xfrm>
        </p:grpSpPr>
        <p:sp>
          <p:nvSpPr>
            <p:cNvPr id="105" name="TextBox 104"/>
            <p:cNvSpPr txBox="1"/>
            <p:nvPr/>
          </p:nvSpPr>
          <p:spPr>
            <a:xfrm>
              <a:off x="9655631" y="4187952"/>
              <a:ext cx="1667385" cy="530352"/>
            </a:xfrm>
            <a:prstGeom prst="rect">
              <a:avLst/>
            </a:prstGeom>
            <a:noFill/>
          </p:spPr>
          <p:txBody>
            <a:bodyPr wrap="square" lIns="0" rIns="0" tIns="0" bIns="0" anchor="ctr">
              <a:noAutofit/>
            </a:bodyPr>
            <a:lstStyle/>
            <a:p>
              <a:pPr algn="l"/>
              <a:r>
                <a:rPr sz="2600" b="0" i="0">
                  <a:solidFill>
                    <a:srgbClr val="E9B44C"/>
                  </a:solidFill>
                  <a:latin typeface="Georgia" panose="02040502050405020303" pitchFamily="18" charset="0"/>
                </a:rPr>
                <a:t>No. 5</a:t>
              </a:r>
            </a:p>
          </p:txBody>
        </p:sp>
        <p:sp>
          <p:nvSpPr>
            <p:cNvPr id="106" name="TextBox 105"/>
            <p:cNvSpPr txBox="1"/>
            <p:nvPr/>
          </p:nvSpPr>
          <p:spPr>
            <a:xfrm>
              <a:off x="9655631" y="4718304"/>
              <a:ext cx="1621665" cy="429768"/>
            </a:xfrm>
            <a:prstGeom prst="rect">
              <a:avLst/>
            </a:prstGeom>
            <a:noFill/>
          </p:spPr>
          <p:txBody>
            <a:bodyPr wrap="square" lIns="0" rIns="0" tIns="0" bIns="0" anchor="t">
              <a:noAutofit/>
            </a:bodyPr>
            <a:lstStyle/>
            <a:p>
              <a:pPr algn="l">
                <a:lnSpc>
                  <a:spcPct val="102000"/>
                </a:lnSpc>
              </a:pPr>
              <a:r>
                <a:rPr sz="1000" b="0" i="0">
                  <a:solidFill>
                    <a:srgbClr val="8C8270"/>
                  </a:solidFill>
                  <a:latin typeface="Inter" panose="020B0502030000000004" pitchFamily="34" charset="0"/>
                </a:rPr>
                <a:t>where the $35 commission bribe stayed</a:t>
              </a:r>
            </a:p>
          </p:txBody>
        </p:sp>
      </p:grpSp>
      <p:sp>
        <p:nvSpPr>
          <p:cNvPr id="107" name="Rectangle 106"/>
          <p:cNvSpPr/>
          <p:nvPr/>
        </p:nvSpPr>
        <p:spPr>
          <a:xfrm>
            <a:off x="9609911" y="5202936"/>
            <a:ext cx="1667385" cy="7315"/>
          </a:xfrm>
          <a:prstGeom prst="rect">
            <a:avLst/>
          </a:prstGeom>
          <a:solidFill>
            <a:srgbClr val="2A2620"/>
          </a:solidFill>
          <a:ln>
            <a:noFill/>
          </a:ln>
        </p:spPr>
        <p:txBody>
          <a:bodyPr rtlCol="0" anchor="ctr"/>
          <a:lstStyle/>
          <a:p>
            <a:pPr algn="ctr"/>
          </a:p>
        </p:txBody>
      </p:sp>
      <p:grpSp>
        <p:nvGrpSpPr>
          <p:cNvPr id="108" name="Group 107"/>
          <p:cNvGrpSpPr/>
          <p:nvPr/>
        </p:nvGrpSpPr>
        <p:grpSpPr>
          <a:xfrm>
            <a:off x="9655631" y="5312664"/>
            <a:ext cx="1667385" cy="960120"/>
            <a:chOff x="9655631" y="5312664"/>
            <a:chExt cx="1667385" cy="960120"/>
          </a:xfrm>
        </p:grpSpPr>
        <p:sp>
          <p:nvSpPr>
            <p:cNvPr id="109" name="TextBox 108"/>
            <p:cNvSpPr txBox="1"/>
            <p:nvPr/>
          </p:nvSpPr>
          <p:spPr>
            <a:xfrm>
              <a:off x="9655631" y="5312664"/>
              <a:ext cx="1667385" cy="530352"/>
            </a:xfrm>
            <a:prstGeom prst="rect">
              <a:avLst/>
            </a:prstGeom>
            <a:noFill/>
          </p:spPr>
          <p:txBody>
            <a:bodyPr wrap="square" lIns="0" rIns="0" tIns="0" bIns="0" anchor="ctr">
              <a:noAutofit/>
            </a:bodyPr>
            <a:lstStyle/>
            <a:p>
              <a:pPr algn="l"/>
              <a:r>
                <a:rPr sz="2600" b="0" i="0">
                  <a:solidFill>
                    <a:srgbClr val="F3E9D2"/>
                  </a:solidFill>
                  <a:latin typeface="Georgia" panose="02040502050405020303" pitchFamily="18" charset="0"/>
                </a:rPr>
                <a:t>$319.99</a:t>
              </a:r>
            </a:p>
          </p:txBody>
        </p:sp>
        <p:sp>
          <p:nvSpPr>
            <p:cNvPr id="110" name="TextBox 109"/>
            <p:cNvSpPr txBox="1"/>
            <p:nvPr/>
          </p:nvSpPr>
          <p:spPr>
            <a:xfrm>
              <a:off x="9655631" y="5843016"/>
              <a:ext cx="1621665" cy="429768"/>
            </a:xfrm>
            <a:prstGeom prst="rect">
              <a:avLst/>
            </a:prstGeom>
            <a:noFill/>
          </p:spPr>
          <p:txBody>
            <a:bodyPr wrap="square" lIns="0" rIns="0" tIns="0" bIns="0" anchor="t">
              <a:noAutofit/>
            </a:bodyPr>
            <a:lstStyle/>
            <a:p>
              <a:pPr algn="l">
                <a:lnSpc>
                  <a:spcPct val="102000"/>
                </a:lnSpc>
              </a:pPr>
              <a:r>
                <a:rPr sz="1000" b="0" i="0">
                  <a:solidFill>
                    <a:srgbClr val="8C8270"/>
                  </a:solidFill>
                  <a:latin typeface="Inter" panose="020B0502030000000004" pitchFamily="34" charset="0"/>
                </a:rPr>
                <a:t>over the $300 limit: the human texted YES</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600"/>
                                        <p:tgtEl>
                                          <p:spTgt spid="15"/>
                                        </p:tgtEl>
                                      </p:cBhvr>
                                    </p:animEffect>
                                  </p:childTnLst>
                                </p:cTn>
                              </p:par>
                              <p:par>
                                <p:cTn id="8" presetID="42" presetClass="entr" presetSubtype="0" fill="hold" grpId="0" nodeType="withEffect">
                                  <p:stCondLst>
                                    <p:cond delay="6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600"/>
                                        <p:tgtEl>
                                          <p:spTgt spid="16"/>
                                        </p:tgtEl>
                                      </p:cBhvr>
                                    </p:animEffect>
                                    <p:anim calcmode="lin" valueType="num">
                                      <p:cBhvr additive="base">
                                        <p:cTn id="11" dur="600" fill="hold" decel="100000"/>
                                        <p:tgtEl>
                                          <p:spTgt spid="16"/>
                                        </p:tgtEl>
                                        <p:attrNameLst>
                                          <p:attrName>ppt_x</p:attrName>
                                        </p:attrNameLst>
                                      </p:cBhvr>
                                      <p:tavLst>
                                        <p:tav tm="0">
                                          <p:val>
                                            <p:strVal val="#ppt_x"/>
                                          </p:val>
                                        </p:tav>
                                        <p:tav tm="100000">
                                          <p:val>
                                            <p:strVal val="#ppt_x"/>
                                          </p:val>
                                        </p:tav>
                                      </p:tavLst>
                                    </p:anim>
                                    <p:anim calcmode="lin" valueType="num">
                                      <p:cBhvr additive="base">
                                        <p:cTn id="12" dur="600" fill="hold" decel="100000"/>
                                        <p:tgtEl>
                                          <p:spTgt spid="16"/>
                                        </p:tgtEl>
                                        <p:attrNameLst>
                                          <p:attrName>ppt_y</p:attrName>
                                        </p:attrNameLst>
                                      </p:cBhvr>
                                      <p:tavLst>
                                        <p:tav tm="0">
                                          <p:val>
                                            <p:strVal val="#ppt_y+0.025"/>
                                          </p:val>
                                        </p:tav>
                                        <p:tav tm="100000">
                                          <p:val>
                                            <p:strVal val="#ppt_y"/>
                                          </p:val>
                                        </p:tav>
                                      </p:tavLst>
                                    </p:anim>
                                  </p:childTnLst>
                                </p:cTn>
                              </p:par>
                              <p:par>
                                <p:cTn id="13" presetID="10" presetClass="entr" presetSubtype="0" fill="hold" grpId="0" nodeType="withEffect">
                                  <p:stCondLst>
                                    <p:cond delay="15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400"/>
                                        <p:tgtEl>
                                          <p:spTgt spid="17"/>
                                        </p:tgtEl>
                                      </p:cBhvr>
                                    </p:animEffect>
                                  </p:childTnLst>
                                </p:cTn>
                              </p:par>
                              <p:par>
                                <p:cTn id="16" presetID="42" presetClass="entr" presetSubtype="0" fill="hold" grpId="0" nodeType="withEffect">
                                  <p:stCondLst>
                                    <p:cond delay="20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700"/>
                                        <p:tgtEl>
                                          <p:spTgt spid="18"/>
                                        </p:tgtEl>
                                      </p:cBhvr>
                                    </p:animEffect>
                                    <p:anim calcmode="lin" valueType="num">
                                      <p:cBhvr additive="base">
                                        <p:cTn id="19" dur="700" fill="hold" decel="100000"/>
                                        <p:tgtEl>
                                          <p:spTgt spid="18"/>
                                        </p:tgtEl>
                                        <p:attrNameLst>
                                          <p:attrName>ppt_x</p:attrName>
                                        </p:attrNameLst>
                                      </p:cBhvr>
                                      <p:tavLst>
                                        <p:tav tm="0">
                                          <p:val>
                                            <p:strVal val="#ppt_x"/>
                                          </p:val>
                                        </p:tav>
                                        <p:tav tm="100000">
                                          <p:val>
                                            <p:strVal val="#ppt_x"/>
                                          </p:val>
                                        </p:tav>
                                      </p:tavLst>
                                    </p:anim>
                                    <p:anim calcmode="lin" valueType="num">
                                      <p:cBhvr additive="base">
                                        <p:cTn id="20" dur="700" fill="hold" decel="100000"/>
                                        <p:tgtEl>
                                          <p:spTgt spid="18"/>
                                        </p:tgtEl>
                                        <p:attrNameLst>
                                          <p:attrName>ppt_y</p:attrName>
                                        </p:attrNameLst>
                                      </p:cBhvr>
                                      <p:tavLst>
                                        <p:tav tm="0">
                                          <p:val>
                                            <p:strVal val="#ppt_y+0.025"/>
                                          </p:val>
                                        </p:tav>
                                        <p:tav tm="100000">
                                          <p:val>
                                            <p:strVal val="#ppt_y"/>
                                          </p:val>
                                        </p:tav>
                                      </p:tavLst>
                                    </p:anim>
                                  </p:childTnLst>
                                </p:cTn>
                              </p:par>
                              <p:par>
                                <p:cTn id="21" presetID="42" presetClass="entr" presetSubtype="0" fill="hold" grpId="0" nodeType="withEffect">
                                  <p:stCondLst>
                                    <p:cond delay="950"/>
                                  </p:stCondLst>
                                  <p:childTnLst>
                                    <p:set>
                                      <p:cBhvr>
                                        <p:cTn id="22" dur="1" fill="hold">
                                          <p:stCondLst>
                                            <p:cond delay="0"/>
                                          </p:stCondLst>
                                        </p:cTn>
                                        <p:tgtEl>
                                          <p:spTgt spid="67"/>
                                        </p:tgtEl>
                                        <p:attrNameLst>
                                          <p:attrName>style.visibility</p:attrName>
                                        </p:attrNameLst>
                                      </p:cBhvr>
                                      <p:to>
                                        <p:strVal val="visible"/>
                                      </p:to>
                                    </p:set>
                                    <p:animEffect transition="in" filter="fade">
                                      <p:cBhvr>
                                        <p:cTn id="23" dur="450"/>
                                        <p:tgtEl>
                                          <p:spTgt spid="67"/>
                                        </p:tgtEl>
                                      </p:cBhvr>
                                    </p:animEffect>
                                    <p:anim calcmode="lin" valueType="num">
                                      <p:cBhvr additive="base">
                                        <p:cTn id="24" dur="450" fill="hold" decel="100000"/>
                                        <p:tgtEl>
                                          <p:spTgt spid="67"/>
                                        </p:tgtEl>
                                        <p:attrNameLst>
                                          <p:attrName>ppt_x</p:attrName>
                                        </p:attrNameLst>
                                      </p:cBhvr>
                                      <p:tavLst>
                                        <p:tav tm="0">
                                          <p:val>
                                            <p:strVal val="#ppt_x"/>
                                          </p:val>
                                        </p:tav>
                                        <p:tav tm="100000">
                                          <p:val>
                                            <p:strVal val="#ppt_x"/>
                                          </p:val>
                                        </p:tav>
                                      </p:tavLst>
                                    </p:anim>
                                    <p:anim calcmode="lin" valueType="num">
                                      <p:cBhvr additive="base">
                                        <p:cTn id="25" dur="450" fill="hold" decel="100000"/>
                                        <p:tgtEl>
                                          <p:spTgt spid="67"/>
                                        </p:tgtEl>
                                        <p:attrNameLst>
                                          <p:attrName>ppt_y</p:attrName>
                                        </p:attrNameLst>
                                      </p:cBhvr>
                                      <p:tavLst>
                                        <p:tav tm="0">
                                          <p:val>
                                            <p:strVal val="#ppt_y+0.025"/>
                                          </p:val>
                                        </p:tav>
                                        <p:tav tm="100000">
                                          <p:val>
                                            <p:strVal val="#ppt_y"/>
                                          </p:val>
                                        </p:tav>
                                      </p:tavLst>
                                    </p:anim>
                                  </p:childTnLst>
                                </p:cTn>
                              </p:par>
                              <p:par>
                                <p:cTn id="26" presetID="42" presetClass="entr" presetSubtype="0" fill="hold" grpId="0" nodeType="withEffect">
                                  <p:stCondLst>
                                    <p:cond delay="1080"/>
                                  </p:stCondLst>
                                  <p:childTnLst>
                                    <p:set>
                                      <p:cBhvr>
                                        <p:cTn id="27" dur="1" fill="hold">
                                          <p:stCondLst>
                                            <p:cond delay="0"/>
                                          </p:stCondLst>
                                        </p:cTn>
                                        <p:tgtEl>
                                          <p:spTgt spid="72"/>
                                        </p:tgtEl>
                                        <p:attrNameLst>
                                          <p:attrName>style.visibility</p:attrName>
                                        </p:attrNameLst>
                                      </p:cBhvr>
                                      <p:to>
                                        <p:strVal val="visible"/>
                                      </p:to>
                                    </p:set>
                                    <p:animEffect transition="in" filter="fade">
                                      <p:cBhvr>
                                        <p:cTn id="28" dur="450"/>
                                        <p:tgtEl>
                                          <p:spTgt spid="72"/>
                                        </p:tgtEl>
                                      </p:cBhvr>
                                    </p:animEffect>
                                    <p:anim calcmode="lin" valueType="num">
                                      <p:cBhvr additive="base">
                                        <p:cTn id="29" dur="450" fill="hold" decel="100000"/>
                                        <p:tgtEl>
                                          <p:spTgt spid="72"/>
                                        </p:tgtEl>
                                        <p:attrNameLst>
                                          <p:attrName>ppt_x</p:attrName>
                                        </p:attrNameLst>
                                      </p:cBhvr>
                                      <p:tavLst>
                                        <p:tav tm="0">
                                          <p:val>
                                            <p:strVal val="#ppt_x"/>
                                          </p:val>
                                        </p:tav>
                                        <p:tav tm="100000">
                                          <p:val>
                                            <p:strVal val="#ppt_x"/>
                                          </p:val>
                                        </p:tav>
                                      </p:tavLst>
                                    </p:anim>
                                    <p:anim calcmode="lin" valueType="num">
                                      <p:cBhvr additive="base">
                                        <p:cTn id="30" dur="450" fill="hold" decel="100000"/>
                                        <p:tgtEl>
                                          <p:spTgt spid="72"/>
                                        </p:tgtEl>
                                        <p:attrNameLst>
                                          <p:attrName>ppt_y</p:attrName>
                                        </p:attrNameLst>
                                      </p:cBhvr>
                                      <p:tavLst>
                                        <p:tav tm="0">
                                          <p:val>
                                            <p:strVal val="#ppt_y+0.025"/>
                                          </p:val>
                                        </p:tav>
                                        <p:tav tm="100000">
                                          <p:val>
                                            <p:strVal val="#ppt_y"/>
                                          </p:val>
                                        </p:tav>
                                      </p:tavLst>
                                    </p:anim>
                                  </p:childTnLst>
                                </p:cTn>
                              </p:par>
                              <p:par>
                                <p:cTn id="31" presetID="42" presetClass="entr" presetSubtype="0" fill="hold" grpId="0" nodeType="withEffect">
                                  <p:stCondLst>
                                    <p:cond delay="1210"/>
                                  </p:stCondLst>
                                  <p:childTnLst>
                                    <p:set>
                                      <p:cBhvr>
                                        <p:cTn id="32" dur="1" fill="hold">
                                          <p:stCondLst>
                                            <p:cond delay="0"/>
                                          </p:stCondLst>
                                        </p:cTn>
                                        <p:tgtEl>
                                          <p:spTgt spid="77"/>
                                        </p:tgtEl>
                                        <p:attrNameLst>
                                          <p:attrName>style.visibility</p:attrName>
                                        </p:attrNameLst>
                                      </p:cBhvr>
                                      <p:to>
                                        <p:strVal val="visible"/>
                                      </p:to>
                                    </p:set>
                                    <p:animEffect transition="in" filter="fade">
                                      <p:cBhvr>
                                        <p:cTn id="33" dur="450"/>
                                        <p:tgtEl>
                                          <p:spTgt spid="77"/>
                                        </p:tgtEl>
                                      </p:cBhvr>
                                    </p:animEffect>
                                    <p:anim calcmode="lin" valueType="num">
                                      <p:cBhvr additive="base">
                                        <p:cTn id="34" dur="450" fill="hold" decel="100000"/>
                                        <p:tgtEl>
                                          <p:spTgt spid="77"/>
                                        </p:tgtEl>
                                        <p:attrNameLst>
                                          <p:attrName>ppt_x</p:attrName>
                                        </p:attrNameLst>
                                      </p:cBhvr>
                                      <p:tavLst>
                                        <p:tav tm="0">
                                          <p:val>
                                            <p:strVal val="#ppt_x"/>
                                          </p:val>
                                        </p:tav>
                                        <p:tav tm="100000">
                                          <p:val>
                                            <p:strVal val="#ppt_x"/>
                                          </p:val>
                                        </p:tav>
                                      </p:tavLst>
                                    </p:anim>
                                    <p:anim calcmode="lin" valueType="num">
                                      <p:cBhvr additive="base">
                                        <p:cTn id="35" dur="450" fill="hold" decel="100000"/>
                                        <p:tgtEl>
                                          <p:spTgt spid="77"/>
                                        </p:tgtEl>
                                        <p:attrNameLst>
                                          <p:attrName>ppt_y</p:attrName>
                                        </p:attrNameLst>
                                      </p:cBhvr>
                                      <p:tavLst>
                                        <p:tav tm="0">
                                          <p:val>
                                            <p:strVal val="#ppt_y+0.025"/>
                                          </p:val>
                                        </p:tav>
                                        <p:tav tm="100000">
                                          <p:val>
                                            <p:strVal val="#ppt_y"/>
                                          </p:val>
                                        </p:tav>
                                      </p:tavLst>
                                    </p:anim>
                                  </p:childTnLst>
                                </p:cTn>
                              </p:par>
                              <p:par>
                                <p:cTn id="36" presetID="10" presetClass="entr" presetSubtype="0" fill="hold" grpId="0" nodeType="withEffect">
                                  <p:stCondLst>
                                    <p:cond delay="300"/>
                                  </p:stCondLst>
                                  <p:childTnLst>
                                    <p:set>
                                      <p:cBhvr>
                                        <p:cTn id="37" dur="1" fill="hold">
                                          <p:stCondLst>
                                            <p:cond delay="0"/>
                                          </p:stCondLst>
                                        </p:cTn>
                                        <p:tgtEl>
                                          <p:spTgt spid="82"/>
                                        </p:tgtEl>
                                        <p:attrNameLst>
                                          <p:attrName>style.visibility</p:attrName>
                                        </p:attrNameLst>
                                      </p:cBhvr>
                                      <p:to>
                                        <p:strVal val="visible"/>
                                      </p:to>
                                    </p:set>
                                    <p:animEffect transition="in" filter="fade">
                                      <p:cBhvr>
                                        <p:cTn id="38" dur="400"/>
                                        <p:tgtEl>
                                          <p:spTgt spid="82"/>
                                        </p:tgtEl>
                                      </p:cBhvr>
                                    </p:animEffect>
                                  </p:childTnLst>
                                </p:cTn>
                              </p:par>
                              <p:par>
                                <p:cTn id="39" presetID="42" presetClass="entr" presetSubtype="0" fill="hold" grpId="0" nodeType="withEffect">
                                  <p:stCondLst>
                                    <p:cond delay="350"/>
                                  </p:stCondLst>
                                  <p:childTnLst>
                                    <p:set>
                                      <p:cBhvr>
                                        <p:cTn id="40" dur="1" fill="hold">
                                          <p:stCondLst>
                                            <p:cond delay="0"/>
                                          </p:stCondLst>
                                        </p:cTn>
                                        <p:tgtEl>
                                          <p:spTgt spid="83"/>
                                        </p:tgtEl>
                                        <p:attrNameLst>
                                          <p:attrName>style.visibility</p:attrName>
                                        </p:attrNameLst>
                                      </p:cBhvr>
                                      <p:to>
                                        <p:strVal val="visible"/>
                                      </p:to>
                                    </p:set>
                                    <p:animEffect transition="in" filter="fade">
                                      <p:cBhvr>
                                        <p:cTn id="41" dur="700"/>
                                        <p:tgtEl>
                                          <p:spTgt spid="83"/>
                                        </p:tgtEl>
                                      </p:cBhvr>
                                    </p:animEffect>
                                    <p:anim calcmode="lin" valueType="num">
                                      <p:cBhvr additive="base">
                                        <p:cTn id="42" dur="700" fill="hold" decel="100000"/>
                                        <p:tgtEl>
                                          <p:spTgt spid="83"/>
                                        </p:tgtEl>
                                        <p:attrNameLst>
                                          <p:attrName>ppt_x</p:attrName>
                                        </p:attrNameLst>
                                      </p:cBhvr>
                                      <p:tavLst>
                                        <p:tav tm="0">
                                          <p:val>
                                            <p:strVal val="#ppt_x"/>
                                          </p:val>
                                        </p:tav>
                                        <p:tav tm="100000">
                                          <p:val>
                                            <p:strVal val="#ppt_x"/>
                                          </p:val>
                                        </p:tav>
                                      </p:tavLst>
                                    </p:anim>
                                    <p:anim calcmode="lin" valueType="num">
                                      <p:cBhvr additive="base">
                                        <p:cTn id="43" dur="700" fill="hold" decel="100000"/>
                                        <p:tgtEl>
                                          <p:spTgt spid="83"/>
                                        </p:tgtEl>
                                        <p:attrNameLst>
                                          <p:attrName>ppt_y</p:attrName>
                                        </p:attrNameLst>
                                      </p:cBhvr>
                                      <p:tavLst>
                                        <p:tav tm="0">
                                          <p:val>
                                            <p:strVal val="#ppt_y+0.025"/>
                                          </p:val>
                                        </p:tav>
                                        <p:tav tm="100000">
                                          <p:val>
                                            <p:strVal val="#ppt_y"/>
                                          </p:val>
                                        </p:tav>
                                      </p:tavLst>
                                    </p:anim>
                                  </p:childTnLst>
                                </p:cTn>
                              </p:par>
                              <p:par>
                                <p:cTn id="44" presetID="42" presetClass="entr" presetSubtype="0" fill="hold" grpId="0" nodeType="withEffect">
                                  <p:stCondLst>
                                    <p:cond delay="1100"/>
                                  </p:stCondLst>
                                  <p:childTnLst>
                                    <p:set>
                                      <p:cBhvr>
                                        <p:cTn id="45" dur="1" fill="hold">
                                          <p:stCondLst>
                                            <p:cond delay="0"/>
                                          </p:stCondLst>
                                        </p:cTn>
                                        <p:tgtEl>
                                          <p:spTgt spid="93"/>
                                        </p:tgtEl>
                                        <p:attrNameLst>
                                          <p:attrName>style.visibility</p:attrName>
                                        </p:attrNameLst>
                                      </p:cBhvr>
                                      <p:to>
                                        <p:strVal val="visible"/>
                                      </p:to>
                                    </p:set>
                                    <p:animEffect transition="in" filter="fade">
                                      <p:cBhvr>
                                        <p:cTn id="46" dur="500"/>
                                        <p:tgtEl>
                                          <p:spTgt spid="93"/>
                                        </p:tgtEl>
                                      </p:cBhvr>
                                    </p:animEffect>
                                    <p:anim calcmode="lin" valueType="num">
                                      <p:cBhvr additive="base">
                                        <p:cTn id="47" dur="500" fill="hold" decel="100000"/>
                                        <p:tgtEl>
                                          <p:spTgt spid="93"/>
                                        </p:tgtEl>
                                        <p:attrNameLst>
                                          <p:attrName>ppt_x</p:attrName>
                                        </p:attrNameLst>
                                      </p:cBhvr>
                                      <p:tavLst>
                                        <p:tav tm="0">
                                          <p:val>
                                            <p:strVal val="#ppt_x"/>
                                          </p:val>
                                        </p:tav>
                                        <p:tav tm="100000">
                                          <p:val>
                                            <p:strVal val="#ppt_x"/>
                                          </p:val>
                                        </p:tav>
                                      </p:tavLst>
                                    </p:anim>
                                    <p:anim calcmode="lin" valueType="num">
                                      <p:cBhvr additive="base">
                                        <p:cTn id="48" dur="500" fill="hold" decel="100000"/>
                                        <p:tgtEl>
                                          <p:spTgt spid="93"/>
                                        </p:tgtEl>
                                        <p:attrNameLst>
                                          <p:attrName>ppt_y</p:attrName>
                                        </p:attrNameLst>
                                      </p:cBhvr>
                                      <p:tavLst>
                                        <p:tav tm="0">
                                          <p:val>
                                            <p:strVal val="#ppt_y+0.025"/>
                                          </p:val>
                                        </p:tav>
                                        <p:tav tm="100000">
                                          <p:val>
                                            <p:strVal val="#ppt_y"/>
                                          </p:val>
                                        </p:tav>
                                      </p:tavLst>
                                    </p:anim>
                                  </p:childTnLst>
                                </p:cTn>
                              </p:par>
                              <p:par>
                                <p:cTn id="49" presetID="42" presetClass="entr" presetSubtype="0" fill="hold" grpId="0" nodeType="withEffect">
                                  <p:stCondLst>
                                    <p:cond delay="1250"/>
                                  </p:stCondLst>
                                  <p:childTnLst>
                                    <p:set>
                                      <p:cBhvr>
                                        <p:cTn id="50" dur="1" fill="hold">
                                          <p:stCondLst>
                                            <p:cond delay="0"/>
                                          </p:stCondLst>
                                        </p:cTn>
                                        <p:tgtEl>
                                          <p:spTgt spid="96"/>
                                        </p:tgtEl>
                                        <p:attrNameLst>
                                          <p:attrName>style.visibility</p:attrName>
                                        </p:attrNameLst>
                                      </p:cBhvr>
                                      <p:to>
                                        <p:strVal val="visible"/>
                                      </p:to>
                                    </p:set>
                                    <p:animEffect transition="in" filter="fade">
                                      <p:cBhvr>
                                        <p:cTn id="51" dur="450"/>
                                        <p:tgtEl>
                                          <p:spTgt spid="96"/>
                                        </p:tgtEl>
                                      </p:cBhvr>
                                    </p:animEffect>
                                    <p:anim calcmode="lin" valueType="num">
                                      <p:cBhvr additive="base">
                                        <p:cTn id="52" dur="450" fill="hold" decel="100000"/>
                                        <p:tgtEl>
                                          <p:spTgt spid="96"/>
                                        </p:tgtEl>
                                        <p:attrNameLst>
                                          <p:attrName>ppt_x</p:attrName>
                                        </p:attrNameLst>
                                      </p:cBhvr>
                                      <p:tavLst>
                                        <p:tav tm="0">
                                          <p:val>
                                            <p:strVal val="#ppt_x"/>
                                          </p:val>
                                        </p:tav>
                                        <p:tav tm="100000">
                                          <p:val>
                                            <p:strVal val="#ppt_x"/>
                                          </p:val>
                                        </p:tav>
                                      </p:tavLst>
                                    </p:anim>
                                    <p:anim calcmode="lin" valueType="num">
                                      <p:cBhvr additive="base">
                                        <p:cTn id="53" dur="450" fill="hold" decel="100000"/>
                                        <p:tgtEl>
                                          <p:spTgt spid="96"/>
                                        </p:tgtEl>
                                        <p:attrNameLst>
                                          <p:attrName>ppt_y</p:attrName>
                                        </p:attrNameLst>
                                      </p:cBhvr>
                                      <p:tavLst>
                                        <p:tav tm="0">
                                          <p:val>
                                            <p:strVal val="#ppt_y+0.025"/>
                                          </p:val>
                                        </p:tav>
                                        <p:tav tm="100000">
                                          <p:val>
                                            <p:strVal val="#ppt_y"/>
                                          </p:val>
                                        </p:tav>
                                      </p:tavLst>
                                    </p:anim>
                                  </p:childTnLst>
                                </p:cTn>
                              </p:par>
                              <p:par>
                                <p:cTn id="54" presetID="42" presetClass="entr" presetSubtype="0" fill="hold" grpId="0" nodeType="withEffect">
                                  <p:stCondLst>
                                    <p:cond delay="1360"/>
                                  </p:stCondLst>
                                  <p:childTnLst>
                                    <p:set>
                                      <p:cBhvr>
                                        <p:cTn id="55" dur="1" fill="hold">
                                          <p:stCondLst>
                                            <p:cond delay="0"/>
                                          </p:stCondLst>
                                        </p:cTn>
                                        <p:tgtEl>
                                          <p:spTgt spid="100"/>
                                        </p:tgtEl>
                                        <p:attrNameLst>
                                          <p:attrName>style.visibility</p:attrName>
                                        </p:attrNameLst>
                                      </p:cBhvr>
                                      <p:to>
                                        <p:strVal val="visible"/>
                                      </p:to>
                                    </p:set>
                                    <p:animEffect transition="in" filter="fade">
                                      <p:cBhvr>
                                        <p:cTn id="56" dur="450"/>
                                        <p:tgtEl>
                                          <p:spTgt spid="100"/>
                                        </p:tgtEl>
                                      </p:cBhvr>
                                    </p:animEffect>
                                    <p:anim calcmode="lin" valueType="num">
                                      <p:cBhvr additive="base">
                                        <p:cTn id="57" dur="450" fill="hold" decel="100000"/>
                                        <p:tgtEl>
                                          <p:spTgt spid="100"/>
                                        </p:tgtEl>
                                        <p:attrNameLst>
                                          <p:attrName>ppt_x</p:attrName>
                                        </p:attrNameLst>
                                      </p:cBhvr>
                                      <p:tavLst>
                                        <p:tav tm="0">
                                          <p:val>
                                            <p:strVal val="#ppt_x"/>
                                          </p:val>
                                        </p:tav>
                                        <p:tav tm="100000">
                                          <p:val>
                                            <p:strVal val="#ppt_x"/>
                                          </p:val>
                                        </p:tav>
                                      </p:tavLst>
                                    </p:anim>
                                    <p:anim calcmode="lin" valueType="num">
                                      <p:cBhvr additive="base">
                                        <p:cTn id="58" dur="450" fill="hold" decel="100000"/>
                                        <p:tgtEl>
                                          <p:spTgt spid="100"/>
                                        </p:tgtEl>
                                        <p:attrNameLst>
                                          <p:attrName>ppt_y</p:attrName>
                                        </p:attrNameLst>
                                      </p:cBhvr>
                                      <p:tavLst>
                                        <p:tav tm="0">
                                          <p:val>
                                            <p:strVal val="#ppt_y+0.025"/>
                                          </p:val>
                                        </p:tav>
                                        <p:tav tm="100000">
                                          <p:val>
                                            <p:strVal val="#ppt_y"/>
                                          </p:val>
                                        </p:tav>
                                      </p:tavLst>
                                    </p:anim>
                                  </p:childTnLst>
                                </p:cTn>
                              </p:par>
                              <p:par>
                                <p:cTn id="59" presetID="42" presetClass="entr" presetSubtype="0" fill="hold" grpId="0" nodeType="withEffect">
                                  <p:stCondLst>
                                    <p:cond delay="1470"/>
                                  </p:stCondLst>
                                  <p:childTnLst>
                                    <p:set>
                                      <p:cBhvr>
                                        <p:cTn id="60" dur="1" fill="hold">
                                          <p:stCondLst>
                                            <p:cond delay="0"/>
                                          </p:stCondLst>
                                        </p:cTn>
                                        <p:tgtEl>
                                          <p:spTgt spid="104"/>
                                        </p:tgtEl>
                                        <p:attrNameLst>
                                          <p:attrName>style.visibility</p:attrName>
                                        </p:attrNameLst>
                                      </p:cBhvr>
                                      <p:to>
                                        <p:strVal val="visible"/>
                                      </p:to>
                                    </p:set>
                                    <p:animEffect transition="in" filter="fade">
                                      <p:cBhvr>
                                        <p:cTn id="61" dur="450"/>
                                        <p:tgtEl>
                                          <p:spTgt spid="104"/>
                                        </p:tgtEl>
                                      </p:cBhvr>
                                    </p:animEffect>
                                    <p:anim calcmode="lin" valueType="num">
                                      <p:cBhvr additive="base">
                                        <p:cTn id="62" dur="450" fill="hold" decel="100000"/>
                                        <p:tgtEl>
                                          <p:spTgt spid="104"/>
                                        </p:tgtEl>
                                        <p:attrNameLst>
                                          <p:attrName>ppt_x</p:attrName>
                                        </p:attrNameLst>
                                      </p:cBhvr>
                                      <p:tavLst>
                                        <p:tav tm="0">
                                          <p:val>
                                            <p:strVal val="#ppt_x"/>
                                          </p:val>
                                        </p:tav>
                                        <p:tav tm="100000">
                                          <p:val>
                                            <p:strVal val="#ppt_x"/>
                                          </p:val>
                                        </p:tav>
                                      </p:tavLst>
                                    </p:anim>
                                    <p:anim calcmode="lin" valueType="num">
                                      <p:cBhvr additive="base">
                                        <p:cTn id="63" dur="450" fill="hold" decel="100000"/>
                                        <p:tgtEl>
                                          <p:spTgt spid="104"/>
                                        </p:tgtEl>
                                        <p:attrNameLst>
                                          <p:attrName>ppt_y</p:attrName>
                                        </p:attrNameLst>
                                      </p:cBhvr>
                                      <p:tavLst>
                                        <p:tav tm="0">
                                          <p:val>
                                            <p:strVal val="#ppt_y+0.025"/>
                                          </p:val>
                                        </p:tav>
                                        <p:tav tm="100000">
                                          <p:val>
                                            <p:strVal val="#ppt_y"/>
                                          </p:val>
                                        </p:tav>
                                      </p:tavLst>
                                    </p:anim>
                                  </p:childTnLst>
                                </p:cTn>
                              </p:par>
                              <p:par>
                                <p:cTn id="64" presetID="42" presetClass="entr" presetSubtype="0" fill="hold" grpId="0" nodeType="withEffect">
                                  <p:stCondLst>
                                    <p:cond delay="1580"/>
                                  </p:stCondLst>
                                  <p:childTnLst>
                                    <p:set>
                                      <p:cBhvr>
                                        <p:cTn id="65" dur="1" fill="hold">
                                          <p:stCondLst>
                                            <p:cond delay="0"/>
                                          </p:stCondLst>
                                        </p:cTn>
                                        <p:tgtEl>
                                          <p:spTgt spid="108"/>
                                        </p:tgtEl>
                                        <p:attrNameLst>
                                          <p:attrName>style.visibility</p:attrName>
                                        </p:attrNameLst>
                                      </p:cBhvr>
                                      <p:to>
                                        <p:strVal val="visible"/>
                                      </p:to>
                                    </p:set>
                                    <p:animEffect transition="in" filter="fade">
                                      <p:cBhvr>
                                        <p:cTn id="66" dur="450"/>
                                        <p:tgtEl>
                                          <p:spTgt spid="108"/>
                                        </p:tgtEl>
                                      </p:cBhvr>
                                    </p:animEffect>
                                    <p:anim calcmode="lin" valueType="num">
                                      <p:cBhvr additive="base">
                                        <p:cTn id="67" dur="450" fill="hold" decel="100000"/>
                                        <p:tgtEl>
                                          <p:spTgt spid="108"/>
                                        </p:tgtEl>
                                        <p:attrNameLst>
                                          <p:attrName>ppt_x</p:attrName>
                                        </p:attrNameLst>
                                      </p:cBhvr>
                                      <p:tavLst>
                                        <p:tav tm="0">
                                          <p:val>
                                            <p:strVal val="#ppt_x"/>
                                          </p:val>
                                        </p:tav>
                                        <p:tav tm="100000">
                                          <p:val>
                                            <p:strVal val="#ppt_x"/>
                                          </p:val>
                                        </p:tav>
                                      </p:tavLst>
                                    </p:anim>
                                    <p:anim calcmode="lin" valueType="num">
                                      <p:cBhvr additive="base">
                                        <p:cTn id="68" dur="450" fill="hold" decel="100000"/>
                                        <p:tgtEl>
                                          <p:spTgt spid="108"/>
                                        </p:tgtEl>
                                        <p:attrNameLst>
                                          <p:attrName>ppt_y</p:attrName>
                                        </p:attrNameLst>
                                      </p:cBhvr>
                                      <p:tavLst>
                                        <p:tav tm="0">
                                          <p:val>
                                            <p:strVal val="#ppt_y+0.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82"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grpSp>
        <p:nvGrpSpPr>
          <p:cNvPr id="2" name="Group 1"/>
          <p:cNvGrpSpPr/>
          <p:nvPr/>
        </p:nvGrpSpPr>
        <p:grpSpPr>
          <a:xfrm>
            <a:off x="685800" y="384048"/>
            <a:ext cx="292608" cy="292608"/>
            <a:chOff x="685800" y="384048"/>
            <a:chExt cx="292608" cy="292608"/>
          </a:xfrm>
        </p:grpSpPr>
        <p:sp>
          <p:nvSpPr>
            <p:cNvPr id="3" name="Oval 2"/>
            <p:cNvSpPr/>
            <p:nvPr/>
          </p:nvSpPr>
          <p:spPr>
            <a:xfrm>
              <a:off x="685800" y="384048"/>
              <a:ext cx="292608" cy="292608"/>
            </a:xfrm>
            <a:prstGeom prst="ellipse">
              <a:avLst/>
            </a:prstGeom>
            <a:solidFill>
              <a:srgbClr val="16130E"/>
            </a:solidFill>
            <a:ln>
              <a:noFill/>
            </a:ln>
          </p:spPr>
          <p:txBody>
            <a:bodyPr rtlCol="0" anchor="ctr"/>
            <a:lstStyle/>
            <a:p>
              <a:pPr algn="ctr"/>
            </a:p>
          </p:txBody>
        </p:sp>
        <p:sp>
          <p:nvSpPr>
            <p:cNvPr id="4" name="Freeform 3"/>
            <p:cNvSpPr/>
            <p:nvPr/>
          </p:nvSpPr>
          <p:spPr>
            <a:xfrm>
              <a:off x="772852" y="517188"/>
              <a:ext cx="72424" cy="72424"/>
            </a:xfrm>
            <a:custGeom>
              <a:avLst/>
              <a:gdLst/>
              <a:ahLst/>
              <a:cxnLst/>
              <a:rect l="l" t="t" r="r" b="b"/>
              <a:pathLst>
                <a:path w="11" h="11">
                  <a:moveTo>
                    <a:pt x="11" y="2"/>
                  </a:moveTo>
                  <a:lnTo>
                    <a:pt x="3" y="10"/>
                  </a:lnTo>
                  <a:lnTo>
                    <a:pt x="2" y="11"/>
                  </a:lnTo>
                  <a:lnTo>
                    <a:pt x="1" y="10"/>
                  </a:lnTo>
                  <a:lnTo>
                    <a:pt x="0" y="9"/>
                  </a:lnTo>
                  <a:lnTo>
                    <a:pt x="1" y="8"/>
                  </a:lnTo>
                  <a:lnTo>
                    <a:pt x="9" y="0"/>
                  </a:lnTo>
                </a:path>
              </a:pathLst>
            </a:custGeom>
            <a:noFill/>
            <a:ln w="13167" cap="rnd">
              <a:solidFill>
                <a:srgbClr val="F4EFE4"/>
              </a:solidFill>
              <a:round/>
            </a:ln>
          </p:spPr>
          <p:txBody>
            <a:bodyPr rtlCol="0" anchor="ctr"/>
            <a:lstStyle/>
            <a:p>
              <a:pPr algn="ctr"/>
            </a:p>
          </p:txBody>
        </p:sp>
        <p:sp>
          <p:nvSpPr>
            <p:cNvPr id="5" name="Freeform 4"/>
            <p:cNvSpPr/>
            <p:nvPr/>
          </p:nvSpPr>
          <p:spPr>
            <a:xfrm>
              <a:off x="858444" y="517188"/>
              <a:ext cx="39504" cy="39504"/>
            </a:xfrm>
            <a:custGeom>
              <a:avLst/>
              <a:gdLst/>
              <a:ahLst/>
              <a:cxnLst/>
              <a:rect l="l" t="t" r="r" b="b"/>
              <a:pathLst>
                <a:path w="6" h="6">
                  <a:moveTo>
                    <a:pt x="0" y="6"/>
                  </a:moveTo>
                  <a:lnTo>
                    <a:pt x="6" y="0"/>
                  </a:lnTo>
                </a:path>
              </a:pathLst>
            </a:custGeom>
            <a:noFill/>
            <a:ln w="13167" cap="rnd">
              <a:solidFill>
                <a:srgbClr val="F4EFE4"/>
              </a:solidFill>
              <a:round/>
            </a:ln>
          </p:spPr>
          <p:txBody>
            <a:bodyPr rtlCol="0" anchor="ctr"/>
            <a:lstStyle/>
            <a:p>
              <a:pPr algn="ctr"/>
            </a:p>
          </p:txBody>
        </p:sp>
        <p:sp>
          <p:nvSpPr>
            <p:cNvPr id="6" name="Freeform 5"/>
            <p:cNvSpPr/>
            <p:nvPr/>
          </p:nvSpPr>
          <p:spPr>
            <a:xfrm>
              <a:off x="805772" y="464516"/>
              <a:ext cx="39504" cy="39504"/>
            </a:xfrm>
            <a:custGeom>
              <a:avLst/>
              <a:gdLst/>
              <a:ahLst/>
              <a:cxnLst/>
              <a:rect l="l" t="t" r="r" b="b"/>
              <a:pathLst>
                <a:path w="6" h="6">
                  <a:moveTo>
                    <a:pt x="0" y="6"/>
                  </a:moveTo>
                  <a:lnTo>
                    <a:pt x="6" y="0"/>
                  </a:lnTo>
                </a:path>
              </a:pathLst>
            </a:custGeom>
            <a:noFill/>
            <a:ln w="13167" cap="rnd">
              <a:solidFill>
                <a:srgbClr val="F4EFE4"/>
              </a:solidFill>
              <a:round/>
            </a:ln>
          </p:spPr>
          <p:txBody>
            <a:bodyPr rtlCol="0" anchor="ctr"/>
            <a:lstStyle/>
            <a:p>
              <a:pPr algn="ctr"/>
            </a:p>
          </p:txBody>
        </p:sp>
        <p:sp>
          <p:nvSpPr>
            <p:cNvPr id="7" name="Freeform 6"/>
            <p:cNvSpPr/>
            <p:nvPr/>
          </p:nvSpPr>
          <p:spPr>
            <a:xfrm>
              <a:off x="812356" y="497436"/>
              <a:ext cx="52672" cy="52672"/>
            </a:xfrm>
            <a:custGeom>
              <a:avLst/>
              <a:gdLst/>
              <a:ahLst/>
              <a:cxnLst/>
              <a:rect l="l" t="t" r="r" b="b"/>
              <a:pathLst>
                <a:path w="8" h="8">
                  <a:moveTo>
                    <a:pt x="0" y="0"/>
                  </a:moveTo>
                  <a:lnTo>
                    <a:pt x="8" y="8"/>
                  </a:lnTo>
                </a:path>
              </a:pathLst>
            </a:custGeom>
            <a:noFill/>
            <a:ln w="13167" cap="rnd">
              <a:solidFill>
                <a:srgbClr val="F4EFE4"/>
              </a:solidFill>
              <a:round/>
            </a:ln>
          </p:spPr>
          <p:txBody>
            <a:bodyPr rtlCol="0" anchor="ctr"/>
            <a:lstStyle/>
            <a:p>
              <a:pPr algn="ctr"/>
            </a:p>
          </p:txBody>
        </p:sp>
        <p:sp>
          <p:nvSpPr>
            <p:cNvPr id="8" name="Freeform 7"/>
            <p:cNvSpPr/>
            <p:nvPr/>
          </p:nvSpPr>
          <p:spPr>
            <a:xfrm>
              <a:off x="838692" y="471100"/>
              <a:ext cx="52672" cy="52672"/>
            </a:xfrm>
            <a:custGeom>
              <a:avLst/>
              <a:gdLst/>
              <a:ahLst/>
              <a:cxnLst/>
              <a:rect l="l" t="t" r="r" b="b"/>
              <a:pathLst>
                <a:path w="8" h="8">
                  <a:moveTo>
                    <a:pt x="8" y="8"/>
                  </a:moveTo>
                  <a:lnTo>
                    <a:pt x="0" y="0"/>
                  </a:lnTo>
                </a:path>
              </a:pathLst>
            </a:custGeom>
            <a:noFill/>
            <a:ln w="13167" cap="rnd">
              <a:solidFill>
                <a:srgbClr val="F4EFE4"/>
              </a:solidFill>
              <a:round/>
            </a:ln>
          </p:spPr>
          <p:txBody>
            <a:bodyPr rtlCol="0" anchor="ctr"/>
            <a:lstStyle/>
            <a:p>
              <a:pPr algn="ctr"/>
            </a:p>
          </p:txBody>
        </p:sp>
      </p:grpSp>
      <p:sp>
        <p:nvSpPr>
          <p:cNvPr id="9" name="TextBox 8"/>
          <p:cNvSpPr txBox="1"/>
          <p:nvPr/>
        </p:nvSpPr>
        <p:spPr>
          <a:xfrm>
            <a:off x="1060704" y="347472"/>
            <a:ext cx="2286000" cy="365760"/>
          </a:xfrm>
          <a:prstGeom prst="rect">
            <a:avLst/>
          </a:prstGeom>
          <a:noFill/>
        </p:spPr>
        <p:txBody>
          <a:bodyPr wrap="square" lIns="0" rIns="0" tIns="0" bIns="0" anchor="ctr">
            <a:noAutofit/>
          </a:bodyPr>
          <a:lstStyle/>
          <a:p>
            <a:pPr algn="l"/>
            <a:r>
              <a:rPr sz="1700" b="0" i="0">
                <a:solidFill>
                  <a:srgbClr val="16130E"/>
                </a:solidFill>
                <a:latin typeface="Georgia" panose="02040502050405020303" pitchFamily="18" charset="0"/>
              </a:rPr>
              <a:t>Bidwire</a:t>
            </a:r>
          </a:p>
        </p:txBody>
      </p:sp>
      <p:sp>
        <p:nvSpPr>
          <p:cNvPr id="10" name="TextBox 9"/>
          <p:cNvSpPr txBox="1"/>
          <p:nvPr/>
        </p:nvSpPr>
        <p:spPr>
          <a:xfrm>
            <a:off x="6019495" y="420624"/>
            <a:ext cx="5486400" cy="219456"/>
          </a:xfrm>
          <a:prstGeom prst="rect">
            <a:avLst/>
          </a:prstGeom>
          <a:noFill/>
        </p:spPr>
        <p:txBody>
          <a:bodyPr wrap="square" lIns="0" rIns="0" tIns="0" bIns="0" anchor="ctr">
            <a:noAutofit/>
          </a:bodyPr>
          <a:lstStyle/>
          <a:p>
            <a:pPr algn="r"/>
            <a:r>
              <a:rPr sz="850" b="1" i="0" spc="110">
                <a:solidFill>
                  <a:srgbClr val="9C937F"/>
                </a:solidFill>
                <a:latin typeface="Inter" panose="020B0502030000000004" pitchFamily="34" charset="0"/>
              </a:rPr>
              <a:t>LOT 06  ·  BUILT FOR AGENTS · MANUFACT TRACK</a:t>
            </a:r>
          </a:p>
        </p:txBody>
      </p:sp>
      <p:sp>
        <p:nvSpPr>
          <p:cNvPr id="11" name="Rectangle 10"/>
          <p:cNvSpPr/>
          <p:nvPr/>
        </p:nvSpPr>
        <p:spPr>
          <a:xfrm>
            <a:off x="685800" y="822960"/>
            <a:ext cx="10820095" cy="7315"/>
          </a:xfrm>
          <a:prstGeom prst="rect">
            <a:avLst/>
          </a:prstGeom>
          <a:solidFill>
            <a:srgbClr val="E2D9C6"/>
          </a:solidFill>
          <a:ln>
            <a:noFill/>
          </a:ln>
        </p:spPr>
        <p:txBody>
          <a:bodyPr rtlCol="0" anchor="ctr"/>
          <a:lstStyle/>
          <a:p>
            <a:pPr algn="ctr"/>
          </a:p>
        </p:txBody>
      </p:sp>
      <p:sp>
        <p:nvSpPr>
          <p:cNvPr id="12" name="TextBox 11"/>
          <p:cNvSpPr txBox="1"/>
          <p:nvPr/>
        </p:nvSpPr>
        <p:spPr>
          <a:xfrm>
            <a:off x="685800" y="6400800"/>
            <a:ext cx="6400800" cy="237744"/>
          </a:xfrm>
          <a:prstGeom prst="rect">
            <a:avLst/>
          </a:prstGeom>
          <a:noFill/>
        </p:spPr>
        <p:txBody>
          <a:bodyPr wrap="square" lIns="0" rIns="0" tIns="0" bIns="0" anchor="ctr">
            <a:noAutofit/>
          </a:bodyPr>
          <a:lstStyle/>
          <a:p>
            <a:pPr algn="l"/>
            <a:r>
              <a:rPr sz="850" b="0" i="0">
                <a:solidFill>
                  <a:srgbClr val="9C937F"/>
                </a:solidFill>
                <a:latin typeface="Inter" panose="020B0502030000000004" pitchFamily="34" charset="0"/>
              </a:rPr>
              <a:t>Bidwire · the auction house for AI agents · YC Make Something Agents Want · Oct 18, 2026</a:t>
            </a:r>
          </a:p>
        </p:txBody>
      </p:sp>
      <p:sp>
        <p:nvSpPr>
          <p:cNvPr id="13" name="TextBox 12"/>
          <p:cNvSpPr txBox="1"/>
          <p:nvPr/>
        </p:nvSpPr>
        <p:spPr>
          <a:xfrm>
            <a:off x="6933895" y="6400800"/>
            <a:ext cx="4572000" cy="237744"/>
          </a:xfrm>
          <a:prstGeom prst="rect">
            <a:avLst/>
          </a:prstGeom>
          <a:noFill/>
        </p:spPr>
        <p:txBody>
          <a:bodyPr wrap="square" lIns="0" rIns="0" tIns="0" bIns="0" anchor="ctr">
            <a:noAutofit/>
          </a:bodyPr>
          <a:lstStyle/>
          <a:p>
            <a:pPr algn="r"/>
            <a:r>
              <a:rPr sz="850" b="0" i="0">
                <a:solidFill>
                  <a:srgbClr val="9C937F"/>
                </a:solidFill>
                <a:latin typeface="Inter" panose="020B0502030000000004" pitchFamily="34" charset="0"/>
              </a:rPr>
              <a:t>github.com/vnmoorthy/bidwire</a:t>
            </a:r>
          </a:p>
        </p:txBody>
      </p:sp>
      <p:sp>
        <p:nvSpPr>
          <p:cNvPr id="14" name="Rectangle 13"/>
          <p:cNvSpPr/>
          <p:nvPr/>
        </p:nvSpPr>
        <p:spPr>
          <a:xfrm>
            <a:off x="0" y="6825996"/>
            <a:ext cx="12191695" cy="32004"/>
          </a:xfrm>
          <a:prstGeom prst="rect">
            <a:avLst/>
          </a:prstGeom>
          <a:solidFill>
            <a:srgbClr val="E2D9C6"/>
          </a:solidFill>
          <a:ln>
            <a:noFill/>
          </a:ln>
        </p:spPr>
        <p:txBody>
          <a:bodyPr rtlCol="0" anchor="ctr"/>
          <a:lstStyle/>
          <a:p>
            <a:pPr algn="ctr"/>
          </a:p>
        </p:txBody>
      </p:sp>
      <p:sp>
        <p:nvSpPr>
          <p:cNvPr id="15" name="Rectangle 14"/>
          <p:cNvSpPr/>
          <p:nvPr/>
        </p:nvSpPr>
        <p:spPr>
          <a:xfrm>
            <a:off x="0" y="6825996"/>
            <a:ext cx="7315017" cy="32004"/>
          </a:xfrm>
          <a:prstGeom prst="rect">
            <a:avLst/>
          </a:prstGeom>
          <a:solidFill>
            <a:srgbClr val="B0894F"/>
          </a:solidFill>
          <a:ln>
            <a:noFill/>
          </a:ln>
        </p:spPr>
        <p:txBody>
          <a:bodyPr rtlCol="0" anchor="ctr"/>
          <a:lstStyle/>
          <a:p>
            <a:pPr algn="ctr"/>
          </a:p>
        </p:txBody>
      </p:sp>
      <p:sp>
        <p:nvSpPr>
          <p:cNvPr id="16" name="TextBox 15"/>
          <p:cNvSpPr txBox="1"/>
          <p:nvPr/>
        </p:nvSpPr>
        <p:spPr>
          <a:xfrm>
            <a:off x="685800" y="987552"/>
            <a:ext cx="10835640" cy="566928"/>
          </a:xfrm>
          <a:prstGeom prst="rect">
            <a:avLst/>
          </a:prstGeom>
          <a:noFill/>
        </p:spPr>
        <p:txBody>
          <a:bodyPr wrap="square" lIns="0" rIns="0" tIns="0" bIns="0" anchor="t">
            <a:noAutofit/>
          </a:bodyPr>
          <a:lstStyle/>
          <a:p>
            <a:pPr algn="l">
              <a:lnSpc>
                <a:spcPct val="98000"/>
              </a:lnSpc>
            </a:pPr>
            <a:r>
              <a:rPr sz="3600" b="0" i="0" spc="-40">
                <a:solidFill>
                  <a:srgbClr val="16130E"/>
                </a:solidFill>
                <a:latin typeface="Georgia" panose="02040502050405020303" pitchFamily="18" charset="0"/>
              </a:rPr>
              <a:t>One MCP server. Two calls. </a:t>
            </a:r>
            <a:r>
              <a:rPr sz="3600" b="0" i="1" spc="-40">
                <a:solidFill>
                  <a:srgbClr val="6E6658"/>
                </a:solidFill>
                <a:latin typeface="Georgia" panose="02040502050405020303" pitchFamily="18" charset="0"/>
              </a:rPr>
              <a:t>Every client.</a:t>
            </a:r>
          </a:p>
        </p:txBody>
      </p:sp>
      <p:grpSp>
        <p:nvGrpSpPr>
          <p:cNvPr id="17" name="Group 16"/>
          <p:cNvGrpSpPr/>
          <p:nvPr/>
        </p:nvGrpSpPr>
        <p:grpSpPr>
          <a:xfrm>
            <a:off x="685800" y="1691640"/>
            <a:ext cx="4846320" cy="4553712"/>
            <a:chOff x="685800" y="1691640"/>
            <a:chExt cx="4846320" cy="4553712"/>
          </a:xfrm>
        </p:grpSpPr>
        <p:sp>
          <p:nvSpPr>
            <p:cNvPr id="18" name="Rounded Rectangle 17"/>
            <p:cNvSpPr/>
            <p:nvPr/>
          </p:nvSpPr>
          <p:spPr>
            <a:xfrm>
              <a:off x="685800" y="1691640"/>
              <a:ext cx="4846320" cy="4553712"/>
            </a:xfrm>
            <a:prstGeom prst="roundRect">
              <a:avLst>
                <a:gd name="adj" fmla="val 1204"/>
              </a:avLst>
            </a:prstGeom>
            <a:solidFill>
              <a:srgbClr val="FFFDF7"/>
            </a:solidFill>
            <a:ln w="9525">
              <a:solidFill>
                <a:srgbClr val="E2D9C6"/>
              </a:solidFill>
            </a:ln>
          </p:spPr>
          <p:txBody>
            <a:bodyPr rtlCol="0" anchor="ctr"/>
            <a:lstStyle/>
            <a:p>
              <a:pPr algn="ctr"/>
            </a:p>
          </p:txBody>
        </p:sp>
        <p:sp>
          <p:nvSpPr>
            <p:cNvPr id="19" name="TextBox 18"/>
            <p:cNvSpPr txBox="1"/>
            <p:nvPr/>
          </p:nvSpPr>
          <p:spPr>
            <a:xfrm>
              <a:off x="914400" y="1810512"/>
              <a:ext cx="4389120" cy="219456"/>
            </a:xfrm>
            <a:prstGeom prst="rect">
              <a:avLst/>
            </a:prstGeom>
            <a:noFill/>
          </p:spPr>
          <p:txBody>
            <a:bodyPr wrap="square" lIns="0" rIns="0" tIns="0" bIns="0" anchor="ctr">
              <a:noAutofit/>
            </a:bodyPr>
            <a:lstStyle/>
            <a:p>
              <a:pPr algn="l"/>
              <a:r>
                <a:rPr sz="850" b="1" i="0" spc="110">
                  <a:solidFill>
                    <a:srgbClr val="9C937F"/>
                  </a:solidFill>
                  <a:latin typeface="Inter" panose="020B0502030000000004" pitchFamily="34" charset="0"/>
                </a:rPr>
                <a:t>THE MCP SURFACE</a:t>
              </a:r>
            </a:p>
          </p:txBody>
        </p:sp>
        <p:sp>
          <p:nvSpPr>
            <p:cNvPr id="20" name="TextBox 19"/>
            <p:cNvSpPr txBox="1"/>
            <p:nvPr/>
          </p:nvSpPr>
          <p:spPr>
            <a:xfrm>
              <a:off x="914400" y="2103120"/>
              <a:ext cx="1463040" cy="640080"/>
            </a:xfrm>
            <a:prstGeom prst="rect">
              <a:avLst/>
            </a:prstGeom>
            <a:noFill/>
          </p:spPr>
          <p:txBody>
            <a:bodyPr wrap="square" lIns="0" rIns="0" tIns="0" bIns="0" anchor="ctr">
              <a:noAutofit/>
            </a:bodyPr>
            <a:lstStyle/>
            <a:p>
              <a:pPr algn="l"/>
              <a:r>
                <a:rPr sz="3400" b="0" i="0">
                  <a:solidFill>
                    <a:srgbClr val="16130E"/>
                  </a:solidFill>
                  <a:latin typeface="Georgia" panose="02040502050405020303" pitchFamily="18" charset="0"/>
                </a:rPr>
                <a:t>12</a:t>
              </a:r>
              <a:r>
                <a:rPr sz="1100" b="0" i="0">
                  <a:solidFill>
                    <a:srgbClr val="6E6658"/>
                  </a:solidFill>
                  <a:latin typeface="Inter" panose="020B0502030000000004" pitchFamily="34" charset="0"/>
                </a:rPr>
                <a:t>  tools</a:t>
              </a:r>
            </a:p>
          </p:txBody>
        </p:sp>
        <p:sp>
          <p:nvSpPr>
            <p:cNvPr id="21" name="Rectangle 20"/>
            <p:cNvSpPr/>
            <p:nvPr/>
          </p:nvSpPr>
          <p:spPr>
            <a:xfrm>
              <a:off x="2240280" y="2176272"/>
              <a:ext cx="7315" cy="502920"/>
            </a:xfrm>
            <a:prstGeom prst="rect">
              <a:avLst/>
            </a:prstGeom>
            <a:solidFill>
              <a:srgbClr val="E2D9C6"/>
            </a:solidFill>
            <a:ln>
              <a:noFill/>
            </a:ln>
          </p:spPr>
          <p:txBody>
            <a:bodyPr rtlCol="0" anchor="ctr"/>
            <a:lstStyle/>
            <a:p>
              <a:pPr algn="ctr"/>
            </a:p>
          </p:txBody>
        </p:sp>
        <p:sp>
          <p:nvSpPr>
            <p:cNvPr id="22" name="TextBox 21"/>
            <p:cNvSpPr txBox="1"/>
            <p:nvPr/>
          </p:nvSpPr>
          <p:spPr>
            <a:xfrm>
              <a:off x="2423160" y="2103120"/>
              <a:ext cx="1463040" cy="640080"/>
            </a:xfrm>
            <a:prstGeom prst="rect">
              <a:avLst/>
            </a:prstGeom>
            <a:noFill/>
          </p:spPr>
          <p:txBody>
            <a:bodyPr wrap="square" lIns="0" rIns="0" tIns="0" bIns="0" anchor="ctr">
              <a:noAutofit/>
            </a:bodyPr>
            <a:lstStyle/>
            <a:p>
              <a:pPr algn="l"/>
              <a:r>
                <a:rPr sz="3400" b="0" i="0">
                  <a:solidFill>
                    <a:srgbClr val="16130E"/>
                  </a:solidFill>
                  <a:latin typeface="Georgia" panose="02040502050405020303" pitchFamily="18" charset="0"/>
                </a:rPr>
                <a:t>3</a:t>
              </a:r>
              <a:r>
                <a:rPr sz="1100" b="0" i="0">
                  <a:solidFill>
                    <a:srgbClr val="6E6658"/>
                  </a:solidFill>
                  <a:latin typeface="Inter" panose="020B0502030000000004" pitchFamily="34" charset="0"/>
                </a:rPr>
                <a:t>  resources</a:t>
              </a:r>
            </a:p>
          </p:txBody>
        </p:sp>
        <p:sp>
          <p:nvSpPr>
            <p:cNvPr id="23" name="Rectangle 22"/>
            <p:cNvSpPr/>
            <p:nvPr/>
          </p:nvSpPr>
          <p:spPr>
            <a:xfrm>
              <a:off x="3749040" y="2176272"/>
              <a:ext cx="7315" cy="502920"/>
            </a:xfrm>
            <a:prstGeom prst="rect">
              <a:avLst/>
            </a:prstGeom>
            <a:solidFill>
              <a:srgbClr val="E2D9C6"/>
            </a:solidFill>
            <a:ln>
              <a:noFill/>
            </a:ln>
          </p:spPr>
          <p:txBody>
            <a:bodyPr rtlCol="0" anchor="ctr"/>
            <a:lstStyle/>
            <a:p>
              <a:pPr algn="ctr"/>
            </a:p>
          </p:txBody>
        </p:sp>
        <p:sp>
          <p:nvSpPr>
            <p:cNvPr id="24" name="TextBox 23"/>
            <p:cNvSpPr txBox="1"/>
            <p:nvPr/>
          </p:nvSpPr>
          <p:spPr>
            <a:xfrm>
              <a:off x="3931920" y="2103120"/>
              <a:ext cx="1463040" cy="640080"/>
            </a:xfrm>
            <a:prstGeom prst="rect">
              <a:avLst/>
            </a:prstGeom>
            <a:noFill/>
          </p:spPr>
          <p:txBody>
            <a:bodyPr wrap="square" lIns="0" rIns="0" tIns="0" bIns="0" anchor="ctr">
              <a:noAutofit/>
            </a:bodyPr>
            <a:lstStyle/>
            <a:p>
              <a:pPr algn="l"/>
              <a:r>
                <a:rPr sz="3400" b="0" i="0">
                  <a:solidFill>
                    <a:srgbClr val="16130E"/>
                  </a:solidFill>
                  <a:latin typeface="Georgia" panose="02040502050405020303" pitchFamily="18" charset="0"/>
                </a:rPr>
                <a:t>2</a:t>
              </a:r>
              <a:r>
                <a:rPr sz="1100" b="0" i="0">
                  <a:solidFill>
                    <a:srgbClr val="6E6658"/>
                  </a:solidFill>
                  <a:latin typeface="Inter" panose="020B0502030000000004" pitchFamily="34" charset="0"/>
                </a:rPr>
                <a:t>  prompts</a:t>
              </a:r>
            </a:p>
          </p:txBody>
        </p:sp>
      </p:grpSp>
      <p:sp>
        <p:nvSpPr>
          <p:cNvPr id="25" name="TextBox 24"/>
          <p:cNvSpPr txBox="1"/>
          <p:nvPr/>
        </p:nvSpPr>
        <p:spPr>
          <a:xfrm>
            <a:off x="914400" y="2880360"/>
            <a:ext cx="4389120" cy="219456"/>
          </a:xfrm>
          <a:prstGeom prst="rect">
            <a:avLst/>
          </a:prstGeom>
          <a:noFill/>
        </p:spPr>
        <p:txBody>
          <a:bodyPr wrap="square" lIns="0" rIns="0" tIns="0" bIns="0" anchor="ctr">
            <a:noAutofit/>
          </a:bodyPr>
          <a:lstStyle/>
          <a:p>
            <a:pPr algn="l"/>
            <a:r>
              <a:rPr sz="950" b="1" i="0">
                <a:solidFill>
                  <a:srgbClr val="6E6658"/>
                </a:solidFill>
                <a:latin typeface="Inter" panose="020B0502030000000004" pitchFamily="34" charset="0"/>
              </a:rPr>
              <a:t>Buyer agents · 8</a:t>
            </a:r>
          </a:p>
        </p:txBody>
      </p:sp>
      <p:grpSp>
        <p:nvGrpSpPr>
          <p:cNvPr id="26" name="Group 25"/>
          <p:cNvGrpSpPr/>
          <p:nvPr/>
        </p:nvGrpSpPr>
        <p:grpSpPr>
          <a:xfrm>
            <a:off x="914400" y="3154680"/>
            <a:ext cx="1015746" cy="265176"/>
            <a:chOff x="914400" y="3154680"/>
            <a:chExt cx="1015746" cy="265176"/>
          </a:xfrm>
        </p:grpSpPr>
        <p:sp>
          <p:nvSpPr>
            <p:cNvPr id="27" name="Rounded Rectangle 26"/>
            <p:cNvSpPr/>
            <p:nvPr/>
          </p:nvSpPr>
          <p:spPr>
            <a:xfrm>
              <a:off x="914400" y="3154680"/>
              <a:ext cx="1015746" cy="265176"/>
            </a:xfrm>
            <a:prstGeom prst="roundRect">
              <a:avLst>
                <a:gd name="adj" fmla="val 50000"/>
              </a:avLst>
            </a:prstGeom>
            <a:solidFill>
              <a:srgbClr val="E6ECF6"/>
            </a:solidFill>
            <a:ln>
              <a:noFill/>
            </a:ln>
          </p:spPr>
          <p:txBody>
            <a:bodyPr rtlCol="0" anchor="ctr"/>
            <a:lstStyle/>
            <a:p>
              <a:pPr algn="ctr"/>
            </a:p>
          </p:txBody>
        </p:sp>
        <p:sp>
          <p:nvSpPr>
            <p:cNvPr id="28" name="TextBox 27"/>
            <p:cNvSpPr txBox="1"/>
            <p:nvPr/>
          </p:nvSpPr>
          <p:spPr>
            <a:xfrm>
              <a:off x="914400" y="3154680"/>
              <a:ext cx="1015746" cy="265176"/>
            </a:xfrm>
            <a:prstGeom prst="rect">
              <a:avLst/>
            </a:prstGeom>
            <a:noFill/>
          </p:spPr>
          <p:txBody>
            <a:bodyPr wrap="square" lIns="0" rIns="0" tIns="0" bIns="0" anchor="ctr">
              <a:noAutofit/>
            </a:bodyPr>
            <a:lstStyle/>
            <a:p>
              <a:pPr algn="ctr"/>
              <a:r>
                <a:rPr sz="950" b="0" i="0">
                  <a:solidFill>
                    <a:srgbClr val="233F6E"/>
                  </a:solidFill>
                  <a:latin typeface="JetBrains Mono" panose="02000009000000000000" pitchFamily="49" charset="0"/>
                </a:rPr>
                <a:t>find_offers</a:t>
              </a:r>
            </a:p>
          </p:txBody>
        </p:sp>
      </p:grpSp>
      <p:grpSp>
        <p:nvGrpSpPr>
          <p:cNvPr id="29" name="Group 28"/>
          <p:cNvGrpSpPr/>
          <p:nvPr/>
        </p:nvGrpSpPr>
        <p:grpSpPr>
          <a:xfrm>
            <a:off x="2003298" y="3154680"/>
            <a:ext cx="943356" cy="265176"/>
            <a:chOff x="2003298" y="3154680"/>
            <a:chExt cx="943356" cy="265176"/>
          </a:xfrm>
        </p:grpSpPr>
        <p:sp>
          <p:nvSpPr>
            <p:cNvPr id="30" name="Rounded Rectangle 29"/>
            <p:cNvSpPr/>
            <p:nvPr/>
          </p:nvSpPr>
          <p:spPr>
            <a:xfrm>
              <a:off x="2003298" y="3154680"/>
              <a:ext cx="943356" cy="265176"/>
            </a:xfrm>
            <a:prstGeom prst="roundRect">
              <a:avLst>
                <a:gd name="adj" fmla="val 50000"/>
              </a:avLst>
            </a:prstGeom>
            <a:solidFill>
              <a:srgbClr val="E6ECF6"/>
            </a:solidFill>
            <a:ln>
              <a:noFill/>
            </a:ln>
          </p:spPr>
          <p:txBody>
            <a:bodyPr rtlCol="0" anchor="ctr"/>
            <a:lstStyle/>
            <a:p>
              <a:pPr algn="ctr"/>
            </a:p>
          </p:txBody>
        </p:sp>
        <p:sp>
          <p:nvSpPr>
            <p:cNvPr id="31" name="TextBox 30"/>
            <p:cNvSpPr txBox="1"/>
            <p:nvPr/>
          </p:nvSpPr>
          <p:spPr>
            <a:xfrm>
              <a:off x="2003298" y="3154680"/>
              <a:ext cx="943356" cy="265176"/>
            </a:xfrm>
            <a:prstGeom prst="rect">
              <a:avLst/>
            </a:prstGeom>
            <a:noFill/>
          </p:spPr>
          <p:txBody>
            <a:bodyPr wrap="square" lIns="0" rIns="0" tIns="0" bIns="0" anchor="ctr">
              <a:noAutofit/>
            </a:bodyPr>
            <a:lstStyle/>
            <a:p>
              <a:pPr algn="ctr"/>
              <a:r>
                <a:rPr sz="950" b="0" i="0">
                  <a:solidFill>
                    <a:srgbClr val="233F6E"/>
                  </a:solidFill>
                  <a:latin typeface="JetBrains Mono" panose="02000009000000000000" pitchFamily="49" charset="0"/>
                </a:rPr>
                <a:t>get_offers</a:t>
              </a:r>
            </a:p>
          </p:txBody>
        </p:sp>
      </p:grpSp>
      <p:grpSp>
        <p:nvGrpSpPr>
          <p:cNvPr id="32" name="Group 31"/>
          <p:cNvGrpSpPr/>
          <p:nvPr/>
        </p:nvGrpSpPr>
        <p:grpSpPr>
          <a:xfrm>
            <a:off x="3019806" y="3154680"/>
            <a:ext cx="870966" cy="265176"/>
            <a:chOff x="3019806" y="3154680"/>
            <a:chExt cx="870966" cy="265176"/>
          </a:xfrm>
        </p:grpSpPr>
        <p:sp>
          <p:nvSpPr>
            <p:cNvPr id="33" name="Rounded Rectangle 32"/>
            <p:cNvSpPr/>
            <p:nvPr/>
          </p:nvSpPr>
          <p:spPr>
            <a:xfrm>
              <a:off x="3019806" y="3154680"/>
              <a:ext cx="870966" cy="265176"/>
            </a:xfrm>
            <a:prstGeom prst="roundRect">
              <a:avLst>
                <a:gd name="adj" fmla="val 50000"/>
              </a:avLst>
            </a:prstGeom>
            <a:solidFill>
              <a:srgbClr val="E6ECF6"/>
            </a:solidFill>
            <a:ln>
              <a:noFill/>
            </a:ln>
          </p:spPr>
          <p:txBody>
            <a:bodyPr rtlCol="0" anchor="ctr"/>
            <a:lstStyle/>
            <a:p>
              <a:pPr algn="ctr"/>
            </a:p>
          </p:txBody>
        </p:sp>
        <p:sp>
          <p:nvSpPr>
            <p:cNvPr id="34" name="TextBox 33"/>
            <p:cNvSpPr txBox="1"/>
            <p:nvPr/>
          </p:nvSpPr>
          <p:spPr>
            <a:xfrm>
              <a:off x="3019806" y="3154680"/>
              <a:ext cx="870966" cy="265176"/>
            </a:xfrm>
            <a:prstGeom prst="rect">
              <a:avLst/>
            </a:prstGeom>
            <a:noFill/>
          </p:spPr>
          <p:txBody>
            <a:bodyPr wrap="square" lIns="0" rIns="0" tIns="0" bIns="0" anchor="ctr">
              <a:noAutofit/>
            </a:bodyPr>
            <a:lstStyle/>
            <a:p>
              <a:pPr algn="ctr"/>
              <a:r>
                <a:rPr sz="950" b="0" i="0">
                  <a:solidFill>
                    <a:srgbClr val="233F6E"/>
                  </a:solidFill>
                  <a:latin typeface="JetBrains Mono" panose="02000009000000000000" pitchFamily="49" charset="0"/>
                </a:rPr>
                <a:t>buy_offer</a:t>
              </a:r>
            </a:p>
          </p:txBody>
        </p:sp>
      </p:grpSp>
      <p:grpSp>
        <p:nvGrpSpPr>
          <p:cNvPr id="35" name="Group 34"/>
          <p:cNvGrpSpPr/>
          <p:nvPr/>
        </p:nvGrpSpPr>
        <p:grpSpPr>
          <a:xfrm>
            <a:off x="3963924" y="3154680"/>
            <a:ext cx="1232916" cy="265176"/>
            <a:chOff x="3963924" y="3154680"/>
            <a:chExt cx="1232916" cy="265176"/>
          </a:xfrm>
        </p:grpSpPr>
        <p:sp>
          <p:nvSpPr>
            <p:cNvPr id="36" name="Rounded Rectangle 35"/>
            <p:cNvSpPr/>
            <p:nvPr/>
          </p:nvSpPr>
          <p:spPr>
            <a:xfrm>
              <a:off x="3963924" y="3154680"/>
              <a:ext cx="1232916" cy="265176"/>
            </a:xfrm>
            <a:prstGeom prst="roundRect">
              <a:avLst>
                <a:gd name="adj" fmla="val 50000"/>
              </a:avLst>
            </a:prstGeom>
            <a:solidFill>
              <a:srgbClr val="E6ECF6"/>
            </a:solidFill>
            <a:ln>
              <a:noFill/>
            </a:ln>
          </p:spPr>
          <p:txBody>
            <a:bodyPr rtlCol="0" anchor="ctr"/>
            <a:lstStyle/>
            <a:p>
              <a:pPr algn="ctr"/>
            </a:p>
          </p:txBody>
        </p:sp>
        <p:sp>
          <p:nvSpPr>
            <p:cNvPr id="37" name="TextBox 36"/>
            <p:cNvSpPr txBox="1"/>
            <p:nvPr/>
          </p:nvSpPr>
          <p:spPr>
            <a:xfrm>
              <a:off x="3963924" y="3154680"/>
              <a:ext cx="1232916" cy="265176"/>
            </a:xfrm>
            <a:prstGeom prst="rect">
              <a:avLst/>
            </a:prstGeom>
            <a:noFill/>
          </p:spPr>
          <p:txBody>
            <a:bodyPr wrap="square" lIns="0" rIns="0" tIns="0" bIns="0" anchor="ctr">
              <a:noAutofit/>
            </a:bodyPr>
            <a:lstStyle/>
            <a:p>
              <a:pPr algn="ctr"/>
              <a:r>
                <a:rPr sz="950" b="0" i="0">
                  <a:solidFill>
                    <a:srgbClr val="233F6E"/>
                  </a:solidFill>
                  <a:latin typeface="JetBrains Mono" panose="02000009000000000000" pitchFamily="49" charset="0"/>
                </a:rPr>
                <a:t>check_approval</a:t>
              </a:r>
            </a:p>
          </p:txBody>
        </p:sp>
      </p:grpSp>
      <p:grpSp>
        <p:nvGrpSpPr>
          <p:cNvPr id="38" name="Group 37"/>
          <p:cNvGrpSpPr/>
          <p:nvPr/>
        </p:nvGrpSpPr>
        <p:grpSpPr>
          <a:xfrm>
            <a:off x="914400" y="3493008"/>
            <a:ext cx="870966" cy="265176"/>
            <a:chOff x="914400" y="3493008"/>
            <a:chExt cx="870966" cy="265176"/>
          </a:xfrm>
        </p:grpSpPr>
        <p:sp>
          <p:nvSpPr>
            <p:cNvPr id="39" name="Rounded Rectangle 38"/>
            <p:cNvSpPr/>
            <p:nvPr/>
          </p:nvSpPr>
          <p:spPr>
            <a:xfrm>
              <a:off x="914400" y="3493008"/>
              <a:ext cx="870966" cy="265176"/>
            </a:xfrm>
            <a:prstGeom prst="roundRect">
              <a:avLst>
                <a:gd name="adj" fmla="val 50000"/>
              </a:avLst>
            </a:prstGeom>
            <a:solidFill>
              <a:srgbClr val="E6ECF6"/>
            </a:solidFill>
            <a:ln>
              <a:noFill/>
            </a:ln>
          </p:spPr>
          <p:txBody>
            <a:bodyPr rtlCol="0" anchor="ctr"/>
            <a:lstStyle/>
            <a:p>
              <a:pPr algn="ctr"/>
            </a:p>
          </p:txBody>
        </p:sp>
        <p:sp>
          <p:nvSpPr>
            <p:cNvPr id="40" name="TextBox 39"/>
            <p:cNvSpPr txBox="1"/>
            <p:nvPr/>
          </p:nvSpPr>
          <p:spPr>
            <a:xfrm>
              <a:off x="914400" y="3493008"/>
              <a:ext cx="870966" cy="265176"/>
            </a:xfrm>
            <a:prstGeom prst="rect">
              <a:avLst/>
            </a:prstGeom>
            <a:noFill/>
          </p:spPr>
          <p:txBody>
            <a:bodyPr wrap="square" lIns="0" rIns="0" tIns="0" bIns="0" anchor="ctr">
              <a:noAutofit/>
            </a:bodyPr>
            <a:lstStyle/>
            <a:p>
              <a:pPr algn="ctr"/>
              <a:r>
                <a:rPr sz="950" b="0" i="0">
                  <a:solidFill>
                    <a:srgbClr val="233F6E"/>
                  </a:solidFill>
                  <a:latin typeface="JetBrains Mono" panose="02000009000000000000" pitchFamily="49" charset="0"/>
                </a:rPr>
                <a:t>get_order</a:t>
              </a:r>
            </a:p>
          </p:txBody>
        </p:sp>
      </p:grpSp>
      <p:grpSp>
        <p:nvGrpSpPr>
          <p:cNvPr id="41" name="Group 40"/>
          <p:cNvGrpSpPr/>
          <p:nvPr/>
        </p:nvGrpSpPr>
        <p:grpSpPr>
          <a:xfrm>
            <a:off x="1858518" y="3493008"/>
            <a:ext cx="943356" cy="265176"/>
            <a:chOff x="1858518" y="3493008"/>
            <a:chExt cx="943356" cy="265176"/>
          </a:xfrm>
        </p:grpSpPr>
        <p:sp>
          <p:nvSpPr>
            <p:cNvPr id="42" name="Rounded Rectangle 41"/>
            <p:cNvSpPr/>
            <p:nvPr/>
          </p:nvSpPr>
          <p:spPr>
            <a:xfrm>
              <a:off x="1858518" y="3493008"/>
              <a:ext cx="943356" cy="265176"/>
            </a:xfrm>
            <a:prstGeom prst="roundRect">
              <a:avLst>
                <a:gd name="adj" fmla="val 50000"/>
              </a:avLst>
            </a:prstGeom>
            <a:solidFill>
              <a:srgbClr val="E6ECF6"/>
            </a:solidFill>
            <a:ln>
              <a:noFill/>
            </a:ln>
          </p:spPr>
          <p:txBody>
            <a:bodyPr rtlCol="0" anchor="ctr"/>
            <a:lstStyle/>
            <a:p>
              <a:pPr algn="ctr"/>
            </a:p>
          </p:txBody>
        </p:sp>
        <p:sp>
          <p:nvSpPr>
            <p:cNvPr id="43" name="TextBox 42"/>
            <p:cNvSpPr txBox="1"/>
            <p:nvPr/>
          </p:nvSpPr>
          <p:spPr>
            <a:xfrm>
              <a:off x="1858518" y="3493008"/>
              <a:ext cx="943356" cy="265176"/>
            </a:xfrm>
            <a:prstGeom prst="rect">
              <a:avLst/>
            </a:prstGeom>
            <a:noFill/>
          </p:spPr>
          <p:txBody>
            <a:bodyPr wrap="square" lIns="0" rIns="0" tIns="0" bIns="0" anchor="ctr">
              <a:noAutofit/>
            </a:bodyPr>
            <a:lstStyle/>
            <a:p>
              <a:pPr algn="ctr"/>
              <a:r>
                <a:rPr sz="950" b="0" i="0">
                  <a:solidFill>
                    <a:srgbClr val="233F6E"/>
                  </a:solidFill>
                  <a:latin typeface="JetBrains Mono" panose="02000009000000000000" pitchFamily="49" charset="0"/>
                </a:rPr>
                <a:t>get_wallet</a:t>
              </a:r>
            </a:p>
          </p:txBody>
        </p:sp>
      </p:grpSp>
      <p:grpSp>
        <p:nvGrpSpPr>
          <p:cNvPr id="44" name="Group 43"/>
          <p:cNvGrpSpPr/>
          <p:nvPr/>
        </p:nvGrpSpPr>
        <p:grpSpPr>
          <a:xfrm>
            <a:off x="2875026" y="3493008"/>
            <a:ext cx="1088136" cy="265176"/>
            <a:chOff x="2875026" y="3493008"/>
            <a:chExt cx="1088136" cy="265176"/>
          </a:xfrm>
        </p:grpSpPr>
        <p:sp>
          <p:nvSpPr>
            <p:cNvPr id="45" name="Rounded Rectangle 44"/>
            <p:cNvSpPr/>
            <p:nvPr/>
          </p:nvSpPr>
          <p:spPr>
            <a:xfrm>
              <a:off x="2875026" y="3493008"/>
              <a:ext cx="1088136" cy="265176"/>
            </a:xfrm>
            <a:prstGeom prst="roundRect">
              <a:avLst>
                <a:gd name="adj" fmla="val 50000"/>
              </a:avLst>
            </a:prstGeom>
            <a:solidFill>
              <a:srgbClr val="E6ECF6"/>
            </a:solidFill>
            <a:ln>
              <a:noFill/>
            </a:ln>
          </p:spPr>
          <p:txBody>
            <a:bodyPr rtlCol="0" anchor="ctr"/>
            <a:lstStyle/>
            <a:p>
              <a:pPr algn="ctr"/>
            </a:p>
          </p:txBody>
        </p:sp>
        <p:sp>
          <p:nvSpPr>
            <p:cNvPr id="46" name="TextBox 45"/>
            <p:cNvSpPr txBox="1"/>
            <p:nvPr/>
          </p:nvSpPr>
          <p:spPr>
            <a:xfrm>
              <a:off x="2875026" y="3493008"/>
              <a:ext cx="1088136" cy="265176"/>
            </a:xfrm>
            <a:prstGeom prst="rect">
              <a:avLst/>
            </a:prstGeom>
            <a:noFill/>
          </p:spPr>
          <p:txBody>
            <a:bodyPr wrap="square" lIns="0" rIns="0" tIns="0" bIns="0" anchor="ctr">
              <a:noAutofit/>
            </a:bodyPr>
            <a:lstStyle/>
            <a:p>
              <a:pPr algn="ctr"/>
              <a:r>
                <a:rPr sz="950" b="0" i="0">
                  <a:solidFill>
                    <a:srgbClr val="233F6E"/>
                  </a:solidFill>
                  <a:latin typeface="JetBrains Mono" panose="02000009000000000000" pitchFamily="49" charset="0"/>
                </a:rPr>
                <a:t>report_offer</a:t>
              </a:r>
            </a:p>
          </p:txBody>
        </p:sp>
      </p:grpSp>
      <p:grpSp>
        <p:nvGrpSpPr>
          <p:cNvPr id="47" name="Group 46"/>
          <p:cNvGrpSpPr/>
          <p:nvPr/>
        </p:nvGrpSpPr>
        <p:grpSpPr>
          <a:xfrm>
            <a:off x="4036314" y="3493008"/>
            <a:ext cx="1160526" cy="265176"/>
            <a:chOff x="4036314" y="3493008"/>
            <a:chExt cx="1160526" cy="265176"/>
          </a:xfrm>
        </p:grpSpPr>
        <p:sp>
          <p:nvSpPr>
            <p:cNvPr id="48" name="Rounded Rectangle 47"/>
            <p:cNvSpPr/>
            <p:nvPr/>
          </p:nvSpPr>
          <p:spPr>
            <a:xfrm>
              <a:off x="4036314" y="3493008"/>
              <a:ext cx="1160526" cy="265176"/>
            </a:xfrm>
            <a:prstGeom prst="roundRect">
              <a:avLst>
                <a:gd name="adj" fmla="val 50000"/>
              </a:avLst>
            </a:prstGeom>
            <a:solidFill>
              <a:srgbClr val="E6ECF6"/>
            </a:solidFill>
            <a:ln>
              <a:noFill/>
            </a:ln>
          </p:spPr>
          <p:txBody>
            <a:bodyPr rtlCol="0" anchor="ctr"/>
            <a:lstStyle/>
            <a:p>
              <a:pPr algn="ctr"/>
            </a:p>
          </p:txBody>
        </p:sp>
        <p:sp>
          <p:nvSpPr>
            <p:cNvPr id="49" name="TextBox 48"/>
            <p:cNvSpPr txBox="1"/>
            <p:nvPr/>
          </p:nvSpPr>
          <p:spPr>
            <a:xfrm>
              <a:off x="4036314" y="3493008"/>
              <a:ext cx="1160526" cy="265176"/>
            </a:xfrm>
            <a:prstGeom prst="rect">
              <a:avLst/>
            </a:prstGeom>
            <a:noFill/>
          </p:spPr>
          <p:txBody>
            <a:bodyPr wrap="square" lIns="0" rIns="0" tIns="0" bIns="0" anchor="ctr">
              <a:noAutofit/>
            </a:bodyPr>
            <a:lstStyle/>
            <a:p>
              <a:pPr algn="ctr"/>
              <a:r>
                <a:rPr sz="950" b="0" i="0">
                  <a:solidFill>
                    <a:srgbClr val="233F6E"/>
                  </a:solidFill>
                  <a:latin typeface="JetBrains Mono" panose="02000009000000000000" pitchFamily="49" charset="0"/>
                </a:rPr>
                <a:t>explain_offer</a:t>
              </a:r>
            </a:p>
          </p:txBody>
        </p:sp>
      </p:grpSp>
      <p:sp>
        <p:nvSpPr>
          <p:cNvPr id="50" name="TextBox 49"/>
          <p:cNvSpPr txBox="1"/>
          <p:nvPr/>
        </p:nvSpPr>
        <p:spPr>
          <a:xfrm>
            <a:off x="914400" y="3886200"/>
            <a:ext cx="4389120" cy="219456"/>
          </a:xfrm>
          <a:prstGeom prst="rect">
            <a:avLst/>
          </a:prstGeom>
          <a:noFill/>
        </p:spPr>
        <p:txBody>
          <a:bodyPr wrap="square" lIns="0" rIns="0" tIns="0" bIns="0" anchor="ctr">
            <a:noAutofit/>
          </a:bodyPr>
          <a:lstStyle/>
          <a:p>
            <a:pPr algn="l"/>
            <a:r>
              <a:rPr sz="950" b="1" i="0">
                <a:solidFill>
                  <a:srgbClr val="6E6658"/>
                </a:solidFill>
                <a:latin typeface="Inter" panose="020B0502030000000004" pitchFamily="34" charset="0"/>
              </a:rPr>
              <a:t>Merchant agents · 4</a:t>
            </a:r>
          </a:p>
        </p:txBody>
      </p:sp>
      <p:grpSp>
        <p:nvGrpSpPr>
          <p:cNvPr id="51" name="Group 50"/>
          <p:cNvGrpSpPr/>
          <p:nvPr/>
        </p:nvGrpSpPr>
        <p:grpSpPr>
          <a:xfrm>
            <a:off x="914400" y="4160520"/>
            <a:ext cx="1450086" cy="265176"/>
            <a:chOff x="914400" y="4160520"/>
            <a:chExt cx="1450086" cy="265176"/>
          </a:xfrm>
        </p:grpSpPr>
        <p:sp>
          <p:nvSpPr>
            <p:cNvPr id="52" name="Rounded Rectangle 51"/>
            <p:cNvSpPr/>
            <p:nvPr/>
          </p:nvSpPr>
          <p:spPr>
            <a:xfrm>
              <a:off x="914400" y="4160520"/>
              <a:ext cx="1450086" cy="265176"/>
            </a:xfrm>
            <a:prstGeom prst="roundRect">
              <a:avLst>
                <a:gd name="adj" fmla="val 50000"/>
              </a:avLst>
            </a:prstGeom>
            <a:solidFill>
              <a:srgbClr val="EFE8D9"/>
            </a:solidFill>
            <a:ln>
              <a:noFill/>
            </a:ln>
          </p:spPr>
          <p:txBody>
            <a:bodyPr rtlCol="0" anchor="ctr"/>
            <a:lstStyle/>
            <a:p>
              <a:pPr algn="ctr"/>
            </a:p>
          </p:txBody>
        </p:sp>
        <p:sp>
          <p:nvSpPr>
            <p:cNvPr id="53" name="TextBox 52"/>
            <p:cNvSpPr txBox="1"/>
            <p:nvPr/>
          </p:nvSpPr>
          <p:spPr>
            <a:xfrm>
              <a:off x="914400" y="4160520"/>
              <a:ext cx="1450086" cy="265176"/>
            </a:xfrm>
            <a:prstGeom prst="rect">
              <a:avLst/>
            </a:prstGeom>
            <a:noFill/>
          </p:spPr>
          <p:txBody>
            <a:bodyPr wrap="square" lIns="0" rIns="0" tIns="0" bIns="0" anchor="ctr">
              <a:noAutofit/>
            </a:bodyPr>
            <a:lstStyle/>
            <a:p>
              <a:pPr algn="ctr"/>
              <a:r>
                <a:rPr sz="950" b="0" i="0">
                  <a:solidFill>
                    <a:srgbClr val="6E6658"/>
                  </a:solidFill>
                  <a:latin typeface="JetBrains Mono" panose="02000009000000000000" pitchFamily="49" charset="0"/>
                </a:rPr>
                <a:t>register_merchant</a:t>
              </a:r>
            </a:p>
          </p:txBody>
        </p:sp>
      </p:grpSp>
      <p:grpSp>
        <p:nvGrpSpPr>
          <p:cNvPr id="54" name="Group 53"/>
          <p:cNvGrpSpPr/>
          <p:nvPr/>
        </p:nvGrpSpPr>
        <p:grpSpPr>
          <a:xfrm>
            <a:off x="2437638" y="4160520"/>
            <a:ext cx="1522476" cy="265176"/>
            <a:chOff x="2437638" y="4160520"/>
            <a:chExt cx="1522476" cy="265176"/>
          </a:xfrm>
        </p:grpSpPr>
        <p:sp>
          <p:nvSpPr>
            <p:cNvPr id="55" name="Rounded Rectangle 54"/>
            <p:cNvSpPr/>
            <p:nvPr/>
          </p:nvSpPr>
          <p:spPr>
            <a:xfrm>
              <a:off x="2437638" y="4160520"/>
              <a:ext cx="1522476" cy="265176"/>
            </a:xfrm>
            <a:prstGeom prst="roundRect">
              <a:avLst>
                <a:gd name="adj" fmla="val 50000"/>
              </a:avLst>
            </a:prstGeom>
            <a:solidFill>
              <a:srgbClr val="EFE8D9"/>
            </a:solidFill>
            <a:ln>
              <a:noFill/>
            </a:ln>
          </p:spPr>
          <p:txBody>
            <a:bodyPr rtlCol="0" anchor="ctr"/>
            <a:lstStyle/>
            <a:p>
              <a:pPr algn="ctr"/>
            </a:p>
          </p:txBody>
        </p:sp>
        <p:sp>
          <p:nvSpPr>
            <p:cNvPr id="56" name="TextBox 55"/>
            <p:cNvSpPr txBox="1"/>
            <p:nvPr/>
          </p:nvSpPr>
          <p:spPr>
            <a:xfrm>
              <a:off x="2437638" y="4160520"/>
              <a:ext cx="1522476" cy="265176"/>
            </a:xfrm>
            <a:prstGeom prst="rect">
              <a:avLst/>
            </a:prstGeom>
            <a:noFill/>
          </p:spPr>
          <p:txBody>
            <a:bodyPr wrap="square" lIns="0" rIns="0" tIns="0" bIns="0" anchor="ctr">
              <a:noAutofit/>
            </a:bodyPr>
            <a:lstStyle/>
            <a:p>
              <a:pPr algn="ctr"/>
              <a:r>
                <a:rPr sz="950" b="0" i="0">
                  <a:solidFill>
                    <a:srgbClr val="6E6658"/>
                  </a:solidFill>
                  <a:latin typeface="JetBrains Mono" panose="02000009000000000000" pitchFamily="49" charset="0"/>
                </a:rPr>
                <a:t>list_open_requests</a:t>
              </a:r>
            </a:p>
          </p:txBody>
        </p:sp>
      </p:grpSp>
      <p:grpSp>
        <p:nvGrpSpPr>
          <p:cNvPr id="57" name="Group 56"/>
          <p:cNvGrpSpPr/>
          <p:nvPr/>
        </p:nvGrpSpPr>
        <p:grpSpPr>
          <a:xfrm>
            <a:off x="4033266" y="4160520"/>
            <a:ext cx="870966" cy="265176"/>
            <a:chOff x="4033266" y="4160520"/>
            <a:chExt cx="870966" cy="265176"/>
          </a:xfrm>
        </p:grpSpPr>
        <p:sp>
          <p:nvSpPr>
            <p:cNvPr id="58" name="Rounded Rectangle 57"/>
            <p:cNvSpPr/>
            <p:nvPr/>
          </p:nvSpPr>
          <p:spPr>
            <a:xfrm>
              <a:off x="4033266" y="4160520"/>
              <a:ext cx="870966" cy="265176"/>
            </a:xfrm>
            <a:prstGeom prst="roundRect">
              <a:avLst>
                <a:gd name="adj" fmla="val 50000"/>
              </a:avLst>
            </a:prstGeom>
            <a:solidFill>
              <a:srgbClr val="EFE8D9"/>
            </a:solidFill>
            <a:ln>
              <a:noFill/>
            </a:ln>
          </p:spPr>
          <p:txBody>
            <a:bodyPr rtlCol="0" anchor="ctr"/>
            <a:lstStyle/>
            <a:p>
              <a:pPr algn="ctr"/>
            </a:p>
          </p:txBody>
        </p:sp>
        <p:sp>
          <p:nvSpPr>
            <p:cNvPr id="59" name="TextBox 58"/>
            <p:cNvSpPr txBox="1"/>
            <p:nvPr/>
          </p:nvSpPr>
          <p:spPr>
            <a:xfrm>
              <a:off x="4033266" y="4160520"/>
              <a:ext cx="870966" cy="265176"/>
            </a:xfrm>
            <a:prstGeom prst="rect">
              <a:avLst/>
            </a:prstGeom>
            <a:noFill/>
          </p:spPr>
          <p:txBody>
            <a:bodyPr wrap="square" lIns="0" rIns="0" tIns="0" bIns="0" anchor="ctr">
              <a:noAutofit/>
            </a:bodyPr>
            <a:lstStyle/>
            <a:p>
              <a:pPr algn="ctr"/>
              <a:r>
                <a:rPr sz="950" b="0" i="0">
                  <a:solidFill>
                    <a:srgbClr val="6E6658"/>
                  </a:solidFill>
                  <a:latin typeface="JetBrains Mono" panose="02000009000000000000" pitchFamily="49" charset="0"/>
                </a:rPr>
                <a:t>place_bid</a:t>
              </a:r>
            </a:p>
          </p:txBody>
        </p:sp>
      </p:grpSp>
      <p:grpSp>
        <p:nvGrpSpPr>
          <p:cNvPr id="60" name="Group 59"/>
          <p:cNvGrpSpPr/>
          <p:nvPr/>
        </p:nvGrpSpPr>
        <p:grpSpPr>
          <a:xfrm>
            <a:off x="914400" y="4498848"/>
            <a:ext cx="1232916" cy="265176"/>
            <a:chOff x="914400" y="4498848"/>
            <a:chExt cx="1232916" cy="265176"/>
          </a:xfrm>
        </p:grpSpPr>
        <p:sp>
          <p:nvSpPr>
            <p:cNvPr id="61" name="Rounded Rectangle 60"/>
            <p:cNvSpPr/>
            <p:nvPr/>
          </p:nvSpPr>
          <p:spPr>
            <a:xfrm>
              <a:off x="914400" y="4498848"/>
              <a:ext cx="1232916" cy="265176"/>
            </a:xfrm>
            <a:prstGeom prst="roundRect">
              <a:avLst>
                <a:gd name="adj" fmla="val 50000"/>
              </a:avLst>
            </a:prstGeom>
            <a:solidFill>
              <a:srgbClr val="EFE8D9"/>
            </a:solidFill>
            <a:ln>
              <a:noFill/>
            </a:ln>
          </p:spPr>
          <p:txBody>
            <a:bodyPr rtlCol="0" anchor="ctr"/>
            <a:lstStyle/>
            <a:p>
              <a:pPr algn="ctr"/>
            </a:p>
          </p:txBody>
        </p:sp>
        <p:sp>
          <p:nvSpPr>
            <p:cNvPr id="62" name="TextBox 61"/>
            <p:cNvSpPr txBox="1"/>
            <p:nvPr/>
          </p:nvSpPr>
          <p:spPr>
            <a:xfrm>
              <a:off x="914400" y="4498848"/>
              <a:ext cx="1232916" cy="265176"/>
            </a:xfrm>
            <a:prstGeom prst="rect">
              <a:avLst/>
            </a:prstGeom>
            <a:noFill/>
          </p:spPr>
          <p:txBody>
            <a:bodyPr wrap="square" lIns="0" rIns="0" tIns="0" bIns="0" anchor="ctr">
              <a:noAutofit/>
            </a:bodyPr>
            <a:lstStyle/>
            <a:p>
              <a:pPr algn="ctr"/>
              <a:r>
                <a:rPr sz="950" b="0" i="0">
                  <a:solidFill>
                    <a:srgbClr val="6E6658"/>
                  </a:solidFill>
                  <a:latin typeface="JetBrains Mono" panose="02000009000000000000" pitchFamily="49" charset="0"/>
                </a:rPr>
                <a:t>get_my_results</a:t>
              </a:r>
            </a:p>
          </p:txBody>
        </p:sp>
      </p:grpSp>
      <p:sp>
        <p:nvSpPr>
          <p:cNvPr id="63" name="TextBox 62"/>
          <p:cNvSpPr txBox="1"/>
          <p:nvPr/>
        </p:nvSpPr>
        <p:spPr>
          <a:xfrm>
            <a:off x="914400" y="4892040"/>
            <a:ext cx="4389120" cy="219456"/>
          </a:xfrm>
          <a:prstGeom prst="rect">
            <a:avLst/>
          </a:prstGeom>
          <a:noFill/>
        </p:spPr>
        <p:txBody>
          <a:bodyPr wrap="square" lIns="0" rIns="0" tIns="0" bIns="0" anchor="ctr">
            <a:noAutofit/>
          </a:bodyPr>
          <a:lstStyle/>
          <a:p>
            <a:pPr algn="l"/>
            <a:r>
              <a:rPr sz="950" b="1" i="0">
                <a:solidFill>
                  <a:srgbClr val="6E6658"/>
                </a:solidFill>
                <a:latin typeface="Inter" panose="020B0502030000000004" pitchFamily="34" charset="0"/>
              </a:rPr>
              <a:t>Resources and prompts</a:t>
            </a:r>
          </a:p>
        </p:txBody>
      </p:sp>
      <p:grpSp>
        <p:nvGrpSpPr>
          <p:cNvPr id="64" name="Group 63"/>
          <p:cNvGrpSpPr/>
          <p:nvPr/>
        </p:nvGrpSpPr>
        <p:grpSpPr>
          <a:xfrm>
            <a:off x="914400" y="5166360"/>
            <a:ext cx="1956816" cy="265176"/>
            <a:chOff x="914400" y="5166360"/>
            <a:chExt cx="1956816" cy="265176"/>
          </a:xfrm>
        </p:grpSpPr>
        <p:sp>
          <p:nvSpPr>
            <p:cNvPr id="65" name="Rounded Rectangle 64"/>
            <p:cNvSpPr/>
            <p:nvPr/>
          </p:nvSpPr>
          <p:spPr>
            <a:xfrm>
              <a:off x="914400" y="5166360"/>
              <a:ext cx="1956816" cy="265176"/>
            </a:xfrm>
            <a:prstGeom prst="roundRect">
              <a:avLst>
                <a:gd name="adj" fmla="val 50000"/>
              </a:avLst>
            </a:prstGeom>
            <a:solidFill>
              <a:srgbClr val="FFFDF7"/>
            </a:solidFill>
            <a:ln w="9525">
              <a:solidFill>
                <a:srgbClr val="CFC3AA"/>
              </a:solidFill>
            </a:ln>
          </p:spPr>
          <p:txBody>
            <a:bodyPr rtlCol="0" anchor="ctr"/>
            <a:lstStyle/>
            <a:p>
              <a:pPr algn="ctr"/>
            </a:p>
          </p:txBody>
        </p:sp>
        <p:sp>
          <p:nvSpPr>
            <p:cNvPr id="66" name="TextBox 65"/>
            <p:cNvSpPr txBox="1"/>
            <p:nvPr/>
          </p:nvSpPr>
          <p:spPr>
            <a:xfrm>
              <a:off x="914400" y="5166360"/>
              <a:ext cx="1956816" cy="265176"/>
            </a:xfrm>
            <a:prstGeom prst="rect">
              <a:avLst/>
            </a:prstGeom>
            <a:noFill/>
          </p:spPr>
          <p:txBody>
            <a:bodyPr wrap="square" lIns="0" rIns="0" tIns="0" bIns="0" anchor="ctr">
              <a:noAutofit/>
            </a:bodyPr>
            <a:lstStyle/>
            <a:p>
              <a:pPr algn="ctr"/>
              <a:r>
                <a:rPr sz="950" b="0" i="0">
                  <a:solidFill>
                    <a:srgbClr val="6E6658"/>
                  </a:solidFill>
                  <a:latin typeface="JetBrains Mono" panose="02000009000000000000" pitchFamily="49" charset="0"/>
                </a:rPr>
                <a:t>bidwire://ranking-policy</a:t>
              </a:r>
            </a:p>
          </p:txBody>
        </p:sp>
      </p:grpSp>
      <p:grpSp>
        <p:nvGrpSpPr>
          <p:cNvPr id="67" name="Group 66"/>
          <p:cNvGrpSpPr/>
          <p:nvPr/>
        </p:nvGrpSpPr>
        <p:grpSpPr>
          <a:xfrm>
            <a:off x="2944368" y="5166360"/>
            <a:ext cx="1667256" cy="265176"/>
            <a:chOff x="2944368" y="5166360"/>
            <a:chExt cx="1667256" cy="265176"/>
          </a:xfrm>
        </p:grpSpPr>
        <p:sp>
          <p:nvSpPr>
            <p:cNvPr id="68" name="Rounded Rectangle 67"/>
            <p:cNvSpPr/>
            <p:nvPr/>
          </p:nvSpPr>
          <p:spPr>
            <a:xfrm>
              <a:off x="2944368" y="5166360"/>
              <a:ext cx="1667256" cy="265176"/>
            </a:xfrm>
            <a:prstGeom prst="roundRect">
              <a:avLst>
                <a:gd name="adj" fmla="val 50000"/>
              </a:avLst>
            </a:prstGeom>
            <a:solidFill>
              <a:srgbClr val="FFFDF7"/>
            </a:solidFill>
            <a:ln w="9525">
              <a:solidFill>
                <a:srgbClr val="CFC3AA"/>
              </a:solidFill>
            </a:ln>
          </p:spPr>
          <p:txBody>
            <a:bodyPr rtlCol="0" anchor="ctr"/>
            <a:lstStyle/>
            <a:p>
              <a:pPr algn="ctr"/>
            </a:p>
          </p:txBody>
        </p:sp>
        <p:sp>
          <p:nvSpPr>
            <p:cNvPr id="69" name="TextBox 68"/>
            <p:cNvSpPr txBox="1"/>
            <p:nvPr/>
          </p:nvSpPr>
          <p:spPr>
            <a:xfrm>
              <a:off x="2944368" y="5166360"/>
              <a:ext cx="1667256" cy="265176"/>
            </a:xfrm>
            <a:prstGeom prst="rect">
              <a:avLst/>
            </a:prstGeom>
            <a:noFill/>
          </p:spPr>
          <p:txBody>
            <a:bodyPr wrap="square" lIns="0" rIns="0" tIns="0" bIns="0" anchor="ctr">
              <a:noAutofit/>
            </a:bodyPr>
            <a:lstStyle/>
            <a:p>
              <a:pPr algn="ctr"/>
              <a:r>
                <a:rPr sz="950" b="0" i="0">
                  <a:solidFill>
                    <a:srgbClr val="6E6658"/>
                  </a:solidFill>
                  <a:latin typeface="JetBrains Mono" panose="02000009000000000000" pitchFamily="49" charset="0"/>
                </a:rPr>
                <a:t>bidwire://categories</a:t>
              </a:r>
            </a:p>
          </p:txBody>
        </p:sp>
      </p:grpSp>
      <p:grpSp>
        <p:nvGrpSpPr>
          <p:cNvPr id="70" name="Group 69"/>
          <p:cNvGrpSpPr/>
          <p:nvPr/>
        </p:nvGrpSpPr>
        <p:grpSpPr>
          <a:xfrm>
            <a:off x="914400" y="5504688"/>
            <a:ext cx="1739646" cy="265176"/>
            <a:chOff x="914400" y="5504688"/>
            <a:chExt cx="1739646" cy="265176"/>
          </a:xfrm>
        </p:grpSpPr>
        <p:sp>
          <p:nvSpPr>
            <p:cNvPr id="71" name="Rounded Rectangle 70"/>
            <p:cNvSpPr/>
            <p:nvPr/>
          </p:nvSpPr>
          <p:spPr>
            <a:xfrm>
              <a:off x="914400" y="5504688"/>
              <a:ext cx="1739646" cy="265176"/>
            </a:xfrm>
            <a:prstGeom prst="roundRect">
              <a:avLst>
                <a:gd name="adj" fmla="val 50000"/>
              </a:avLst>
            </a:prstGeom>
            <a:solidFill>
              <a:srgbClr val="FFFDF7"/>
            </a:solidFill>
            <a:ln w="9525">
              <a:solidFill>
                <a:srgbClr val="CFC3AA"/>
              </a:solidFill>
            </a:ln>
          </p:spPr>
          <p:txBody>
            <a:bodyPr rtlCol="0" anchor="ctr"/>
            <a:lstStyle/>
            <a:p>
              <a:pPr algn="ctr"/>
            </a:p>
          </p:txBody>
        </p:sp>
        <p:sp>
          <p:nvSpPr>
            <p:cNvPr id="72" name="TextBox 71"/>
            <p:cNvSpPr txBox="1"/>
            <p:nvPr/>
          </p:nvSpPr>
          <p:spPr>
            <a:xfrm>
              <a:off x="914400" y="5504688"/>
              <a:ext cx="1739646" cy="265176"/>
            </a:xfrm>
            <a:prstGeom prst="rect">
              <a:avLst/>
            </a:prstGeom>
            <a:noFill/>
          </p:spPr>
          <p:txBody>
            <a:bodyPr wrap="square" lIns="0" rIns="0" tIns="0" bIns="0" anchor="ctr">
              <a:noAutofit/>
            </a:bodyPr>
            <a:lstStyle/>
            <a:p>
              <a:pPr algn="ctr"/>
              <a:r>
                <a:rPr sz="950" b="0" i="0">
                  <a:solidFill>
                    <a:srgbClr val="6E6658"/>
                  </a:solidFill>
                  <a:latin typeface="JetBrains Mono" panose="02000009000000000000" pitchFamily="49" charset="0"/>
                </a:rPr>
                <a:t>bidwire://agent-guide</a:t>
              </a:r>
            </a:p>
          </p:txBody>
        </p:sp>
      </p:grpSp>
      <p:grpSp>
        <p:nvGrpSpPr>
          <p:cNvPr id="73" name="Group 72"/>
          <p:cNvGrpSpPr/>
          <p:nvPr/>
        </p:nvGrpSpPr>
        <p:grpSpPr>
          <a:xfrm>
            <a:off x="2727198" y="5504688"/>
            <a:ext cx="1015746" cy="265176"/>
            <a:chOff x="2727198" y="5504688"/>
            <a:chExt cx="1015746" cy="265176"/>
          </a:xfrm>
        </p:grpSpPr>
        <p:sp>
          <p:nvSpPr>
            <p:cNvPr id="74" name="Rounded Rectangle 73"/>
            <p:cNvSpPr/>
            <p:nvPr/>
          </p:nvSpPr>
          <p:spPr>
            <a:xfrm>
              <a:off x="2727198" y="5504688"/>
              <a:ext cx="1015746" cy="265176"/>
            </a:xfrm>
            <a:prstGeom prst="roundRect">
              <a:avLst>
                <a:gd name="adj" fmla="val 50000"/>
              </a:avLst>
            </a:prstGeom>
            <a:solidFill>
              <a:srgbClr val="FFFDF7"/>
            </a:solidFill>
            <a:ln w="9525">
              <a:solidFill>
                <a:srgbClr val="CFC3AA"/>
              </a:solidFill>
            </a:ln>
          </p:spPr>
          <p:txBody>
            <a:bodyPr rtlCol="0" anchor="ctr"/>
            <a:lstStyle/>
            <a:p>
              <a:pPr algn="ctr"/>
            </a:p>
          </p:txBody>
        </p:sp>
        <p:sp>
          <p:nvSpPr>
            <p:cNvPr id="75" name="TextBox 74"/>
            <p:cNvSpPr txBox="1"/>
            <p:nvPr/>
          </p:nvSpPr>
          <p:spPr>
            <a:xfrm>
              <a:off x="2727198" y="5504688"/>
              <a:ext cx="1015746" cy="265176"/>
            </a:xfrm>
            <a:prstGeom prst="rect">
              <a:avLst/>
            </a:prstGeom>
            <a:noFill/>
          </p:spPr>
          <p:txBody>
            <a:bodyPr wrap="square" lIns="0" rIns="0" tIns="0" bIns="0" anchor="ctr">
              <a:noAutofit/>
            </a:bodyPr>
            <a:lstStyle/>
            <a:p>
              <a:pPr algn="ctr"/>
              <a:r>
                <a:rPr sz="950" b="0" i="0">
                  <a:solidFill>
                    <a:srgbClr val="6E6658"/>
                  </a:solidFill>
                  <a:latin typeface="JetBrains Mono" panose="02000009000000000000" pitchFamily="49" charset="0"/>
                </a:rPr>
                <a:t>shop_for_me</a:t>
              </a:r>
            </a:p>
          </p:txBody>
        </p:sp>
      </p:grpSp>
      <p:grpSp>
        <p:nvGrpSpPr>
          <p:cNvPr id="76" name="Group 75"/>
          <p:cNvGrpSpPr/>
          <p:nvPr/>
        </p:nvGrpSpPr>
        <p:grpSpPr>
          <a:xfrm>
            <a:off x="3816096" y="5504688"/>
            <a:ext cx="1305306" cy="265176"/>
            <a:chOff x="3816096" y="5504688"/>
            <a:chExt cx="1305306" cy="265176"/>
          </a:xfrm>
        </p:grpSpPr>
        <p:sp>
          <p:nvSpPr>
            <p:cNvPr id="77" name="Rounded Rectangle 76"/>
            <p:cNvSpPr/>
            <p:nvPr/>
          </p:nvSpPr>
          <p:spPr>
            <a:xfrm>
              <a:off x="3816096" y="5504688"/>
              <a:ext cx="1305306" cy="265176"/>
            </a:xfrm>
            <a:prstGeom prst="roundRect">
              <a:avLst>
                <a:gd name="adj" fmla="val 50000"/>
              </a:avLst>
            </a:prstGeom>
            <a:solidFill>
              <a:srgbClr val="FFFDF7"/>
            </a:solidFill>
            <a:ln w="9525">
              <a:solidFill>
                <a:srgbClr val="CFC3AA"/>
              </a:solidFill>
            </a:ln>
          </p:spPr>
          <p:txBody>
            <a:bodyPr rtlCol="0" anchor="ctr"/>
            <a:lstStyle/>
            <a:p>
              <a:pPr algn="ctr"/>
            </a:p>
          </p:txBody>
        </p:sp>
        <p:sp>
          <p:nvSpPr>
            <p:cNvPr id="78" name="TextBox 77"/>
            <p:cNvSpPr txBox="1"/>
            <p:nvPr/>
          </p:nvSpPr>
          <p:spPr>
            <a:xfrm>
              <a:off x="3816096" y="5504688"/>
              <a:ext cx="1305306" cy="265176"/>
            </a:xfrm>
            <a:prstGeom prst="rect">
              <a:avLst/>
            </a:prstGeom>
            <a:noFill/>
          </p:spPr>
          <p:txBody>
            <a:bodyPr wrap="square" lIns="0" rIns="0" tIns="0" bIns="0" anchor="ctr">
              <a:noAutofit/>
            </a:bodyPr>
            <a:lstStyle/>
            <a:p>
              <a:pPr algn="ctr"/>
              <a:r>
                <a:rPr sz="950" b="0" i="0">
                  <a:solidFill>
                    <a:srgbClr val="6E6658"/>
                  </a:solidFill>
                  <a:latin typeface="JetBrains Mono" panose="02000009000000000000" pitchFamily="49" charset="0"/>
                </a:rPr>
                <a:t>sell_on_bidwire</a:t>
              </a:r>
            </a:p>
          </p:txBody>
        </p:sp>
      </p:grpSp>
      <p:sp>
        <p:nvSpPr>
          <p:cNvPr id="79" name="TextBox 78"/>
          <p:cNvSpPr txBox="1"/>
          <p:nvPr/>
        </p:nvSpPr>
        <p:spPr>
          <a:xfrm>
            <a:off x="914400" y="5852160"/>
            <a:ext cx="4389120" cy="274320"/>
          </a:xfrm>
          <a:prstGeom prst="rect">
            <a:avLst/>
          </a:prstGeom>
          <a:noFill/>
        </p:spPr>
        <p:txBody>
          <a:bodyPr wrap="square" lIns="0" rIns="0" tIns="0" bIns="0" anchor="ctr">
            <a:noAutofit/>
          </a:bodyPr>
          <a:lstStyle/>
          <a:p>
            <a:pPr algn="l"/>
            <a:r>
              <a:rPr sz="900" b="0" i="0">
                <a:solidFill>
                  <a:srgbClr val="9C937F"/>
                </a:solidFill>
                <a:latin typeface="Inter" panose="020B0502030000000004" pitchFamily="34" charset="0"/>
              </a:rPr>
              <a:t>Built on mcp-use (Manufact) · TypeScript · streamable HTTP at /mcp</a:t>
            </a:r>
          </a:p>
        </p:txBody>
      </p:sp>
      <p:grpSp>
        <p:nvGrpSpPr>
          <p:cNvPr id="80" name="Group 79"/>
          <p:cNvGrpSpPr/>
          <p:nvPr/>
        </p:nvGrpSpPr>
        <p:grpSpPr>
          <a:xfrm>
            <a:off x="5760720" y="1691640"/>
            <a:ext cx="5745175" cy="2331720"/>
            <a:chOff x="5760720" y="1691640"/>
            <a:chExt cx="5745175" cy="2331720"/>
          </a:xfrm>
        </p:grpSpPr>
        <p:sp>
          <p:nvSpPr>
            <p:cNvPr id="81" name="Rounded Rectangle 80"/>
            <p:cNvSpPr/>
            <p:nvPr/>
          </p:nvSpPr>
          <p:spPr>
            <a:xfrm>
              <a:off x="5760720" y="1691640"/>
              <a:ext cx="5745175" cy="2331720"/>
            </a:xfrm>
            <a:prstGeom prst="roundRect">
              <a:avLst>
                <a:gd name="adj" fmla="val 3921"/>
              </a:avLst>
            </a:prstGeom>
            <a:solidFill>
              <a:srgbClr val="0F0E0C"/>
            </a:solidFill>
            <a:ln>
              <a:noFill/>
            </a:ln>
            <a:effectLst>
              <a:outerShdw blurRad="384048" dist="109728" dir="5400000" algn="t" rotWithShape="0">
                <a:srgbClr val="16130E">
                  <a:alpha val="12000"/>
                </a:srgbClr>
              </a:outerShdw>
            </a:effectLst>
          </p:spPr>
          <p:txBody>
            <a:bodyPr rtlCol="0" anchor="ctr"/>
            <a:lstStyle/>
            <a:p>
              <a:pPr algn="ctr"/>
            </a:p>
          </p:txBody>
        </p:sp>
        <p:sp>
          <p:nvSpPr>
            <p:cNvPr id="82" name="Rounded Rectangle 81"/>
            <p:cNvSpPr/>
            <p:nvPr/>
          </p:nvSpPr>
          <p:spPr>
            <a:xfrm>
              <a:off x="5824728" y="1755648"/>
              <a:ext cx="5617159" cy="2203704"/>
            </a:xfrm>
            <a:prstGeom prst="roundRect">
              <a:avLst>
                <a:gd name="adj" fmla="val 2489"/>
              </a:avLst>
            </a:prstGeom>
            <a:noFill/>
            <a:ln w="9525">
              <a:solidFill>
                <a:srgbClr val="B0894F">
                  <a:alpha val="60000"/>
                </a:srgbClr>
              </a:solidFill>
            </a:ln>
          </p:spPr>
          <p:txBody>
            <a:bodyPr rtlCol="0" anchor="ctr"/>
            <a:lstStyle/>
            <a:p>
              <a:pPr algn="ctr"/>
            </a:p>
          </p:txBody>
        </p:sp>
        <p:sp>
          <p:nvSpPr>
            <p:cNvPr id="83" name="TextBox 82"/>
            <p:cNvSpPr txBox="1"/>
            <p:nvPr/>
          </p:nvSpPr>
          <p:spPr>
            <a:xfrm>
              <a:off x="6035040" y="1828800"/>
              <a:ext cx="5196535" cy="219456"/>
            </a:xfrm>
            <a:prstGeom prst="rect">
              <a:avLst/>
            </a:prstGeom>
            <a:noFill/>
          </p:spPr>
          <p:txBody>
            <a:bodyPr wrap="square" lIns="0" rIns="0" tIns="0" bIns="0" anchor="ctr">
              <a:noAutofit/>
            </a:bodyPr>
            <a:lstStyle/>
            <a:p>
              <a:pPr algn="l"/>
              <a:r>
                <a:rPr sz="800" b="1" i="0" spc="110">
                  <a:solidFill>
                    <a:srgbClr val="B0894F"/>
                  </a:solidFill>
                  <a:latin typeface="Inter" panose="020B0502030000000004" pitchFamily="34" charset="0"/>
                </a:rPr>
                <a:t>TWO CALLS FROM ANY MCP CLIENT</a:t>
              </a:r>
            </a:p>
          </p:txBody>
        </p:sp>
      </p:grpSp>
      <p:sp>
        <p:nvSpPr>
          <p:cNvPr id="84" name="TextBox 83"/>
          <p:cNvSpPr txBox="1"/>
          <p:nvPr/>
        </p:nvSpPr>
        <p:spPr>
          <a:xfrm>
            <a:off x="6035040" y="2148840"/>
            <a:ext cx="5333695" cy="310896"/>
          </a:xfrm>
          <a:prstGeom prst="rect">
            <a:avLst/>
          </a:prstGeom>
          <a:noFill/>
        </p:spPr>
        <p:txBody>
          <a:bodyPr wrap="none" lIns="0" rIns="0" tIns="0" bIns="0" anchor="ctr">
            <a:noAutofit/>
          </a:bodyPr>
          <a:lstStyle/>
          <a:p>
            <a:pPr algn="l"/>
            <a:r>
              <a:rPr sz="1050" b="0" i="0">
                <a:solidFill>
                  <a:srgbClr val="8C8270"/>
                </a:solidFill>
                <a:latin typeface="JetBrains Mono" panose="02000009000000000000" pitchFamily="49" charset="0"/>
              </a:rPr>
              <a:t>→</a:t>
            </a:r>
            <a:r>
              <a:rPr sz="1050" b="0" i="0">
                <a:solidFill>
                  <a:srgbClr val="F3E9D2"/>
                </a:solidFill>
                <a:latin typeface="JetBrains Mono" panose="02000009000000000000" pitchFamily="49" charset="0"/>
              </a:rPr>
              <a:t> </a:t>
            </a:r>
            <a:r>
              <a:rPr sz="1050" b="1" i="0">
                <a:solidFill>
                  <a:srgbClr val="F3E9D2"/>
                </a:solidFill>
                <a:latin typeface="JetBrains Mono" panose="02000009000000000000" pitchFamily="49" charset="0"/>
              </a:rPr>
              <a:t>find_offers</a:t>
            </a:r>
            <a:r>
              <a:rPr sz="1050" b="0" i="0">
                <a:solidFill>
                  <a:srgbClr val="F3E9D2"/>
                </a:solidFill>
                <a:latin typeface="JetBrains Mono" panose="02000009000000000000" pitchFamily="49" charset="0"/>
              </a:rPr>
              <a:t>({ need: </a:t>
            </a:r>
            <a:r>
              <a:rPr sz="1050" b="0" i="0">
                <a:solidFill>
                  <a:srgbClr val="B9D8A8"/>
                </a:solidFill>
                <a:latin typeface="JetBrains Mono" panose="02000009000000000000" pitchFamily="49" charset="0"/>
              </a:rPr>
              <a:t>"noise cancelling headphones"</a:t>
            </a:r>
            <a:r>
              <a:rPr sz="1050" b="0" i="0">
                <a:solidFill>
                  <a:srgbClr val="F3E9D2"/>
                </a:solidFill>
                <a:latin typeface="JetBrains Mono" panose="02000009000000000000" pitchFamily="49" charset="0"/>
              </a:rPr>
              <a:t>,</a:t>
            </a:r>
          </a:p>
        </p:txBody>
      </p:sp>
      <p:sp>
        <p:nvSpPr>
          <p:cNvPr id="85" name="TextBox 84"/>
          <p:cNvSpPr txBox="1"/>
          <p:nvPr/>
        </p:nvSpPr>
        <p:spPr>
          <a:xfrm>
            <a:off x="6035040" y="2496312"/>
            <a:ext cx="5333695" cy="310896"/>
          </a:xfrm>
          <a:prstGeom prst="rect">
            <a:avLst/>
          </a:prstGeom>
          <a:noFill/>
        </p:spPr>
        <p:txBody>
          <a:bodyPr wrap="none" lIns="0" rIns="0" tIns="0" bIns="0" anchor="ctr">
            <a:noAutofit/>
          </a:bodyPr>
          <a:lstStyle/>
          <a:p>
            <a:pPr algn="l"/>
            <a:r>
              <a:rPr sz="1050" b="0" i="0">
                <a:solidFill>
                  <a:srgbClr val="F3E9D2"/>
                </a:solidFill>
                <a:latin typeface="JetBrains Mono" panose="02000009000000000000" pitchFamily="49" charset="0"/>
              </a:rPr>
              <a:t>                budget_usd: </a:t>
            </a:r>
            <a:r>
              <a:rPr sz="1050" b="0" i="0">
                <a:solidFill>
                  <a:srgbClr val="E9B44C"/>
                </a:solidFill>
                <a:latin typeface="JetBrains Mono" panose="02000009000000000000" pitchFamily="49" charset="0"/>
              </a:rPr>
              <a:t>400</a:t>
            </a:r>
            <a:r>
              <a:rPr sz="1050" b="0" i="0">
                <a:solidFill>
                  <a:srgbClr val="F3E9D2"/>
                </a:solidFill>
                <a:latin typeface="JetBrains Mono" panose="02000009000000000000" pitchFamily="49" charset="0"/>
              </a:rPr>
              <a:t>, deliver_within_days: </a:t>
            </a:r>
            <a:r>
              <a:rPr sz="1050" b="0" i="0">
                <a:solidFill>
                  <a:srgbClr val="E9B44C"/>
                </a:solidFill>
                <a:latin typeface="JetBrains Mono" panose="02000009000000000000" pitchFamily="49" charset="0"/>
              </a:rPr>
              <a:t>5</a:t>
            </a:r>
            <a:r>
              <a:rPr sz="1050" b="0" i="0">
                <a:solidFill>
                  <a:srgbClr val="F3E9D2"/>
                </a:solidFill>
                <a:latin typeface="JetBrains Mono" panose="02000009000000000000" pitchFamily="49" charset="0"/>
              </a:rPr>
              <a:t> })</a:t>
            </a:r>
          </a:p>
        </p:txBody>
      </p:sp>
      <p:sp>
        <p:nvSpPr>
          <p:cNvPr id="86" name="TextBox 85"/>
          <p:cNvSpPr txBox="1"/>
          <p:nvPr/>
        </p:nvSpPr>
        <p:spPr>
          <a:xfrm>
            <a:off x="6035040" y="2843784"/>
            <a:ext cx="5333695" cy="310896"/>
          </a:xfrm>
          <a:prstGeom prst="rect">
            <a:avLst/>
          </a:prstGeom>
          <a:noFill/>
        </p:spPr>
        <p:txBody>
          <a:bodyPr wrap="none" lIns="0" rIns="0" tIns="0" bIns="0" anchor="ctr">
            <a:noAutofit/>
          </a:bodyPr>
          <a:lstStyle/>
          <a:p>
            <a:pPr algn="l"/>
            <a:r>
              <a:rPr sz="1050" b="0" i="0">
                <a:solidFill>
                  <a:srgbClr val="8C8270"/>
                </a:solidFill>
                <a:latin typeface="JetBrains Mono" panose="02000009000000000000" pitchFamily="49" charset="0"/>
              </a:rPr>
              <a:t>← 7 paddles → 5 verified · 2 withdrawn · ranked</a:t>
            </a:r>
          </a:p>
        </p:txBody>
      </p:sp>
      <p:sp>
        <p:nvSpPr>
          <p:cNvPr id="87" name="TextBox 86"/>
          <p:cNvSpPr txBox="1"/>
          <p:nvPr/>
        </p:nvSpPr>
        <p:spPr>
          <a:xfrm>
            <a:off x="6035040" y="3191256"/>
            <a:ext cx="5333695" cy="310896"/>
          </a:xfrm>
          <a:prstGeom prst="rect">
            <a:avLst/>
          </a:prstGeom>
          <a:noFill/>
        </p:spPr>
        <p:txBody>
          <a:bodyPr wrap="none" lIns="0" rIns="0" tIns="0" bIns="0" anchor="ctr">
            <a:noAutofit/>
          </a:bodyPr>
          <a:lstStyle/>
          <a:p>
            <a:pPr algn="l"/>
            <a:r>
              <a:rPr sz="1050" b="0" i="0">
                <a:solidFill>
                  <a:srgbClr val="8C8270"/>
                </a:solidFill>
                <a:latin typeface="JetBrains Mono" panose="02000009000000000000" pitchFamily="49" charset="0"/>
              </a:rPr>
              <a:t>→</a:t>
            </a:r>
            <a:r>
              <a:rPr sz="1050" b="0" i="0">
                <a:solidFill>
                  <a:srgbClr val="F3E9D2"/>
                </a:solidFill>
                <a:latin typeface="JetBrains Mono" panose="02000009000000000000" pitchFamily="49" charset="0"/>
              </a:rPr>
              <a:t> </a:t>
            </a:r>
            <a:r>
              <a:rPr sz="1050" b="1" i="0">
                <a:solidFill>
                  <a:srgbClr val="F3E9D2"/>
                </a:solidFill>
                <a:latin typeface="JetBrains Mono" panose="02000009000000000000" pitchFamily="49" charset="0"/>
              </a:rPr>
              <a:t>buy_offer</a:t>
            </a:r>
            <a:r>
              <a:rPr sz="1050" b="0" i="0">
                <a:solidFill>
                  <a:srgbClr val="F3E9D2"/>
                </a:solidFill>
                <a:latin typeface="JetBrains Mono" panose="02000009000000000000" pitchFamily="49" charset="0"/>
              </a:rPr>
              <a:t>({ offer_id: </a:t>
            </a:r>
            <a:r>
              <a:rPr sz="1050" b="0" i="0">
                <a:solidFill>
                  <a:srgbClr val="B9D8A8"/>
                </a:solidFill>
                <a:latin typeface="JetBrains Mono" panose="02000009000000000000" pitchFamily="49" charset="0"/>
              </a:rPr>
              <a:t>"bid_…"</a:t>
            </a:r>
            <a:r>
              <a:rPr sz="1050" b="0" i="0">
                <a:solidFill>
                  <a:srgbClr val="F3E9D2"/>
                </a:solidFill>
                <a:latin typeface="JetBrains Mono" panose="02000009000000000000" pitchFamily="49" charset="0"/>
              </a:rPr>
              <a:t> })</a:t>
            </a:r>
          </a:p>
        </p:txBody>
      </p:sp>
      <p:sp>
        <p:nvSpPr>
          <p:cNvPr id="88" name="TextBox 87"/>
          <p:cNvSpPr txBox="1"/>
          <p:nvPr/>
        </p:nvSpPr>
        <p:spPr>
          <a:xfrm>
            <a:off x="6035040" y="3538728"/>
            <a:ext cx="5333695" cy="310896"/>
          </a:xfrm>
          <a:prstGeom prst="rect">
            <a:avLst/>
          </a:prstGeom>
          <a:noFill/>
        </p:spPr>
        <p:txBody>
          <a:bodyPr wrap="none" lIns="0" rIns="0" tIns="0" bIns="0" anchor="ctr">
            <a:noAutofit/>
          </a:bodyPr>
          <a:lstStyle/>
          <a:p>
            <a:pPr algn="l"/>
            <a:r>
              <a:rPr sz="1050" b="0" i="0">
                <a:solidFill>
                  <a:srgbClr val="8C8270"/>
                </a:solidFill>
                <a:latin typeface="JetBrains Mono" panose="02000009000000000000" pitchFamily="49" charset="0"/>
              </a:rPr>
              <a:t>← approval_required → human texts YES →</a:t>
            </a:r>
            <a:r>
              <a:rPr sz="1050" b="0" i="0">
                <a:solidFill>
                  <a:srgbClr val="F3E9D2"/>
                </a:solidFill>
                <a:latin typeface="JetBrains Mono" panose="02000009000000000000" pitchFamily="49" charset="0"/>
              </a:rPr>
              <a:t> </a:t>
            </a:r>
            <a:r>
              <a:rPr sz="1050" b="1" i="0">
                <a:solidFill>
                  <a:srgbClr val="E9B44C"/>
                </a:solidFill>
                <a:latin typeface="JetBrains Mono" panose="02000009000000000000" pitchFamily="49" charset="0"/>
              </a:rPr>
              <a:t>sold ✓</a:t>
            </a:r>
          </a:p>
        </p:txBody>
      </p:sp>
      <p:grpSp>
        <p:nvGrpSpPr>
          <p:cNvPr id="89" name="Group 88"/>
          <p:cNvGrpSpPr/>
          <p:nvPr/>
        </p:nvGrpSpPr>
        <p:grpSpPr>
          <a:xfrm>
            <a:off x="5760720" y="4206240"/>
            <a:ext cx="1841906" cy="960120"/>
            <a:chOff x="5760720" y="4206240"/>
            <a:chExt cx="1841906" cy="960120"/>
          </a:xfrm>
        </p:grpSpPr>
        <p:sp>
          <p:nvSpPr>
            <p:cNvPr id="90" name="Rounded Rectangle 89"/>
            <p:cNvSpPr/>
            <p:nvPr/>
          </p:nvSpPr>
          <p:spPr>
            <a:xfrm>
              <a:off x="5760720" y="4206240"/>
              <a:ext cx="1841906" cy="960120"/>
            </a:xfrm>
            <a:prstGeom prst="roundRect">
              <a:avLst>
                <a:gd name="adj" fmla="val 5714"/>
              </a:avLst>
            </a:prstGeom>
            <a:solidFill>
              <a:srgbClr val="FFFDF7"/>
            </a:solidFill>
            <a:ln w="9525">
              <a:solidFill>
                <a:srgbClr val="E2D9C6"/>
              </a:solidFill>
            </a:ln>
          </p:spPr>
          <p:txBody>
            <a:bodyPr rtlCol="0" anchor="ctr"/>
            <a:lstStyle/>
            <a:p>
              <a:pPr algn="ctr"/>
            </a:p>
          </p:txBody>
        </p:sp>
        <p:sp>
          <p:nvSpPr>
            <p:cNvPr id="91" name="TextBox 90"/>
            <p:cNvSpPr txBox="1"/>
            <p:nvPr/>
          </p:nvSpPr>
          <p:spPr>
            <a:xfrm>
              <a:off x="5907024" y="4315968"/>
              <a:ext cx="1567586" cy="274320"/>
            </a:xfrm>
            <a:prstGeom prst="rect">
              <a:avLst/>
            </a:prstGeom>
            <a:noFill/>
          </p:spPr>
          <p:txBody>
            <a:bodyPr wrap="square" lIns="0" rIns="0" tIns="0" bIns="0" anchor="ctr">
              <a:noAutofit/>
            </a:bodyPr>
            <a:lstStyle/>
            <a:p>
              <a:pPr algn="l"/>
              <a:r>
                <a:rPr sz="1250" b="0" i="0">
                  <a:solidFill>
                    <a:srgbClr val="16130E"/>
                  </a:solidFill>
                  <a:latin typeface="Georgia" panose="02040502050405020303" pitchFamily="18" charset="0"/>
                </a:rPr>
                <a:t>Zero-config first call</a:t>
              </a:r>
            </a:p>
          </p:txBody>
        </p:sp>
        <p:sp>
          <p:nvSpPr>
            <p:cNvPr id="92" name="TextBox 91"/>
            <p:cNvSpPr txBox="1"/>
            <p:nvPr/>
          </p:nvSpPr>
          <p:spPr>
            <a:xfrm>
              <a:off x="5907024" y="4599432"/>
              <a:ext cx="1567586" cy="548640"/>
            </a:xfrm>
            <a:prstGeom prst="rect">
              <a:avLst/>
            </a:prstGeom>
            <a:noFill/>
          </p:spPr>
          <p:txBody>
            <a:bodyPr wrap="square" lIns="0" rIns="0" tIns="0" bIns="0" anchor="t">
              <a:noAutofit/>
            </a:bodyPr>
            <a:lstStyle/>
            <a:p>
              <a:pPr algn="l">
                <a:lnSpc>
                  <a:spcPct val="103000"/>
                </a:lnSpc>
              </a:pPr>
              <a:r>
                <a:rPr sz="900" b="0" i="0">
                  <a:solidFill>
                    <a:srgbClr val="6E6658"/>
                  </a:solidFill>
                  <a:latin typeface="Inter" panose="020B0502030000000004" pitchFamily="34" charset="0"/>
                </a:rPr>
                <a:t>No key = guest agent. Claude, ChatGPT and Codex auto-map to demo agents.</a:t>
              </a:r>
            </a:p>
          </p:txBody>
        </p:sp>
      </p:grpSp>
      <p:grpSp>
        <p:nvGrpSpPr>
          <p:cNvPr id="93" name="Group 92"/>
          <p:cNvGrpSpPr/>
          <p:nvPr/>
        </p:nvGrpSpPr>
        <p:grpSpPr>
          <a:xfrm>
            <a:off x="7712354" y="4206240"/>
            <a:ext cx="1841906" cy="960120"/>
            <a:chOff x="7712354" y="4206240"/>
            <a:chExt cx="1841906" cy="960120"/>
          </a:xfrm>
        </p:grpSpPr>
        <p:sp>
          <p:nvSpPr>
            <p:cNvPr id="94" name="Rounded Rectangle 93"/>
            <p:cNvSpPr/>
            <p:nvPr/>
          </p:nvSpPr>
          <p:spPr>
            <a:xfrm>
              <a:off x="7712354" y="4206240"/>
              <a:ext cx="1841906" cy="960120"/>
            </a:xfrm>
            <a:prstGeom prst="roundRect">
              <a:avLst>
                <a:gd name="adj" fmla="val 5714"/>
              </a:avLst>
            </a:prstGeom>
            <a:solidFill>
              <a:srgbClr val="FFFDF7"/>
            </a:solidFill>
            <a:ln w="9525">
              <a:solidFill>
                <a:srgbClr val="E2D9C6"/>
              </a:solidFill>
            </a:ln>
          </p:spPr>
          <p:txBody>
            <a:bodyPr rtlCol="0" anchor="ctr"/>
            <a:lstStyle/>
            <a:p>
              <a:pPr algn="ctr"/>
            </a:p>
          </p:txBody>
        </p:sp>
        <p:sp>
          <p:nvSpPr>
            <p:cNvPr id="95" name="TextBox 94"/>
            <p:cNvSpPr txBox="1"/>
            <p:nvPr/>
          </p:nvSpPr>
          <p:spPr>
            <a:xfrm>
              <a:off x="7858658" y="4315968"/>
              <a:ext cx="1567586" cy="274320"/>
            </a:xfrm>
            <a:prstGeom prst="rect">
              <a:avLst/>
            </a:prstGeom>
            <a:noFill/>
          </p:spPr>
          <p:txBody>
            <a:bodyPr wrap="square" lIns="0" rIns="0" tIns="0" bIns="0" anchor="ctr">
              <a:noAutofit/>
            </a:bodyPr>
            <a:lstStyle/>
            <a:p>
              <a:pPr algn="l"/>
              <a:r>
                <a:rPr sz="1250" b="0" i="0">
                  <a:solidFill>
                    <a:srgbClr val="16130E"/>
                  </a:solidFill>
                  <a:latin typeface="Georgia" panose="02040502050405020303" pitchFamily="18" charset="0"/>
                </a:rPr>
                <a:t>Errors with hints</a:t>
              </a:r>
            </a:p>
          </p:txBody>
        </p:sp>
        <p:sp>
          <p:nvSpPr>
            <p:cNvPr id="96" name="TextBox 95"/>
            <p:cNvSpPr txBox="1"/>
            <p:nvPr/>
          </p:nvSpPr>
          <p:spPr>
            <a:xfrm>
              <a:off x="7858658" y="4599432"/>
              <a:ext cx="1567586" cy="548640"/>
            </a:xfrm>
            <a:prstGeom prst="rect">
              <a:avLst/>
            </a:prstGeom>
            <a:noFill/>
          </p:spPr>
          <p:txBody>
            <a:bodyPr wrap="square" lIns="0" rIns="0" tIns="0" bIns="0" anchor="t">
              <a:noAutofit/>
            </a:bodyPr>
            <a:lstStyle/>
            <a:p>
              <a:pPr algn="l">
                <a:lnSpc>
                  <a:spcPct val="103000"/>
                </a:lnSpc>
              </a:pPr>
              <a:r>
                <a:rPr sz="900" b="0" i="0">
                  <a:solidFill>
                    <a:srgbClr val="6E6658"/>
                  </a:solidFill>
                  <a:latin typeface="Inter" panose="020B0502030000000004" pitchFamily="34" charset="0"/>
                </a:rPr>
                <a:t>{ error, message, hint } tells the agent what to call next.</a:t>
              </a:r>
            </a:p>
          </p:txBody>
        </p:sp>
      </p:grpSp>
      <p:grpSp>
        <p:nvGrpSpPr>
          <p:cNvPr id="97" name="Group 96"/>
          <p:cNvGrpSpPr/>
          <p:nvPr/>
        </p:nvGrpSpPr>
        <p:grpSpPr>
          <a:xfrm>
            <a:off x="9663989" y="4206240"/>
            <a:ext cx="1841906" cy="960120"/>
            <a:chOff x="9663989" y="4206240"/>
            <a:chExt cx="1841906" cy="960120"/>
          </a:xfrm>
        </p:grpSpPr>
        <p:sp>
          <p:nvSpPr>
            <p:cNvPr id="98" name="Rounded Rectangle 97"/>
            <p:cNvSpPr/>
            <p:nvPr/>
          </p:nvSpPr>
          <p:spPr>
            <a:xfrm>
              <a:off x="9663989" y="4206240"/>
              <a:ext cx="1841906" cy="960120"/>
            </a:xfrm>
            <a:prstGeom prst="roundRect">
              <a:avLst>
                <a:gd name="adj" fmla="val 5714"/>
              </a:avLst>
            </a:prstGeom>
            <a:solidFill>
              <a:srgbClr val="FFFDF7"/>
            </a:solidFill>
            <a:ln w="9525">
              <a:solidFill>
                <a:srgbClr val="E2D9C6"/>
              </a:solidFill>
            </a:ln>
          </p:spPr>
          <p:txBody>
            <a:bodyPr rtlCol="0" anchor="ctr"/>
            <a:lstStyle/>
            <a:p>
              <a:pPr algn="ctr"/>
            </a:p>
          </p:txBody>
        </p:sp>
        <p:sp>
          <p:nvSpPr>
            <p:cNvPr id="99" name="TextBox 98"/>
            <p:cNvSpPr txBox="1"/>
            <p:nvPr/>
          </p:nvSpPr>
          <p:spPr>
            <a:xfrm>
              <a:off x="9810293" y="4315968"/>
              <a:ext cx="1567586" cy="274320"/>
            </a:xfrm>
            <a:prstGeom prst="rect">
              <a:avLst/>
            </a:prstGeom>
            <a:noFill/>
          </p:spPr>
          <p:txBody>
            <a:bodyPr wrap="square" lIns="0" rIns="0" tIns="0" bIns="0" anchor="ctr">
              <a:noAutofit/>
            </a:bodyPr>
            <a:lstStyle/>
            <a:p>
              <a:pPr algn="l"/>
              <a:r>
                <a:rPr sz="1250" b="0" i="0">
                  <a:solidFill>
                    <a:srgbClr val="16130E"/>
                  </a:solidFill>
                  <a:latin typeface="Georgia" panose="02040502050405020303" pitchFamily="18" charset="0"/>
                </a:rPr>
                <a:t>Idempotency keys</a:t>
              </a:r>
            </a:p>
          </p:txBody>
        </p:sp>
        <p:sp>
          <p:nvSpPr>
            <p:cNvPr id="100" name="TextBox 99"/>
            <p:cNvSpPr txBox="1"/>
            <p:nvPr/>
          </p:nvSpPr>
          <p:spPr>
            <a:xfrm>
              <a:off x="9810293" y="4599432"/>
              <a:ext cx="1567586" cy="548640"/>
            </a:xfrm>
            <a:prstGeom prst="rect">
              <a:avLst/>
            </a:prstGeom>
            <a:noFill/>
          </p:spPr>
          <p:txBody>
            <a:bodyPr wrap="square" lIns="0" rIns="0" tIns="0" bIns="0" anchor="t">
              <a:noAutofit/>
            </a:bodyPr>
            <a:lstStyle/>
            <a:p>
              <a:pPr algn="l">
                <a:lnSpc>
                  <a:spcPct val="103000"/>
                </a:lnSpc>
              </a:pPr>
              <a:r>
                <a:rPr sz="900" b="0" i="0">
                  <a:solidFill>
                    <a:srgbClr val="6E6658"/>
                  </a:solidFill>
                  <a:latin typeface="Inter" panose="020B0502030000000004" pitchFamily="34" charset="0"/>
                </a:rPr>
                <a:t>Retries never double-buy. Same offer twice returns the same order.</a:t>
              </a:r>
            </a:p>
          </p:txBody>
        </p:sp>
      </p:grpSp>
      <p:grpSp>
        <p:nvGrpSpPr>
          <p:cNvPr id="101" name="Group 100"/>
          <p:cNvGrpSpPr/>
          <p:nvPr/>
        </p:nvGrpSpPr>
        <p:grpSpPr>
          <a:xfrm>
            <a:off x="5760720" y="5257800"/>
            <a:ext cx="1841906" cy="960120"/>
            <a:chOff x="5760720" y="5257800"/>
            <a:chExt cx="1841906" cy="960120"/>
          </a:xfrm>
        </p:grpSpPr>
        <p:sp>
          <p:nvSpPr>
            <p:cNvPr id="102" name="Rounded Rectangle 101"/>
            <p:cNvSpPr/>
            <p:nvPr/>
          </p:nvSpPr>
          <p:spPr>
            <a:xfrm>
              <a:off x="5760720" y="5257800"/>
              <a:ext cx="1841906" cy="960120"/>
            </a:xfrm>
            <a:prstGeom prst="roundRect">
              <a:avLst>
                <a:gd name="adj" fmla="val 5714"/>
              </a:avLst>
            </a:prstGeom>
            <a:solidFill>
              <a:srgbClr val="FFFDF7"/>
            </a:solidFill>
            <a:ln w="9525">
              <a:solidFill>
                <a:srgbClr val="E2D9C6"/>
              </a:solidFill>
            </a:ln>
          </p:spPr>
          <p:txBody>
            <a:bodyPr rtlCol="0" anchor="ctr"/>
            <a:lstStyle/>
            <a:p>
              <a:pPr algn="ctr"/>
            </a:p>
          </p:txBody>
        </p:sp>
        <p:sp>
          <p:nvSpPr>
            <p:cNvPr id="103" name="TextBox 102"/>
            <p:cNvSpPr txBox="1"/>
            <p:nvPr/>
          </p:nvSpPr>
          <p:spPr>
            <a:xfrm>
              <a:off x="5907024" y="5367528"/>
              <a:ext cx="1567586" cy="274320"/>
            </a:xfrm>
            <a:prstGeom prst="rect">
              <a:avLst/>
            </a:prstGeom>
            <a:noFill/>
          </p:spPr>
          <p:txBody>
            <a:bodyPr wrap="square" lIns="0" rIns="0" tIns="0" bIns="0" anchor="ctr">
              <a:noAutofit/>
            </a:bodyPr>
            <a:lstStyle/>
            <a:p>
              <a:pPr algn="l"/>
              <a:r>
                <a:rPr sz="1250" b="0" i="0">
                  <a:solidFill>
                    <a:srgbClr val="16130E"/>
                  </a:solidFill>
                  <a:latin typeface="Georgia" panose="02040502050405020303" pitchFamily="18" charset="0"/>
                </a:rPr>
                <a:t>Pitches are data</a:t>
              </a:r>
            </a:p>
          </p:txBody>
        </p:sp>
        <p:sp>
          <p:nvSpPr>
            <p:cNvPr id="104" name="TextBox 103"/>
            <p:cNvSpPr txBox="1"/>
            <p:nvPr/>
          </p:nvSpPr>
          <p:spPr>
            <a:xfrm>
              <a:off x="5907024" y="5650992"/>
              <a:ext cx="1567586" cy="548640"/>
            </a:xfrm>
            <a:prstGeom prst="rect">
              <a:avLst/>
            </a:prstGeom>
            <a:noFill/>
          </p:spPr>
          <p:txBody>
            <a:bodyPr wrap="square" lIns="0" rIns="0" tIns="0" bIns="0" anchor="t">
              <a:noAutofit/>
            </a:bodyPr>
            <a:lstStyle/>
            <a:p>
              <a:pPr algn="l">
                <a:lnSpc>
                  <a:spcPct val="103000"/>
                </a:lnSpc>
              </a:pPr>
              <a:r>
                <a:rPr sz="900" b="0" i="0">
                  <a:solidFill>
                    <a:srgbClr val="6E6658"/>
                  </a:solidFill>
                  <a:latin typeface="Inter" panose="020B0502030000000004" pitchFamily="34" charset="0"/>
                </a:rPr>
                <a:t>Merchant pitches never reach the agent as instructions. Injections are withdrawn.</a:t>
              </a:r>
            </a:p>
          </p:txBody>
        </p:sp>
      </p:grpSp>
      <p:grpSp>
        <p:nvGrpSpPr>
          <p:cNvPr id="105" name="Group 104"/>
          <p:cNvGrpSpPr/>
          <p:nvPr/>
        </p:nvGrpSpPr>
        <p:grpSpPr>
          <a:xfrm>
            <a:off x="7712354" y="5257800"/>
            <a:ext cx="1841906" cy="960120"/>
            <a:chOff x="7712354" y="5257800"/>
            <a:chExt cx="1841906" cy="960120"/>
          </a:xfrm>
        </p:grpSpPr>
        <p:sp>
          <p:nvSpPr>
            <p:cNvPr id="106" name="Rounded Rectangle 105"/>
            <p:cNvSpPr/>
            <p:nvPr/>
          </p:nvSpPr>
          <p:spPr>
            <a:xfrm>
              <a:off x="7712354" y="5257800"/>
              <a:ext cx="1841906" cy="960120"/>
            </a:xfrm>
            <a:prstGeom prst="roundRect">
              <a:avLst>
                <a:gd name="adj" fmla="val 5714"/>
              </a:avLst>
            </a:prstGeom>
            <a:solidFill>
              <a:srgbClr val="FFFDF7"/>
            </a:solidFill>
            <a:ln w="9525">
              <a:solidFill>
                <a:srgbClr val="E2D9C6"/>
              </a:solidFill>
            </a:ln>
          </p:spPr>
          <p:txBody>
            <a:bodyPr rtlCol="0" anchor="ctr"/>
            <a:lstStyle/>
            <a:p>
              <a:pPr algn="ctr"/>
            </a:p>
          </p:txBody>
        </p:sp>
        <p:sp>
          <p:nvSpPr>
            <p:cNvPr id="107" name="TextBox 106"/>
            <p:cNvSpPr txBox="1"/>
            <p:nvPr/>
          </p:nvSpPr>
          <p:spPr>
            <a:xfrm>
              <a:off x="7858658" y="5367528"/>
              <a:ext cx="1567586" cy="274320"/>
            </a:xfrm>
            <a:prstGeom prst="rect">
              <a:avLst/>
            </a:prstGeom>
            <a:noFill/>
          </p:spPr>
          <p:txBody>
            <a:bodyPr wrap="square" lIns="0" rIns="0" tIns="0" bIns="0" anchor="ctr">
              <a:noAutofit/>
            </a:bodyPr>
            <a:lstStyle/>
            <a:p>
              <a:pPr algn="l"/>
              <a:r>
                <a:rPr sz="1250" b="0" i="0">
                  <a:solidFill>
                    <a:srgbClr val="16130E"/>
                  </a:solidFill>
                  <a:latin typeface="Georgia" panose="02040502050405020303" pitchFamily="18" charset="0"/>
                </a:rPr>
                <a:t>Waits, doesn't poll</a:t>
              </a:r>
            </a:p>
          </p:txBody>
        </p:sp>
        <p:sp>
          <p:nvSpPr>
            <p:cNvPr id="108" name="TextBox 107"/>
            <p:cNvSpPr txBox="1"/>
            <p:nvPr/>
          </p:nvSpPr>
          <p:spPr>
            <a:xfrm>
              <a:off x="7858658" y="5650992"/>
              <a:ext cx="1567586" cy="548640"/>
            </a:xfrm>
            <a:prstGeom prst="rect">
              <a:avLst/>
            </a:prstGeom>
            <a:noFill/>
          </p:spPr>
          <p:txBody>
            <a:bodyPr wrap="square" lIns="0" rIns="0" tIns="0" bIns="0" anchor="t">
              <a:noAutofit/>
            </a:bodyPr>
            <a:lstStyle/>
            <a:p>
              <a:pPr algn="l">
                <a:lnSpc>
                  <a:spcPct val="103000"/>
                </a:lnSpc>
              </a:pPr>
              <a:r>
                <a:rPr sz="900" b="0" i="0">
                  <a:solidFill>
                    <a:srgbClr val="6E6658"/>
                  </a:solidFill>
                  <a:latin typeface="Inter" panose="020B0502030000000004" pitchFamily="34" charset="0"/>
                </a:rPr>
                <a:t>find_offers waits for the lot; buy_offer waits for the human's YES.</a:t>
              </a:r>
            </a:p>
          </p:txBody>
        </p:sp>
      </p:grpSp>
      <p:grpSp>
        <p:nvGrpSpPr>
          <p:cNvPr id="109" name="Group 108"/>
          <p:cNvGrpSpPr/>
          <p:nvPr/>
        </p:nvGrpSpPr>
        <p:grpSpPr>
          <a:xfrm>
            <a:off x="9663989" y="5257800"/>
            <a:ext cx="1841906" cy="960120"/>
            <a:chOff x="9663989" y="5257800"/>
            <a:chExt cx="1841906" cy="960120"/>
          </a:xfrm>
        </p:grpSpPr>
        <p:sp>
          <p:nvSpPr>
            <p:cNvPr id="110" name="Rounded Rectangle 109"/>
            <p:cNvSpPr/>
            <p:nvPr/>
          </p:nvSpPr>
          <p:spPr>
            <a:xfrm>
              <a:off x="9663989" y="5257800"/>
              <a:ext cx="1841906" cy="960120"/>
            </a:xfrm>
            <a:prstGeom prst="roundRect">
              <a:avLst>
                <a:gd name="adj" fmla="val 5714"/>
              </a:avLst>
            </a:prstGeom>
            <a:solidFill>
              <a:srgbClr val="FFFDF7"/>
            </a:solidFill>
            <a:ln w="9525">
              <a:solidFill>
                <a:srgbClr val="E2D9C6"/>
              </a:solidFill>
            </a:ln>
          </p:spPr>
          <p:txBody>
            <a:bodyPr rtlCol="0" anchor="ctr"/>
            <a:lstStyle/>
            <a:p>
              <a:pPr algn="ctr"/>
            </a:p>
          </p:txBody>
        </p:sp>
        <p:sp>
          <p:nvSpPr>
            <p:cNvPr id="111" name="TextBox 110"/>
            <p:cNvSpPr txBox="1"/>
            <p:nvPr/>
          </p:nvSpPr>
          <p:spPr>
            <a:xfrm>
              <a:off x="9810293" y="5367528"/>
              <a:ext cx="1567586" cy="274320"/>
            </a:xfrm>
            <a:prstGeom prst="rect">
              <a:avLst/>
            </a:prstGeom>
            <a:noFill/>
          </p:spPr>
          <p:txBody>
            <a:bodyPr wrap="square" lIns="0" rIns="0" tIns="0" bIns="0" anchor="ctr">
              <a:noAutofit/>
            </a:bodyPr>
            <a:lstStyle/>
            <a:p>
              <a:pPr algn="l"/>
              <a:r>
                <a:rPr sz="1250" b="0" i="0">
                  <a:solidFill>
                    <a:srgbClr val="16130E"/>
                  </a:solidFill>
                  <a:latin typeface="Georgia" panose="02040502050405020303" pitchFamily="18" charset="0"/>
                </a:rPr>
                <a:t>Every client</a:t>
              </a:r>
            </a:p>
          </p:txBody>
        </p:sp>
        <p:sp>
          <p:nvSpPr>
            <p:cNvPr id="112" name="TextBox 111"/>
            <p:cNvSpPr txBox="1"/>
            <p:nvPr/>
          </p:nvSpPr>
          <p:spPr>
            <a:xfrm>
              <a:off x="9810293" y="5650992"/>
              <a:ext cx="1567586" cy="548640"/>
            </a:xfrm>
            <a:prstGeom prst="rect">
              <a:avLst/>
            </a:prstGeom>
            <a:noFill/>
          </p:spPr>
          <p:txBody>
            <a:bodyPr wrap="square" lIns="0" rIns="0" tIns="0" bIns="0" anchor="t">
              <a:noAutofit/>
            </a:bodyPr>
            <a:lstStyle/>
            <a:p>
              <a:pPr algn="l">
                <a:lnSpc>
                  <a:spcPct val="103000"/>
                </a:lnSpc>
              </a:pPr>
              <a:r>
                <a:rPr sz="900" b="0" i="0">
                  <a:solidFill>
                    <a:srgbClr val="6E6658"/>
                  </a:solidFill>
                  <a:latin typeface="Inter" panose="020B0502030000000004" pitchFamily="34" charset="0"/>
                </a:rPr>
                <a:t>Claude Code · Claude Desktop · ChatGPT · Codex · Cursor</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600"/>
                                        <p:tgtEl>
                                          <p:spTgt spid="15"/>
                                        </p:tgtEl>
                                      </p:cBhvr>
                                    </p:animEffect>
                                  </p:childTnLst>
                                </p:cTn>
                              </p:par>
                              <p:par>
                                <p:cTn id="8" presetID="42" presetClass="entr" presetSubtype="0" fill="hold" grpId="0" nodeType="withEffect">
                                  <p:stCondLst>
                                    <p:cond delay="6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600"/>
                                        <p:tgtEl>
                                          <p:spTgt spid="16"/>
                                        </p:tgtEl>
                                      </p:cBhvr>
                                    </p:animEffect>
                                    <p:anim calcmode="lin" valueType="num">
                                      <p:cBhvr additive="base">
                                        <p:cTn id="11" dur="600" fill="hold" decel="100000"/>
                                        <p:tgtEl>
                                          <p:spTgt spid="16"/>
                                        </p:tgtEl>
                                        <p:attrNameLst>
                                          <p:attrName>ppt_x</p:attrName>
                                        </p:attrNameLst>
                                      </p:cBhvr>
                                      <p:tavLst>
                                        <p:tav tm="0">
                                          <p:val>
                                            <p:strVal val="#ppt_x"/>
                                          </p:val>
                                        </p:tav>
                                        <p:tav tm="100000">
                                          <p:val>
                                            <p:strVal val="#ppt_x"/>
                                          </p:val>
                                        </p:tav>
                                      </p:tavLst>
                                    </p:anim>
                                    <p:anim calcmode="lin" valueType="num">
                                      <p:cBhvr additive="base">
                                        <p:cTn id="12" dur="600" fill="hold" decel="100000"/>
                                        <p:tgtEl>
                                          <p:spTgt spid="16"/>
                                        </p:tgtEl>
                                        <p:attrNameLst>
                                          <p:attrName>ppt_y</p:attrName>
                                        </p:attrNameLst>
                                      </p:cBhvr>
                                      <p:tavLst>
                                        <p:tav tm="0">
                                          <p:val>
                                            <p:strVal val="#ppt_y+0.025"/>
                                          </p:val>
                                        </p:tav>
                                        <p:tav tm="100000">
                                          <p:val>
                                            <p:strVal val="#ppt_y"/>
                                          </p:val>
                                        </p:tav>
                                      </p:tavLst>
                                    </p:anim>
                                  </p:childTnLst>
                                </p:cTn>
                              </p:par>
                              <p:par>
                                <p:cTn id="13" presetID="42" presetClass="entr" presetSubtype="0" fill="hold" grpId="0" nodeType="withEffect">
                                  <p:stCondLst>
                                    <p:cond delay="20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anim calcmode="lin" valueType="num">
                                      <p:cBhvr additive="base">
                                        <p:cTn id="16" dur="500" fill="hold" decel="100000"/>
                                        <p:tgtEl>
                                          <p:spTgt spid="17"/>
                                        </p:tgtEl>
                                        <p:attrNameLst>
                                          <p:attrName>ppt_x</p:attrName>
                                        </p:attrNameLst>
                                      </p:cBhvr>
                                      <p:tavLst>
                                        <p:tav tm="0">
                                          <p:val>
                                            <p:strVal val="#ppt_x"/>
                                          </p:val>
                                        </p:tav>
                                        <p:tav tm="100000">
                                          <p:val>
                                            <p:strVal val="#ppt_x"/>
                                          </p:val>
                                        </p:tav>
                                      </p:tavLst>
                                    </p:anim>
                                    <p:anim calcmode="lin" valueType="num">
                                      <p:cBhvr additive="base">
                                        <p:cTn id="17" dur="500" fill="hold" decel="100000"/>
                                        <p:tgtEl>
                                          <p:spTgt spid="17"/>
                                        </p:tgtEl>
                                        <p:attrNameLst>
                                          <p:attrName>ppt_y</p:attrName>
                                        </p:attrNameLst>
                                      </p:cBhvr>
                                      <p:tavLst>
                                        <p:tav tm="0">
                                          <p:val>
                                            <p:strVal val="#ppt_y+0.025"/>
                                          </p:val>
                                        </p:tav>
                                        <p:tav tm="100000">
                                          <p:val>
                                            <p:strVal val="#ppt_y"/>
                                          </p:val>
                                        </p:tav>
                                      </p:tavLst>
                                    </p:anim>
                                  </p:childTnLst>
                                </p:cTn>
                              </p:par>
                              <p:par>
                                <p:cTn id="18" presetID="10" presetClass="entr" presetSubtype="0" fill="hold" grpId="0" nodeType="withEffect">
                                  <p:stCondLst>
                                    <p:cond delay="40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300"/>
                                        <p:tgtEl>
                                          <p:spTgt spid="25"/>
                                        </p:tgtEl>
                                      </p:cBhvr>
                                    </p:animEffect>
                                  </p:childTnLst>
                                </p:cTn>
                              </p:par>
                              <p:par>
                                <p:cTn id="21" presetID="10" presetClass="entr" presetSubtype="0" fill="hold" grpId="0" nodeType="withEffect">
                                  <p:stCondLst>
                                    <p:cond delay="45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250"/>
                                        <p:tgtEl>
                                          <p:spTgt spid="26"/>
                                        </p:tgtEl>
                                      </p:cBhvr>
                                    </p:animEffect>
                                  </p:childTnLst>
                                </p:cTn>
                              </p:par>
                              <p:par>
                                <p:cTn id="24" presetID="10" presetClass="entr" presetSubtype="0" fill="hold" grpId="0" nodeType="withEffect">
                                  <p:stCondLst>
                                    <p:cond delay="485"/>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250"/>
                                        <p:tgtEl>
                                          <p:spTgt spid="29"/>
                                        </p:tgtEl>
                                      </p:cBhvr>
                                    </p:animEffect>
                                  </p:childTnLst>
                                </p:cTn>
                              </p:par>
                              <p:par>
                                <p:cTn id="27" presetID="10" presetClass="entr" presetSubtype="0" fill="hold" grpId="0" nodeType="withEffect">
                                  <p:stCondLst>
                                    <p:cond delay="52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250"/>
                                        <p:tgtEl>
                                          <p:spTgt spid="32"/>
                                        </p:tgtEl>
                                      </p:cBhvr>
                                    </p:animEffect>
                                  </p:childTnLst>
                                </p:cTn>
                              </p:par>
                              <p:par>
                                <p:cTn id="30" presetID="10" presetClass="entr" presetSubtype="0" fill="hold" grpId="0" nodeType="withEffect">
                                  <p:stCondLst>
                                    <p:cond delay="555"/>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250"/>
                                        <p:tgtEl>
                                          <p:spTgt spid="35"/>
                                        </p:tgtEl>
                                      </p:cBhvr>
                                    </p:animEffect>
                                  </p:childTnLst>
                                </p:cTn>
                              </p:par>
                              <p:par>
                                <p:cTn id="33" presetID="10" presetClass="entr" presetSubtype="0" fill="hold" grpId="0" nodeType="withEffect">
                                  <p:stCondLst>
                                    <p:cond delay="590"/>
                                  </p:stCondLst>
                                  <p:childTnLst>
                                    <p:set>
                                      <p:cBhvr>
                                        <p:cTn id="34" dur="1" fill="hold">
                                          <p:stCondLst>
                                            <p:cond delay="0"/>
                                          </p:stCondLst>
                                        </p:cTn>
                                        <p:tgtEl>
                                          <p:spTgt spid="38"/>
                                        </p:tgtEl>
                                        <p:attrNameLst>
                                          <p:attrName>style.visibility</p:attrName>
                                        </p:attrNameLst>
                                      </p:cBhvr>
                                      <p:to>
                                        <p:strVal val="visible"/>
                                      </p:to>
                                    </p:set>
                                    <p:animEffect transition="in" filter="fade">
                                      <p:cBhvr>
                                        <p:cTn id="35" dur="250"/>
                                        <p:tgtEl>
                                          <p:spTgt spid="38"/>
                                        </p:tgtEl>
                                      </p:cBhvr>
                                    </p:animEffect>
                                  </p:childTnLst>
                                </p:cTn>
                              </p:par>
                              <p:par>
                                <p:cTn id="36" presetID="10" presetClass="entr" presetSubtype="0" fill="hold" grpId="0" nodeType="withEffect">
                                  <p:stCondLst>
                                    <p:cond delay="625"/>
                                  </p:stCondLst>
                                  <p:childTnLst>
                                    <p:set>
                                      <p:cBhvr>
                                        <p:cTn id="37" dur="1" fill="hold">
                                          <p:stCondLst>
                                            <p:cond delay="0"/>
                                          </p:stCondLst>
                                        </p:cTn>
                                        <p:tgtEl>
                                          <p:spTgt spid="41"/>
                                        </p:tgtEl>
                                        <p:attrNameLst>
                                          <p:attrName>style.visibility</p:attrName>
                                        </p:attrNameLst>
                                      </p:cBhvr>
                                      <p:to>
                                        <p:strVal val="visible"/>
                                      </p:to>
                                    </p:set>
                                    <p:animEffect transition="in" filter="fade">
                                      <p:cBhvr>
                                        <p:cTn id="38" dur="250"/>
                                        <p:tgtEl>
                                          <p:spTgt spid="41"/>
                                        </p:tgtEl>
                                      </p:cBhvr>
                                    </p:animEffect>
                                  </p:childTnLst>
                                </p:cTn>
                              </p:par>
                              <p:par>
                                <p:cTn id="39" presetID="10" presetClass="entr" presetSubtype="0" fill="hold" grpId="0" nodeType="withEffect">
                                  <p:stCondLst>
                                    <p:cond delay="660"/>
                                  </p:stCondLst>
                                  <p:childTnLst>
                                    <p:set>
                                      <p:cBhvr>
                                        <p:cTn id="40" dur="1" fill="hold">
                                          <p:stCondLst>
                                            <p:cond delay="0"/>
                                          </p:stCondLst>
                                        </p:cTn>
                                        <p:tgtEl>
                                          <p:spTgt spid="44"/>
                                        </p:tgtEl>
                                        <p:attrNameLst>
                                          <p:attrName>style.visibility</p:attrName>
                                        </p:attrNameLst>
                                      </p:cBhvr>
                                      <p:to>
                                        <p:strVal val="visible"/>
                                      </p:to>
                                    </p:set>
                                    <p:animEffect transition="in" filter="fade">
                                      <p:cBhvr>
                                        <p:cTn id="41" dur="250"/>
                                        <p:tgtEl>
                                          <p:spTgt spid="44"/>
                                        </p:tgtEl>
                                      </p:cBhvr>
                                    </p:animEffect>
                                  </p:childTnLst>
                                </p:cTn>
                              </p:par>
                              <p:par>
                                <p:cTn id="42" presetID="10" presetClass="entr" presetSubtype="0" fill="hold" grpId="0" nodeType="withEffect">
                                  <p:stCondLst>
                                    <p:cond delay="695"/>
                                  </p:stCondLst>
                                  <p:childTnLst>
                                    <p:set>
                                      <p:cBhvr>
                                        <p:cTn id="43" dur="1" fill="hold">
                                          <p:stCondLst>
                                            <p:cond delay="0"/>
                                          </p:stCondLst>
                                        </p:cTn>
                                        <p:tgtEl>
                                          <p:spTgt spid="47"/>
                                        </p:tgtEl>
                                        <p:attrNameLst>
                                          <p:attrName>style.visibility</p:attrName>
                                        </p:attrNameLst>
                                      </p:cBhvr>
                                      <p:to>
                                        <p:strVal val="visible"/>
                                      </p:to>
                                    </p:set>
                                    <p:animEffect transition="in" filter="fade">
                                      <p:cBhvr>
                                        <p:cTn id="44" dur="250"/>
                                        <p:tgtEl>
                                          <p:spTgt spid="47"/>
                                        </p:tgtEl>
                                      </p:cBhvr>
                                    </p:animEffect>
                                  </p:childTnLst>
                                </p:cTn>
                              </p:par>
                              <p:par>
                                <p:cTn id="45" presetID="10" presetClass="entr" presetSubtype="0" fill="hold" grpId="0" nodeType="withEffect">
                                  <p:stCondLst>
                                    <p:cond delay="750"/>
                                  </p:stCondLst>
                                  <p:childTnLst>
                                    <p:set>
                                      <p:cBhvr>
                                        <p:cTn id="46" dur="1" fill="hold">
                                          <p:stCondLst>
                                            <p:cond delay="0"/>
                                          </p:stCondLst>
                                        </p:cTn>
                                        <p:tgtEl>
                                          <p:spTgt spid="50"/>
                                        </p:tgtEl>
                                        <p:attrNameLst>
                                          <p:attrName>style.visibility</p:attrName>
                                        </p:attrNameLst>
                                      </p:cBhvr>
                                      <p:to>
                                        <p:strVal val="visible"/>
                                      </p:to>
                                    </p:set>
                                    <p:animEffect transition="in" filter="fade">
                                      <p:cBhvr>
                                        <p:cTn id="47" dur="300"/>
                                        <p:tgtEl>
                                          <p:spTgt spid="50"/>
                                        </p:tgtEl>
                                      </p:cBhvr>
                                    </p:animEffect>
                                  </p:childTnLst>
                                </p:cTn>
                              </p:par>
                              <p:par>
                                <p:cTn id="48" presetID="10" presetClass="entr" presetSubtype="0" fill="hold" grpId="0" nodeType="withEffect">
                                  <p:stCondLst>
                                    <p:cond delay="800"/>
                                  </p:stCondLst>
                                  <p:childTnLst>
                                    <p:set>
                                      <p:cBhvr>
                                        <p:cTn id="49" dur="1" fill="hold">
                                          <p:stCondLst>
                                            <p:cond delay="0"/>
                                          </p:stCondLst>
                                        </p:cTn>
                                        <p:tgtEl>
                                          <p:spTgt spid="51"/>
                                        </p:tgtEl>
                                        <p:attrNameLst>
                                          <p:attrName>style.visibility</p:attrName>
                                        </p:attrNameLst>
                                      </p:cBhvr>
                                      <p:to>
                                        <p:strVal val="visible"/>
                                      </p:to>
                                    </p:set>
                                    <p:animEffect transition="in" filter="fade">
                                      <p:cBhvr>
                                        <p:cTn id="50" dur="250"/>
                                        <p:tgtEl>
                                          <p:spTgt spid="51"/>
                                        </p:tgtEl>
                                      </p:cBhvr>
                                    </p:animEffect>
                                  </p:childTnLst>
                                </p:cTn>
                              </p:par>
                              <p:par>
                                <p:cTn id="51" presetID="10" presetClass="entr" presetSubtype="0" fill="hold" grpId="0" nodeType="withEffect">
                                  <p:stCondLst>
                                    <p:cond delay="835"/>
                                  </p:stCondLst>
                                  <p:childTnLst>
                                    <p:set>
                                      <p:cBhvr>
                                        <p:cTn id="52" dur="1" fill="hold">
                                          <p:stCondLst>
                                            <p:cond delay="0"/>
                                          </p:stCondLst>
                                        </p:cTn>
                                        <p:tgtEl>
                                          <p:spTgt spid="54"/>
                                        </p:tgtEl>
                                        <p:attrNameLst>
                                          <p:attrName>style.visibility</p:attrName>
                                        </p:attrNameLst>
                                      </p:cBhvr>
                                      <p:to>
                                        <p:strVal val="visible"/>
                                      </p:to>
                                    </p:set>
                                    <p:animEffect transition="in" filter="fade">
                                      <p:cBhvr>
                                        <p:cTn id="53" dur="250"/>
                                        <p:tgtEl>
                                          <p:spTgt spid="54"/>
                                        </p:tgtEl>
                                      </p:cBhvr>
                                    </p:animEffect>
                                  </p:childTnLst>
                                </p:cTn>
                              </p:par>
                              <p:par>
                                <p:cTn id="54" presetID="10" presetClass="entr" presetSubtype="0" fill="hold" grpId="0" nodeType="withEffect">
                                  <p:stCondLst>
                                    <p:cond delay="870"/>
                                  </p:stCondLst>
                                  <p:childTnLst>
                                    <p:set>
                                      <p:cBhvr>
                                        <p:cTn id="55" dur="1" fill="hold">
                                          <p:stCondLst>
                                            <p:cond delay="0"/>
                                          </p:stCondLst>
                                        </p:cTn>
                                        <p:tgtEl>
                                          <p:spTgt spid="57"/>
                                        </p:tgtEl>
                                        <p:attrNameLst>
                                          <p:attrName>style.visibility</p:attrName>
                                        </p:attrNameLst>
                                      </p:cBhvr>
                                      <p:to>
                                        <p:strVal val="visible"/>
                                      </p:to>
                                    </p:set>
                                    <p:animEffect transition="in" filter="fade">
                                      <p:cBhvr>
                                        <p:cTn id="56" dur="250"/>
                                        <p:tgtEl>
                                          <p:spTgt spid="57"/>
                                        </p:tgtEl>
                                      </p:cBhvr>
                                    </p:animEffect>
                                  </p:childTnLst>
                                </p:cTn>
                              </p:par>
                              <p:par>
                                <p:cTn id="57" presetID="10" presetClass="entr" presetSubtype="0" fill="hold" grpId="0" nodeType="withEffect">
                                  <p:stCondLst>
                                    <p:cond delay="905"/>
                                  </p:stCondLst>
                                  <p:childTnLst>
                                    <p:set>
                                      <p:cBhvr>
                                        <p:cTn id="58" dur="1" fill="hold">
                                          <p:stCondLst>
                                            <p:cond delay="0"/>
                                          </p:stCondLst>
                                        </p:cTn>
                                        <p:tgtEl>
                                          <p:spTgt spid="60"/>
                                        </p:tgtEl>
                                        <p:attrNameLst>
                                          <p:attrName>style.visibility</p:attrName>
                                        </p:attrNameLst>
                                      </p:cBhvr>
                                      <p:to>
                                        <p:strVal val="visible"/>
                                      </p:to>
                                    </p:set>
                                    <p:animEffect transition="in" filter="fade">
                                      <p:cBhvr>
                                        <p:cTn id="59" dur="250"/>
                                        <p:tgtEl>
                                          <p:spTgt spid="60"/>
                                        </p:tgtEl>
                                      </p:cBhvr>
                                    </p:animEffect>
                                  </p:childTnLst>
                                </p:cTn>
                              </p:par>
                              <p:par>
                                <p:cTn id="60" presetID="10" presetClass="entr" presetSubtype="0" fill="hold" grpId="0" nodeType="withEffect">
                                  <p:stCondLst>
                                    <p:cond delay="950"/>
                                  </p:stCondLst>
                                  <p:childTnLst>
                                    <p:set>
                                      <p:cBhvr>
                                        <p:cTn id="61" dur="1" fill="hold">
                                          <p:stCondLst>
                                            <p:cond delay="0"/>
                                          </p:stCondLst>
                                        </p:cTn>
                                        <p:tgtEl>
                                          <p:spTgt spid="63"/>
                                        </p:tgtEl>
                                        <p:attrNameLst>
                                          <p:attrName>style.visibility</p:attrName>
                                        </p:attrNameLst>
                                      </p:cBhvr>
                                      <p:to>
                                        <p:strVal val="visible"/>
                                      </p:to>
                                    </p:set>
                                    <p:animEffect transition="in" filter="fade">
                                      <p:cBhvr>
                                        <p:cTn id="62" dur="300"/>
                                        <p:tgtEl>
                                          <p:spTgt spid="63"/>
                                        </p:tgtEl>
                                      </p:cBhvr>
                                    </p:animEffect>
                                  </p:childTnLst>
                                </p:cTn>
                              </p:par>
                              <p:par>
                                <p:cTn id="63" presetID="10" presetClass="entr" presetSubtype="0" fill="hold" grpId="0" nodeType="withEffect">
                                  <p:stCondLst>
                                    <p:cond delay="1000"/>
                                  </p:stCondLst>
                                  <p:childTnLst>
                                    <p:set>
                                      <p:cBhvr>
                                        <p:cTn id="64" dur="1" fill="hold">
                                          <p:stCondLst>
                                            <p:cond delay="0"/>
                                          </p:stCondLst>
                                        </p:cTn>
                                        <p:tgtEl>
                                          <p:spTgt spid="64"/>
                                        </p:tgtEl>
                                        <p:attrNameLst>
                                          <p:attrName>style.visibility</p:attrName>
                                        </p:attrNameLst>
                                      </p:cBhvr>
                                      <p:to>
                                        <p:strVal val="visible"/>
                                      </p:to>
                                    </p:set>
                                    <p:animEffect transition="in" filter="fade">
                                      <p:cBhvr>
                                        <p:cTn id="65" dur="250"/>
                                        <p:tgtEl>
                                          <p:spTgt spid="64"/>
                                        </p:tgtEl>
                                      </p:cBhvr>
                                    </p:animEffect>
                                  </p:childTnLst>
                                </p:cTn>
                              </p:par>
                              <p:par>
                                <p:cTn id="66" presetID="10" presetClass="entr" presetSubtype="0" fill="hold" grpId="0" nodeType="withEffect">
                                  <p:stCondLst>
                                    <p:cond delay="1035"/>
                                  </p:stCondLst>
                                  <p:childTnLst>
                                    <p:set>
                                      <p:cBhvr>
                                        <p:cTn id="67" dur="1" fill="hold">
                                          <p:stCondLst>
                                            <p:cond delay="0"/>
                                          </p:stCondLst>
                                        </p:cTn>
                                        <p:tgtEl>
                                          <p:spTgt spid="67"/>
                                        </p:tgtEl>
                                        <p:attrNameLst>
                                          <p:attrName>style.visibility</p:attrName>
                                        </p:attrNameLst>
                                      </p:cBhvr>
                                      <p:to>
                                        <p:strVal val="visible"/>
                                      </p:to>
                                    </p:set>
                                    <p:animEffect transition="in" filter="fade">
                                      <p:cBhvr>
                                        <p:cTn id="68" dur="250"/>
                                        <p:tgtEl>
                                          <p:spTgt spid="67"/>
                                        </p:tgtEl>
                                      </p:cBhvr>
                                    </p:animEffect>
                                  </p:childTnLst>
                                </p:cTn>
                              </p:par>
                              <p:par>
                                <p:cTn id="69" presetID="10" presetClass="entr" presetSubtype="0" fill="hold" grpId="0" nodeType="withEffect">
                                  <p:stCondLst>
                                    <p:cond delay="1070"/>
                                  </p:stCondLst>
                                  <p:childTnLst>
                                    <p:set>
                                      <p:cBhvr>
                                        <p:cTn id="70" dur="1" fill="hold">
                                          <p:stCondLst>
                                            <p:cond delay="0"/>
                                          </p:stCondLst>
                                        </p:cTn>
                                        <p:tgtEl>
                                          <p:spTgt spid="70"/>
                                        </p:tgtEl>
                                        <p:attrNameLst>
                                          <p:attrName>style.visibility</p:attrName>
                                        </p:attrNameLst>
                                      </p:cBhvr>
                                      <p:to>
                                        <p:strVal val="visible"/>
                                      </p:to>
                                    </p:set>
                                    <p:animEffect transition="in" filter="fade">
                                      <p:cBhvr>
                                        <p:cTn id="71" dur="250"/>
                                        <p:tgtEl>
                                          <p:spTgt spid="70"/>
                                        </p:tgtEl>
                                      </p:cBhvr>
                                    </p:animEffect>
                                  </p:childTnLst>
                                </p:cTn>
                              </p:par>
                              <p:par>
                                <p:cTn id="72" presetID="10" presetClass="entr" presetSubtype="0" fill="hold" grpId="0" nodeType="withEffect">
                                  <p:stCondLst>
                                    <p:cond delay="1105"/>
                                  </p:stCondLst>
                                  <p:childTnLst>
                                    <p:set>
                                      <p:cBhvr>
                                        <p:cTn id="73" dur="1" fill="hold">
                                          <p:stCondLst>
                                            <p:cond delay="0"/>
                                          </p:stCondLst>
                                        </p:cTn>
                                        <p:tgtEl>
                                          <p:spTgt spid="73"/>
                                        </p:tgtEl>
                                        <p:attrNameLst>
                                          <p:attrName>style.visibility</p:attrName>
                                        </p:attrNameLst>
                                      </p:cBhvr>
                                      <p:to>
                                        <p:strVal val="visible"/>
                                      </p:to>
                                    </p:set>
                                    <p:animEffect transition="in" filter="fade">
                                      <p:cBhvr>
                                        <p:cTn id="74" dur="250"/>
                                        <p:tgtEl>
                                          <p:spTgt spid="73"/>
                                        </p:tgtEl>
                                      </p:cBhvr>
                                    </p:animEffect>
                                  </p:childTnLst>
                                </p:cTn>
                              </p:par>
                              <p:par>
                                <p:cTn id="75" presetID="10" presetClass="entr" presetSubtype="0" fill="hold" grpId="0" nodeType="withEffect">
                                  <p:stCondLst>
                                    <p:cond delay="1140"/>
                                  </p:stCondLst>
                                  <p:childTnLst>
                                    <p:set>
                                      <p:cBhvr>
                                        <p:cTn id="76" dur="1" fill="hold">
                                          <p:stCondLst>
                                            <p:cond delay="0"/>
                                          </p:stCondLst>
                                        </p:cTn>
                                        <p:tgtEl>
                                          <p:spTgt spid="76"/>
                                        </p:tgtEl>
                                        <p:attrNameLst>
                                          <p:attrName>style.visibility</p:attrName>
                                        </p:attrNameLst>
                                      </p:cBhvr>
                                      <p:to>
                                        <p:strVal val="visible"/>
                                      </p:to>
                                    </p:set>
                                    <p:animEffect transition="in" filter="fade">
                                      <p:cBhvr>
                                        <p:cTn id="77" dur="250"/>
                                        <p:tgtEl>
                                          <p:spTgt spid="76"/>
                                        </p:tgtEl>
                                      </p:cBhvr>
                                    </p:animEffect>
                                  </p:childTnLst>
                                </p:cTn>
                              </p:par>
                              <p:par>
                                <p:cTn id="78" presetID="10" presetClass="entr" presetSubtype="0" fill="hold" grpId="0" nodeType="withEffect">
                                  <p:stCondLst>
                                    <p:cond delay="1200"/>
                                  </p:stCondLst>
                                  <p:childTnLst>
                                    <p:set>
                                      <p:cBhvr>
                                        <p:cTn id="79" dur="1" fill="hold">
                                          <p:stCondLst>
                                            <p:cond delay="0"/>
                                          </p:stCondLst>
                                        </p:cTn>
                                        <p:tgtEl>
                                          <p:spTgt spid="79"/>
                                        </p:tgtEl>
                                        <p:attrNameLst>
                                          <p:attrName>style.visibility</p:attrName>
                                        </p:attrNameLst>
                                      </p:cBhvr>
                                      <p:to>
                                        <p:strVal val="visible"/>
                                      </p:to>
                                    </p:set>
                                    <p:animEffect transition="in" filter="fade">
                                      <p:cBhvr>
                                        <p:cTn id="80" dur="400"/>
                                        <p:tgtEl>
                                          <p:spTgt spid="79"/>
                                        </p:tgtEl>
                                      </p:cBhvr>
                                    </p:animEffect>
                                  </p:childTnLst>
                                </p:cTn>
                              </p:par>
                              <p:par>
                                <p:cTn id="81" presetID="42" presetClass="entr" presetSubtype="0" fill="hold" grpId="0" nodeType="withEffect">
                                  <p:stCondLst>
                                    <p:cond delay="300"/>
                                  </p:stCondLst>
                                  <p:childTnLst>
                                    <p:set>
                                      <p:cBhvr>
                                        <p:cTn id="82" dur="1" fill="hold">
                                          <p:stCondLst>
                                            <p:cond delay="0"/>
                                          </p:stCondLst>
                                        </p:cTn>
                                        <p:tgtEl>
                                          <p:spTgt spid="80"/>
                                        </p:tgtEl>
                                        <p:attrNameLst>
                                          <p:attrName>style.visibility</p:attrName>
                                        </p:attrNameLst>
                                      </p:cBhvr>
                                      <p:to>
                                        <p:strVal val="visible"/>
                                      </p:to>
                                    </p:set>
                                    <p:animEffect transition="in" filter="fade">
                                      <p:cBhvr>
                                        <p:cTn id="83" dur="500"/>
                                        <p:tgtEl>
                                          <p:spTgt spid="80"/>
                                        </p:tgtEl>
                                      </p:cBhvr>
                                    </p:animEffect>
                                    <p:anim calcmode="lin" valueType="num">
                                      <p:cBhvr additive="base">
                                        <p:cTn id="84" dur="500" fill="hold" decel="100000"/>
                                        <p:tgtEl>
                                          <p:spTgt spid="80"/>
                                        </p:tgtEl>
                                        <p:attrNameLst>
                                          <p:attrName>ppt_x</p:attrName>
                                        </p:attrNameLst>
                                      </p:cBhvr>
                                      <p:tavLst>
                                        <p:tav tm="0">
                                          <p:val>
                                            <p:strVal val="#ppt_x"/>
                                          </p:val>
                                        </p:tav>
                                        <p:tav tm="100000">
                                          <p:val>
                                            <p:strVal val="#ppt_x"/>
                                          </p:val>
                                        </p:tav>
                                      </p:tavLst>
                                    </p:anim>
                                    <p:anim calcmode="lin" valueType="num">
                                      <p:cBhvr additive="base">
                                        <p:cTn id="85" dur="500" fill="hold" decel="100000"/>
                                        <p:tgtEl>
                                          <p:spTgt spid="80"/>
                                        </p:tgtEl>
                                        <p:attrNameLst>
                                          <p:attrName>ppt_y</p:attrName>
                                        </p:attrNameLst>
                                      </p:cBhvr>
                                      <p:tavLst>
                                        <p:tav tm="0">
                                          <p:val>
                                            <p:strVal val="#ppt_y+0.025"/>
                                          </p:val>
                                        </p:tav>
                                        <p:tav tm="100000">
                                          <p:val>
                                            <p:strVal val="#ppt_y"/>
                                          </p:val>
                                        </p:tav>
                                      </p:tavLst>
                                    </p:anim>
                                  </p:childTnLst>
                                </p:cTn>
                              </p:par>
                              <p:par>
                                <p:cTn id="86" presetID="22" presetClass="entr" presetSubtype="8" fill="hold" grpId="0" nodeType="withEffect">
                                  <p:stCondLst>
                                    <p:cond delay="800"/>
                                  </p:stCondLst>
                                  <p:childTnLst>
                                    <p:set>
                                      <p:cBhvr>
                                        <p:cTn id="87" dur="1" fill="hold">
                                          <p:stCondLst>
                                            <p:cond delay="0"/>
                                          </p:stCondLst>
                                        </p:cTn>
                                        <p:tgtEl>
                                          <p:spTgt spid="84"/>
                                        </p:tgtEl>
                                        <p:attrNameLst>
                                          <p:attrName>style.visibility</p:attrName>
                                        </p:attrNameLst>
                                      </p:cBhvr>
                                      <p:to>
                                        <p:strVal val="visible"/>
                                      </p:to>
                                    </p:set>
                                    <p:animEffect transition="in" filter="wipe(left)">
                                      <p:cBhvr>
                                        <p:cTn id="88" dur="380"/>
                                        <p:tgtEl>
                                          <p:spTgt spid="84"/>
                                        </p:tgtEl>
                                      </p:cBhvr>
                                    </p:animEffect>
                                  </p:childTnLst>
                                </p:cTn>
                              </p:par>
                              <p:par>
                                <p:cTn id="89" presetID="22" presetClass="entr" presetSubtype="8" fill="hold" grpId="0" nodeType="withEffect">
                                  <p:stCondLst>
                                    <p:cond delay="1030"/>
                                  </p:stCondLst>
                                  <p:childTnLst>
                                    <p:set>
                                      <p:cBhvr>
                                        <p:cTn id="90" dur="1" fill="hold">
                                          <p:stCondLst>
                                            <p:cond delay="0"/>
                                          </p:stCondLst>
                                        </p:cTn>
                                        <p:tgtEl>
                                          <p:spTgt spid="85"/>
                                        </p:tgtEl>
                                        <p:attrNameLst>
                                          <p:attrName>style.visibility</p:attrName>
                                        </p:attrNameLst>
                                      </p:cBhvr>
                                      <p:to>
                                        <p:strVal val="visible"/>
                                      </p:to>
                                    </p:set>
                                    <p:animEffect transition="in" filter="wipe(left)">
                                      <p:cBhvr>
                                        <p:cTn id="91" dur="380"/>
                                        <p:tgtEl>
                                          <p:spTgt spid="85"/>
                                        </p:tgtEl>
                                      </p:cBhvr>
                                    </p:animEffect>
                                  </p:childTnLst>
                                </p:cTn>
                              </p:par>
                              <p:par>
                                <p:cTn id="92" presetID="22" presetClass="entr" presetSubtype="8" fill="hold" grpId="0" nodeType="withEffect">
                                  <p:stCondLst>
                                    <p:cond delay="1260"/>
                                  </p:stCondLst>
                                  <p:childTnLst>
                                    <p:set>
                                      <p:cBhvr>
                                        <p:cTn id="93" dur="1" fill="hold">
                                          <p:stCondLst>
                                            <p:cond delay="0"/>
                                          </p:stCondLst>
                                        </p:cTn>
                                        <p:tgtEl>
                                          <p:spTgt spid="86"/>
                                        </p:tgtEl>
                                        <p:attrNameLst>
                                          <p:attrName>style.visibility</p:attrName>
                                        </p:attrNameLst>
                                      </p:cBhvr>
                                      <p:to>
                                        <p:strVal val="visible"/>
                                      </p:to>
                                    </p:set>
                                    <p:animEffect transition="in" filter="wipe(left)">
                                      <p:cBhvr>
                                        <p:cTn id="94" dur="380"/>
                                        <p:tgtEl>
                                          <p:spTgt spid="86"/>
                                        </p:tgtEl>
                                      </p:cBhvr>
                                    </p:animEffect>
                                  </p:childTnLst>
                                </p:cTn>
                              </p:par>
                              <p:par>
                                <p:cTn id="95" presetID="22" presetClass="entr" presetSubtype="8" fill="hold" grpId="0" nodeType="withEffect">
                                  <p:stCondLst>
                                    <p:cond delay="1490"/>
                                  </p:stCondLst>
                                  <p:childTnLst>
                                    <p:set>
                                      <p:cBhvr>
                                        <p:cTn id="96" dur="1" fill="hold">
                                          <p:stCondLst>
                                            <p:cond delay="0"/>
                                          </p:stCondLst>
                                        </p:cTn>
                                        <p:tgtEl>
                                          <p:spTgt spid="87"/>
                                        </p:tgtEl>
                                        <p:attrNameLst>
                                          <p:attrName>style.visibility</p:attrName>
                                        </p:attrNameLst>
                                      </p:cBhvr>
                                      <p:to>
                                        <p:strVal val="visible"/>
                                      </p:to>
                                    </p:set>
                                    <p:animEffect transition="in" filter="wipe(left)">
                                      <p:cBhvr>
                                        <p:cTn id="97" dur="380"/>
                                        <p:tgtEl>
                                          <p:spTgt spid="87"/>
                                        </p:tgtEl>
                                      </p:cBhvr>
                                    </p:animEffect>
                                  </p:childTnLst>
                                </p:cTn>
                              </p:par>
                              <p:par>
                                <p:cTn id="98" presetID="22" presetClass="entr" presetSubtype="8" fill="hold" grpId="0" nodeType="withEffect">
                                  <p:stCondLst>
                                    <p:cond delay="1720"/>
                                  </p:stCondLst>
                                  <p:childTnLst>
                                    <p:set>
                                      <p:cBhvr>
                                        <p:cTn id="99" dur="1" fill="hold">
                                          <p:stCondLst>
                                            <p:cond delay="0"/>
                                          </p:stCondLst>
                                        </p:cTn>
                                        <p:tgtEl>
                                          <p:spTgt spid="88"/>
                                        </p:tgtEl>
                                        <p:attrNameLst>
                                          <p:attrName>style.visibility</p:attrName>
                                        </p:attrNameLst>
                                      </p:cBhvr>
                                      <p:to>
                                        <p:strVal val="visible"/>
                                      </p:to>
                                    </p:set>
                                    <p:animEffect transition="in" filter="wipe(left)">
                                      <p:cBhvr>
                                        <p:cTn id="100" dur="380"/>
                                        <p:tgtEl>
                                          <p:spTgt spid="88"/>
                                        </p:tgtEl>
                                      </p:cBhvr>
                                    </p:animEffect>
                                  </p:childTnLst>
                                </p:cTn>
                              </p:par>
                              <p:par>
                                <p:cTn id="101" presetID="42" presetClass="entr" presetSubtype="0" fill="hold" grpId="0" nodeType="withEffect">
                                  <p:stCondLst>
                                    <p:cond delay="1900"/>
                                  </p:stCondLst>
                                  <p:childTnLst>
                                    <p:set>
                                      <p:cBhvr>
                                        <p:cTn id="102" dur="1" fill="hold">
                                          <p:stCondLst>
                                            <p:cond delay="0"/>
                                          </p:stCondLst>
                                        </p:cTn>
                                        <p:tgtEl>
                                          <p:spTgt spid="89"/>
                                        </p:tgtEl>
                                        <p:attrNameLst>
                                          <p:attrName>style.visibility</p:attrName>
                                        </p:attrNameLst>
                                      </p:cBhvr>
                                      <p:to>
                                        <p:strVal val="visible"/>
                                      </p:to>
                                    </p:set>
                                    <p:animEffect transition="in" filter="fade">
                                      <p:cBhvr>
                                        <p:cTn id="103" dur="400"/>
                                        <p:tgtEl>
                                          <p:spTgt spid="89"/>
                                        </p:tgtEl>
                                      </p:cBhvr>
                                    </p:animEffect>
                                    <p:anim calcmode="lin" valueType="num">
                                      <p:cBhvr additive="base">
                                        <p:cTn id="104" dur="400" fill="hold" decel="100000"/>
                                        <p:tgtEl>
                                          <p:spTgt spid="89"/>
                                        </p:tgtEl>
                                        <p:attrNameLst>
                                          <p:attrName>ppt_x</p:attrName>
                                        </p:attrNameLst>
                                      </p:cBhvr>
                                      <p:tavLst>
                                        <p:tav tm="0">
                                          <p:val>
                                            <p:strVal val="#ppt_x"/>
                                          </p:val>
                                        </p:tav>
                                        <p:tav tm="100000">
                                          <p:val>
                                            <p:strVal val="#ppt_x"/>
                                          </p:val>
                                        </p:tav>
                                      </p:tavLst>
                                    </p:anim>
                                    <p:anim calcmode="lin" valueType="num">
                                      <p:cBhvr additive="base">
                                        <p:cTn id="105" dur="400" fill="hold" decel="100000"/>
                                        <p:tgtEl>
                                          <p:spTgt spid="89"/>
                                        </p:tgtEl>
                                        <p:attrNameLst>
                                          <p:attrName>ppt_y</p:attrName>
                                        </p:attrNameLst>
                                      </p:cBhvr>
                                      <p:tavLst>
                                        <p:tav tm="0">
                                          <p:val>
                                            <p:strVal val="#ppt_y+0.025"/>
                                          </p:val>
                                        </p:tav>
                                        <p:tav tm="100000">
                                          <p:val>
                                            <p:strVal val="#ppt_y"/>
                                          </p:val>
                                        </p:tav>
                                      </p:tavLst>
                                    </p:anim>
                                  </p:childTnLst>
                                </p:cTn>
                              </p:par>
                              <p:par>
                                <p:cTn id="106" presetID="42" presetClass="entr" presetSubtype="0" fill="hold" grpId="0" nodeType="withEffect">
                                  <p:stCondLst>
                                    <p:cond delay="1990"/>
                                  </p:stCondLst>
                                  <p:childTnLst>
                                    <p:set>
                                      <p:cBhvr>
                                        <p:cTn id="107" dur="1" fill="hold">
                                          <p:stCondLst>
                                            <p:cond delay="0"/>
                                          </p:stCondLst>
                                        </p:cTn>
                                        <p:tgtEl>
                                          <p:spTgt spid="93"/>
                                        </p:tgtEl>
                                        <p:attrNameLst>
                                          <p:attrName>style.visibility</p:attrName>
                                        </p:attrNameLst>
                                      </p:cBhvr>
                                      <p:to>
                                        <p:strVal val="visible"/>
                                      </p:to>
                                    </p:set>
                                    <p:animEffect transition="in" filter="fade">
                                      <p:cBhvr>
                                        <p:cTn id="108" dur="400"/>
                                        <p:tgtEl>
                                          <p:spTgt spid="93"/>
                                        </p:tgtEl>
                                      </p:cBhvr>
                                    </p:animEffect>
                                    <p:anim calcmode="lin" valueType="num">
                                      <p:cBhvr additive="base">
                                        <p:cTn id="109" dur="400" fill="hold" decel="100000"/>
                                        <p:tgtEl>
                                          <p:spTgt spid="93"/>
                                        </p:tgtEl>
                                        <p:attrNameLst>
                                          <p:attrName>ppt_x</p:attrName>
                                        </p:attrNameLst>
                                      </p:cBhvr>
                                      <p:tavLst>
                                        <p:tav tm="0">
                                          <p:val>
                                            <p:strVal val="#ppt_x"/>
                                          </p:val>
                                        </p:tav>
                                        <p:tav tm="100000">
                                          <p:val>
                                            <p:strVal val="#ppt_x"/>
                                          </p:val>
                                        </p:tav>
                                      </p:tavLst>
                                    </p:anim>
                                    <p:anim calcmode="lin" valueType="num">
                                      <p:cBhvr additive="base">
                                        <p:cTn id="110" dur="400" fill="hold" decel="100000"/>
                                        <p:tgtEl>
                                          <p:spTgt spid="93"/>
                                        </p:tgtEl>
                                        <p:attrNameLst>
                                          <p:attrName>ppt_y</p:attrName>
                                        </p:attrNameLst>
                                      </p:cBhvr>
                                      <p:tavLst>
                                        <p:tav tm="0">
                                          <p:val>
                                            <p:strVal val="#ppt_y+0.025"/>
                                          </p:val>
                                        </p:tav>
                                        <p:tav tm="100000">
                                          <p:val>
                                            <p:strVal val="#ppt_y"/>
                                          </p:val>
                                        </p:tav>
                                      </p:tavLst>
                                    </p:anim>
                                  </p:childTnLst>
                                </p:cTn>
                              </p:par>
                              <p:par>
                                <p:cTn id="111" presetID="42" presetClass="entr" presetSubtype="0" fill="hold" grpId="0" nodeType="withEffect">
                                  <p:stCondLst>
                                    <p:cond delay="2080"/>
                                  </p:stCondLst>
                                  <p:childTnLst>
                                    <p:set>
                                      <p:cBhvr>
                                        <p:cTn id="112" dur="1" fill="hold">
                                          <p:stCondLst>
                                            <p:cond delay="0"/>
                                          </p:stCondLst>
                                        </p:cTn>
                                        <p:tgtEl>
                                          <p:spTgt spid="97"/>
                                        </p:tgtEl>
                                        <p:attrNameLst>
                                          <p:attrName>style.visibility</p:attrName>
                                        </p:attrNameLst>
                                      </p:cBhvr>
                                      <p:to>
                                        <p:strVal val="visible"/>
                                      </p:to>
                                    </p:set>
                                    <p:animEffect transition="in" filter="fade">
                                      <p:cBhvr>
                                        <p:cTn id="113" dur="400"/>
                                        <p:tgtEl>
                                          <p:spTgt spid="97"/>
                                        </p:tgtEl>
                                      </p:cBhvr>
                                    </p:animEffect>
                                    <p:anim calcmode="lin" valueType="num">
                                      <p:cBhvr additive="base">
                                        <p:cTn id="114" dur="400" fill="hold" decel="100000"/>
                                        <p:tgtEl>
                                          <p:spTgt spid="97"/>
                                        </p:tgtEl>
                                        <p:attrNameLst>
                                          <p:attrName>ppt_x</p:attrName>
                                        </p:attrNameLst>
                                      </p:cBhvr>
                                      <p:tavLst>
                                        <p:tav tm="0">
                                          <p:val>
                                            <p:strVal val="#ppt_x"/>
                                          </p:val>
                                        </p:tav>
                                        <p:tav tm="100000">
                                          <p:val>
                                            <p:strVal val="#ppt_x"/>
                                          </p:val>
                                        </p:tav>
                                      </p:tavLst>
                                    </p:anim>
                                    <p:anim calcmode="lin" valueType="num">
                                      <p:cBhvr additive="base">
                                        <p:cTn id="115" dur="400" fill="hold" decel="100000"/>
                                        <p:tgtEl>
                                          <p:spTgt spid="97"/>
                                        </p:tgtEl>
                                        <p:attrNameLst>
                                          <p:attrName>ppt_y</p:attrName>
                                        </p:attrNameLst>
                                      </p:cBhvr>
                                      <p:tavLst>
                                        <p:tav tm="0">
                                          <p:val>
                                            <p:strVal val="#ppt_y+0.025"/>
                                          </p:val>
                                        </p:tav>
                                        <p:tav tm="100000">
                                          <p:val>
                                            <p:strVal val="#ppt_y"/>
                                          </p:val>
                                        </p:tav>
                                      </p:tavLst>
                                    </p:anim>
                                  </p:childTnLst>
                                </p:cTn>
                              </p:par>
                              <p:par>
                                <p:cTn id="116" presetID="42" presetClass="entr" presetSubtype="0" fill="hold" grpId="0" nodeType="withEffect">
                                  <p:stCondLst>
                                    <p:cond delay="2170"/>
                                  </p:stCondLst>
                                  <p:childTnLst>
                                    <p:set>
                                      <p:cBhvr>
                                        <p:cTn id="117" dur="1" fill="hold">
                                          <p:stCondLst>
                                            <p:cond delay="0"/>
                                          </p:stCondLst>
                                        </p:cTn>
                                        <p:tgtEl>
                                          <p:spTgt spid="101"/>
                                        </p:tgtEl>
                                        <p:attrNameLst>
                                          <p:attrName>style.visibility</p:attrName>
                                        </p:attrNameLst>
                                      </p:cBhvr>
                                      <p:to>
                                        <p:strVal val="visible"/>
                                      </p:to>
                                    </p:set>
                                    <p:animEffect transition="in" filter="fade">
                                      <p:cBhvr>
                                        <p:cTn id="118" dur="400"/>
                                        <p:tgtEl>
                                          <p:spTgt spid="101"/>
                                        </p:tgtEl>
                                      </p:cBhvr>
                                    </p:animEffect>
                                    <p:anim calcmode="lin" valueType="num">
                                      <p:cBhvr additive="base">
                                        <p:cTn id="119" dur="400" fill="hold" decel="100000"/>
                                        <p:tgtEl>
                                          <p:spTgt spid="101"/>
                                        </p:tgtEl>
                                        <p:attrNameLst>
                                          <p:attrName>ppt_x</p:attrName>
                                        </p:attrNameLst>
                                      </p:cBhvr>
                                      <p:tavLst>
                                        <p:tav tm="0">
                                          <p:val>
                                            <p:strVal val="#ppt_x"/>
                                          </p:val>
                                        </p:tav>
                                        <p:tav tm="100000">
                                          <p:val>
                                            <p:strVal val="#ppt_x"/>
                                          </p:val>
                                        </p:tav>
                                      </p:tavLst>
                                    </p:anim>
                                    <p:anim calcmode="lin" valueType="num">
                                      <p:cBhvr additive="base">
                                        <p:cTn id="120" dur="400" fill="hold" decel="100000"/>
                                        <p:tgtEl>
                                          <p:spTgt spid="101"/>
                                        </p:tgtEl>
                                        <p:attrNameLst>
                                          <p:attrName>ppt_y</p:attrName>
                                        </p:attrNameLst>
                                      </p:cBhvr>
                                      <p:tavLst>
                                        <p:tav tm="0">
                                          <p:val>
                                            <p:strVal val="#ppt_y+0.025"/>
                                          </p:val>
                                        </p:tav>
                                        <p:tav tm="100000">
                                          <p:val>
                                            <p:strVal val="#ppt_y"/>
                                          </p:val>
                                        </p:tav>
                                      </p:tavLst>
                                    </p:anim>
                                  </p:childTnLst>
                                </p:cTn>
                              </p:par>
                              <p:par>
                                <p:cTn id="121" presetID="42" presetClass="entr" presetSubtype="0" fill="hold" grpId="0" nodeType="withEffect">
                                  <p:stCondLst>
                                    <p:cond delay="2260"/>
                                  </p:stCondLst>
                                  <p:childTnLst>
                                    <p:set>
                                      <p:cBhvr>
                                        <p:cTn id="122" dur="1" fill="hold">
                                          <p:stCondLst>
                                            <p:cond delay="0"/>
                                          </p:stCondLst>
                                        </p:cTn>
                                        <p:tgtEl>
                                          <p:spTgt spid="105"/>
                                        </p:tgtEl>
                                        <p:attrNameLst>
                                          <p:attrName>style.visibility</p:attrName>
                                        </p:attrNameLst>
                                      </p:cBhvr>
                                      <p:to>
                                        <p:strVal val="visible"/>
                                      </p:to>
                                    </p:set>
                                    <p:animEffect transition="in" filter="fade">
                                      <p:cBhvr>
                                        <p:cTn id="123" dur="400"/>
                                        <p:tgtEl>
                                          <p:spTgt spid="105"/>
                                        </p:tgtEl>
                                      </p:cBhvr>
                                    </p:animEffect>
                                    <p:anim calcmode="lin" valueType="num">
                                      <p:cBhvr additive="base">
                                        <p:cTn id="124" dur="400" fill="hold" decel="100000"/>
                                        <p:tgtEl>
                                          <p:spTgt spid="105"/>
                                        </p:tgtEl>
                                        <p:attrNameLst>
                                          <p:attrName>ppt_x</p:attrName>
                                        </p:attrNameLst>
                                      </p:cBhvr>
                                      <p:tavLst>
                                        <p:tav tm="0">
                                          <p:val>
                                            <p:strVal val="#ppt_x"/>
                                          </p:val>
                                        </p:tav>
                                        <p:tav tm="100000">
                                          <p:val>
                                            <p:strVal val="#ppt_x"/>
                                          </p:val>
                                        </p:tav>
                                      </p:tavLst>
                                    </p:anim>
                                    <p:anim calcmode="lin" valueType="num">
                                      <p:cBhvr additive="base">
                                        <p:cTn id="125" dur="400" fill="hold" decel="100000"/>
                                        <p:tgtEl>
                                          <p:spTgt spid="105"/>
                                        </p:tgtEl>
                                        <p:attrNameLst>
                                          <p:attrName>ppt_y</p:attrName>
                                        </p:attrNameLst>
                                      </p:cBhvr>
                                      <p:tavLst>
                                        <p:tav tm="0">
                                          <p:val>
                                            <p:strVal val="#ppt_y+0.025"/>
                                          </p:val>
                                        </p:tav>
                                        <p:tav tm="100000">
                                          <p:val>
                                            <p:strVal val="#ppt_y"/>
                                          </p:val>
                                        </p:tav>
                                      </p:tavLst>
                                    </p:anim>
                                  </p:childTnLst>
                                </p:cTn>
                              </p:par>
                              <p:par>
                                <p:cTn id="126" presetID="42" presetClass="entr" presetSubtype="0" fill="hold" grpId="0" nodeType="withEffect">
                                  <p:stCondLst>
                                    <p:cond delay="2350"/>
                                  </p:stCondLst>
                                  <p:childTnLst>
                                    <p:set>
                                      <p:cBhvr>
                                        <p:cTn id="127" dur="1" fill="hold">
                                          <p:stCondLst>
                                            <p:cond delay="0"/>
                                          </p:stCondLst>
                                        </p:cTn>
                                        <p:tgtEl>
                                          <p:spTgt spid="109"/>
                                        </p:tgtEl>
                                        <p:attrNameLst>
                                          <p:attrName>style.visibility</p:attrName>
                                        </p:attrNameLst>
                                      </p:cBhvr>
                                      <p:to>
                                        <p:strVal val="visible"/>
                                      </p:to>
                                    </p:set>
                                    <p:animEffect transition="in" filter="fade">
                                      <p:cBhvr>
                                        <p:cTn id="128" dur="400"/>
                                        <p:tgtEl>
                                          <p:spTgt spid="109"/>
                                        </p:tgtEl>
                                      </p:cBhvr>
                                    </p:animEffect>
                                    <p:anim calcmode="lin" valueType="num">
                                      <p:cBhvr additive="base">
                                        <p:cTn id="129" dur="400" fill="hold" decel="100000"/>
                                        <p:tgtEl>
                                          <p:spTgt spid="109"/>
                                        </p:tgtEl>
                                        <p:attrNameLst>
                                          <p:attrName>ppt_x</p:attrName>
                                        </p:attrNameLst>
                                      </p:cBhvr>
                                      <p:tavLst>
                                        <p:tav tm="0">
                                          <p:val>
                                            <p:strVal val="#ppt_x"/>
                                          </p:val>
                                        </p:tav>
                                        <p:tav tm="100000">
                                          <p:val>
                                            <p:strVal val="#ppt_x"/>
                                          </p:val>
                                        </p:tav>
                                      </p:tavLst>
                                    </p:anim>
                                    <p:anim calcmode="lin" valueType="num">
                                      <p:cBhvr additive="base">
                                        <p:cTn id="130" dur="400" fill="hold" decel="100000"/>
                                        <p:tgtEl>
                                          <p:spTgt spid="109"/>
                                        </p:tgtEl>
                                        <p:attrNameLst>
                                          <p:attrName>ppt_y</p:attrName>
                                        </p:attrNameLst>
                                      </p:cBhvr>
                                      <p:tavLst>
                                        <p:tav tm="0">
                                          <p:val>
                                            <p:strVal val="#ppt_y+0.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25" grpId="0" animBg="1"/>
      <p:bldP spid="50" grpId="0" animBg="1"/>
      <p:bldP spid="63" grpId="0" animBg="1"/>
      <p:bldP spid="79" grpId="0" animBg="1"/>
      <p:bldP spid="84" grpId="0" animBg="1"/>
      <p:bldP spid="85" grpId="0" animBg="1"/>
      <p:bldP spid="86" grpId="0" animBg="1"/>
      <p:bldP spid="87" grpId="0" animBg="1"/>
      <p:bldP spid="88"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grpSp>
        <p:nvGrpSpPr>
          <p:cNvPr id="2" name="Group 1"/>
          <p:cNvGrpSpPr/>
          <p:nvPr/>
        </p:nvGrpSpPr>
        <p:grpSpPr>
          <a:xfrm>
            <a:off x="685800" y="384048"/>
            <a:ext cx="292608" cy="292608"/>
            <a:chOff x="685800" y="384048"/>
            <a:chExt cx="292608" cy="292608"/>
          </a:xfrm>
        </p:grpSpPr>
        <p:sp>
          <p:nvSpPr>
            <p:cNvPr id="3" name="Oval 2"/>
            <p:cNvSpPr/>
            <p:nvPr/>
          </p:nvSpPr>
          <p:spPr>
            <a:xfrm>
              <a:off x="685800" y="384048"/>
              <a:ext cx="292608" cy="292608"/>
            </a:xfrm>
            <a:prstGeom prst="ellipse">
              <a:avLst/>
            </a:prstGeom>
            <a:solidFill>
              <a:srgbClr val="16130E"/>
            </a:solidFill>
            <a:ln>
              <a:noFill/>
            </a:ln>
          </p:spPr>
          <p:txBody>
            <a:bodyPr rtlCol="0" anchor="ctr"/>
            <a:lstStyle/>
            <a:p>
              <a:pPr algn="ctr"/>
            </a:p>
          </p:txBody>
        </p:sp>
        <p:sp>
          <p:nvSpPr>
            <p:cNvPr id="4" name="Freeform 3"/>
            <p:cNvSpPr/>
            <p:nvPr/>
          </p:nvSpPr>
          <p:spPr>
            <a:xfrm>
              <a:off x="772852" y="517188"/>
              <a:ext cx="72424" cy="72424"/>
            </a:xfrm>
            <a:custGeom>
              <a:avLst/>
              <a:gdLst/>
              <a:ahLst/>
              <a:cxnLst/>
              <a:rect l="l" t="t" r="r" b="b"/>
              <a:pathLst>
                <a:path w="11" h="11">
                  <a:moveTo>
                    <a:pt x="11" y="2"/>
                  </a:moveTo>
                  <a:lnTo>
                    <a:pt x="3" y="10"/>
                  </a:lnTo>
                  <a:lnTo>
                    <a:pt x="2" y="11"/>
                  </a:lnTo>
                  <a:lnTo>
                    <a:pt x="1" y="10"/>
                  </a:lnTo>
                  <a:lnTo>
                    <a:pt x="0" y="9"/>
                  </a:lnTo>
                  <a:lnTo>
                    <a:pt x="1" y="8"/>
                  </a:lnTo>
                  <a:lnTo>
                    <a:pt x="9" y="0"/>
                  </a:lnTo>
                </a:path>
              </a:pathLst>
            </a:custGeom>
            <a:noFill/>
            <a:ln w="13167" cap="rnd">
              <a:solidFill>
                <a:srgbClr val="F4EFE4"/>
              </a:solidFill>
              <a:round/>
            </a:ln>
          </p:spPr>
          <p:txBody>
            <a:bodyPr rtlCol="0" anchor="ctr"/>
            <a:lstStyle/>
            <a:p>
              <a:pPr algn="ctr"/>
            </a:p>
          </p:txBody>
        </p:sp>
        <p:sp>
          <p:nvSpPr>
            <p:cNvPr id="5" name="Freeform 4"/>
            <p:cNvSpPr/>
            <p:nvPr/>
          </p:nvSpPr>
          <p:spPr>
            <a:xfrm>
              <a:off x="858444" y="517188"/>
              <a:ext cx="39504" cy="39504"/>
            </a:xfrm>
            <a:custGeom>
              <a:avLst/>
              <a:gdLst/>
              <a:ahLst/>
              <a:cxnLst/>
              <a:rect l="l" t="t" r="r" b="b"/>
              <a:pathLst>
                <a:path w="6" h="6">
                  <a:moveTo>
                    <a:pt x="0" y="6"/>
                  </a:moveTo>
                  <a:lnTo>
                    <a:pt x="6" y="0"/>
                  </a:lnTo>
                </a:path>
              </a:pathLst>
            </a:custGeom>
            <a:noFill/>
            <a:ln w="13167" cap="rnd">
              <a:solidFill>
                <a:srgbClr val="F4EFE4"/>
              </a:solidFill>
              <a:round/>
            </a:ln>
          </p:spPr>
          <p:txBody>
            <a:bodyPr rtlCol="0" anchor="ctr"/>
            <a:lstStyle/>
            <a:p>
              <a:pPr algn="ctr"/>
            </a:p>
          </p:txBody>
        </p:sp>
        <p:sp>
          <p:nvSpPr>
            <p:cNvPr id="6" name="Freeform 5"/>
            <p:cNvSpPr/>
            <p:nvPr/>
          </p:nvSpPr>
          <p:spPr>
            <a:xfrm>
              <a:off x="805772" y="464516"/>
              <a:ext cx="39504" cy="39504"/>
            </a:xfrm>
            <a:custGeom>
              <a:avLst/>
              <a:gdLst/>
              <a:ahLst/>
              <a:cxnLst/>
              <a:rect l="l" t="t" r="r" b="b"/>
              <a:pathLst>
                <a:path w="6" h="6">
                  <a:moveTo>
                    <a:pt x="0" y="6"/>
                  </a:moveTo>
                  <a:lnTo>
                    <a:pt x="6" y="0"/>
                  </a:lnTo>
                </a:path>
              </a:pathLst>
            </a:custGeom>
            <a:noFill/>
            <a:ln w="13167" cap="rnd">
              <a:solidFill>
                <a:srgbClr val="F4EFE4"/>
              </a:solidFill>
              <a:round/>
            </a:ln>
          </p:spPr>
          <p:txBody>
            <a:bodyPr rtlCol="0" anchor="ctr"/>
            <a:lstStyle/>
            <a:p>
              <a:pPr algn="ctr"/>
            </a:p>
          </p:txBody>
        </p:sp>
        <p:sp>
          <p:nvSpPr>
            <p:cNvPr id="7" name="Freeform 6"/>
            <p:cNvSpPr/>
            <p:nvPr/>
          </p:nvSpPr>
          <p:spPr>
            <a:xfrm>
              <a:off x="812356" y="497436"/>
              <a:ext cx="52672" cy="52672"/>
            </a:xfrm>
            <a:custGeom>
              <a:avLst/>
              <a:gdLst/>
              <a:ahLst/>
              <a:cxnLst/>
              <a:rect l="l" t="t" r="r" b="b"/>
              <a:pathLst>
                <a:path w="8" h="8">
                  <a:moveTo>
                    <a:pt x="0" y="0"/>
                  </a:moveTo>
                  <a:lnTo>
                    <a:pt x="8" y="8"/>
                  </a:lnTo>
                </a:path>
              </a:pathLst>
            </a:custGeom>
            <a:noFill/>
            <a:ln w="13167" cap="rnd">
              <a:solidFill>
                <a:srgbClr val="F4EFE4"/>
              </a:solidFill>
              <a:round/>
            </a:ln>
          </p:spPr>
          <p:txBody>
            <a:bodyPr rtlCol="0" anchor="ctr"/>
            <a:lstStyle/>
            <a:p>
              <a:pPr algn="ctr"/>
            </a:p>
          </p:txBody>
        </p:sp>
        <p:sp>
          <p:nvSpPr>
            <p:cNvPr id="8" name="Freeform 7"/>
            <p:cNvSpPr/>
            <p:nvPr/>
          </p:nvSpPr>
          <p:spPr>
            <a:xfrm>
              <a:off x="838692" y="471100"/>
              <a:ext cx="52672" cy="52672"/>
            </a:xfrm>
            <a:custGeom>
              <a:avLst/>
              <a:gdLst/>
              <a:ahLst/>
              <a:cxnLst/>
              <a:rect l="l" t="t" r="r" b="b"/>
              <a:pathLst>
                <a:path w="8" h="8">
                  <a:moveTo>
                    <a:pt x="8" y="8"/>
                  </a:moveTo>
                  <a:lnTo>
                    <a:pt x="0" y="0"/>
                  </a:lnTo>
                </a:path>
              </a:pathLst>
            </a:custGeom>
            <a:noFill/>
            <a:ln w="13167" cap="rnd">
              <a:solidFill>
                <a:srgbClr val="F4EFE4"/>
              </a:solidFill>
              <a:round/>
            </a:ln>
          </p:spPr>
          <p:txBody>
            <a:bodyPr rtlCol="0" anchor="ctr"/>
            <a:lstStyle/>
            <a:p>
              <a:pPr algn="ctr"/>
            </a:p>
          </p:txBody>
        </p:sp>
      </p:grpSp>
      <p:sp>
        <p:nvSpPr>
          <p:cNvPr id="9" name="TextBox 8"/>
          <p:cNvSpPr txBox="1"/>
          <p:nvPr/>
        </p:nvSpPr>
        <p:spPr>
          <a:xfrm>
            <a:off x="1060704" y="347472"/>
            <a:ext cx="2286000" cy="365760"/>
          </a:xfrm>
          <a:prstGeom prst="rect">
            <a:avLst/>
          </a:prstGeom>
          <a:noFill/>
        </p:spPr>
        <p:txBody>
          <a:bodyPr wrap="square" lIns="0" rIns="0" tIns="0" bIns="0" anchor="ctr">
            <a:noAutofit/>
          </a:bodyPr>
          <a:lstStyle/>
          <a:p>
            <a:pPr algn="l"/>
            <a:r>
              <a:rPr sz="1700" b="0" i="0">
                <a:solidFill>
                  <a:srgbClr val="16130E"/>
                </a:solidFill>
                <a:latin typeface="Georgia" panose="02040502050405020303" pitchFamily="18" charset="0"/>
              </a:rPr>
              <a:t>Bidwire</a:t>
            </a:r>
          </a:p>
        </p:txBody>
      </p:sp>
      <p:sp>
        <p:nvSpPr>
          <p:cNvPr id="10" name="TextBox 9"/>
          <p:cNvSpPr txBox="1"/>
          <p:nvPr/>
        </p:nvSpPr>
        <p:spPr>
          <a:xfrm>
            <a:off x="6019495" y="420624"/>
            <a:ext cx="5486400" cy="219456"/>
          </a:xfrm>
          <a:prstGeom prst="rect">
            <a:avLst/>
          </a:prstGeom>
          <a:noFill/>
        </p:spPr>
        <p:txBody>
          <a:bodyPr wrap="square" lIns="0" rIns="0" tIns="0" bIns="0" anchor="ctr">
            <a:noAutofit/>
          </a:bodyPr>
          <a:lstStyle/>
          <a:p>
            <a:pPr algn="r"/>
            <a:r>
              <a:rPr sz="850" b="1" i="0" spc="110">
                <a:solidFill>
                  <a:srgbClr val="9C937F"/>
                </a:solidFill>
                <a:latin typeface="Inter" panose="020B0502030000000004" pitchFamily="34" charset="0"/>
              </a:rPr>
              <a:t>LOT 07  ·  TRUST &amp; SAFETY</a:t>
            </a:r>
          </a:p>
        </p:txBody>
      </p:sp>
      <p:sp>
        <p:nvSpPr>
          <p:cNvPr id="11" name="Rectangle 10"/>
          <p:cNvSpPr/>
          <p:nvPr/>
        </p:nvSpPr>
        <p:spPr>
          <a:xfrm>
            <a:off x="685800" y="822960"/>
            <a:ext cx="10820095" cy="7315"/>
          </a:xfrm>
          <a:prstGeom prst="rect">
            <a:avLst/>
          </a:prstGeom>
          <a:solidFill>
            <a:srgbClr val="E2D9C6"/>
          </a:solidFill>
          <a:ln>
            <a:noFill/>
          </a:ln>
        </p:spPr>
        <p:txBody>
          <a:bodyPr rtlCol="0" anchor="ctr"/>
          <a:lstStyle/>
          <a:p>
            <a:pPr algn="ctr"/>
          </a:p>
        </p:txBody>
      </p:sp>
      <p:sp>
        <p:nvSpPr>
          <p:cNvPr id="12" name="TextBox 11"/>
          <p:cNvSpPr txBox="1"/>
          <p:nvPr/>
        </p:nvSpPr>
        <p:spPr>
          <a:xfrm>
            <a:off x="685800" y="6400800"/>
            <a:ext cx="6400800" cy="237744"/>
          </a:xfrm>
          <a:prstGeom prst="rect">
            <a:avLst/>
          </a:prstGeom>
          <a:noFill/>
        </p:spPr>
        <p:txBody>
          <a:bodyPr wrap="square" lIns="0" rIns="0" tIns="0" bIns="0" anchor="ctr">
            <a:noAutofit/>
          </a:bodyPr>
          <a:lstStyle/>
          <a:p>
            <a:pPr algn="l"/>
            <a:r>
              <a:rPr sz="850" b="0" i="0">
                <a:solidFill>
                  <a:srgbClr val="9C937F"/>
                </a:solidFill>
                <a:latin typeface="Inter" panose="020B0502030000000004" pitchFamily="34" charset="0"/>
              </a:rPr>
              <a:t>Bidwire · the auction house for AI agents · YC Make Something Agents Want · Oct 18, 2026</a:t>
            </a:r>
          </a:p>
        </p:txBody>
      </p:sp>
      <p:sp>
        <p:nvSpPr>
          <p:cNvPr id="13" name="TextBox 12"/>
          <p:cNvSpPr txBox="1"/>
          <p:nvPr/>
        </p:nvSpPr>
        <p:spPr>
          <a:xfrm>
            <a:off x="6933895" y="6400800"/>
            <a:ext cx="4572000" cy="237744"/>
          </a:xfrm>
          <a:prstGeom prst="rect">
            <a:avLst/>
          </a:prstGeom>
          <a:noFill/>
        </p:spPr>
        <p:txBody>
          <a:bodyPr wrap="square" lIns="0" rIns="0" tIns="0" bIns="0" anchor="ctr">
            <a:noAutofit/>
          </a:bodyPr>
          <a:lstStyle/>
          <a:p>
            <a:pPr algn="r"/>
            <a:r>
              <a:rPr sz="850" b="0" i="0">
                <a:solidFill>
                  <a:srgbClr val="9C937F"/>
                </a:solidFill>
                <a:latin typeface="Inter" panose="020B0502030000000004" pitchFamily="34" charset="0"/>
              </a:rPr>
              <a:t>github.com/vnmoorthy/bidwire</a:t>
            </a:r>
          </a:p>
        </p:txBody>
      </p:sp>
      <p:sp>
        <p:nvSpPr>
          <p:cNvPr id="14" name="Rectangle 13"/>
          <p:cNvSpPr/>
          <p:nvPr/>
        </p:nvSpPr>
        <p:spPr>
          <a:xfrm>
            <a:off x="0" y="6825996"/>
            <a:ext cx="12191695" cy="32004"/>
          </a:xfrm>
          <a:prstGeom prst="rect">
            <a:avLst/>
          </a:prstGeom>
          <a:solidFill>
            <a:srgbClr val="E2D9C6"/>
          </a:solidFill>
          <a:ln>
            <a:noFill/>
          </a:ln>
        </p:spPr>
        <p:txBody>
          <a:bodyPr rtlCol="0" anchor="ctr"/>
          <a:lstStyle/>
          <a:p>
            <a:pPr algn="ctr"/>
          </a:p>
        </p:txBody>
      </p:sp>
      <p:sp>
        <p:nvSpPr>
          <p:cNvPr id="15" name="Rectangle 14"/>
          <p:cNvSpPr/>
          <p:nvPr/>
        </p:nvSpPr>
        <p:spPr>
          <a:xfrm>
            <a:off x="0" y="6825996"/>
            <a:ext cx="8534187" cy="32004"/>
          </a:xfrm>
          <a:prstGeom prst="rect">
            <a:avLst/>
          </a:prstGeom>
          <a:solidFill>
            <a:srgbClr val="B0894F"/>
          </a:solidFill>
          <a:ln>
            <a:noFill/>
          </a:ln>
        </p:spPr>
        <p:txBody>
          <a:bodyPr rtlCol="0" anchor="ctr"/>
          <a:lstStyle/>
          <a:p>
            <a:pPr algn="ctr"/>
          </a:p>
        </p:txBody>
      </p:sp>
      <p:sp>
        <p:nvSpPr>
          <p:cNvPr id="16" name="TextBox 15"/>
          <p:cNvSpPr txBox="1"/>
          <p:nvPr/>
        </p:nvSpPr>
        <p:spPr>
          <a:xfrm>
            <a:off x="685800" y="987552"/>
            <a:ext cx="10835640" cy="603504"/>
          </a:xfrm>
          <a:prstGeom prst="rect">
            <a:avLst/>
          </a:prstGeom>
          <a:noFill/>
        </p:spPr>
        <p:txBody>
          <a:bodyPr wrap="square" lIns="0" rIns="0" tIns="0" bIns="0" anchor="t">
            <a:noAutofit/>
          </a:bodyPr>
          <a:lstStyle/>
          <a:p>
            <a:pPr algn="l">
              <a:lnSpc>
                <a:spcPct val="98000"/>
              </a:lnSpc>
            </a:pPr>
            <a:r>
              <a:rPr sz="4000" b="0" i="0" spc="-40">
                <a:solidFill>
                  <a:srgbClr val="16130E"/>
                </a:solidFill>
                <a:latin typeface="Georgia" panose="02040502050405020303" pitchFamily="18" charset="0"/>
              </a:rPr>
              <a:t>Trust is enforced in code.</a:t>
            </a:r>
          </a:p>
        </p:txBody>
      </p:sp>
      <p:sp>
        <p:nvSpPr>
          <p:cNvPr id="17" name="TextBox 16"/>
          <p:cNvSpPr txBox="1"/>
          <p:nvPr/>
        </p:nvSpPr>
        <p:spPr>
          <a:xfrm>
            <a:off x="685800" y="1591056"/>
            <a:ext cx="10835640" cy="411480"/>
          </a:xfrm>
          <a:prstGeom prst="rect">
            <a:avLst/>
          </a:prstGeom>
          <a:noFill/>
        </p:spPr>
        <p:txBody>
          <a:bodyPr wrap="square" lIns="0" rIns="0" tIns="0" bIns="0" anchor="t">
            <a:noAutofit/>
          </a:bodyPr>
          <a:lstStyle/>
          <a:p>
            <a:pPr algn="l"/>
            <a:r>
              <a:rPr sz="1700" b="0" i="0">
                <a:solidFill>
                  <a:srgbClr val="6E6658"/>
                </a:solidFill>
                <a:latin typeface="Inter" panose="020B0502030000000004" pitchFamily="34" charset="0"/>
              </a:rPr>
              <a:t>Every claim checked. Every cent balanced. Every call logged.</a:t>
            </a:r>
          </a:p>
        </p:txBody>
      </p:sp>
      <p:grpSp>
        <p:nvGrpSpPr>
          <p:cNvPr id="18" name="Group 17"/>
          <p:cNvGrpSpPr/>
          <p:nvPr/>
        </p:nvGrpSpPr>
        <p:grpSpPr>
          <a:xfrm>
            <a:off x="685800" y="2103120"/>
            <a:ext cx="5120640" cy="4169664"/>
            <a:chOff x="685800" y="2103120"/>
            <a:chExt cx="5120640" cy="4169664"/>
          </a:xfrm>
        </p:grpSpPr>
        <p:sp>
          <p:nvSpPr>
            <p:cNvPr id="19" name="Rounded Rectangle 18"/>
            <p:cNvSpPr/>
            <p:nvPr/>
          </p:nvSpPr>
          <p:spPr>
            <a:xfrm>
              <a:off x="685800" y="2103120"/>
              <a:ext cx="5120640" cy="4169664"/>
            </a:xfrm>
            <a:prstGeom prst="roundRect">
              <a:avLst>
                <a:gd name="adj" fmla="val 1315"/>
              </a:avLst>
            </a:prstGeom>
            <a:solidFill>
              <a:srgbClr val="FFFDF7"/>
            </a:solidFill>
            <a:ln w="9525">
              <a:solidFill>
                <a:srgbClr val="E2D9C6"/>
              </a:solidFill>
            </a:ln>
          </p:spPr>
          <p:txBody>
            <a:bodyPr rtlCol="0" anchor="ctr"/>
            <a:lstStyle/>
            <a:p>
              <a:pPr algn="ctr"/>
            </a:p>
          </p:txBody>
        </p:sp>
        <p:sp>
          <p:nvSpPr>
            <p:cNvPr id="20" name="TextBox 19"/>
            <p:cNvSpPr txBox="1"/>
            <p:nvPr/>
          </p:nvSpPr>
          <p:spPr>
            <a:xfrm>
              <a:off x="914400" y="2221992"/>
              <a:ext cx="4572000" cy="219456"/>
            </a:xfrm>
            <a:prstGeom prst="rect">
              <a:avLst/>
            </a:prstGeom>
            <a:noFill/>
          </p:spPr>
          <p:txBody>
            <a:bodyPr wrap="square" lIns="0" rIns="0" tIns="0" bIns="0" anchor="ctr">
              <a:noAutofit/>
            </a:bodyPr>
            <a:lstStyle/>
            <a:p>
              <a:pPr algn="l"/>
              <a:r>
                <a:rPr sz="850" b="1" i="0" spc="110">
                  <a:solidFill>
                    <a:srgbClr val="9C937F"/>
                  </a:solidFill>
                  <a:latin typeface="Inter" panose="020B0502030000000004" pitchFamily="34" charset="0"/>
                </a:rPr>
                <a:t>6 CHECKS ON EVERY PADDLE</a:t>
              </a:r>
            </a:p>
          </p:txBody>
        </p:sp>
      </p:grpSp>
      <p:grpSp>
        <p:nvGrpSpPr>
          <p:cNvPr id="21" name="Group 20"/>
          <p:cNvGrpSpPr/>
          <p:nvPr/>
        </p:nvGrpSpPr>
        <p:grpSpPr>
          <a:xfrm>
            <a:off x="914400" y="2551176"/>
            <a:ext cx="4736592" cy="493776"/>
            <a:chOff x="914400" y="2551176"/>
            <a:chExt cx="4736592" cy="493776"/>
          </a:xfrm>
        </p:grpSpPr>
        <p:sp>
          <p:nvSpPr>
            <p:cNvPr id="22" name="Oval 21"/>
            <p:cNvSpPr/>
            <p:nvPr/>
          </p:nvSpPr>
          <p:spPr>
            <a:xfrm>
              <a:off x="914400" y="2596896"/>
              <a:ext cx="365760" cy="365760"/>
            </a:xfrm>
            <a:prstGeom prst="ellipse">
              <a:avLst/>
            </a:prstGeom>
            <a:solidFill>
              <a:srgbClr val="E5F0E8"/>
            </a:solidFill>
            <a:ln>
              <a:noFill/>
            </a:ln>
          </p:spPr>
          <p:txBody>
            <a:bodyPr rtlCol="0" anchor="ctr"/>
            <a:lstStyle/>
            <a:p>
              <a:pPr algn="ctr"/>
            </a:p>
          </p:txBody>
        </p:sp>
        <p:sp>
          <p:nvSpPr>
            <p:cNvPr id="23" name="TextBox 22"/>
            <p:cNvSpPr txBox="1"/>
            <p:nvPr/>
          </p:nvSpPr>
          <p:spPr>
            <a:xfrm>
              <a:off x="914400" y="2596896"/>
              <a:ext cx="365760" cy="365760"/>
            </a:xfrm>
            <a:prstGeom prst="rect">
              <a:avLst/>
            </a:prstGeom>
            <a:noFill/>
          </p:spPr>
          <p:txBody>
            <a:bodyPr wrap="square" lIns="0" rIns="0" tIns="0" bIns="0" anchor="ctr">
              <a:noAutofit/>
            </a:bodyPr>
            <a:lstStyle/>
            <a:p>
              <a:pPr algn="ctr"/>
              <a:r>
                <a:rPr sz="1200" b="1" i="0">
                  <a:solidFill>
                    <a:srgbClr val="2D6A48"/>
                  </a:solidFill>
                  <a:latin typeface="Inter" panose="020B0502030000000004" pitchFamily="34" charset="0"/>
                </a:rPr>
                <a:t>✓</a:t>
              </a:r>
            </a:p>
          </p:txBody>
        </p:sp>
        <p:sp>
          <p:nvSpPr>
            <p:cNvPr id="24" name="TextBox 23"/>
            <p:cNvSpPr txBox="1"/>
            <p:nvPr/>
          </p:nvSpPr>
          <p:spPr>
            <a:xfrm>
              <a:off x="1444752" y="2551176"/>
              <a:ext cx="4114800" cy="274320"/>
            </a:xfrm>
            <a:prstGeom prst="rect">
              <a:avLst/>
            </a:prstGeom>
            <a:noFill/>
          </p:spPr>
          <p:txBody>
            <a:bodyPr wrap="square" lIns="0" rIns="0" tIns="0" bIns="0" anchor="ctr">
              <a:noAutofit/>
            </a:bodyPr>
            <a:lstStyle/>
            <a:p>
              <a:pPr algn="l"/>
              <a:r>
                <a:rPr sz="1400" b="0" i="0">
                  <a:solidFill>
                    <a:srgbClr val="16130E"/>
                  </a:solidFill>
                  <a:latin typeface="Georgia" panose="02040502050405020303" pitchFamily="18" charset="0"/>
                </a:rPr>
                <a:t>1. Product page</a:t>
              </a:r>
            </a:p>
          </p:txBody>
        </p:sp>
        <p:sp>
          <p:nvSpPr>
            <p:cNvPr id="25" name="TextBox 24"/>
            <p:cNvSpPr txBox="1"/>
            <p:nvPr/>
          </p:nvSpPr>
          <p:spPr>
            <a:xfrm>
              <a:off x="1444752" y="2807208"/>
              <a:ext cx="4206240" cy="237744"/>
            </a:xfrm>
            <a:prstGeom prst="rect">
              <a:avLst/>
            </a:prstGeom>
            <a:noFill/>
          </p:spPr>
          <p:txBody>
            <a:bodyPr wrap="square" lIns="0" rIns="0" tIns="0" bIns="0" anchor="ctr">
              <a:noAutofit/>
            </a:bodyPr>
            <a:lstStyle/>
            <a:p>
              <a:pPr algn="l"/>
              <a:r>
                <a:rPr sz="1050" b="0" i="0">
                  <a:solidFill>
                    <a:srgbClr val="6E6658"/>
                  </a:solidFill>
                  <a:latin typeface="Inter" panose="020B0502030000000004" pitchFamily="34" charset="0"/>
                </a:rPr>
                <a:t>schema.org Offer found on the merchant's own page</a:t>
              </a:r>
            </a:p>
          </p:txBody>
        </p:sp>
      </p:grpSp>
      <p:grpSp>
        <p:nvGrpSpPr>
          <p:cNvPr id="26" name="Group 25"/>
          <p:cNvGrpSpPr/>
          <p:nvPr/>
        </p:nvGrpSpPr>
        <p:grpSpPr>
          <a:xfrm>
            <a:off x="914400" y="3044952"/>
            <a:ext cx="4736592" cy="493776"/>
            <a:chOff x="914400" y="3044952"/>
            <a:chExt cx="4736592" cy="493776"/>
          </a:xfrm>
        </p:grpSpPr>
        <p:sp>
          <p:nvSpPr>
            <p:cNvPr id="27" name="Oval 26"/>
            <p:cNvSpPr/>
            <p:nvPr/>
          </p:nvSpPr>
          <p:spPr>
            <a:xfrm>
              <a:off x="914400" y="3090672"/>
              <a:ext cx="365760" cy="365760"/>
            </a:xfrm>
            <a:prstGeom prst="ellipse">
              <a:avLst/>
            </a:prstGeom>
            <a:solidFill>
              <a:srgbClr val="E5F0E8"/>
            </a:solidFill>
            <a:ln>
              <a:noFill/>
            </a:ln>
          </p:spPr>
          <p:txBody>
            <a:bodyPr rtlCol="0" anchor="ctr"/>
            <a:lstStyle/>
            <a:p>
              <a:pPr algn="ctr"/>
            </a:p>
          </p:txBody>
        </p:sp>
        <p:sp>
          <p:nvSpPr>
            <p:cNvPr id="28" name="TextBox 27"/>
            <p:cNvSpPr txBox="1"/>
            <p:nvPr/>
          </p:nvSpPr>
          <p:spPr>
            <a:xfrm>
              <a:off x="914400" y="3090672"/>
              <a:ext cx="365760" cy="365760"/>
            </a:xfrm>
            <a:prstGeom prst="rect">
              <a:avLst/>
            </a:prstGeom>
            <a:noFill/>
          </p:spPr>
          <p:txBody>
            <a:bodyPr wrap="square" lIns="0" rIns="0" tIns="0" bIns="0" anchor="ctr">
              <a:noAutofit/>
            </a:bodyPr>
            <a:lstStyle/>
            <a:p>
              <a:pPr algn="ctr"/>
              <a:r>
                <a:rPr sz="1200" b="1" i="0">
                  <a:solidFill>
                    <a:srgbClr val="2D6A48"/>
                  </a:solidFill>
                  <a:latin typeface="Inter" panose="020B0502030000000004" pitchFamily="34" charset="0"/>
                </a:rPr>
                <a:t>✓</a:t>
              </a:r>
            </a:p>
          </p:txBody>
        </p:sp>
        <p:sp>
          <p:nvSpPr>
            <p:cNvPr id="29" name="TextBox 28"/>
            <p:cNvSpPr txBox="1"/>
            <p:nvPr/>
          </p:nvSpPr>
          <p:spPr>
            <a:xfrm>
              <a:off x="1444752" y="3044952"/>
              <a:ext cx="4114800" cy="274320"/>
            </a:xfrm>
            <a:prstGeom prst="rect">
              <a:avLst/>
            </a:prstGeom>
            <a:noFill/>
          </p:spPr>
          <p:txBody>
            <a:bodyPr wrap="square" lIns="0" rIns="0" tIns="0" bIns="0" anchor="ctr">
              <a:noAutofit/>
            </a:bodyPr>
            <a:lstStyle/>
            <a:p>
              <a:pPr algn="l"/>
              <a:r>
                <a:rPr sz="1400" b="0" i="0">
                  <a:solidFill>
                    <a:srgbClr val="16130E"/>
                  </a:solidFill>
                  <a:latin typeface="Georgia" panose="02040502050405020303" pitchFamily="18" charset="0"/>
                </a:rPr>
                <a:t>2. Checkout total</a:t>
              </a:r>
            </a:p>
          </p:txBody>
        </p:sp>
        <p:sp>
          <p:nvSpPr>
            <p:cNvPr id="30" name="TextBox 29"/>
            <p:cNvSpPr txBox="1"/>
            <p:nvPr/>
          </p:nvSpPr>
          <p:spPr>
            <a:xfrm>
              <a:off x="1444752" y="3300984"/>
              <a:ext cx="4206240" cy="237744"/>
            </a:xfrm>
            <a:prstGeom prst="rect">
              <a:avLst/>
            </a:prstGeom>
            <a:noFill/>
          </p:spPr>
          <p:txBody>
            <a:bodyPr wrap="square" lIns="0" rIns="0" tIns="0" bIns="0" anchor="ctr">
              <a:noAutofit/>
            </a:bodyPr>
            <a:lstStyle/>
            <a:p>
              <a:pPr algn="l"/>
              <a:r>
                <a:rPr sz="1050" b="0" i="0">
                  <a:solidFill>
                    <a:srgbClr val="6E6658"/>
                  </a:solidFill>
                  <a:latin typeface="Inter" panose="020B0502030000000004" pitchFamily="34" charset="0"/>
                </a:rPr>
                <a:t>claimed delivered price ≥ the real checkout total</a:t>
              </a:r>
            </a:p>
          </p:txBody>
        </p:sp>
      </p:grpSp>
      <p:grpSp>
        <p:nvGrpSpPr>
          <p:cNvPr id="31" name="Group 30"/>
          <p:cNvGrpSpPr/>
          <p:nvPr/>
        </p:nvGrpSpPr>
        <p:grpSpPr>
          <a:xfrm>
            <a:off x="914400" y="3538728"/>
            <a:ext cx="4736592" cy="493776"/>
            <a:chOff x="914400" y="3538728"/>
            <a:chExt cx="4736592" cy="493776"/>
          </a:xfrm>
        </p:grpSpPr>
        <p:sp>
          <p:nvSpPr>
            <p:cNvPr id="32" name="Oval 31"/>
            <p:cNvSpPr/>
            <p:nvPr/>
          </p:nvSpPr>
          <p:spPr>
            <a:xfrm>
              <a:off x="914400" y="3584448"/>
              <a:ext cx="365760" cy="365760"/>
            </a:xfrm>
            <a:prstGeom prst="ellipse">
              <a:avLst/>
            </a:prstGeom>
            <a:solidFill>
              <a:srgbClr val="E5F0E8"/>
            </a:solidFill>
            <a:ln>
              <a:noFill/>
            </a:ln>
          </p:spPr>
          <p:txBody>
            <a:bodyPr rtlCol="0" anchor="ctr"/>
            <a:lstStyle/>
            <a:p>
              <a:pPr algn="ctr"/>
            </a:p>
          </p:txBody>
        </p:sp>
        <p:sp>
          <p:nvSpPr>
            <p:cNvPr id="33" name="TextBox 32"/>
            <p:cNvSpPr txBox="1"/>
            <p:nvPr/>
          </p:nvSpPr>
          <p:spPr>
            <a:xfrm>
              <a:off x="914400" y="3584448"/>
              <a:ext cx="365760" cy="365760"/>
            </a:xfrm>
            <a:prstGeom prst="rect">
              <a:avLst/>
            </a:prstGeom>
            <a:noFill/>
          </p:spPr>
          <p:txBody>
            <a:bodyPr wrap="square" lIns="0" rIns="0" tIns="0" bIns="0" anchor="ctr">
              <a:noAutofit/>
            </a:bodyPr>
            <a:lstStyle/>
            <a:p>
              <a:pPr algn="ctr"/>
              <a:r>
                <a:rPr sz="1200" b="1" i="0">
                  <a:solidFill>
                    <a:srgbClr val="2D6A48"/>
                  </a:solidFill>
                  <a:latin typeface="Inter" panose="020B0502030000000004" pitchFamily="34" charset="0"/>
                </a:rPr>
                <a:t>✓</a:t>
              </a:r>
            </a:p>
          </p:txBody>
        </p:sp>
        <p:sp>
          <p:nvSpPr>
            <p:cNvPr id="34" name="TextBox 33"/>
            <p:cNvSpPr txBox="1"/>
            <p:nvPr/>
          </p:nvSpPr>
          <p:spPr>
            <a:xfrm>
              <a:off x="1444752" y="3538728"/>
              <a:ext cx="4114800" cy="274320"/>
            </a:xfrm>
            <a:prstGeom prst="rect">
              <a:avLst/>
            </a:prstGeom>
            <a:noFill/>
          </p:spPr>
          <p:txBody>
            <a:bodyPr wrap="square" lIns="0" rIns="0" tIns="0" bIns="0" anchor="ctr">
              <a:noAutofit/>
            </a:bodyPr>
            <a:lstStyle/>
            <a:p>
              <a:pPr algn="l"/>
              <a:r>
                <a:rPr sz="1400" b="0" i="0">
                  <a:solidFill>
                    <a:srgbClr val="16130E"/>
                  </a:solidFill>
                  <a:latin typeface="Georgia" panose="02040502050405020303" pitchFamily="18" charset="0"/>
                </a:rPr>
                <a:t>3. Delivery time</a:t>
              </a:r>
            </a:p>
          </p:txBody>
        </p:sp>
        <p:sp>
          <p:nvSpPr>
            <p:cNvPr id="35" name="TextBox 34"/>
            <p:cNvSpPr txBox="1"/>
            <p:nvPr/>
          </p:nvSpPr>
          <p:spPr>
            <a:xfrm>
              <a:off x="1444752" y="3794760"/>
              <a:ext cx="4206240" cy="237744"/>
            </a:xfrm>
            <a:prstGeom prst="rect">
              <a:avLst/>
            </a:prstGeom>
            <a:noFill/>
          </p:spPr>
          <p:txBody>
            <a:bodyPr wrap="square" lIns="0" rIns="0" tIns="0" bIns="0" anchor="ctr">
              <a:noAutofit/>
            </a:bodyPr>
            <a:lstStyle/>
            <a:p>
              <a:pPr algn="l"/>
              <a:r>
                <a:rPr sz="1050" b="0" i="0">
                  <a:solidFill>
                    <a:srgbClr val="6E6658"/>
                  </a:solidFill>
                  <a:latin typeface="Inter" panose="020B0502030000000004" pitchFamily="34" charset="0"/>
                </a:rPr>
                <a:t>claimed days ≥ the store's real ship days</a:t>
              </a:r>
            </a:p>
          </p:txBody>
        </p:sp>
      </p:grpSp>
      <p:grpSp>
        <p:nvGrpSpPr>
          <p:cNvPr id="36" name="Group 35"/>
          <p:cNvGrpSpPr/>
          <p:nvPr/>
        </p:nvGrpSpPr>
        <p:grpSpPr>
          <a:xfrm>
            <a:off x="914400" y="4032504"/>
            <a:ext cx="4736592" cy="493776"/>
            <a:chOff x="914400" y="4032504"/>
            <a:chExt cx="4736592" cy="493776"/>
          </a:xfrm>
        </p:grpSpPr>
        <p:sp>
          <p:nvSpPr>
            <p:cNvPr id="37" name="Oval 36"/>
            <p:cNvSpPr/>
            <p:nvPr/>
          </p:nvSpPr>
          <p:spPr>
            <a:xfrm>
              <a:off x="914400" y="4078224"/>
              <a:ext cx="365760" cy="365760"/>
            </a:xfrm>
            <a:prstGeom prst="ellipse">
              <a:avLst/>
            </a:prstGeom>
            <a:solidFill>
              <a:srgbClr val="E5F0E8"/>
            </a:solidFill>
            <a:ln>
              <a:noFill/>
            </a:ln>
          </p:spPr>
          <p:txBody>
            <a:bodyPr rtlCol="0" anchor="ctr"/>
            <a:lstStyle/>
            <a:p>
              <a:pPr algn="ctr"/>
            </a:p>
          </p:txBody>
        </p:sp>
        <p:sp>
          <p:nvSpPr>
            <p:cNvPr id="38" name="TextBox 37"/>
            <p:cNvSpPr txBox="1"/>
            <p:nvPr/>
          </p:nvSpPr>
          <p:spPr>
            <a:xfrm>
              <a:off x="914400" y="4078224"/>
              <a:ext cx="365760" cy="365760"/>
            </a:xfrm>
            <a:prstGeom prst="rect">
              <a:avLst/>
            </a:prstGeom>
            <a:noFill/>
          </p:spPr>
          <p:txBody>
            <a:bodyPr wrap="square" lIns="0" rIns="0" tIns="0" bIns="0" anchor="ctr">
              <a:noAutofit/>
            </a:bodyPr>
            <a:lstStyle/>
            <a:p>
              <a:pPr algn="ctr"/>
              <a:r>
                <a:rPr sz="1200" b="1" i="0">
                  <a:solidFill>
                    <a:srgbClr val="2D6A48"/>
                  </a:solidFill>
                  <a:latin typeface="Inter" panose="020B0502030000000004" pitchFamily="34" charset="0"/>
                </a:rPr>
                <a:t>✓</a:t>
              </a:r>
            </a:p>
          </p:txBody>
        </p:sp>
        <p:sp>
          <p:nvSpPr>
            <p:cNvPr id="39" name="TextBox 38"/>
            <p:cNvSpPr txBox="1"/>
            <p:nvPr/>
          </p:nvSpPr>
          <p:spPr>
            <a:xfrm>
              <a:off x="1444752" y="4032504"/>
              <a:ext cx="4114800" cy="274320"/>
            </a:xfrm>
            <a:prstGeom prst="rect">
              <a:avLst/>
            </a:prstGeom>
            <a:noFill/>
          </p:spPr>
          <p:txBody>
            <a:bodyPr wrap="square" lIns="0" rIns="0" tIns="0" bIns="0" anchor="ctr">
              <a:noAutofit/>
            </a:bodyPr>
            <a:lstStyle/>
            <a:p>
              <a:pPr algn="l"/>
              <a:r>
                <a:rPr sz="1400" b="0" i="0">
                  <a:solidFill>
                    <a:srgbClr val="16130E"/>
                  </a:solidFill>
                  <a:latin typeface="Georgia" panose="02040502050405020303" pitchFamily="18" charset="0"/>
                </a:rPr>
                <a:t>4. Features</a:t>
              </a:r>
            </a:p>
          </p:txBody>
        </p:sp>
        <p:sp>
          <p:nvSpPr>
            <p:cNvPr id="40" name="TextBox 39"/>
            <p:cNvSpPr txBox="1"/>
            <p:nvPr/>
          </p:nvSpPr>
          <p:spPr>
            <a:xfrm>
              <a:off x="1444752" y="4288536"/>
              <a:ext cx="4206240" cy="237744"/>
            </a:xfrm>
            <a:prstGeom prst="rect">
              <a:avLst/>
            </a:prstGeom>
            <a:noFill/>
          </p:spPr>
          <p:txBody>
            <a:bodyPr wrap="square" lIns="0" rIns="0" tIns="0" bIns="0" anchor="ctr">
              <a:noAutofit/>
            </a:bodyPr>
            <a:lstStyle/>
            <a:p>
              <a:pPr algn="l"/>
              <a:r>
                <a:rPr sz="1050" b="0" i="0">
                  <a:solidFill>
                    <a:srgbClr val="6E6658"/>
                  </a:solidFill>
                  <a:latin typeface="Inter" panose="020B0502030000000004" pitchFamily="34" charset="0"/>
                </a:rPr>
                <a:t>every claimed feature is listed on the page</a:t>
              </a:r>
            </a:p>
          </p:txBody>
        </p:sp>
      </p:grpSp>
      <p:grpSp>
        <p:nvGrpSpPr>
          <p:cNvPr id="41" name="Group 40"/>
          <p:cNvGrpSpPr/>
          <p:nvPr/>
        </p:nvGrpSpPr>
        <p:grpSpPr>
          <a:xfrm>
            <a:off x="914400" y="4526280"/>
            <a:ext cx="4736592" cy="493776"/>
            <a:chOff x="914400" y="4526280"/>
            <a:chExt cx="4736592" cy="493776"/>
          </a:xfrm>
        </p:grpSpPr>
        <p:sp>
          <p:nvSpPr>
            <p:cNvPr id="42" name="Oval 41"/>
            <p:cNvSpPr/>
            <p:nvPr/>
          </p:nvSpPr>
          <p:spPr>
            <a:xfrm>
              <a:off x="914400" y="4572000"/>
              <a:ext cx="365760" cy="365760"/>
            </a:xfrm>
            <a:prstGeom prst="ellipse">
              <a:avLst/>
            </a:prstGeom>
            <a:solidFill>
              <a:srgbClr val="E5F0E8"/>
            </a:solidFill>
            <a:ln>
              <a:noFill/>
            </a:ln>
          </p:spPr>
          <p:txBody>
            <a:bodyPr rtlCol="0" anchor="ctr"/>
            <a:lstStyle/>
            <a:p>
              <a:pPr algn="ctr"/>
            </a:p>
          </p:txBody>
        </p:sp>
        <p:sp>
          <p:nvSpPr>
            <p:cNvPr id="43" name="TextBox 42"/>
            <p:cNvSpPr txBox="1"/>
            <p:nvPr/>
          </p:nvSpPr>
          <p:spPr>
            <a:xfrm>
              <a:off x="914400" y="4572000"/>
              <a:ext cx="365760" cy="365760"/>
            </a:xfrm>
            <a:prstGeom prst="rect">
              <a:avLst/>
            </a:prstGeom>
            <a:noFill/>
          </p:spPr>
          <p:txBody>
            <a:bodyPr wrap="square" lIns="0" rIns="0" tIns="0" bIns="0" anchor="ctr">
              <a:noAutofit/>
            </a:bodyPr>
            <a:lstStyle/>
            <a:p>
              <a:pPr algn="ctr"/>
              <a:r>
                <a:rPr sz="1200" b="1" i="0">
                  <a:solidFill>
                    <a:srgbClr val="2D6A48"/>
                  </a:solidFill>
                  <a:latin typeface="Inter" panose="020B0502030000000004" pitchFamily="34" charset="0"/>
                </a:rPr>
                <a:t>✓</a:t>
              </a:r>
            </a:p>
          </p:txBody>
        </p:sp>
        <p:sp>
          <p:nvSpPr>
            <p:cNvPr id="44" name="TextBox 43"/>
            <p:cNvSpPr txBox="1"/>
            <p:nvPr/>
          </p:nvSpPr>
          <p:spPr>
            <a:xfrm>
              <a:off x="1444752" y="4526280"/>
              <a:ext cx="4114800" cy="274320"/>
            </a:xfrm>
            <a:prstGeom prst="rect">
              <a:avLst/>
            </a:prstGeom>
            <a:noFill/>
          </p:spPr>
          <p:txBody>
            <a:bodyPr wrap="square" lIns="0" rIns="0" tIns="0" bIns="0" anchor="ctr">
              <a:noAutofit/>
            </a:bodyPr>
            <a:lstStyle/>
            <a:p>
              <a:pPr algn="l"/>
              <a:r>
                <a:rPr sz="1400" b="0" i="0">
                  <a:solidFill>
                    <a:srgbClr val="16130E"/>
                  </a:solidFill>
                  <a:latin typeface="Georgia" panose="02040502050405020303" pitchFamily="18" charset="0"/>
                </a:rPr>
                <a:t>5. In stock</a:t>
              </a:r>
            </a:p>
          </p:txBody>
        </p:sp>
        <p:sp>
          <p:nvSpPr>
            <p:cNvPr id="45" name="TextBox 44"/>
            <p:cNvSpPr txBox="1"/>
            <p:nvPr/>
          </p:nvSpPr>
          <p:spPr>
            <a:xfrm>
              <a:off x="1444752" y="4782312"/>
              <a:ext cx="4206240" cy="237744"/>
            </a:xfrm>
            <a:prstGeom prst="rect">
              <a:avLst/>
            </a:prstGeom>
            <a:noFill/>
          </p:spPr>
          <p:txBody>
            <a:bodyPr wrap="square" lIns="0" rIns="0" tIns="0" bIns="0" anchor="ctr">
              <a:noAutofit/>
            </a:bodyPr>
            <a:lstStyle/>
            <a:p>
              <a:pPr algn="l"/>
              <a:r>
                <a:rPr sz="1050" b="0" i="0">
                  <a:solidFill>
                    <a:srgbClr val="6E6658"/>
                  </a:solidFill>
                  <a:latin typeface="Inter" panose="020B0502030000000004" pitchFamily="34" charset="0"/>
                </a:rPr>
                <a:t>available on the page and at checkout</a:t>
              </a:r>
            </a:p>
          </p:txBody>
        </p:sp>
      </p:grpSp>
      <p:grpSp>
        <p:nvGrpSpPr>
          <p:cNvPr id="46" name="Group 45"/>
          <p:cNvGrpSpPr/>
          <p:nvPr/>
        </p:nvGrpSpPr>
        <p:grpSpPr>
          <a:xfrm>
            <a:off x="914400" y="5020056"/>
            <a:ext cx="4736592" cy="493776"/>
            <a:chOff x="914400" y="5020056"/>
            <a:chExt cx="4736592" cy="493776"/>
          </a:xfrm>
        </p:grpSpPr>
        <p:sp>
          <p:nvSpPr>
            <p:cNvPr id="47" name="Oval 46"/>
            <p:cNvSpPr/>
            <p:nvPr/>
          </p:nvSpPr>
          <p:spPr>
            <a:xfrm>
              <a:off x="914400" y="5065776"/>
              <a:ext cx="365760" cy="365760"/>
            </a:xfrm>
            <a:prstGeom prst="ellipse">
              <a:avLst/>
            </a:prstGeom>
            <a:solidFill>
              <a:srgbClr val="E5F0E8"/>
            </a:solidFill>
            <a:ln>
              <a:noFill/>
            </a:ln>
          </p:spPr>
          <p:txBody>
            <a:bodyPr rtlCol="0" anchor="ctr"/>
            <a:lstStyle/>
            <a:p>
              <a:pPr algn="ctr"/>
            </a:p>
          </p:txBody>
        </p:sp>
        <p:sp>
          <p:nvSpPr>
            <p:cNvPr id="48" name="TextBox 47"/>
            <p:cNvSpPr txBox="1"/>
            <p:nvPr/>
          </p:nvSpPr>
          <p:spPr>
            <a:xfrm>
              <a:off x="914400" y="5065776"/>
              <a:ext cx="365760" cy="365760"/>
            </a:xfrm>
            <a:prstGeom prst="rect">
              <a:avLst/>
            </a:prstGeom>
            <a:noFill/>
          </p:spPr>
          <p:txBody>
            <a:bodyPr wrap="square" lIns="0" rIns="0" tIns="0" bIns="0" anchor="ctr">
              <a:noAutofit/>
            </a:bodyPr>
            <a:lstStyle/>
            <a:p>
              <a:pPr algn="ctr"/>
              <a:r>
                <a:rPr sz="1200" b="1" i="0">
                  <a:solidFill>
                    <a:srgbClr val="2D6A48"/>
                  </a:solidFill>
                  <a:latin typeface="Inter" panose="020B0502030000000004" pitchFamily="34" charset="0"/>
                </a:rPr>
                <a:t>✓</a:t>
              </a:r>
            </a:p>
          </p:txBody>
        </p:sp>
        <p:sp>
          <p:nvSpPr>
            <p:cNvPr id="49" name="TextBox 48"/>
            <p:cNvSpPr txBox="1"/>
            <p:nvPr/>
          </p:nvSpPr>
          <p:spPr>
            <a:xfrm>
              <a:off x="1444752" y="5020056"/>
              <a:ext cx="4114800" cy="274320"/>
            </a:xfrm>
            <a:prstGeom prst="rect">
              <a:avLst/>
            </a:prstGeom>
            <a:noFill/>
          </p:spPr>
          <p:txBody>
            <a:bodyPr wrap="square" lIns="0" rIns="0" tIns="0" bIns="0" anchor="ctr">
              <a:noAutofit/>
            </a:bodyPr>
            <a:lstStyle/>
            <a:p>
              <a:pPr algn="l"/>
              <a:r>
                <a:rPr sz="1400" b="0" i="0">
                  <a:solidFill>
                    <a:srgbClr val="16130E"/>
                  </a:solidFill>
                  <a:latin typeface="Georgia" panose="02040502050405020303" pitchFamily="18" charset="0"/>
                </a:rPr>
                <a:t>6. Pitch safety</a:t>
              </a:r>
            </a:p>
          </p:txBody>
        </p:sp>
        <p:sp>
          <p:nvSpPr>
            <p:cNvPr id="50" name="TextBox 49"/>
            <p:cNvSpPr txBox="1"/>
            <p:nvPr/>
          </p:nvSpPr>
          <p:spPr>
            <a:xfrm>
              <a:off x="1444752" y="5276088"/>
              <a:ext cx="4206240" cy="237744"/>
            </a:xfrm>
            <a:prstGeom prst="rect">
              <a:avLst/>
            </a:prstGeom>
            <a:noFill/>
          </p:spPr>
          <p:txBody>
            <a:bodyPr wrap="square" lIns="0" rIns="0" tIns="0" bIns="0" anchor="ctr">
              <a:noAutofit/>
            </a:bodyPr>
            <a:lstStyle/>
            <a:p>
              <a:pPr algn="l"/>
              <a:r>
                <a:rPr sz="1050" b="0" i="0">
                  <a:solidFill>
                    <a:srgbClr val="6E6658"/>
                  </a:solidFill>
                  <a:latin typeface="Inter" panose="020B0502030000000004" pitchFamily="34" charset="0"/>
                </a:rPr>
                <a:t>the pitch is data: instructions aimed at the agent are withdrawn</a:t>
              </a:r>
            </a:p>
          </p:txBody>
        </p:sp>
      </p:grpSp>
      <p:grpSp>
        <p:nvGrpSpPr>
          <p:cNvPr id="51" name="Group 50"/>
          <p:cNvGrpSpPr/>
          <p:nvPr/>
        </p:nvGrpSpPr>
        <p:grpSpPr>
          <a:xfrm>
            <a:off x="914400" y="5614416"/>
            <a:ext cx="4663440" cy="493776"/>
            <a:chOff x="914400" y="5614416"/>
            <a:chExt cx="4663440" cy="493776"/>
          </a:xfrm>
        </p:grpSpPr>
        <p:sp>
          <p:nvSpPr>
            <p:cNvPr id="52" name="Rounded Rectangle 51"/>
            <p:cNvSpPr/>
            <p:nvPr/>
          </p:nvSpPr>
          <p:spPr>
            <a:xfrm>
              <a:off x="914400" y="5614416"/>
              <a:ext cx="4663440" cy="493776"/>
            </a:xfrm>
            <a:prstGeom prst="roundRect">
              <a:avLst>
                <a:gd name="adj" fmla="val 11111"/>
              </a:avLst>
            </a:prstGeom>
            <a:solidFill>
              <a:srgbClr val="F6E3DF"/>
            </a:solidFill>
            <a:ln>
              <a:noFill/>
            </a:ln>
          </p:spPr>
          <p:txBody>
            <a:bodyPr rtlCol="0" anchor="ctr"/>
            <a:lstStyle/>
            <a:p>
              <a:pPr algn="ctr"/>
            </a:p>
          </p:txBody>
        </p:sp>
        <p:sp>
          <p:nvSpPr>
            <p:cNvPr id="53" name="Rectangle 52"/>
            <p:cNvSpPr/>
            <p:nvPr/>
          </p:nvSpPr>
          <p:spPr>
            <a:xfrm>
              <a:off x="914400" y="5614416"/>
              <a:ext cx="45720" cy="493776"/>
            </a:xfrm>
            <a:prstGeom prst="rect">
              <a:avLst/>
            </a:prstGeom>
            <a:solidFill>
              <a:srgbClr val="8E2A22"/>
            </a:solidFill>
            <a:ln>
              <a:noFill/>
            </a:ln>
          </p:spPr>
          <p:txBody>
            <a:bodyPr rtlCol="0" anchor="ctr"/>
            <a:lstStyle/>
            <a:p>
              <a:pPr algn="ctr"/>
            </a:p>
          </p:txBody>
        </p:sp>
        <p:sp>
          <p:nvSpPr>
            <p:cNvPr id="54" name="TextBox 53"/>
            <p:cNvSpPr txBox="1"/>
            <p:nvPr/>
          </p:nvSpPr>
          <p:spPr>
            <a:xfrm>
              <a:off x="1097280" y="5614416"/>
              <a:ext cx="4434840" cy="493776"/>
            </a:xfrm>
            <a:prstGeom prst="rect">
              <a:avLst/>
            </a:prstGeom>
            <a:noFill/>
          </p:spPr>
          <p:txBody>
            <a:bodyPr wrap="square" lIns="0" rIns="0" tIns="0" bIns="0" anchor="ctr">
              <a:noAutofit/>
            </a:bodyPr>
            <a:lstStyle/>
            <a:p>
              <a:pPr algn="l"/>
              <a:r>
                <a:rPr sz="1050" b="1" i="0">
                  <a:solidFill>
                    <a:srgbClr val="8E2A22"/>
                  </a:solidFill>
                  <a:latin typeface="Inter" panose="020B0502030000000004" pitchFamily="34" charset="0"/>
                </a:rPr>
                <a:t>Fail any check but stock: withdrawn.</a:t>
              </a:r>
              <a:r>
                <a:rPr sz="1050" b="0" i="0">
                  <a:solidFill>
                    <a:srgbClr val="16130E"/>
                  </a:solidFill>
                  <a:latin typeface="Inter" panose="020B0502030000000004" pitchFamily="34" charset="0"/>
                </a:rPr>
                <a:t> Trust −12, visible to every agent.</a:t>
              </a:r>
            </a:p>
          </p:txBody>
        </p:sp>
      </p:grpSp>
      <p:grpSp>
        <p:nvGrpSpPr>
          <p:cNvPr id="55" name="Group 54"/>
          <p:cNvGrpSpPr/>
          <p:nvPr/>
        </p:nvGrpSpPr>
        <p:grpSpPr>
          <a:xfrm>
            <a:off x="6035040" y="2103120"/>
            <a:ext cx="5468112" cy="1554480"/>
            <a:chOff x="6035040" y="2103120"/>
            <a:chExt cx="5468112" cy="1554480"/>
          </a:xfrm>
        </p:grpSpPr>
        <p:sp>
          <p:nvSpPr>
            <p:cNvPr id="56" name="Rounded Rectangle 55"/>
            <p:cNvSpPr/>
            <p:nvPr/>
          </p:nvSpPr>
          <p:spPr>
            <a:xfrm>
              <a:off x="6035040" y="2103120"/>
              <a:ext cx="5468112" cy="1554480"/>
            </a:xfrm>
            <a:prstGeom prst="roundRect">
              <a:avLst>
                <a:gd name="adj" fmla="val 3529"/>
              </a:avLst>
            </a:prstGeom>
            <a:solidFill>
              <a:srgbClr val="FFFDF7"/>
            </a:solidFill>
            <a:ln w="9525">
              <a:solidFill>
                <a:srgbClr val="E2D9C6"/>
              </a:solidFill>
            </a:ln>
          </p:spPr>
          <p:txBody>
            <a:bodyPr rtlCol="0" anchor="ctr"/>
            <a:lstStyle/>
            <a:p>
              <a:pPr algn="ctr"/>
            </a:p>
          </p:txBody>
        </p:sp>
        <p:sp>
          <p:nvSpPr>
            <p:cNvPr id="57" name="TextBox 56"/>
            <p:cNvSpPr txBox="1"/>
            <p:nvPr/>
          </p:nvSpPr>
          <p:spPr>
            <a:xfrm>
              <a:off x="6263640" y="2221992"/>
              <a:ext cx="5029200" cy="219456"/>
            </a:xfrm>
            <a:prstGeom prst="rect">
              <a:avLst/>
            </a:prstGeom>
            <a:noFill/>
          </p:spPr>
          <p:txBody>
            <a:bodyPr wrap="square" lIns="0" rIns="0" tIns="0" bIns="0" anchor="ctr">
              <a:noAutofit/>
            </a:bodyPr>
            <a:lstStyle/>
            <a:p>
              <a:pPr algn="l"/>
              <a:r>
                <a:rPr sz="850" b="1" i="0" spc="110">
                  <a:solidFill>
                    <a:srgbClr val="9C937F"/>
                  </a:solidFill>
                  <a:latin typeface="Inter" panose="020B0502030000000004" pitchFamily="34" charset="0"/>
                </a:rPr>
                <a:t>MERIT, NOT MONEY · PUBLIC WEIGHTS</a:t>
              </a:r>
            </a:p>
          </p:txBody>
        </p:sp>
      </p:grpSp>
      <p:grpSp>
        <p:nvGrpSpPr>
          <p:cNvPr id="58" name="Group 57"/>
          <p:cNvGrpSpPr/>
          <p:nvPr/>
        </p:nvGrpSpPr>
        <p:grpSpPr>
          <a:xfrm>
            <a:off x="6263640" y="2578608"/>
            <a:ext cx="1981505" cy="384048"/>
            <a:chOff x="6263640" y="2578608"/>
            <a:chExt cx="1981505" cy="384048"/>
          </a:xfrm>
        </p:grpSpPr>
        <p:sp>
          <p:nvSpPr>
            <p:cNvPr id="59" name="Rounded Rectangle 58"/>
            <p:cNvSpPr/>
            <p:nvPr/>
          </p:nvSpPr>
          <p:spPr>
            <a:xfrm>
              <a:off x="6263640" y="2578608"/>
              <a:ext cx="1981505" cy="384048"/>
            </a:xfrm>
            <a:prstGeom prst="roundRect">
              <a:avLst>
                <a:gd name="adj" fmla="val 4761"/>
              </a:avLst>
            </a:prstGeom>
            <a:solidFill>
              <a:srgbClr val="16130E"/>
            </a:solidFill>
            <a:ln>
              <a:noFill/>
            </a:ln>
          </p:spPr>
          <p:txBody>
            <a:bodyPr rtlCol="0" anchor="ctr"/>
            <a:lstStyle/>
            <a:p>
              <a:pPr algn="ctr"/>
            </a:p>
          </p:txBody>
        </p:sp>
        <p:sp>
          <p:nvSpPr>
            <p:cNvPr id="60" name="TextBox 59"/>
            <p:cNvSpPr txBox="1"/>
            <p:nvPr/>
          </p:nvSpPr>
          <p:spPr>
            <a:xfrm>
              <a:off x="6263640" y="2578608"/>
              <a:ext cx="1981505" cy="384048"/>
            </a:xfrm>
            <a:prstGeom prst="rect">
              <a:avLst/>
            </a:prstGeom>
            <a:noFill/>
          </p:spPr>
          <p:txBody>
            <a:bodyPr wrap="square" lIns="0" rIns="0" tIns="0" bIns="0" anchor="ctr">
              <a:noAutofit/>
            </a:bodyPr>
            <a:lstStyle/>
            <a:p>
              <a:pPr algn="ctr"/>
              <a:r>
                <a:rPr sz="900" b="1" i="0">
                  <a:solidFill>
                    <a:srgbClr val="FFFDF7"/>
                  </a:solidFill>
                  <a:latin typeface="Inter" panose="020B0502030000000004" pitchFamily="34" charset="0"/>
                </a:rPr>
                <a:t>Price 40</a:t>
              </a:r>
            </a:p>
          </p:txBody>
        </p:sp>
      </p:grpSp>
      <p:grpSp>
        <p:nvGrpSpPr>
          <p:cNvPr id="61" name="Group 60"/>
          <p:cNvGrpSpPr/>
          <p:nvPr/>
        </p:nvGrpSpPr>
        <p:grpSpPr>
          <a:xfrm>
            <a:off x="8268005" y="2578608"/>
            <a:ext cx="1229868" cy="384048"/>
            <a:chOff x="8268005" y="2578608"/>
            <a:chExt cx="1229868" cy="384048"/>
          </a:xfrm>
        </p:grpSpPr>
        <p:sp>
          <p:nvSpPr>
            <p:cNvPr id="62" name="Rounded Rectangle 61"/>
            <p:cNvSpPr/>
            <p:nvPr/>
          </p:nvSpPr>
          <p:spPr>
            <a:xfrm>
              <a:off x="8268005" y="2578608"/>
              <a:ext cx="1229868" cy="384048"/>
            </a:xfrm>
            <a:prstGeom prst="roundRect">
              <a:avLst>
                <a:gd name="adj" fmla="val 4761"/>
              </a:avLst>
            </a:prstGeom>
            <a:solidFill>
              <a:srgbClr val="3B352B"/>
            </a:solidFill>
            <a:ln>
              <a:noFill/>
            </a:ln>
          </p:spPr>
          <p:txBody>
            <a:bodyPr rtlCol="0" anchor="ctr"/>
            <a:lstStyle/>
            <a:p>
              <a:pPr algn="ctr"/>
            </a:p>
          </p:txBody>
        </p:sp>
        <p:sp>
          <p:nvSpPr>
            <p:cNvPr id="63" name="TextBox 62"/>
            <p:cNvSpPr txBox="1"/>
            <p:nvPr/>
          </p:nvSpPr>
          <p:spPr>
            <a:xfrm>
              <a:off x="8268005" y="2578608"/>
              <a:ext cx="1229868" cy="384048"/>
            </a:xfrm>
            <a:prstGeom prst="rect">
              <a:avLst/>
            </a:prstGeom>
            <a:noFill/>
          </p:spPr>
          <p:txBody>
            <a:bodyPr wrap="square" lIns="0" rIns="0" tIns="0" bIns="0" anchor="ctr">
              <a:noAutofit/>
            </a:bodyPr>
            <a:lstStyle/>
            <a:p>
              <a:pPr algn="ctr"/>
              <a:r>
                <a:rPr sz="900" b="1" i="0">
                  <a:solidFill>
                    <a:srgbClr val="FFFDF7"/>
                  </a:solidFill>
                  <a:latin typeface="Inter" panose="020B0502030000000004" pitchFamily="34" charset="0"/>
                </a:rPr>
                <a:t>Must-haves 25</a:t>
              </a:r>
            </a:p>
          </p:txBody>
        </p:sp>
      </p:grpSp>
      <p:grpSp>
        <p:nvGrpSpPr>
          <p:cNvPr id="64" name="Group 63"/>
          <p:cNvGrpSpPr/>
          <p:nvPr/>
        </p:nvGrpSpPr>
        <p:grpSpPr>
          <a:xfrm>
            <a:off x="9520733" y="2578608"/>
            <a:ext cx="728777" cy="384048"/>
            <a:chOff x="9520733" y="2578608"/>
            <a:chExt cx="728777" cy="384048"/>
          </a:xfrm>
        </p:grpSpPr>
        <p:sp>
          <p:nvSpPr>
            <p:cNvPr id="65" name="Rounded Rectangle 64"/>
            <p:cNvSpPr/>
            <p:nvPr/>
          </p:nvSpPr>
          <p:spPr>
            <a:xfrm>
              <a:off x="9520733" y="2578608"/>
              <a:ext cx="728777" cy="384048"/>
            </a:xfrm>
            <a:prstGeom prst="roundRect">
              <a:avLst>
                <a:gd name="adj" fmla="val 4761"/>
              </a:avLst>
            </a:prstGeom>
            <a:solidFill>
              <a:srgbClr val="6E6658"/>
            </a:solidFill>
            <a:ln>
              <a:noFill/>
            </a:ln>
          </p:spPr>
          <p:txBody>
            <a:bodyPr rtlCol="0" anchor="ctr"/>
            <a:lstStyle/>
            <a:p>
              <a:pPr algn="ctr"/>
            </a:p>
          </p:txBody>
        </p:sp>
        <p:sp>
          <p:nvSpPr>
            <p:cNvPr id="66" name="TextBox 65"/>
            <p:cNvSpPr txBox="1"/>
            <p:nvPr/>
          </p:nvSpPr>
          <p:spPr>
            <a:xfrm>
              <a:off x="9520733" y="2578608"/>
              <a:ext cx="728777" cy="384048"/>
            </a:xfrm>
            <a:prstGeom prst="rect">
              <a:avLst/>
            </a:prstGeom>
            <a:noFill/>
          </p:spPr>
          <p:txBody>
            <a:bodyPr wrap="square" lIns="0" rIns="0" tIns="0" bIns="0" anchor="ctr">
              <a:noAutofit/>
            </a:bodyPr>
            <a:lstStyle/>
            <a:p>
              <a:pPr algn="ctr"/>
              <a:r>
                <a:rPr sz="900" b="1" i="0">
                  <a:solidFill>
                    <a:srgbClr val="FFFDF7"/>
                  </a:solidFill>
                  <a:latin typeface="Inter" panose="020B0502030000000004" pitchFamily="34" charset="0"/>
                </a:rPr>
                <a:t>15</a:t>
              </a:r>
            </a:p>
          </p:txBody>
        </p:sp>
      </p:grpSp>
      <p:grpSp>
        <p:nvGrpSpPr>
          <p:cNvPr id="67" name="Group 66"/>
          <p:cNvGrpSpPr/>
          <p:nvPr/>
        </p:nvGrpSpPr>
        <p:grpSpPr>
          <a:xfrm>
            <a:off x="10272370" y="2578608"/>
            <a:ext cx="728777" cy="384048"/>
            <a:chOff x="10272370" y="2578608"/>
            <a:chExt cx="728777" cy="384048"/>
          </a:xfrm>
        </p:grpSpPr>
        <p:sp>
          <p:nvSpPr>
            <p:cNvPr id="68" name="Rounded Rectangle 67"/>
            <p:cNvSpPr/>
            <p:nvPr/>
          </p:nvSpPr>
          <p:spPr>
            <a:xfrm>
              <a:off x="10272370" y="2578608"/>
              <a:ext cx="728777" cy="384048"/>
            </a:xfrm>
            <a:prstGeom prst="roundRect">
              <a:avLst>
                <a:gd name="adj" fmla="val 4761"/>
              </a:avLst>
            </a:prstGeom>
            <a:solidFill>
              <a:srgbClr val="A89E89"/>
            </a:solidFill>
            <a:ln>
              <a:noFill/>
            </a:ln>
          </p:spPr>
          <p:txBody>
            <a:bodyPr rtlCol="0" anchor="ctr"/>
            <a:lstStyle/>
            <a:p>
              <a:pPr algn="ctr"/>
            </a:p>
          </p:txBody>
        </p:sp>
        <p:sp>
          <p:nvSpPr>
            <p:cNvPr id="69" name="TextBox 68"/>
            <p:cNvSpPr txBox="1"/>
            <p:nvPr/>
          </p:nvSpPr>
          <p:spPr>
            <a:xfrm>
              <a:off x="10272370" y="2578608"/>
              <a:ext cx="728777" cy="384048"/>
            </a:xfrm>
            <a:prstGeom prst="rect">
              <a:avLst/>
            </a:prstGeom>
            <a:noFill/>
          </p:spPr>
          <p:txBody>
            <a:bodyPr wrap="square" lIns="0" rIns="0" tIns="0" bIns="0" anchor="ctr">
              <a:noAutofit/>
            </a:bodyPr>
            <a:lstStyle/>
            <a:p>
              <a:pPr algn="ctr"/>
              <a:r>
                <a:rPr sz="900" b="1" i="0">
                  <a:solidFill>
                    <a:srgbClr val="16130E"/>
                  </a:solidFill>
                  <a:latin typeface="Inter" panose="020B0502030000000004" pitchFamily="34" charset="0"/>
                </a:rPr>
                <a:t>15</a:t>
              </a:r>
            </a:p>
          </p:txBody>
        </p:sp>
      </p:grpSp>
      <p:grpSp>
        <p:nvGrpSpPr>
          <p:cNvPr id="70" name="Group 69"/>
          <p:cNvGrpSpPr/>
          <p:nvPr/>
        </p:nvGrpSpPr>
        <p:grpSpPr>
          <a:xfrm>
            <a:off x="11024006" y="2578608"/>
            <a:ext cx="227686" cy="384048"/>
            <a:chOff x="11024006" y="2578608"/>
            <a:chExt cx="227686" cy="384048"/>
          </a:xfrm>
        </p:grpSpPr>
        <p:sp>
          <p:nvSpPr>
            <p:cNvPr id="71" name="Rounded Rectangle 70"/>
            <p:cNvSpPr/>
            <p:nvPr/>
          </p:nvSpPr>
          <p:spPr>
            <a:xfrm>
              <a:off x="11024006" y="2578608"/>
              <a:ext cx="227686" cy="384048"/>
            </a:xfrm>
            <a:prstGeom prst="roundRect">
              <a:avLst>
                <a:gd name="adj" fmla="val 8032"/>
              </a:avLst>
            </a:prstGeom>
            <a:solidFill>
              <a:srgbClr val="D8CDB6"/>
            </a:solidFill>
            <a:ln>
              <a:noFill/>
            </a:ln>
          </p:spPr>
          <p:txBody>
            <a:bodyPr rtlCol="0" anchor="ctr"/>
            <a:lstStyle/>
            <a:p>
              <a:pPr algn="ctr"/>
            </a:p>
          </p:txBody>
        </p:sp>
        <p:sp>
          <p:nvSpPr>
            <p:cNvPr id="72" name="TextBox 71"/>
            <p:cNvSpPr txBox="1"/>
            <p:nvPr/>
          </p:nvSpPr>
          <p:spPr>
            <a:xfrm>
              <a:off x="11024006" y="2578608"/>
              <a:ext cx="227686" cy="384048"/>
            </a:xfrm>
            <a:prstGeom prst="rect">
              <a:avLst/>
            </a:prstGeom>
            <a:noFill/>
          </p:spPr>
          <p:txBody>
            <a:bodyPr wrap="square" lIns="0" rIns="0" tIns="0" bIns="0" anchor="ctr">
              <a:noAutofit/>
            </a:bodyPr>
            <a:lstStyle/>
            <a:p>
              <a:pPr algn="ctr"/>
              <a:r>
                <a:rPr sz="900" b="1" i="0">
                  <a:solidFill>
                    <a:srgbClr val="16130E"/>
                  </a:solidFill>
                  <a:latin typeface="Inter" panose="020B0502030000000004" pitchFamily="34" charset="0"/>
                </a:rPr>
                <a:t>5</a:t>
              </a:r>
            </a:p>
          </p:txBody>
        </p:sp>
      </p:grpSp>
      <p:grpSp>
        <p:nvGrpSpPr>
          <p:cNvPr id="73" name="Group 72"/>
          <p:cNvGrpSpPr/>
          <p:nvPr/>
        </p:nvGrpSpPr>
        <p:grpSpPr>
          <a:xfrm>
            <a:off x="6263640" y="3081528"/>
            <a:ext cx="5056632" cy="274320"/>
            <a:chOff x="6263640" y="3081528"/>
            <a:chExt cx="5056632" cy="274320"/>
          </a:xfrm>
        </p:grpSpPr>
        <p:sp>
          <p:nvSpPr>
            <p:cNvPr id="74" name="Rounded Rectangle 73"/>
            <p:cNvSpPr/>
            <p:nvPr/>
          </p:nvSpPr>
          <p:spPr>
            <a:xfrm>
              <a:off x="6263640" y="3127248"/>
              <a:ext cx="457200" cy="182880"/>
            </a:xfrm>
            <a:prstGeom prst="roundRect">
              <a:avLst>
                <a:gd name="adj" fmla="val 15000"/>
              </a:avLst>
            </a:prstGeom>
            <a:solidFill>
              <a:srgbClr val="FFFDF7"/>
            </a:solidFill>
            <a:ln w="12700">
              <a:solidFill>
                <a:srgbClr val="94641F"/>
              </a:solidFill>
              <a:prstDash val="dash"/>
            </a:ln>
          </p:spPr>
          <p:txBody>
            <a:bodyPr rtlCol="0" anchor="ctr"/>
            <a:lstStyle/>
            <a:p>
              <a:pPr algn="ctr"/>
            </a:p>
          </p:txBody>
        </p:sp>
        <p:sp>
          <p:nvSpPr>
            <p:cNvPr id="75" name="TextBox 74"/>
            <p:cNvSpPr txBox="1"/>
            <p:nvPr/>
          </p:nvSpPr>
          <p:spPr>
            <a:xfrm>
              <a:off x="6839712" y="3081528"/>
              <a:ext cx="4480560" cy="274320"/>
            </a:xfrm>
            <a:prstGeom prst="rect">
              <a:avLst/>
            </a:prstGeom>
            <a:noFill/>
          </p:spPr>
          <p:txBody>
            <a:bodyPr wrap="square" lIns="0" rIns="0" tIns="0" bIns="0" anchor="ctr">
              <a:noAutofit/>
            </a:bodyPr>
            <a:lstStyle/>
            <a:p>
              <a:pPr algn="l"/>
              <a:r>
                <a:rPr sz="1000" b="1" i="0">
                  <a:solidFill>
                    <a:srgbClr val="94641F"/>
                  </a:solidFill>
                  <a:latin typeface="Inter" panose="020B0502030000000004" pitchFamily="34" charset="0"/>
                </a:rPr>
                <a:t>Commission: 0.</a:t>
              </a:r>
              <a:r>
                <a:rPr sz="1000" b="0" i="0">
                  <a:solidFill>
                    <a:srgbClr val="6E6658"/>
                  </a:solidFill>
                  <a:latin typeface="Inter" panose="020B0502030000000004" pitchFamily="34" charset="0"/>
                </a:rPr>
                <a:t> Paid only at the hammer; only breaks ties under 0.5 points.</a:t>
              </a:r>
            </a:p>
          </p:txBody>
        </p:sp>
      </p:grpSp>
      <p:grpSp>
        <p:nvGrpSpPr>
          <p:cNvPr id="76" name="Group 75"/>
          <p:cNvGrpSpPr/>
          <p:nvPr/>
        </p:nvGrpSpPr>
        <p:grpSpPr>
          <a:xfrm>
            <a:off x="6035040" y="3840480"/>
            <a:ext cx="3401568" cy="2186559"/>
            <a:chOff x="6035040" y="3840480"/>
            <a:chExt cx="3401568" cy="2186559"/>
          </a:xfrm>
        </p:grpSpPr>
        <p:sp>
          <p:nvSpPr>
            <p:cNvPr id="77" name="Rounded Rectangle 76"/>
            <p:cNvSpPr/>
            <p:nvPr/>
          </p:nvSpPr>
          <p:spPr>
            <a:xfrm>
              <a:off x="6035040" y="3840480"/>
              <a:ext cx="3401568" cy="2186559"/>
            </a:xfrm>
            <a:prstGeom prst="roundRect">
              <a:avLst>
                <a:gd name="adj" fmla="val 3345"/>
              </a:avLst>
            </a:prstGeom>
            <a:solidFill>
              <a:srgbClr val="FFFDF7"/>
            </a:solidFill>
            <a:ln w="9525">
              <a:solidFill>
                <a:srgbClr val="CFC3AA"/>
              </a:solidFill>
            </a:ln>
            <a:effectLst>
              <a:outerShdw blurRad="384048" dist="109728" dir="5400000" algn="t" rotWithShape="0">
                <a:srgbClr val="16130E">
                  <a:alpha val="12000"/>
                </a:srgbClr>
              </a:outerShdw>
            </a:effectLst>
          </p:spPr>
          <p:txBody>
            <a:bodyPr rtlCol="0" anchor="ctr"/>
            <a:lstStyle/>
            <a:p>
              <a:pPr algn="ctr"/>
            </a:p>
          </p:txBody>
        </p:sp>
        <p:sp>
          <p:nvSpPr>
            <p:cNvPr id="78" name="Oval 77"/>
            <p:cNvSpPr/>
            <p:nvPr/>
          </p:nvSpPr>
          <p:spPr>
            <a:xfrm>
              <a:off x="6181344" y="3941064"/>
              <a:ext cx="73152" cy="73152"/>
            </a:xfrm>
            <a:prstGeom prst="ellipse">
              <a:avLst/>
            </a:prstGeom>
            <a:solidFill>
              <a:srgbClr val="CFC3AA"/>
            </a:solidFill>
            <a:ln>
              <a:noFill/>
            </a:ln>
          </p:spPr>
          <p:txBody>
            <a:bodyPr rtlCol="0" anchor="ctr"/>
            <a:lstStyle/>
            <a:p>
              <a:pPr algn="ctr"/>
            </a:p>
          </p:txBody>
        </p:sp>
        <p:sp>
          <p:nvSpPr>
            <p:cNvPr id="79" name="Oval 78"/>
            <p:cNvSpPr/>
            <p:nvPr/>
          </p:nvSpPr>
          <p:spPr>
            <a:xfrm>
              <a:off x="6318504" y="3941064"/>
              <a:ext cx="73152" cy="73152"/>
            </a:xfrm>
            <a:prstGeom prst="ellipse">
              <a:avLst/>
            </a:prstGeom>
            <a:solidFill>
              <a:srgbClr val="CFC3AA"/>
            </a:solidFill>
            <a:ln>
              <a:noFill/>
            </a:ln>
          </p:spPr>
          <p:txBody>
            <a:bodyPr rtlCol="0" anchor="ctr"/>
            <a:lstStyle/>
            <a:p>
              <a:pPr algn="ctr"/>
            </a:p>
          </p:txBody>
        </p:sp>
        <p:sp>
          <p:nvSpPr>
            <p:cNvPr id="80" name="Oval 79"/>
            <p:cNvSpPr/>
            <p:nvPr/>
          </p:nvSpPr>
          <p:spPr>
            <a:xfrm>
              <a:off x="6455664" y="3941064"/>
              <a:ext cx="73152" cy="73152"/>
            </a:xfrm>
            <a:prstGeom prst="ellipse">
              <a:avLst/>
            </a:prstGeom>
            <a:solidFill>
              <a:srgbClr val="CFC3AA"/>
            </a:solidFill>
            <a:ln>
              <a:noFill/>
            </a:ln>
          </p:spPr>
          <p:txBody>
            <a:bodyPr rtlCol="0" anchor="ctr"/>
            <a:lstStyle/>
            <a:p>
              <a:pPr algn="ctr"/>
            </a:p>
          </p:txBody>
        </p:sp>
        <p:sp>
          <p:nvSpPr>
            <p:cNvPr id="81" name="Rounded Rectangle 80"/>
            <p:cNvSpPr/>
            <p:nvPr/>
          </p:nvSpPr>
          <p:spPr>
            <a:xfrm>
              <a:off x="7055510" y="3899916"/>
              <a:ext cx="1360627" cy="155448"/>
            </a:xfrm>
            <a:prstGeom prst="roundRect">
              <a:avLst>
                <a:gd name="adj" fmla="val 50000"/>
              </a:avLst>
            </a:prstGeom>
            <a:solidFill>
              <a:srgbClr val="EFE8D9"/>
            </a:solidFill>
            <a:ln>
              <a:noFill/>
            </a:ln>
          </p:spPr>
          <p:txBody>
            <a:bodyPr rtlCol="0" anchor="ctr"/>
            <a:lstStyle/>
            <a:p>
              <a:pPr algn="ctr"/>
            </a:p>
          </p:txBody>
        </p:sp>
        <p:sp>
          <p:nvSpPr>
            <p:cNvPr id="82" name="TextBox 81"/>
            <p:cNvSpPr txBox="1"/>
            <p:nvPr/>
          </p:nvSpPr>
          <p:spPr>
            <a:xfrm>
              <a:off x="7055510" y="3899916"/>
              <a:ext cx="1360627" cy="155448"/>
            </a:xfrm>
            <a:prstGeom prst="rect">
              <a:avLst/>
            </a:prstGeom>
            <a:noFill/>
          </p:spPr>
          <p:txBody>
            <a:bodyPr wrap="square" lIns="0" rIns="0" tIns="0" bIns="0" anchor="ctr">
              <a:noAutofit/>
            </a:bodyPr>
            <a:lstStyle/>
            <a:p>
              <a:pPr algn="ctr"/>
              <a:r>
                <a:rPr sz="750" b="0" i="0">
                  <a:solidFill>
                    <a:srgbClr val="6E6658"/>
                  </a:solidFill>
                  <a:latin typeface="Inter" panose="020B0502030000000004" pitchFamily="34" charset="0"/>
                </a:rPr>
                <a:t>localhost:8787/ledger</a:t>
              </a:r>
            </a:p>
          </p:txBody>
        </p:sp>
        <p:sp>
          <p:nvSpPr>
            <p:cNvPr id="83" name="Rectangle 82"/>
            <p:cNvSpPr/>
            <p:nvPr/>
          </p:nvSpPr>
          <p:spPr>
            <a:xfrm>
              <a:off x="6044184" y="4105656"/>
              <a:ext cx="3383280" cy="7315"/>
            </a:xfrm>
            <a:prstGeom prst="rect">
              <a:avLst/>
            </a:prstGeom>
            <a:solidFill>
              <a:srgbClr val="E2D9C6"/>
            </a:solidFill>
            <a:ln>
              <a:noFill/>
            </a:ln>
          </p:spPr>
          <p:txBody>
            <a:bodyPr rtlCol="0" anchor="ctr"/>
            <a:lstStyle/>
            <a:p>
              <a:pPr algn="ctr"/>
            </a:p>
          </p:txBody>
        </p:sp>
        <p:pic>
          <p:nvPicPr>
            <p:cNvPr id="84" name="Picture 83" descr="ledger.png"/>
            <p:cNvPicPr>
              <a:picLocks noChangeAspect="1"/>
            </p:cNvPicPr>
            <p:nvPr/>
          </p:nvPicPr>
          <p:blipFill>
            <a:blip r:embed="rId2"/>
            <a:srcRect r="40000" b="40000"/>
            <a:stretch>
              <a:fillRect/>
            </a:stretch>
          </p:blipFill>
          <p:spPr>
            <a:xfrm>
              <a:off x="6044184" y="4114800"/>
              <a:ext cx="3383280" cy="1903095"/>
            </a:xfrm>
            <a:prstGeom prst="roundRect">
              <a:avLst>
                <a:gd name="adj" fmla="val 2402"/>
              </a:avLst>
            </a:prstGeom>
          </p:spPr>
        </p:pic>
      </p:grpSp>
      <p:sp>
        <p:nvSpPr>
          <p:cNvPr id="85" name="TextBox 84"/>
          <p:cNvSpPr txBox="1"/>
          <p:nvPr/>
        </p:nvSpPr>
        <p:spPr>
          <a:xfrm>
            <a:off x="6035040" y="6007608"/>
            <a:ext cx="3401568" cy="274320"/>
          </a:xfrm>
          <a:prstGeom prst="rect">
            <a:avLst/>
          </a:prstGeom>
          <a:noFill/>
        </p:spPr>
        <p:txBody>
          <a:bodyPr wrap="square" lIns="0" rIns="0" tIns="0" bIns="0" anchor="ctr">
            <a:noAutofit/>
          </a:bodyPr>
          <a:lstStyle/>
          <a:p>
            <a:pPr algn="l"/>
            <a:r>
              <a:rPr sz="950" b="1" i="0">
                <a:solidFill>
                  <a:srgbClr val="2D6A48"/>
                </a:solidFill>
                <a:latin typeface="Inter" panose="020B0502030000000004" pitchFamily="34" charset="0"/>
              </a:rPr>
              <a:t>Settlement ledger:</a:t>
            </a:r>
            <a:r>
              <a:rPr sz="950" b="0" i="0">
                <a:solidFill>
                  <a:srgbClr val="6E6658"/>
                </a:solidFill>
                <a:latin typeface="Inter" panose="020B0502030000000004" pitchFamily="34" charset="0"/>
              </a:rPr>
              <a:t> every transaction sums to $0</a:t>
            </a:r>
          </a:p>
        </p:txBody>
      </p:sp>
      <p:grpSp>
        <p:nvGrpSpPr>
          <p:cNvPr id="86" name="Group 85"/>
          <p:cNvGrpSpPr/>
          <p:nvPr/>
        </p:nvGrpSpPr>
        <p:grpSpPr>
          <a:xfrm>
            <a:off x="9601200" y="3840480"/>
            <a:ext cx="1901952" cy="1133856"/>
            <a:chOff x="9601200" y="3840480"/>
            <a:chExt cx="1901952" cy="1133856"/>
          </a:xfrm>
        </p:grpSpPr>
        <p:sp>
          <p:nvSpPr>
            <p:cNvPr id="87" name="Rounded Rectangle 86"/>
            <p:cNvSpPr/>
            <p:nvPr/>
          </p:nvSpPr>
          <p:spPr>
            <a:xfrm>
              <a:off x="9601200" y="3840480"/>
              <a:ext cx="1901952" cy="1133856"/>
            </a:xfrm>
            <a:prstGeom prst="roundRect">
              <a:avLst>
                <a:gd name="adj" fmla="val 4838"/>
              </a:avLst>
            </a:prstGeom>
            <a:solidFill>
              <a:srgbClr val="FFFDF7"/>
            </a:solidFill>
            <a:ln w="9525">
              <a:solidFill>
                <a:srgbClr val="E2D9C6"/>
              </a:solidFill>
            </a:ln>
          </p:spPr>
          <p:txBody>
            <a:bodyPr rtlCol="0" anchor="ctr"/>
            <a:lstStyle/>
            <a:p>
              <a:pPr algn="ctr"/>
            </a:p>
          </p:txBody>
        </p:sp>
        <p:sp>
          <p:nvSpPr>
            <p:cNvPr id="88" name="Rectangle 87"/>
            <p:cNvSpPr/>
            <p:nvPr/>
          </p:nvSpPr>
          <p:spPr>
            <a:xfrm>
              <a:off x="9601200" y="3840480"/>
              <a:ext cx="41148" cy="1133856"/>
            </a:xfrm>
            <a:prstGeom prst="rect">
              <a:avLst/>
            </a:prstGeom>
            <a:solidFill>
              <a:srgbClr val="94641F"/>
            </a:solidFill>
            <a:ln>
              <a:noFill/>
            </a:ln>
          </p:spPr>
          <p:txBody>
            <a:bodyPr rtlCol="0" anchor="ctr"/>
            <a:lstStyle/>
            <a:p>
              <a:pPr algn="ctr"/>
            </a:p>
          </p:txBody>
        </p:sp>
        <p:sp>
          <p:nvSpPr>
            <p:cNvPr id="89" name="TextBox 88"/>
            <p:cNvSpPr txBox="1"/>
            <p:nvPr/>
          </p:nvSpPr>
          <p:spPr>
            <a:xfrm>
              <a:off x="9784080" y="3950208"/>
              <a:ext cx="1673352" cy="292608"/>
            </a:xfrm>
            <a:prstGeom prst="rect">
              <a:avLst/>
            </a:prstGeom>
            <a:noFill/>
          </p:spPr>
          <p:txBody>
            <a:bodyPr wrap="square" lIns="0" rIns="0" tIns="0" bIns="0" anchor="ctr">
              <a:noAutofit/>
            </a:bodyPr>
            <a:lstStyle/>
            <a:p>
              <a:pPr algn="l"/>
              <a:r>
                <a:rPr sz="1250" b="0" i="0">
                  <a:solidFill>
                    <a:srgbClr val="16130E"/>
                  </a:solidFill>
                  <a:latin typeface="Georgia" panose="02040502050405020303" pitchFamily="18" charset="0"/>
                </a:rPr>
                <a:t>Spending policy</a:t>
              </a:r>
            </a:p>
          </p:txBody>
        </p:sp>
        <p:sp>
          <p:nvSpPr>
            <p:cNvPr id="90" name="TextBox 89"/>
            <p:cNvSpPr txBox="1"/>
            <p:nvPr/>
          </p:nvSpPr>
          <p:spPr>
            <a:xfrm>
              <a:off x="9784080" y="4242816"/>
              <a:ext cx="1645920" cy="713232"/>
            </a:xfrm>
            <a:prstGeom prst="rect">
              <a:avLst/>
            </a:prstGeom>
            <a:noFill/>
          </p:spPr>
          <p:txBody>
            <a:bodyPr wrap="square" lIns="0" rIns="0" tIns="0" bIns="0" anchor="t">
              <a:noAutofit/>
            </a:bodyPr>
            <a:lstStyle/>
            <a:p>
              <a:pPr algn="l">
                <a:lnSpc>
                  <a:spcPct val="103000"/>
                </a:lnSpc>
              </a:pPr>
              <a:r>
                <a:rPr sz="900" b="0" i="0">
                  <a:solidFill>
                    <a:srgbClr val="6E6658"/>
                  </a:solidFill>
                  <a:latin typeface="Inter" panose="020B0502030000000004" pitchFamily="34" charset="0"/>
                </a:rPr>
                <a:t>Per-purchase and daily limits from the human. Above them: SMS “Reply YES 1234”.</a:t>
              </a:r>
            </a:p>
          </p:txBody>
        </p:sp>
      </p:grpSp>
      <p:grpSp>
        <p:nvGrpSpPr>
          <p:cNvPr id="91" name="Group 90"/>
          <p:cNvGrpSpPr/>
          <p:nvPr/>
        </p:nvGrpSpPr>
        <p:grpSpPr>
          <a:xfrm>
            <a:off x="9601200" y="5074920"/>
            <a:ext cx="1901952" cy="1133856"/>
            <a:chOff x="9601200" y="5074920"/>
            <a:chExt cx="1901952" cy="1133856"/>
          </a:xfrm>
        </p:grpSpPr>
        <p:sp>
          <p:nvSpPr>
            <p:cNvPr id="92" name="Rounded Rectangle 91"/>
            <p:cNvSpPr/>
            <p:nvPr/>
          </p:nvSpPr>
          <p:spPr>
            <a:xfrm>
              <a:off x="9601200" y="5074920"/>
              <a:ext cx="1901952" cy="1133856"/>
            </a:xfrm>
            <a:prstGeom prst="roundRect">
              <a:avLst>
                <a:gd name="adj" fmla="val 4838"/>
              </a:avLst>
            </a:prstGeom>
            <a:solidFill>
              <a:srgbClr val="FFFDF7"/>
            </a:solidFill>
            <a:ln w="9525">
              <a:solidFill>
                <a:srgbClr val="E2D9C6"/>
              </a:solidFill>
            </a:ln>
          </p:spPr>
          <p:txBody>
            <a:bodyPr rtlCol="0" anchor="ctr"/>
            <a:lstStyle/>
            <a:p>
              <a:pPr algn="ctr"/>
            </a:p>
          </p:txBody>
        </p:sp>
        <p:sp>
          <p:nvSpPr>
            <p:cNvPr id="93" name="Rectangle 92"/>
            <p:cNvSpPr/>
            <p:nvPr/>
          </p:nvSpPr>
          <p:spPr>
            <a:xfrm>
              <a:off x="9601200" y="5074920"/>
              <a:ext cx="41148" cy="1133856"/>
            </a:xfrm>
            <a:prstGeom prst="rect">
              <a:avLst/>
            </a:prstGeom>
            <a:solidFill>
              <a:srgbClr val="233F6E"/>
            </a:solidFill>
            <a:ln>
              <a:noFill/>
            </a:ln>
          </p:spPr>
          <p:txBody>
            <a:bodyPr rtlCol="0" anchor="ctr"/>
            <a:lstStyle/>
            <a:p>
              <a:pPr algn="ctr"/>
            </a:p>
          </p:txBody>
        </p:sp>
        <p:sp>
          <p:nvSpPr>
            <p:cNvPr id="94" name="TextBox 93"/>
            <p:cNvSpPr txBox="1"/>
            <p:nvPr/>
          </p:nvSpPr>
          <p:spPr>
            <a:xfrm>
              <a:off x="9784080" y="5184648"/>
              <a:ext cx="1673352" cy="292608"/>
            </a:xfrm>
            <a:prstGeom prst="rect">
              <a:avLst/>
            </a:prstGeom>
            <a:noFill/>
          </p:spPr>
          <p:txBody>
            <a:bodyPr wrap="square" lIns="0" rIns="0" tIns="0" bIns="0" anchor="ctr">
              <a:noAutofit/>
            </a:bodyPr>
            <a:lstStyle/>
            <a:p>
              <a:pPr algn="l"/>
              <a:r>
                <a:rPr sz="1250" b="0" i="0">
                  <a:solidFill>
                    <a:srgbClr val="16130E"/>
                  </a:solidFill>
                  <a:latin typeface="Georgia" panose="02040502050405020303" pitchFamily="18" charset="0"/>
                </a:rPr>
                <a:t>Keys + audit trail</a:t>
              </a:r>
            </a:p>
          </p:txBody>
        </p:sp>
        <p:sp>
          <p:nvSpPr>
            <p:cNvPr id="95" name="TextBox 94"/>
            <p:cNvSpPr txBox="1"/>
            <p:nvPr/>
          </p:nvSpPr>
          <p:spPr>
            <a:xfrm>
              <a:off x="9784080" y="5477256"/>
              <a:ext cx="1645920" cy="713232"/>
            </a:xfrm>
            <a:prstGeom prst="rect">
              <a:avLst/>
            </a:prstGeom>
            <a:noFill/>
          </p:spPr>
          <p:txBody>
            <a:bodyPr wrap="square" lIns="0" rIns="0" tIns="0" bIns="0" anchor="t">
              <a:noAutofit/>
            </a:bodyPr>
            <a:lstStyle/>
            <a:p>
              <a:pPr algn="l">
                <a:lnSpc>
                  <a:spcPct val="103000"/>
                </a:lnSpc>
              </a:pPr>
              <a:r>
                <a:rPr sz="900" b="0" i="0">
                  <a:solidFill>
                    <a:srgbClr val="6E6658"/>
                  </a:solidFill>
                  <a:latin typeface="Inter" panose="020B0502030000000004" pitchFamily="34" charset="0"/>
                </a:rPr>
                <a:t>Per-caller keys. Every tool call logged: client, tool, args, ms, tokens.</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600"/>
                                        <p:tgtEl>
                                          <p:spTgt spid="15"/>
                                        </p:tgtEl>
                                      </p:cBhvr>
                                    </p:animEffect>
                                  </p:childTnLst>
                                </p:cTn>
                              </p:par>
                              <p:par>
                                <p:cTn id="8" presetID="42" presetClass="entr" presetSubtype="0" fill="hold" grpId="0" nodeType="withEffect">
                                  <p:stCondLst>
                                    <p:cond delay="6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600"/>
                                        <p:tgtEl>
                                          <p:spTgt spid="16"/>
                                        </p:tgtEl>
                                      </p:cBhvr>
                                    </p:animEffect>
                                    <p:anim calcmode="lin" valueType="num">
                                      <p:cBhvr additive="base">
                                        <p:cTn id="11" dur="600" fill="hold" decel="100000"/>
                                        <p:tgtEl>
                                          <p:spTgt spid="16"/>
                                        </p:tgtEl>
                                        <p:attrNameLst>
                                          <p:attrName>ppt_x</p:attrName>
                                        </p:attrNameLst>
                                      </p:cBhvr>
                                      <p:tavLst>
                                        <p:tav tm="0">
                                          <p:val>
                                            <p:strVal val="#ppt_x"/>
                                          </p:val>
                                        </p:tav>
                                        <p:tav tm="100000">
                                          <p:val>
                                            <p:strVal val="#ppt_x"/>
                                          </p:val>
                                        </p:tav>
                                      </p:tavLst>
                                    </p:anim>
                                    <p:anim calcmode="lin" valueType="num">
                                      <p:cBhvr additive="base">
                                        <p:cTn id="12" dur="600" fill="hold" decel="100000"/>
                                        <p:tgtEl>
                                          <p:spTgt spid="16"/>
                                        </p:tgtEl>
                                        <p:attrNameLst>
                                          <p:attrName>ppt_y</p:attrName>
                                        </p:attrNameLst>
                                      </p:cBhvr>
                                      <p:tavLst>
                                        <p:tav tm="0">
                                          <p:val>
                                            <p:strVal val="#ppt_y+0.025"/>
                                          </p:val>
                                        </p:tav>
                                        <p:tav tm="100000">
                                          <p:val>
                                            <p:strVal val="#ppt_y"/>
                                          </p:val>
                                        </p:tav>
                                      </p:tavLst>
                                    </p:anim>
                                  </p:childTnLst>
                                </p:cTn>
                              </p:par>
                              <p:par>
                                <p:cTn id="13" presetID="10" presetClass="entr" presetSubtype="0" fill="hold" grpId="0" nodeType="withEffect">
                                  <p:stCondLst>
                                    <p:cond delay="26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42" presetClass="entr" presetSubtype="0" fill="hold" grpId="0" nodeType="withEffect">
                                  <p:stCondLst>
                                    <p:cond delay="25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anim calcmode="lin" valueType="num">
                                      <p:cBhvr additive="base">
                                        <p:cTn id="19" dur="500" fill="hold" decel="100000"/>
                                        <p:tgtEl>
                                          <p:spTgt spid="18"/>
                                        </p:tgtEl>
                                        <p:attrNameLst>
                                          <p:attrName>ppt_x</p:attrName>
                                        </p:attrNameLst>
                                      </p:cBhvr>
                                      <p:tavLst>
                                        <p:tav tm="0">
                                          <p:val>
                                            <p:strVal val="#ppt_x"/>
                                          </p:val>
                                        </p:tav>
                                        <p:tav tm="100000">
                                          <p:val>
                                            <p:strVal val="#ppt_x"/>
                                          </p:val>
                                        </p:tav>
                                      </p:tavLst>
                                    </p:anim>
                                    <p:anim calcmode="lin" valueType="num">
                                      <p:cBhvr additive="base">
                                        <p:cTn id="20" dur="500" fill="hold" decel="100000"/>
                                        <p:tgtEl>
                                          <p:spTgt spid="18"/>
                                        </p:tgtEl>
                                        <p:attrNameLst>
                                          <p:attrName>ppt_y</p:attrName>
                                        </p:attrNameLst>
                                      </p:cBhvr>
                                      <p:tavLst>
                                        <p:tav tm="0">
                                          <p:val>
                                            <p:strVal val="#ppt_y+0.025"/>
                                          </p:val>
                                        </p:tav>
                                        <p:tav tm="100000">
                                          <p:val>
                                            <p:strVal val="#ppt_y"/>
                                          </p:val>
                                        </p:tav>
                                      </p:tavLst>
                                    </p:anim>
                                  </p:childTnLst>
                                </p:cTn>
                              </p:par>
                              <p:par>
                                <p:cTn id="21" presetID="42" presetClass="entr" presetSubtype="0" fill="hold" grpId="0" nodeType="withEffect">
                                  <p:stCondLst>
                                    <p:cond delay="45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400"/>
                                        <p:tgtEl>
                                          <p:spTgt spid="21"/>
                                        </p:tgtEl>
                                      </p:cBhvr>
                                    </p:animEffect>
                                    <p:anim calcmode="lin" valueType="num">
                                      <p:cBhvr additive="base">
                                        <p:cTn id="24" dur="400" fill="hold" decel="100000"/>
                                        <p:tgtEl>
                                          <p:spTgt spid="21"/>
                                        </p:tgtEl>
                                        <p:attrNameLst>
                                          <p:attrName>ppt_x</p:attrName>
                                        </p:attrNameLst>
                                      </p:cBhvr>
                                      <p:tavLst>
                                        <p:tav tm="0">
                                          <p:val>
                                            <p:strVal val="#ppt_x-0.02"/>
                                          </p:val>
                                        </p:tav>
                                        <p:tav tm="100000">
                                          <p:val>
                                            <p:strVal val="#ppt_x"/>
                                          </p:val>
                                        </p:tav>
                                      </p:tavLst>
                                    </p:anim>
                                    <p:anim calcmode="lin" valueType="num">
                                      <p:cBhvr additive="base">
                                        <p:cTn id="25" dur="400" fill="hold" decel="100000"/>
                                        <p:tgtEl>
                                          <p:spTgt spid="21"/>
                                        </p:tgtEl>
                                        <p:attrNameLst>
                                          <p:attrName>ppt_y</p:attrName>
                                        </p:attrNameLst>
                                      </p:cBhvr>
                                      <p:tavLst>
                                        <p:tav tm="0">
                                          <p:val>
                                            <p:strVal val="#ppt_y"/>
                                          </p:val>
                                        </p:tav>
                                        <p:tav tm="100000">
                                          <p:val>
                                            <p:strVal val="#ppt_y"/>
                                          </p:val>
                                        </p:tav>
                                      </p:tavLst>
                                    </p:anim>
                                  </p:childTnLst>
                                </p:cTn>
                              </p:par>
                              <p:par>
                                <p:cTn id="26" presetID="42" presetClass="entr" presetSubtype="0" fill="hold" grpId="0" nodeType="withEffect">
                                  <p:stCondLst>
                                    <p:cond delay="57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400"/>
                                        <p:tgtEl>
                                          <p:spTgt spid="26"/>
                                        </p:tgtEl>
                                      </p:cBhvr>
                                    </p:animEffect>
                                    <p:anim calcmode="lin" valueType="num">
                                      <p:cBhvr additive="base">
                                        <p:cTn id="29" dur="400" fill="hold" decel="100000"/>
                                        <p:tgtEl>
                                          <p:spTgt spid="26"/>
                                        </p:tgtEl>
                                        <p:attrNameLst>
                                          <p:attrName>ppt_x</p:attrName>
                                        </p:attrNameLst>
                                      </p:cBhvr>
                                      <p:tavLst>
                                        <p:tav tm="0">
                                          <p:val>
                                            <p:strVal val="#ppt_x-0.02"/>
                                          </p:val>
                                        </p:tav>
                                        <p:tav tm="100000">
                                          <p:val>
                                            <p:strVal val="#ppt_x"/>
                                          </p:val>
                                        </p:tav>
                                      </p:tavLst>
                                    </p:anim>
                                    <p:anim calcmode="lin" valueType="num">
                                      <p:cBhvr additive="base">
                                        <p:cTn id="30" dur="400" fill="hold" decel="100000"/>
                                        <p:tgtEl>
                                          <p:spTgt spid="26"/>
                                        </p:tgtEl>
                                        <p:attrNameLst>
                                          <p:attrName>ppt_y</p:attrName>
                                        </p:attrNameLst>
                                      </p:cBhvr>
                                      <p:tavLst>
                                        <p:tav tm="0">
                                          <p:val>
                                            <p:strVal val="#ppt_y"/>
                                          </p:val>
                                        </p:tav>
                                        <p:tav tm="100000">
                                          <p:val>
                                            <p:strVal val="#ppt_y"/>
                                          </p:val>
                                        </p:tav>
                                      </p:tavLst>
                                    </p:anim>
                                  </p:childTnLst>
                                </p:cTn>
                              </p:par>
                              <p:par>
                                <p:cTn id="31" presetID="42" presetClass="entr" presetSubtype="0" fill="hold" grpId="0" nodeType="withEffect">
                                  <p:stCondLst>
                                    <p:cond delay="690"/>
                                  </p:stCondLst>
                                  <p:childTnLst>
                                    <p:set>
                                      <p:cBhvr>
                                        <p:cTn id="32" dur="1" fill="hold">
                                          <p:stCondLst>
                                            <p:cond delay="0"/>
                                          </p:stCondLst>
                                        </p:cTn>
                                        <p:tgtEl>
                                          <p:spTgt spid="31"/>
                                        </p:tgtEl>
                                        <p:attrNameLst>
                                          <p:attrName>style.visibility</p:attrName>
                                        </p:attrNameLst>
                                      </p:cBhvr>
                                      <p:to>
                                        <p:strVal val="visible"/>
                                      </p:to>
                                    </p:set>
                                    <p:animEffect transition="in" filter="fade">
                                      <p:cBhvr>
                                        <p:cTn id="33" dur="400"/>
                                        <p:tgtEl>
                                          <p:spTgt spid="31"/>
                                        </p:tgtEl>
                                      </p:cBhvr>
                                    </p:animEffect>
                                    <p:anim calcmode="lin" valueType="num">
                                      <p:cBhvr additive="base">
                                        <p:cTn id="34" dur="400" fill="hold" decel="100000"/>
                                        <p:tgtEl>
                                          <p:spTgt spid="31"/>
                                        </p:tgtEl>
                                        <p:attrNameLst>
                                          <p:attrName>ppt_x</p:attrName>
                                        </p:attrNameLst>
                                      </p:cBhvr>
                                      <p:tavLst>
                                        <p:tav tm="0">
                                          <p:val>
                                            <p:strVal val="#ppt_x-0.02"/>
                                          </p:val>
                                        </p:tav>
                                        <p:tav tm="100000">
                                          <p:val>
                                            <p:strVal val="#ppt_x"/>
                                          </p:val>
                                        </p:tav>
                                      </p:tavLst>
                                    </p:anim>
                                    <p:anim calcmode="lin" valueType="num">
                                      <p:cBhvr additive="base">
                                        <p:cTn id="35" dur="400" fill="hold" decel="100000"/>
                                        <p:tgtEl>
                                          <p:spTgt spid="31"/>
                                        </p:tgtEl>
                                        <p:attrNameLst>
                                          <p:attrName>ppt_y</p:attrName>
                                        </p:attrNameLst>
                                      </p:cBhvr>
                                      <p:tavLst>
                                        <p:tav tm="0">
                                          <p:val>
                                            <p:strVal val="#ppt_y"/>
                                          </p:val>
                                        </p:tav>
                                        <p:tav tm="100000">
                                          <p:val>
                                            <p:strVal val="#ppt_y"/>
                                          </p:val>
                                        </p:tav>
                                      </p:tavLst>
                                    </p:anim>
                                  </p:childTnLst>
                                </p:cTn>
                              </p:par>
                              <p:par>
                                <p:cTn id="36" presetID="42" presetClass="entr" presetSubtype="0" fill="hold" grpId="0" nodeType="withEffect">
                                  <p:stCondLst>
                                    <p:cond delay="810"/>
                                  </p:stCondLst>
                                  <p:childTnLst>
                                    <p:set>
                                      <p:cBhvr>
                                        <p:cTn id="37" dur="1" fill="hold">
                                          <p:stCondLst>
                                            <p:cond delay="0"/>
                                          </p:stCondLst>
                                        </p:cTn>
                                        <p:tgtEl>
                                          <p:spTgt spid="36"/>
                                        </p:tgtEl>
                                        <p:attrNameLst>
                                          <p:attrName>style.visibility</p:attrName>
                                        </p:attrNameLst>
                                      </p:cBhvr>
                                      <p:to>
                                        <p:strVal val="visible"/>
                                      </p:to>
                                    </p:set>
                                    <p:animEffect transition="in" filter="fade">
                                      <p:cBhvr>
                                        <p:cTn id="38" dur="400"/>
                                        <p:tgtEl>
                                          <p:spTgt spid="36"/>
                                        </p:tgtEl>
                                      </p:cBhvr>
                                    </p:animEffect>
                                    <p:anim calcmode="lin" valueType="num">
                                      <p:cBhvr additive="base">
                                        <p:cTn id="39" dur="400" fill="hold" decel="100000"/>
                                        <p:tgtEl>
                                          <p:spTgt spid="36"/>
                                        </p:tgtEl>
                                        <p:attrNameLst>
                                          <p:attrName>ppt_x</p:attrName>
                                        </p:attrNameLst>
                                      </p:cBhvr>
                                      <p:tavLst>
                                        <p:tav tm="0">
                                          <p:val>
                                            <p:strVal val="#ppt_x-0.02"/>
                                          </p:val>
                                        </p:tav>
                                        <p:tav tm="100000">
                                          <p:val>
                                            <p:strVal val="#ppt_x"/>
                                          </p:val>
                                        </p:tav>
                                      </p:tavLst>
                                    </p:anim>
                                    <p:anim calcmode="lin" valueType="num">
                                      <p:cBhvr additive="base">
                                        <p:cTn id="40" dur="400" fill="hold" decel="100000"/>
                                        <p:tgtEl>
                                          <p:spTgt spid="36"/>
                                        </p:tgtEl>
                                        <p:attrNameLst>
                                          <p:attrName>ppt_y</p:attrName>
                                        </p:attrNameLst>
                                      </p:cBhvr>
                                      <p:tavLst>
                                        <p:tav tm="0">
                                          <p:val>
                                            <p:strVal val="#ppt_y"/>
                                          </p:val>
                                        </p:tav>
                                        <p:tav tm="100000">
                                          <p:val>
                                            <p:strVal val="#ppt_y"/>
                                          </p:val>
                                        </p:tav>
                                      </p:tavLst>
                                    </p:anim>
                                  </p:childTnLst>
                                </p:cTn>
                              </p:par>
                              <p:par>
                                <p:cTn id="41" presetID="42" presetClass="entr" presetSubtype="0" fill="hold" grpId="0" nodeType="withEffect">
                                  <p:stCondLst>
                                    <p:cond delay="930"/>
                                  </p:stCondLst>
                                  <p:childTnLst>
                                    <p:set>
                                      <p:cBhvr>
                                        <p:cTn id="42" dur="1" fill="hold">
                                          <p:stCondLst>
                                            <p:cond delay="0"/>
                                          </p:stCondLst>
                                        </p:cTn>
                                        <p:tgtEl>
                                          <p:spTgt spid="41"/>
                                        </p:tgtEl>
                                        <p:attrNameLst>
                                          <p:attrName>style.visibility</p:attrName>
                                        </p:attrNameLst>
                                      </p:cBhvr>
                                      <p:to>
                                        <p:strVal val="visible"/>
                                      </p:to>
                                    </p:set>
                                    <p:animEffect transition="in" filter="fade">
                                      <p:cBhvr>
                                        <p:cTn id="43" dur="400"/>
                                        <p:tgtEl>
                                          <p:spTgt spid="41"/>
                                        </p:tgtEl>
                                      </p:cBhvr>
                                    </p:animEffect>
                                    <p:anim calcmode="lin" valueType="num">
                                      <p:cBhvr additive="base">
                                        <p:cTn id="44" dur="400" fill="hold" decel="100000"/>
                                        <p:tgtEl>
                                          <p:spTgt spid="41"/>
                                        </p:tgtEl>
                                        <p:attrNameLst>
                                          <p:attrName>ppt_x</p:attrName>
                                        </p:attrNameLst>
                                      </p:cBhvr>
                                      <p:tavLst>
                                        <p:tav tm="0">
                                          <p:val>
                                            <p:strVal val="#ppt_x-0.02"/>
                                          </p:val>
                                        </p:tav>
                                        <p:tav tm="100000">
                                          <p:val>
                                            <p:strVal val="#ppt_x"/>
                                          </p:val>
                                        </p:tav>
                                      </p:tavLst>
                                    </p:anim>
                                    <p:anim calcmode="lin" valueType="num">
                                      <p:cBhvr additive="base">
                                        <p:cTn id="45" dur="400" fill="hold" decel="100000"/>
                                        <p:tgtEl>
                                          <p:spTgt spid="41"/>
                                        </p:tgtEl>
                                        <p:attrNameLst>
                                          <p:attrName>ppt_y</p:attrName>
                                        </p:attrNameLst>
                                      </p:cBhvr>
                                      <p:tavLst>
                                        <p:tav tm="0">
                                          <p:val>
                                            <p:strVal val="#ppt_y"/>
                                          </p:val>
                                        </p:tav>
                                        <p:tav tm="100000">
                                          <p:val>
                                            <p:strVal val="#ppt_y"/>
                                          </p:val>
                                        </p:tav>
                                      </p:tavLst>
                                    </p:anim>
                                  </p:childTnLst>
                                </p:cTn>
                              </p:par>
                              <p:par>
                                <p:cTn id="46" presetID="42" presetClass="entr" presetSubtype="0" fill="hold" grpId="0" nodeType="withEffect">
                                  <p:stCondLst>
                                    <p:cond delay="1050"/>
                                  </p:stCondLst>
                                  <p:childTnLst>
                                    <p:set>
                                      <p:cBhvr>
                                        <p:cTn id="47" dur="1" fill="hold">
                                          <p:stCondLst>
                                            <p:cond delay="0"/>
                                          </p:stCondLst>
                                        </p:cTn>
                                        <p:tgtEl>
                                          <p:spTgt spid="46"/>
                                        </p:tgtEl>
                                        <p:attrNameLst>
                                          <p:attrName>style.visibility</p:attrName>
                                        </p:attrNameLst>
                                      </p:cBhvr>
                                      <p:to>
                                        <p:strVal val="visible"/>
                                      </p:to>
                                    </p:set>
                                    <p:animEffect transition="in" filter="fade">
                                      <p:cBhvr>
                                        <p:cTn id="48" dur="400"/>
                                        <p:tgtEl>
                                          <p:spTgt spid="46"/>
                                        </p:tgtEl>
                                      </p:cBhvr>
                                    </p:animEffect>
                                    <p:anim calcmode="lin" valueType="num">
                                      <p:cBhvr additive="base">
                                        <p:cTn id="49" dur="400" fill="hold" decel="100000"/>
                                        <p:tgtEl>
                                          <p:spTgt spid="46"/>
                                        </p:tgtEl>
                                        <p:attrNameLst>
                                          <p:attrName>ppt_x</p:attrName>
                                        </p:attrNameLst>
                                      </p:cBhvr>
                                      <p:tavLst>
                                        <p:tav tm="0">
                                          <p:val>
                                            <p:strVal val="#ppt_x-0.02"/>
                                          </p:val>
                                        </p:tav>
                                        <p:tav tm="100000">
                                          <p:val>
                                            <p:strVal val="#ppt_x"/>
                                          </p:val>
                                        </p:tav>
                                      </p:tavLst>
                                    </p:anim>
                                    <p:anim calcmode="lin" valueType="num">
                                      <p:cBhvr additive="base">
                                        <p:cTn id="50" dur="400" fill="hold" decel="100000"/>
                                        <p:tgtEl>
                                          <p:spTgt spid="46"/>
                                        </p:tgtEl>
                                        <p:attrNameLst>
                                          <p:attrName>ppt_y</p:attrName>
                                        </p:attrNameLst>
                                      </p:cBhvr>
                                      <p:tavLst>
                                        <p:tav tm="0">
                                          <p:val>
                                            <p:strVal val="#ppt_y"/>
                                          </p:val>
                                        </p:tav>
                                        <p:tav tm="100000">
                                          <p:val>
                                            <p:strVal val="#ppt_y"/>
                                          </p:val>
                                        </p:tav>
                                      </p:tavLst>
                                    </p:anim>
                                  </p:childTnLst>
                                </p:cTn>
                              </p:par>
                              <p:par>
                                <p:cTn id="51" presetID="42" presetClass="entr" presetSubtype="0" fill="hold" grpId="0" nodeType="withEffect">
                                  <p:stCondLst>
                                    <p:cond delay="1150"/>
                                  </p:stCondLst>
                                  <p:childTnLst>
                                    <p:set>
                                      <p:cBhvr>
                                        <p:cTn id="52" dur="1" fill="hold">
                                          <p:stCondLst>
                                            <p:cond delay="0"/>
                                          </p:stCondLst>
                                        </p:cTn>
                                        <p:tgtEl>
                                          <p:spTgt spid="51"/>
                                        </p:tgtEl>
                                        <p:attrNameLst>
                                          <p:attrName>style.visibility</p:attrName>
                                        </p:attrNameLst>
                                      </p:cBhvr>
                                      <p:to>
                                        <p:strVal val="visible"/>
                                      </p:to>
                                    </p:set>
                                    <p:animEffect transition="in" filter="fade">
                                      <p:cBhvr>
                                        <p:cTn id="53" dur="400"/>
                                        <p:tgtEl>
                                          <p:spTgt spid="51"/>
                                        </p:tgtEl>
                                      </p:cBhvr>
                                    </p:animEffect>
                                    <p:anim calcmode="lin" valueType="num">
                                      <p:cBhvr additive="base">
                                        <p:cTn id="54" dur="400" fill="hold" decel="100000"/>
                                        <p:tgtEl>
                                          <p:spTgt spid="51"/>
                                        </p:tgtEl>
                                        <p:attrNameLst>
                                          <p:attrName>ppt_x</p:attrName>
                                        </p:attrNameLst>
                                      </p:cBhvr>
                                      <p:tavLst>
                                        <p:tav tm="0">
                                          <p:val>
                                            <p:strVal val="#ppt_x"/>
                                          </p:val>
                                        </p:tav>
                                        <p:tav tm="100000">
                                          <p:val>
                                            <p:strVal val="#ppt_x"/>
                                          </p:val>
                                        </p:tav>
                                      </p:tavLst>
                                    </p:anim>
                                    <p:anim calcmode="lin" valueType="num">
                                      <p:cBhvr additive="base">
                                        <p:cTn id="55" dur="400" fill="hold" decel="100000"/>
                                        <p:tgtEl>
                                          <p:spTgt spid="51"/>
                                        </p:tgtEl>
                                        <p:attrNameLst>
                                          <p:attrName>ppt_y</p:attrName>
                                        </p:attrNameLst>
                                      </p:cBhvr>
                                      <p:tavLst>
                                        <p:tav tm="0">
                                          <p:val>
                                            <p:strVal val="#ppt_y+0.025"/>
                                          </p:val>
                                        </p:tav>
                                        <p:tav tm="100000">
                                          <p:val>
                                            <p:strVal val="#ppt_y"/>
                                          </p:val>
                                        </p:tav>
                                      </p:tavLst>
                                    </p:anim>
                                  </p:childTnLst>
                                </p:cTn>
                              </p:par>
                              <p:par>
                                <p:cTn id="56" presetID="42" presetClass="entr" presetSubtype="0" fill="hold" grpId="0" nodeType="withEffect">
                                  <p:stCondLst>
                                    <p:cond delay="400"/>
                                  </p:stCondLst>
                                  <p:childTnLst>
                                    <p:set>
                                      <p:cBhvr>
                                        <p:cTn id="57" dur="1" fill="hold">
                                          <p:stCondLst>
                                            <p:cond delay="0"/>
                                          </p:stCondLst>
                                        </p:cTn>
                                        <p:tgtEl>
                                          <p:spTgt spid="55"/>
                                        </p:tgtEl>
                                        <p:attrNameLst>
                                          <p:attrName>style.visibility</p:attrName>
                                        </p:attrNameLst>
                                      </p:cBhvr>
                                      <p:to>
                                        <p:strVal val="visible"/>
                                      </p:to>
                                    </p:set>
                                    <p:animEffect transition="in" filter="fade">
                                      <p:cBhvr>
                                        <p:cTn id="58" dur="500"/>
                                        <p:tgtEl>
                                          <p:spTgt spid="55"/>
                                        </p:tgtEl>
                                      </p:cBhvr>
                                    </p:animEffect>
                                    <p:anim calcmode="lin" valueType="num">
                                      <p:cBhvr additive="base">
                                        <p:cTn id="59" dur="500" fill="hold" decel="100000"/>
                                        <p:tgtEl>
                                          <p:spTgt spid="55"/>
                                        </p:tgtEl>
                                        <p:attrNameLst>
                                          <p:attrName>ppt_x</p:attrName>
                                        </p:attrNameLst>
                                      </p:cBhvr>
                                      <p:tavLst>
                                        <p:tav tm="0">
                                          <p:val>
                                            <p:strVal val="#ppt_x"/>
                                          </p:val>
                                        </p:tav>
                                        <p:tav tm="100000">
                                          <p:val>
                                            <p:strVal val="#ppt_x"/>
                                          </p:val>
                                        </p:tav>
                                      </p:tavLst>
                                    </p:anim>
                                    <p:anim calcmode="lin" valueType="num">
                                      <p:cBhvr additive="base">
                                        <p:cTn id="60" dur="500" fill="hold" decel="100000"/>
                                        <p:tgtEl>
                                          <p:spTgt spid="55"/>
                                        </p:tgtEl>
                                        <p:attrNameLst>
                                          <p:attrName>ppt_y</p:attrName>
                                        </p:attrNameLst>
                                      </p:cBhvr>
                                      <p:tavLst>
                                        <p:tav tm="0">
                                          <p:val>
                                            <p:strVal val="#ppt_y+0.025"/>
                                          </p:val>
                                        </p:tav>
                                        <p:tav tm="100000">
                                          <p:val>
                                            <p:strVal val="#ppt_y"/>
                                          </p:val>
                                        </p:tav>
                                      </p:tavLst>
                                    </p:anim>
                                  </p:childTnLst>
                                </p:cTn>
                              </p:par>
                              <p:par>
                                <p:cTn id="61" presetID="22" presetClass="entr" presetSubtype="8" fill="hold" grpId="0" nodeType="withEffect">
                                  <p:stCondLst>
                                    <p:cond delay="800"/>
                                  </p:stCondLst>
                                  <p:childTnLst>
                                    <p:set>
                                      <p:cBhvr>
                                        <p:cTn id="62" dur="1" fill="hold">
                                          <p:stCondLst>
                                            <p:cond delay="0"/>
                                          </p:stCondLst>
                                        </p:cTn>
                                        <p:tgtEl>
                                          <p:spTgt spid="58"/>
                                        </p:tgtEl>
                                        <p:attrNameLst>
                                          <p:attrName>style.visibility</p:attrName>
                                        </p:attrNameLst>
                                      </p:cBhvr>
                                      <p:to>
                                        <p:strVal val="visible"/>
                                      </p:to>
                                    </p:set>
                                    <p:animEffect transition="in" filter="wipe(left)">
                                      <p:cBhvr>
                                        <p:cTn id="63" dur="400"/>
                                        <p:tgtEl>
                                          <p:spTgt spid="58"/>
                                        </p:tgtEl>
                                      </p:cBhvr>
                                    </p:animEffect>
                                  </p:childTnLst>
                                </p:cTn>
                              </p:par>
                              <p:par>
                                <p:cTn id="64" presetID="22" presetClass="entr" presetSubtype="8" fill="hold" grpId="0" nodeType="withEffect">
                                  <p:stCondLst>
                                    <p:cond delay="920"/>
                                  </p:stCondLst>
                                  <p:childTnLst>
                                    <p:set>
                                      <p:cBhvr>
                                        <p:cTn id="65" dur="1" fill="hold">
                                          <p:stCondLst>
                                            <p:cond delay="0"/>
                                          </p:stCondLst>
                                        </p:cTn>
                                        <p:tgtEl>
                                          <p:spTgt spid="61"/>
                                        </p:tgtEl>
                                        <p:attrNameLst>
                                          <p:attrName>style.visibility</p:attrName>
                                        </p:attrNameLst>
                                      </p:cBhvr>
                                      <p:to>
                                        <p:strVal val="visible"/>
                                      </p:to>
                                    </p:set>
                                    <p:animEffect transition="in" filter="wipe(left)">
                                      <p:cBhvr>
                                        <p:cTn id="66" dur="400"/>
                                        <p:tgtEl>
                                          <p:spTgt spid="61"/>
                                        </p:tgtEl>
                                      </p:cBhvr>
                                    </p:animEffect>
                                  </p:childTnLst>
                                </p:cTn>
                              </p:par>
                              <p:par>
                                <p:cTn id="67" presetID="22" presetClass="entr" presetSubtype="8" fill="hold" grpId="0" nodeType="withEffect">
                                  <p:stCondLst>
                                    <p:cond delay="1040"/>
                                  </p:stCondLst>
                                  <p:childTnLst>
                                    <p:set>
                                      <p:cBhvr>
                                        <p:cTn id="68" dur="1" fill="hold">
                                          <p:stCondLst>
                                            <p:cond delay="0"/>
                                          </p:stCondLst>
                                        </p:cTn>
                                        <p:tgtEl>
                                          <p:spTgt spid="64"/>
                                        </p:tgtEl>
                                        <p:attrNameLst>
                                          <p:attrName>style.visibility</p:attrName>
                                        </p:attrNameLst>
                                      </p:cBhvr>
                                      <p:to>
                                        <p:strVal val="visible"/>
                                      </p:to>
                                    </p:set>
                                    <p:animEffect transition="in" filter="wipe(left)">
                                      <p:cBhvr>
                                        <p:cTn id="69" dur="400"/>
                                        <p:tgtEl>
                                          <p:spTgt spid="64"/>
                                        </p:tgtEl>
                                      </p:cBhvr>
                                    </p:animEffect>
                                  </p:childTnLst>
                                </p:cTn>
                              </p:par>
                              <p:par>
                                <p:cTn id="70" presetID="22" presetClass="entr" presetSubtype="8" fill="hold" grpId="0" nodeType="withEffect">
                                  <p:stCondLst>
                                    <p:cond delay="1160"/>
                                  </p:stCondLst>
                                  <p:childTnLst>
                                    <p:set>
                                      <p:cBhvr>
                                        <p:cTn id="71" dur="1" fill="hold">
                                          <p:stCondLst>
                                            <p:cond delay="0"/>
                                          </p:stCondLst>
                                        </p:cTn>
                                        <p:tgtEl>
                                          <p:spTgt spid="67"/>
                                        </p:tgtEl>
                                        <p:attrNameLst>
                                          <p:attrName>style.visibility</p:attrName>
                                        </p:attrNameLst>
                                      </p:cBhvr>
                                      <p:to>
                                        <p:strVal val="visible"/>
                                      </p:to>
                                    </p:set>
                                    <p:animEffect transition="in" filter="wipe(left)">
                                      <p:cBhvr>
                                        <p:cTn id="72" dur="400"/>
                                        <p:tgtEl>
                                          <p:spTgt spid="67"/>
                                        </p:tgtEl>
                                      </p:cBhvr>
                                    </p:animEffect>
                                  </p:childTnLst>
                                </p:cTn>
                              </p:par>
                              <p:par>
                                <p:cTn id="73" presetID="22" presetClass="entr" presetSubtype="8" fill="hold" grpId="0" nodeType="withEffect">
                                  <p:stCondLst>
                                    <p:cond delay="1280"/>
                                  </p:stCondLst>
                                  <p:childTnLst>
                                    <p:set>
                                      <p:cBhvr>
                                        <p:cTn id="74" dur="1" fill="hold">
                                          <p:stCondLst>
                                            <p:cond delay="0"/>
                                          </p:stCondLst>
                                        </p:cTn>
                                        <p:tgtEl>
                                          <p:spTgt spid="70"/>
                                        </p:tgtEl>
                                        <p:attrNameLst>
                                          <p:attrName>style.visibility</p:attrName>
                                        </p:attrNameLst>
                                      </p:cBhvr>
                                      <p:to>
                                        <p:strVal val="visible"/>
                                      </p:to>
                                    </p:set>
                                    <p:animEffect transition="in" filter="wipe(left)">
                                      <p:cBhvr>
                                        <p:cTn id="75" dur="400"/>
                                        <p:tgtEl>
                                          <p:spTgt spid="70"/>
                                        </p:tgtEl>
                                      </p:cBhvr>
                                    </p:animEffect>
                                  </p:childTnLst>
                                </p:cTn>
                              </p:par>
                              <p:par>
                                <p:cTn id="76" presetID="10" presetClass="entr" presetSubtype="0" fill="hold" grpId="0" nodeType="withEffect">
                                  <p:stCondLst>
                                    <p:cond delay="1450"/>
                                  </p:stCondLst>
                                  <p:childTnLst>
                                    <p:set>
                                      <p:cBhvr>
                                        <p:cTn id="77" dur="1" fill="hold">
                                          <p:stCondLst>
                                            <p:cond delay="0"/>
                                          </p:stCondLst>
                                        </p:cTn>
                                        <p:tgtEl>
                                          <p:spTgt spid="73"/>
                                        </p:tgtEl>
                                        <p:attrNameLst>
                                          <p:attrName>style.visibility</p:attrName>
                                        </p:attrNameLst>
                                      </p:cBhvr>
                                      <p:to>
                                        <p:strVal val="visible"/>
                                      </p:to>
                                    </p:set>
                                    <p:animEffect transition="in" filter="fade">
                                      <p:cBhvr>
                                        <p:cTn id="78" dur="400"/>
                                        <p:tgtEl>
                                          <p:spTgt spid="73"/>
                                        </p:tgtEl>
                                      </p:cBhvr>
                                    </p:animEffect>
                                  </p:childTnLst>
                                </p:cTn>
                              </p:par>
                              <p:par>
                                <p:cTn id="79" presetID="42" presetClass="entr" presetSubtype="0" fill="hold" grpId="0" nodeType="withEffect">
                                  <p:stCondLst>
                                    <p:cond delay="900"/>
                                  </p:stCondLst>
                                  <p:childTnLst>
                                    <p:set>
                                      <p:cBhvr>
                                        <p:cTn id="80" dur="1" fill="hold">
                                          <p:stCondLst>
                                            <p:cond delay="0"/>
                                          </p:stCondLst>
                                        </p:cTn>
                                        <p:tgtEl>
                                          <p:spTgt spid="76"/>
                                        </p:tgtEl>
                                        <p:attrNameLst>
                                          <p:attrName>style.visibility</p:attrName>
                                        </p:attrNameLst>
                                      </p:cBhvr>
                                      <p:to>
                                        <p:strVal val="visible"/>
                                      </p:to>
                                    </p:set>
                                    <p:animEffect transition="in" filter="fade">
                                      <p:cBhvr>
                                        <p:cTn id="81" dur="550"/>
                                        <p:tgtEl>
                                          <p:spTgt spid="76"/>
                                        </p:tgtEl>
                                      </p:cBhvr>
                                    </p:animEffect>
                                    <p:anim calcmode="lin" valueType="num">
                                      <p:cBhvr additive="base">
                                        <p:cTn id="82" dur="550" fill="hold" decel="100000"/>
                                        <p:tgtEl>
                                          <p:spTgt spid="76"/>
                                        </p:tgtEl>
                                        <p:attrNameLst>
                                          <p:attrName>ppt_x</p:attrName>
                                        </p:attrNameLst>
                                      </p:cBhvr>
                                      <p:tavLst>
                                        <p:tav tm="0">
                                          <p:val>
                                            <p:strVal val="#ppt_x"/>
                                          </p:val>
                                        </p:tav>
                                        <p:tav tm="100000">
                                          <p:val>
                                            <p:strVal val="#ppt_x"/>
                                          </p:val>
                                        </p:tav>
                                      </p:tavLst>
                                    </p:anim>
                                    <p:anim calcmode="lin" valueType="num">
                                      <p:cBhvr additive="base">
                                        <p:cTn id="83" dur="550" fill="hold" decel="100000"/>
                                        <p:tgtEl>
                                          <p:spTgt spid="76"/>
                                        </p:tgtEl>
                                        <p:attrNameLst>
                                          <p:attrName>ppt_y</p:attrName>
                                        </p:attrNameLst>
                                      </p:cBhvr>
                                      <p:tavLst>
                                        <p:tav tm="0">
                                          <p:val>
                                            <p:strVal val="#ppt_y+0.025"/>
                                          </p:val>
                                        </p:tav>
                                        <p:tav tm="100000">
                                          <p:val>
                                            <p:strVal val="#ppt_y"/>
                                          </p:val>
                                        </p:tav>
                                      </p:tavLst>
                                    </p:anim>
                                  </p:childTnLst>
                                </p:cTn>
                              </p:par>
                              <p:par>
                                <p:cTn id="84" presetID="10" presetClass="entr" presetSubtype="0" fill="hold" grpId="0" nodeType="withEffect">
                                  <p:stCondLst>
                                    <p:cond delay="1350"/>
                                  </p:stCondLst>
                                  <p:childTnLst>
                                    <p:set>
                                      <p:cBhvr>
                                        <p:cTn id="85" dur="1" fill="hold">
                                          <p:stCondLst>
                                            <p:cond delay="0"/>
                                          </p:stCondLst>
                                        </p:cTn>
                                        <p:tgtEl>
                                          <p:spTgt spid="85"/>
                                        </p:tgtEl>
                                        <p:attrNameLst>
                                          <p:attrName>style.visibility</p:attrName>
                                        </p:attrNameLst>
                                      </p:cBhvr>
                                      <p:to>
                                        <p:strVal val="visible"/>
                                      </p:to>
                                    </p:set>
                                    <p:animEffect transition="in" filter="fade">
                                      <p:cBhvr>
                                        <p:cTn id="86" dur="400"/>
                                        <p:tgtEl>
                                          <p:spTgt spid="85"/>
                                        </p:tgtEl>
                                      </p:cBhvr>
                                    </p:animEffect>
                                  </p:childTnLst>
                                </p:cTn>
                              </p:par>
                              <p:par>
                                <p:cTn id="87" presetID="42" presetClass="entr" presetSubtype="0" fill="hold" grpId="0" nodeType="withEffect">
                                  <p:stCondLst>
                                    <p:cond delay="1100"/>
                                  </p:stCondLst>
                                  <p:childTnLst>
                                    <p:set>
                                      <p:cBhvr>
                                        <p:cTn id="88" dur="1" fill="hold">
                                          <p:stCondLst>
                                            <p:cond delay="0"/>
                                          </p:stCondLst>
                                        </p:cTn>
                                        <p:tgtEl>
                                          <p:spTgt spid="86"/>
                                        </p:tgtEl>
                                        <p:attrNameLst>
                                          <p:attrName>style.visibility</p:attrName>
                                        </p:attrNameLst>
                                      </p:cBhvr>
                                      <p:to>
                                        <p:strVal val="visible"/>
                                      </p:to>
                                    </p:set>
                                    <p:animEffect transition="in" filter="fade">
                                      <p:cBhvr>
                                        <p:cTn id="89" dur="400"/>
                                        <p:tgtEl>
                                          <p:spTgt spid="86"/>
                                        </p:tgtEl>
                                      </p:cBhvr>
                                    </p:animEffect>
                                    <p:anim calcmode="lin" valueType="num">
                                      <p:cBhvr additive="base">
                                        <p:cTn id="90" dur="400" fill="hold" decel="100000"/>
                                        <p:tgtEl>
                                          <p:spTgt spid="86"/>
                                        </p:tgtEl>
                                        <p:attrNameLst>
                                          <p:attrName>ppt_x</p:attrName>
                                        </p:attrNameLst>
                                      </p:cBhvr>
                                      <p:tavLst>
                                        <p:tav tm="0">
                                          <p:val>
                                            <p:strVal val="#ppt_x"/>
                                          </p:val>
                                        </p:tav>
                                        <p:tav tm="100000">
                                          <p:val>
                                            <p:strVal val="#ppt_x"/>
                                          </p:val>
                                        </p:tav>
                                      </p:tavLst>
                                    </p:anim>
                                    <p:anim calcmode="lin" valueType="num">
                                      <p:cBhvr additive="base">
                                        <p:cTn id="91" dur="400" fill="hold" decel="100000"/>
                                        <p:tgtEl>
                                          <p:spTgt spid="86"/>
                                        </p:tgtEl>
                                        <p:attrNameLst>
                                          <p:attrName>ppt_y</p:attrName>
                                        </p:attrNameLst>
                                      </p:cBhvr>
                                      <p:tavLst>
                                        <p:tav tm="0">
                                          <p:val>
                                            <p:strVal val="#ppt_y+0.025"/>
                                          </p:val>
                                        </p:tav>
                                        <p:tav tm="100000">
                                          <p:val>
                                            <p:strVal val="#ppt_y"/>
                                          </p:val>
                                        </p:tav>
                                      </p:tavLst>
                                    </p:anim>
                                  </p:childTnLst>
                                </p:cTn>
                              </p:par>
                              <p:par>
                                <p:cTn id="92" presetID="42" presetClass="entr" presetSubtype="0" fill="hold" grpId="0" nodeType="withEffect">
                                  <p:stCondLst>
                                    <p:cond delay="1230"/>
                                  </p:stCondLst>
                                  <p:childTnLst>
                                    <p:set>
                                      <p:cBhvr>
                                        <p:cTn id="93" dur="1" fill="hold">
                                          <p:stCondLst>
                                            <p:cond delay="0"/>
                                          </p:stCondLst>
                                        </p:cTn>
                                        <p:tgtEl>
                                          <p:spTgt spid="91"/>
                                        </p:tgtEl>
                                        <p:attrNameLst>
                                          <p:attrName>style.visibility</p:attrName>
                                        </p:attrNameLst>
                                      </p:cBhvr>
                                      <p:to>
                                        <p:strVal val="visible"/>
                                      </p:to>
                                    </p:set>
                                    <p:animEffect transition="in" filter="fade">
                                      <p:cBhvr>
                                        <p:cTn id="94" dur="400"/>
                                        <p:tgtEl>
                                          <p:spTgt spid="91"/>
                                        </p:tgtEl>
                                      </p:cBhvr>
                                    </p:animEffect>
                                    <p:anim calcmode="lin" valueType="num">
                                      <p:cBhvr additive="base">
                                        <p:cTn id="95" dur="400" fill="hold" decel="100000"/>
                                        <p:tgtEl>
                                          <p:spTgt spid="91"/>
                                        </p:tgtEl>
                                        <p:attrNameLst>
                                          <p:attrName>ppt_x</p:attrName>
                                        </p:attrNameLst>
                                      </p:cBhvr>
                                      <p:tavLst>
                                        <p:tav tm="0">
                                          <p:val>
                                            <p:strVal val="#ppt_x"/>
                                          </p:val>
                                        </p:tav>
                                        <p:tav tm="100000">
                                          <p:val>
                                            <p:strVal val="#ppt_x"/>
                                          </p:val>
                                        </p:tav>
                                      </p:tavLst>
                                    </p:anim>
                                    <p:anim calcmode="lin" valueType="num">
                                      <p:cBhvr additive="base">
                                        <p:cTn id="96" dur="400" fill="hold" decel="100000"/>
                                        <p:tgtEl>
                                          <p:spTgt spid="91"/>
                                        </p:tgtEl>
                                        <p:attrNameLst>
                                          <p:attrName>ppt_y</p:attrName>
                                        </p:attrNameLst>
                                      </p:cBhvr>
                                      <p:tavLst>
                                        <p:tav tm="0">
                                          <p:val>
                                            <p:strVal val="#ppt_y+0.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85"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grpSp>
        <p:nvGrpSpPr>
          <p:cNvPr id="2" name="Group 1"/>
          <p:cNvGrpSpPr/>
          <p:nvPr/>
        </p:nvGrpSpPr>
        <p:grpSpPr>
          <a:xfrm>
            <a:off x="685800" y="384048"/>
            <a:ext cx="292608" cy="292608"/>
            <a:chOff x="685800" y="384048"/>
            <a:chExt cx="292608" cy="292608"/>
          </a:xfrm>
        </p:grpSpPr>
        <p:sp>
          <p:nvSpPr>
            <p:cNvPr id="3" name="Oval 2"/>
            <p:cNvSpPr/>
            <p:nvPr/>
          </p:nvSpPr>
          <p:spPr>
            <a:xfrm>
              <a:off x="685800" y="384048"/>
              <a:ext cx="292608" cy="292608"/>
            </a:xfrm>
            <a:prstGeom prst="ellipse">
              <a:avLst/>
            </a:prstGeom>
            <a:solidFill>
              <a:srgbClr val="16130E"/>
            </a:solidFill>
            <a:ln>
              <a:noFill/>
            </a:ln>
          </p:spPr>
          <p:txBody>
            <a:bodyPr rtlCol="0" anchor="ctr"/>
            <a:lstStyle/>
            <a:p>
              <a:pPr algn="ctr"/>
            </a:p>
          </p:txBody>
        </p:sp>
        <p:sp>
          <p:nvSpPr>
            <p:cNvPr id="4" name="Freeform 3"/>
            <p:cNvSpPr/>
            <p:nvPr/>
          </p:nvSpPr>
          <p:spPr>
            <a:xfrm>
              <a:off x="772852" y="517188"/>
              <a:ext cx="72424" cy="72424"/>
            </a:xfrm>
            <a:custGeom>
              <a:avLst/>
              <a:gdLst/>
              <a:ahLst/>
              <a:cxnLst/>
              <a:rect l="l" t="t" r="r" b="b"/>
              <a:pathLst>
                <a:path w="11" h="11">
                  <a:moveTo>
                    <a:pt x="11" y="2"/>
                  </a:moveTo>
                  <a:lnTo>
                    <a:pt x="3" y="10"/>
                  </a:lnTo>
                  <a:lnTo>
                    <a:pt x="2" y="11"/>
                  </a:lnTo>
                  <a:lnTo>
                    <a:pt x="1" y="10"/>
                  </a:lnTo>
                  <a:lnTo>
                    <a:pt x="0" y="9"/>
                  </a:lnTo>
                  <a:lnTo>
                    <a:pt x="1" y="8"/>
                  </a:lnTo>
                  <a:lnTo>
                    <a:pt x="9" y="0"/>
                  </a:lnTo>
                </a:path>
              </a:pathLst>
            </a:custGeom>
            <a:noFill/>
            <a:ln w="13167" cap="rnd">
              <a:solidFill>
                <a:srgbClr val="F4EFE4"/>
              </a:solidFill>
              <a:round/>
            </a:ln>
          </p:spPr>
          <p:txBody>
            <a:bodyPr rtlCol="0" anchor="ctr"/>
            <a:lstStyle/>
            <a:p>
              <a:pPr algn="ctr"/>
            </a:p>
          </p:txBody>
        </p:sp>
        <p:sp>
          <p:nvSpPr>
            <p:cNvPr id="5" name="Freeform 4"/>
            <p:cNvSpPr/>
            <p:nvPr/>
          </p:nvSpPr>
          <p:spPr>
            <a:xfrm>
              <a:off x="858444" y="517188"/>
              <a:ext cx="39504" cy="39504"/>
            </a:xfrm>
            <a:custGeom>
              <a:avLst/>
              <a:gdLst/>
              <a:ahLst/>
              <a:cxnLst/>
              <a:rect l="l" t="t" r="r" b="b"/>
              <a:pathLst>
                <a:path w="6" h="6">
                  <a:moveTo>
                    <a:pt x="0" y="6"/>
                  </a:moveTo>
                  <a:lnTo>
                    <a:pt x="6" y="0"/>
                  </a:lnTo>
                </a:path>
              </a:pathLst>
            </a:custGeom>
            <a:noFill/>
            <a:ln w="13167" cap="rnd">
              <a:solidFill>
                <a:srgbClr val="F4EFE4"/>
              </a:solidFill>
              <a:round/>
            </a:ln>
          </p:spPr>
          <p:txBody>
            <a:bodyPr rtlCol="0" anchor="ctr"/>
            <a:lstStyle/>
            <a:p>
              <a:pPr algn="ctr"/>
            </a:p>
          </p:txBody>
        </p:sp>
        <p:sp>
          <p:nvSpPr>
            <p:cNvPr id="6" name="Freeform 5"/>
            <p:cNvSpPr/>
            <p:nvPr/>
          </p:nvSpPr>
          <p:spPr>
            <a:xfrm>
              <a:off x="805772" y="464516"/>
              <a:ext cx="39504" cy="39504"/>
            </a:xfrm>
            <a:custGeom>
              <a:avLst/>
              <a:gdLst/>
              <a:ahLst/>
              <a:cxnLst/>
              <a:rect l="l" t="t" r="r" b="b"/>
              <a:pathLst>
                <a:path w="6" h="6">
                  <a:moveTo>
                    <a:pt x="0" y="6"/>
                  </a:moveTo>
                  <a:lnTo>
                    <a:pt x="6" y="0"/>
                  </a:lnTo>
                </a:path>
              </a:pathLst>
            </a:custGeom>
            <a:noFill/>
            <a:ln w="13167" cap="rnd">
              <a:solidFill>
                <a:srgbClr val="F4EFE4"/>
              </a:solidFill>
              <a:round/>
            </a:ln>
          </p:spPr>
          <p:txBody>
            <a:bodyPr rtlCol="0" anchor="ctr"/>
            <a:lstStyle/>
            <a:p>
              <a:pPr algn="ctr"/>
            </a:p>
          </p:txBody>
        </p:sp>
        <p:sp>
          <p:nvSpPr>
            <p:cNvPr id="7" name="Freeform 6"/>
            <p:cNvSpPr/>
            <p:nvPr/>
          </p:nvSpPr>
          <p:spPr>
            <a:xfrm>
              <a:off x="812356" y="497436"/>
              <a:ext cx="52672" cy="52672"/>
            </a:xfrm>
            <a:custGeom>
              <a:avLst/>
              <a:gdLst/>
              <a:ahLst/>
              <a:cxnLst/>
              <a:rect l="l" t="t" r="r" b="b"/>
              <a:pathLst>
                <a:path w="8" h="8">
                  <a:moveTo>
                    <a:pt x="0" y="0"/>
                  </a:moveTo>
                  <a:lnTo>
                    <a:pt x="8" y="8"/>
                  </a:lnTo>
                </a:path>
              </a:pathLst>
            </a:custGeom>
            <a:noFill/>
            <a:ln w="13167" cap="rnd">
              <a:solidFill>
                <a:srgbClr val="F4EFE4"/>
              </a:solidFill>
              <a:round/>
            </a:ln>
          </p:spPr>
          <p:txBody>
            <a:bodyPr rtlCol="0" anchor="ctr"/>
            <a:lstStyle/>
            <a:p>
              <a:pPr algn="ctr"/>
            </a:p>
          </p:txBody>
        </p:sp>
        <p:sp>
          <p:nvSpPr>
            <p:cNvPr id="8" name="Freeform 7"/>
            <p:cNvSpPr/>
            <p:nvPr/>
          </p:nvSpPr>
          <p:spPr>
            <a:xfrm>
              <a:off x="838692" y="471100"/>
              <a:ext cx="52672" cy="52672"/>
            </a:xfrm>
            <a:custGeom>
              <a:avLst/>
              <a:gdLst/>
              <a:ahLst/>
              <a:cxnLst/>
              <a:rect l="l" t="t" r="r" b="b"/>
              <a:pathLst>
                <a:path w="8" h="8">
                  <a:moveTo>
                    <a:pt x="8" y="8"/>
                  </a:moveTo>
                  <a:lnTo>
                    <a:pt x="0" y="0"/>
                  </a:lnTo>
                </a:path>
              </a:pathLst>
            </a:custGeom>
            <a:noFill/>
            <a:ln w="13167" cap="rnd">
              <a:solidFill>
                <a:srgbClr val="F4EFE4"/>
              </a:solidFill>
              <a:round/>
            </a:ln>
          </p:spPr>
          <p:txBody>
            <a:bodyPr rtlCol="0" anchor="ctr"/>
            <a:lstStyle/>
            <a:p>
              <a:pPr algn="ctr"/>
            </a:p>
          </p:txBody>
        </p:sp>
      </p:grpSp>
      <p:sp>
        <p:nvSpPr>
          <p:cNvPr id="9" name="TextBox 8"/>
          <p:cNvSpPr txBox="1"/>
          <p:nvPr/>
        </p:nvSpPr>
        <p:spPr>
          <a:xfrm>
            <a:off x="1060704" y="347472"/>
            <a:ext cx="2286000" cy="365760"/>
          </a:xfrm>
          <a:prstGeom prst="rect">
            <a:avLst/>
          </a:prstGeom>
          <a:noFill/>
        </p:spPr>
        <p:txBody>
          <a:bodyPr wrap="square" lIns="0" rIns="0" tIns="0" bIns="0" anchor="ctr">
            <a:noAutofit/>
          </a:bodyPr>
          <a:lstStyle/>
          <a:p>
            <a:pPr algn="l"/>
            <a:r>
              <a:rPr sz="1700" b="0" i="0">
                <a:solidFill>
                  <a:srgbClr val="16130E"/>
                </a:solidFill>
                <a:latin typeface="Georgia" panose="02040502050405020303" pitchFamily="18" charset="0"/>
              </a:rPr>
              <a:t>Bidwire</a:t>
            </a:r>
          </a:p>
        </p:txBody>
      </p:sp>
      <p:sp>
        <p:nvSpPr>
          <p:cNvPr id="10" name="TextBox 9"/>
          <p:cNvSpPr txBox="1"/>
          <p:nvPr/>
        </p:nvSpPr>
        <p:spPr>
          <a:xfrm>
            <a:off x="6019495" y="420624"/>
            <a:ext cx="5486400" cy="219456"/>
          </a:xfrm>
          <a:prstGeom prst="rect">
            <a:avLst/>
          </a:prstGeom>
          <a:noFill/>
        </p:spPr>
        <p:txBody>
          <a:bodyPr wrap="square" lIns="0" rIns="0" tIns="0" bIns="0" anchor="ctr">
            <a:noAutofit/>
          </a:bodyPr>
          <a:lstStyle/>
          <a:p>
            <a:pPr algn="r"/>
            <a:r>
              <a:rPr sz="850" b="1" i="0" spc="110">
                <a:solidFill>
                  <a:srgbClr val="9C937F"/>
                </a:solidFill>
                <a:latin typeface="Inter" panose="020B0502030000000004" pitchFamily="34" charset="0"/>
              </a:rPr>
              <a:t>LOT 08  ·  BUSINESS MODEL · WHY NOW</a:t>
            </a:r>
          </a:p>
        </p:txBody>
      </p:sp>
      <p:sp>
        <p:nvSpPr>
          <p:cNvPr id="11" name="Rectangle 10"/>
          <p:cNvSpPr/>
          <p:nvPr/>
        </p:nvSpPr>
        <p:spPr>
          <a:xfrm>
            <a:off x="685800" y="822960"/>
            <a:ext cx="10820095" cy="7315"/>
          </a:xfrm>
          <a:prstGeom prst="rect">
            <a:avLst/>
          </a:prstGeom>
          <a:solidFill>
            <a:srgbClr val="E2D9C6"/>
          </a:solidFill>
          <a:ln>
            <a:noFill/>
          </a:ln>
        </p:spPr>
        <p:txBody>
          <a:bodyPr rtlCol="0" anchor="ctr"/>
          <a:lstStyle/>
          <a:p>
            <a:pPr algn="ctr"/>
          </a:p>
        </p:txBody>
      </p:sp>
      <p:sp>
        <p:nvSpPr>
          <p:cNvPr id="12" name="TextBox 11"/>
          <p:cNvSpPr txBox="1"/>
          <p:nvPr/>
        </p:nvSpPr>
        <p:spPr>
          <a:xfrm>
            <a:off x="685800" y="6400800"/>
            <a:ext cx="6400800" cy="237744"/>
          </a:xfrm>
          <a:prstGeom prst="rect">
            <a:avLst/>
          </a:prstGeom>
          <a:noFill/>
        </p:spPr>
        <p:txBody>
          <a:bodyPr wrap="square" lIns="0" rIns="0" tIns="0" bIns="0" anchor="ctr">
            <a:noAutofit/>
          </a:bodyPr>
          <a:lstStyle/>
          <a:p>
            <a:pPr algn="l"/>
            <a:r>
              <a:rPr sz="850" b="0" i="0">
                <a:solidFill>
                  <a:srgbClr val="9C937F"/>
                </a:solidFill>
                <a:latin typeface="Inter" panose="020B0502030000000004" pitchFamily="34" charset="0"/>
              </a:rPr>
              <a:t>Bidwire · the auction house for AI agents · YC Make Something Agents Want · Oct 18, 2026</a:t>
            </a:r>
          </a:p>
        </p:txBody>
      </p:sp>
      <p:sp>
        <p:nvSpPr>
          <p:cNvPr id="13" name="TextBox 12"/>
          <p:cNvSpPr txBox="1"/>
          <p:nvPr/>
        </p:nvSpPr>
        <p:spPr>
          <a:xfrm>
            <a:off x="6933895" y="6400800"/>
            <a:ext cx="4572000" cy="237744"/>
          </a:xfrm>
          <a:prstGeom prst="rect">
            <a:avLst/>
          </a:prstGeom>
          <a:noFill/>
        </p:spPr>
        <p:txBody>
          <a:bodyPr wrap="square" lIns="0" rIns="0" tIns="0" bIns="0" anchor="ctr">
            <a:noAutofit/>
          </a:bodyPr>
          <a:lstStyle/>
          <a:p>
            <a:pPr algn="r"/>
            <a:r>
              <a:rPr sz="850" b="0" i="0">
                <a:solidFill>
                  <a:srgbClr val="9C937F"/>
                </a:solidFill>
                <a:latin typeface="Inter" panose="020B0502030000000004" pitchFamily="34" charset="0"/>
              </a:rPr>
              <a:t>github.com/vnmoorthy/bidwire</a:t>
            </a:r>
          </a:p>
        </p:txBody>
      </p:sp>
      <p:sp>
        <p:nvSpPr>
          <p:cNvPr id="14" name="Rectangle 13"/>
          <p:cNvSpPr/>
          <p:nvPr/>
        </p:nvSpPr>
        <p:spPr>
          <a:xfrm>
            <a:off x="0" y="6825996"/>
            <a:ext cx="12191695" cy="32004"/>
          </a:xfrm>
          <a:prstGeom prst="rect">
            <a:avLst/>
          </a:prstGeom>
          <a:solidFill>
            <a:srgbClr val="E2D9C6"/>
          </a:solidFill>
          <a:ln>
            <a:noFill/>
          </a:ln>
        </p:spPr>
        <p:txBody>
          <a:bodyPr rtlCol="0" anchor="ctr"/>
          <a:lstStyle/>
          <a:p>
            <a:pPr algn="ctr"/>
          </a:p>
        </p:txBody>
      </p:sp>
      <p:sp>
        <p:nvSpPr>
          <p:cNvPr id="15" name="Rectangle 14"/>
          <p:cNvSpPr/>
          <p:nvPr/>
        </p:nvSpPr>
        <p:spPr>
          <a:xfrm>
            <a:off x="0" y="6825996"/>
            <a:ext cx="9753356" cy="32004"/>
          </a:xfrm>
          <a:prstGeom prst="rect">
            <a:avLst/>
          </a:prstGeom>
          <a:solidFill>
            <a:srgbClr val="B0894F"/>
          </a:solidFill>
          <a:ln>
            <a:noFill/>
          </a:ln>
        </p:spPr>
        <p:txBody>
          <a:bodyPr rtlCol="0" anchor="ctr"/>
          <a:lstStyle/>
          <a:p>
            <a:pPr algn="ctr"/>
          </a:p>
        </p:txBody>
      </p:sp>
      <p:sp>
        <p:nvSpPr>
          <p:cNvPr id="16" name="TextBox 15"/>
          <p:cNvSpPr txBox="1"/>
          <p:nvPr/>
        </p:nvSpPr>
        <p:spPr>
          <a:xfrm>
            <a:off x="685800" y="987552"/>
            <a:ext cx="10835640" cy="603504"/>
          </a:xfrm>
          <a:prstGeom prst="rect">
            <a:avLst/>
          </a:prstGeom>
          <a:noFill/>
        </p:spPr>
        <p:txBody>
          <a:bodyPr wrap="square" lIns="0" rIns="0" tIns="0" bIns="0" anchor="t">
            <a:noAutofit/>
          </a:bodyPr>
          <a:lstStyle/>
          <a:p>
            <a:pPr algn="l">
              <a:lnSpc>
                <a:spcPct val="98000"/>
              </a:lnSpc>
            </a:pPr>
            <a:r>
              <a:rPr sz="4000" b="0" i="0" spc="-40">
                <a:solidFill>
                  <a:srgbClr val="16130E"/>
                </a:solidFill>
                <a:latin typeface="Georgia" panose="02040502050405020303" pitchFamily="18" charset="0"/>
              </a:rPr>
              <a:t>Merchants pay </a:t>
            </a:r>
            <a:r>
              <a:rPr sz="4000" b="0" i="1" spc="-40">
                <a:solidFill>
                  <a:srgbClr val="6E6658"/>
                </a:solidFill>
                <a:latin typeface="Georgia" panose="02040502050405020303" pitchFamily="18" charset="0"/>
              </a:rPr>
              <a:t>only at the hammer.</a:t>
            </a:r>
          </a:p>
        </p:txBody>
      </p:sp>
      <p:grpSp>
        <p:nvGrpSpPr>
          <p:cNvPr id="17" name="Group 16"/>
          <p:cNvGrpSpPr/>
          <p:nvPr/>
        </p:nvGrpSpPr>
        <p:grpSpPr>
          <a:xfrm>
            <a:off x="685800" y="1755648"/>
            <a:ext cx="5440680" cy="4517136"/>
            <a:chOff x="685800" y="1755648"/>
            <a:chExt cx="5440680" cy="4517136"/>
          </a:xfrm>
        </p:grpSpPr>
        <p:sp>
          <p:nvSpPr>
            <p:cNvPr id="18" name="Rounded Rectangle 17"/>
            <p:cNvSpPr/>
            <p:nvPr/>
          </p:nvSpPr>
          <p:spPr>
            <a:xfrm>
              <a:off x="685800" y="1755648"/>
              <a:ext cx="5440680" cy="4517136"/>
            </a:xfrm>
            <a:prstGeom prst="roundRect">
              <a:avLst>
                <a:gd name="adj" fmla="val 1214"/>
              </a:avLst>
            </a:prstGeom>
            <a:solidFill>
              <a:srgbClr val="FFFDF7"/>
            </a:solidFill>
            <a:ln w="9525">
              <a:solidFill>
                <a:srgbClr val="E2D9C6"/>
              </a:solidFill>
            </a:ln>
          </p:spPr>
          <p:txBody>
            <a:bodyPr rtlCol="0" anchor="ctr"/>
            <a:lstStyle/>
            <a:p>
              <a:pPr algn="ctr"/>
            </a:p>
          </p:txBody>
        </p:sp>
        <p:sp>
          <p:nvSpPr>
            <p:cNvPr id="19" name="TextBox 18"/>
            <p:cNvSpPr txBox="1"/>
            <p:nvPr/>
          </p:nvSpPr>
          <p:spPr>
            <a:xfrm>
              <a:off x="914400" y="1874520"/>
              <a:ext cx="4937760" cy="219456"/>
            </a:xfrm>
            <a:prstGeom prst="rect">
              <a:avLst/>
            </a:prstGeom>
            <a:noFill/>
          </p:spPr>
          <p:txBody>
            <a:bodyPr wrap="square" lIns="0" rIns="0" tIns="0" bIns="0" anchor="ctr">
              <a:noAutofit/>
            </a:bodyPr>
            <a:lstStyle/>
            <a:p>
              <a:pPr algn="l"/>
              <a:r>
                <a:rPr sz="850" b="1" i="0" spc="110">
                  <a:solidFill>
                    <a:srgbClr val="9C937F"/>
                  </a:solidFill>
                  <a:latin typeface="Inter" panose="020B0502030000000004" pitchFamily="34" charset="0"/>
                </a:rPr>
                <a:t>BUSINESS MODEL</a:t>
              </a:r>
            </a:p>
          </p:txBody>
        </p:sp>
      </p:grpSp>
      <p:grpSp>
        <p:nvGrpSpPr>
          <p:cNvPr id="20" name="Group 19"/>
          <p:cNvGrpSpPr/>
          <p:nvPr/>
        </p:nvGrpSpPr>
        <p:grpSpPr>
          <a:xfrm>
            <a:off x="914400" y="2286000"/>
            <a:ext cx="1371600" cy="530352"/>
            <a:chOff x="914400" y="2286000"/>
            <a:chExt cx="1371600" cy="530352"/>
          </a:xfrm>
        </p:grpSpPr>
        <p:sp>
          <p:nvSpPr>
            <p:cNvPr id="21" name="Rounded Rectangle 20"/>
            <p:cNvSpPr/>
            <p:nvPr/>
          </p:nvSpPr>
          <p:spPr>
            <a:xfrm>
              <a:off x="914400" y="2286000"/>
              <a:ext cx="1371600" cy="530352"/>
            </a:xfrm>
            <a:prstGeom prst="roundRect">
              <a:avLst>
                <a:gd name="adj" fmla="val 50000"/>
              </a:avLst>
            </a:prstGeom>
            <a:solidFill>
              <a:srgbClr val="E6ECF6"/>
            </a:solidFill>
            <a:ln>
              <a:noFill/>
            </a:ln>
          </p:spPr>
          <p:txBody>
            <a:bodyPr rtlCol="0" anchor="ctr"/>
            <a:lstStyle/>
            <a:p>
              <a:pPr algn="ctr"/>
            </a:p>
          </p:txBody>
        </p:sp>
        <p:sp>
          <p:nvSpPr>
            <p:cNvPr id="22" name="TextBox 21"/>
            <p:cNvSpPr txBox="1"/>
            <p:nvPr/>
          </p:nvSpPr>
          <p:spPr>
            <a:xfrm>
              <a:off x="914400" y="2286000"/>
              <a:ext cx="1371600" cy="530352"/>
            </a:xfrm>
            <a:prstGeom prst="rect">
              <a:avLst/>
            </a:prstGeom>
            <a:noFill/>
          </p:spPr>
          <p:txBody>
            <a:bodyPr wrap="square" lIns="0" rIns="0" tIns="0" bIns="0" anchor="ctr">
              <a:noAutofit/>
            </a:bodyPr>
            <a:lstStyle/>
            <a:p>
              <a:pPr algn="ctr"/>
              <a:r>
                <a:rPr sz="1200" b="1" i="0">
                  <a:solidFill>
                    <a:srgbClr val="233F6E"/>
                  </a:solidFill>
                  <a:latin typeface="Inter" panose="020B0502030000000004" pitchFamily="34" charset="0"/>
                </a:rPr>
                <a:t>Agent wallet</a:t>
              </a:r>
            </a:p>
          </p:txBody>
        </p:sp>
      </p:grpSp>
      <p:cxnSp>
        <p:nvCxnSpPr>
          <p:cNvPr id="23" name="Connector 22"/>
          <p:cNvCxnSpPr/>
          <p:nvPr/>
        </p:nvCxnSpPr>
        <p:spPr>
          <a:xfrm>
            <a:off x="2313432" y="2551176"/>
            <a:ext cx="310896" cy="0"/>
          </a:xfrm>
          <a:prstGeom prst="line">
            <a:avLst/>
          </a:prstGeom>
          <a:ln w="19050">
            <a:solidFill>
              <a:srgbClr val="CFC3AA"/>
            </a:solidFill>
            <a:tailEnd type="triangle" w="med" len="med"/>
          </a:ln>
        </p:spPr>
      </p:cxnSp>
      <p:sp>
        <p:nvSpPr>
          <p:cNvPr id="24" name="TextBox 23"/>
          <p:cNvSpPr txBox="1"/>
          <p:nvPr/>
        </p:nvSpPr>
        <p:spPr>
          <a:xfrm>
            <a:off x="2011680" y="2852928"/>
            <a:ext cx="896112" cy="219456"/>
          </a:xfrm>
          <a:prstGeom prst="rect">
            <a:avLst/>
          </a:prstGeom>
          <a:noFill/>
        </p:spPr>
        <p:txBody>
          <a:bodyPr wrap="square" lIns="0" rIns="0" tIns="0" bIns="0" anchor="ctr">
            <a:noAutofit/>
          </a:bodyPr>
          <a:lstStyle/>
          <a:p>
            <a:pPr algn="ctr"/>
            <a:r>
              <a:rPr sz="850" b="1" i="0">
                <a:solidFill>
                  <a:srgbClr val="6E6658"/>
                </a:solidFill>
                <a:latin typeface="Inter" panose="020B0502030000000004" pitchFamily="34" charset="0"/>
              </a:rPr>
              <a:t>hammer price</a:t>
            </a:r>
          </a:p>
        </p:txBody>
      </p:sp>
      <p:grpSp>
        <p:nvGrpSpPr>
          <p:cNvPr id="25" name="Group 24"/>
          <p:cNvGrpSpPr/>
          <p:nvPr/>
        </p:nvGrpSpPr>
        <p:grpSpPr>
          <a:xfrm>
            <a:off x="2651760" y="2286000"/>
            <a:ext cx="1371600" cy="530352"/>
            <a:chOff x="2651760" y="2286000"/>
            <a:chExt cx="1371600" cy="530352"/>
          </a:xfrm>
        </p:grpSpPr>
        <p:sp>
          <p:nvSpPr>
            <p:cNvPr id="26" name="Rounded Rectangle 25"/>
            <p:cNvSpPr/>
            <p:nvPr/>
          </p:nvSpPr>
          <p:spPr>
            <a:xfrm>
              <a:off x="2651760" y="2286000"/>
              <a:ext cx="1371600" cy="530352"/>
            </a:xfrm>
            <a:prstGeom prst="roundRect">
              <a:avLst>
                <a:gd name="adj" fmla="val 50000"/>
              </a:avLst>
            </a:prstGeom>
            <a:solidFill>
              <a:srgbClr val="EFE8D9"/>
            </a:solidFill>
            <a:ln>
              <a:noFill/>
            </a:ln>
          </p:spPr>
          <p:txBody>
            <a:bodyPr rtlCol="0" anchor="ctr"/>
            <a:lstStyle/>
            <a:p>
              <a:pPr algn="ctr"/>
            </a:p>
          </p:txBody>
        </p:sp>
        <p:sp>
          <p:nvSpPr>
            <p:cNvPr id="27" name="TextBox 26"/>
            <p:cNvSpPr txBox="1"/>
            <p:nvPr/>
          </p:nvSpPr>
          <p:spPr>
            <a:xfrm>
              <a:off x="2651760" y="2286000"/>
              <a:ext cx="1371600" cy="530352"/>
            </a:xfrm>
            <a:prstGeom prst="rect">
              <a:avLst/>
            </a:prstGeom>
            <a:noFill/>
          </p:spPr>
          <p:txBody>
            <a:bodyPr wrap="square" lIns="0" rIns="0" tIns="0" bIns="0" anchor="ctr">
              <a:noAutofit/>
            </a:bodyPr>
            <a:lstStyle/>
            <a:p>
              <a:pPr algn="ctr"/>
              <a:r>
                <a:rPr sz="1200" b="1" i="0">
                  <a:solidFill>
                    <a:srgbClr val="16130E"/>
                  </a:solidFill>
                  <a:latin typeface="Inter" panose="020B0502030000000004" pitchFamily="34" charset="0"/>
                </a:rPr>
                <a:t>Merchant</a:t>
              </a:r>
            </a:p>
          </p:txBody>
        </p:sp>
      </p:grpSp>
      <p:cxnSp>
        <p:nvCxnSpPr>
          <p:cNvPr id="28" name="Connector 27"/>
          <p:cNvCxnSpPr/>
          <p:nvPr/>
        </p:nvCxnSpPr>
        <p:spPr>
          <a:xfrm>
            <a:off x="4050792" y="2551176"/>
            <a:ext cx="310896" cy="0"/>
          </a:xfrm>
          <a:prstGeom prst="line">
            <a:avLst/>
          </a:prstGeom>
          <a:ln w="19050">
            <a:solidFill>
              <a:srgbClr val="CFC3AA"/>
            </a:solidFill>
            <a:tailEnd type="triangle" w="med" len="med"/>
          </a:ln>
        </p:spPr>
      </p:cxnSp>
      <p:sp>
        <p:nvSpPr>
          <p:cNvPr id="29" name="TextBox 28"/>
          <p:cNvSpPr txBox="1"/>
          <p:nvPr/>
        </p:nvSpPr>
        <p:spPr>
          <a:xfrm>
            <a:off x="3749040" y="2852928"/>
            <a:ext cx="896112" cy="219456"/>
          </a:xfrm>
          <a:prstGeom prst="rect">
            <a:avLst/>
          </a:prstGeom>
          <a:noFill/>
        </p:spPr>
        <p:txBody>
          <a:bodyPr wrap="square" lIns="0" rIns="0" tIns="0" bIns="0" anchor="ctr">
            <a:noAutofit/>
          </a:bodyPr>
          <a:lstStyle/>
          <a:p>
            <a:pPr algn="ctr"/>
            <a:r>
              <a:rPr sz="850" b="1" i="0">
                <a:solidFill>
                  <a:srgbClr val="94641F"/>
                </a:solidFill>
                <a:latin typeface="Inter" panose="020B0502030000000004" pitchFamily="34" charset="0"/>
              </a:rPr>
              <a:t>commission</a:t>
            </a:r>
          </a:p>
        </p:txBody>
      </p:sp>
      <p:grpSp>
        <p:nvGrpSpPr>
          <p:cNvPr id="30" name="Group 29"/>
          <p:cNvGrpSpPr/>
          <p:nvPr/>
        </p:nvGrpSpPr>
        <p:grpSpPr>
          <a:xfrm>
            <a:off x="4389120" y="2286000"/>
            <a:ext cx="1371600" cy="530352"/>
            <a:chOff x="4389120" y="2286000"/>
            <a:chExt cx="1371600" cy="530352"/>
          </a:xfrm>
        </p:grpSpPr>
        <p:sp>
          <p:nvSpPr>
            <p:cNvPr id="31" name="Rounded Rectangle 30"/>
            <p:cNvSpPr/>
            <p:nvPr/>
          </p:nvSpPr>
          <p:spPr>
            <a:xfrm>
              <a:off x="4389120" y="2286000"/>
              <a:ext cx="1371600" cy="530352"/>
            </a:xfrm>
            <a:prstGeom prst="roundRect">
              <a:avLst>
                <a:gd name="adj" fmla="val 50000"/>
              </a:avLst>
            </a:prstGeom>
            <a:solidFill>
              <a:srgbClr val="16130E"/>
            </a:solidFill>
            <a:ln>
              <a:noFill/>
            </a:ln>
          </p:spPr>
          <p:txBody>
            <a:bodyPr rtlCol="0" anchor="ctr"/>
            <a:lstStyle/>
            <a:p>
              <a:pPr algn="ctr"/>
            </a:p>
          </p:txBody>
        </p:sp>
        <p:sp>
          <p:nvSpPr>
            <p:cNvPr id="32" name="TextBox 31"/>
            <p:cNvSpPr txBox="1"/>
            <p:nvPr/>
          </p:nvSpPr>
          <p:spPr>
            <a:xfrm>
              <a:off x="4389120" y="2286000"/>
              <a:ext cx="1371600" cy="530352"/>
            </a:xfrm>
            <a:prstGeom prst="rect">
              <a:avLst/>
            </a:prstGeom>
            <a:noFill/>
          </p:spPr>
          <p:txBody>
            <a:bodyPr wrap="square" lIns="0" rIns="0" tIns="0" bIns="0" anchor="ctr">
              <a:noAutofit/>
            </a:bodyPr>
            <a:lstStyle/>
            <a:p>
              <a:pPr algn="ctr"/>
              <a:r>
                <a:rPr sz="1200" b="1" i="0">
                  <a:solidFill>
                    <a:srgbClr val="FFFDF7"/>
                  </a:solidFill>
                  <a:latin typeface="Inter" panose="020B0502030000000004" pitchFamily="34" charset="0"/>
                </a:rPr>
                <a:t>Bidwire</a:t>
              </a:r>
            </a:p>
          </p:txBody>
        </p:sp>
      </p:grpSp>
      <p:sp>
        <p:nvSpPr>
          <p:cNvPr id="33" name="TextBox 32"/>
          <p:cNvSpPr txBox="1"/>
          <p:nvPr/>
        </p:nvSpPr>
        <p:spPr>
          <a:xfrm>
            <a:off x="914400" y="3090672"/>
            <a:ext cx="4983480" cy="237744"/>
          </a:xfrm>
          <a:prstGeom prst="rect">
            <a:avLst/>
          </a:prstGeom>
          <a:noFill/>
        </p:spPr>
        <p:txBody>
          <a:bodyPr wrap="square" lIns="0" rIns="0" tIns="0" bIns="0" anchor="ctr">
            <a:noAutofit/>
          </a:bodyPr>
          <a:lstStyle/>
          <a:p>
            <a:pPr algn="r"/>
            <a:r>
              <a:rPr sz="950" b="0" i="0">
                <a:solidFill>
                  <a:srgbClr val="94641F"/>
                </a:solidFill>
                <a:latin typeface="Inter" panose="020B0502030000000004" pitchFamily="34" charset="0"/>
              </a:rPr>
              <a:t>Commission is charged only on a verified sale.</a:t>
            </a:r>
          </a:p>
        </p:txBody>
      </p:sp>
      <p:grpSp>
        <p:nvGrpSpPr>
          <p:cNvPr id="34" name="Group 33"/>
          <p:cNvGrpSpPr/>
          <p:nvPr/>
        </p:nvGrpSpPr>
        <p:grpSpPr>
          <a:xfrm>
            <a:off x="914400" y="3493008"/>
            <a:ext cx="4983480" cy="640080"/>
            <a:chOff x="914400" y="3493008"/>
            <a:chExt cx="4983480" cy="640080"/>
          </a:xfrm>
        </p:grpSpPr>
        <p:sp>
          <p:nvSpPr>
            <p:cNvPr id="35" name="Oval 34"/>
            <p:cNvSpPr/>
            <p:nvPr/>
          </p:nvSpPr>
          <p:spPr>
            <a:xfrm>
              <a:off x="914400" y="3584448"/>
              <a:ext cx="91440" cy="91440"/>
            </a:xfrm>
            <a:prstGeom prst="ellipse">
              <a:avLst/>
            </a:prstGeom>
            <a:solidFill>
              <a:srgbClr val="2D6A48"/>
            </a:solidFill>
            <a:ln>
              <a:noFill/>
            </a:ln>
          </p:spPr>
          <p:txBody>
            <a:bodyPr rtlCol="0" anchor="ctr"/>
            <a:lstStyle/>
            <a:p>
              <a:pPr algn="ctr"/>
            </a:p>
          </p:txBody>
        </p:sp>
        <p:sp>
          <p:nvSpPr>
            <p:cNvPr id="36" name="TextBox 35"/>
            <p:cNvSpPr txBox="1"/>
            <p:nvPr/>
          </p:nvSpPr>
          <p:spPr>
            <a:xfrm>
              <a:off x="1143000" y="3493008"/>
              <a:ext cx="4754880" cy="640080"/>
            </a:xfrm>
            <a:prstGeom prst="rect">
              <a:avLst/>
            </a:prstGeom>
            <a:noFill/>
          </p:spPr>
          <p:txBody>
            <a:bodyPr wrap="square" lIns="0" rIns="0" tIns="0" bIns="0" anchor="t">
              <a:noAutofit/>
            </a:bodyPr>
            <a:lstStyle/>
            <a:p>
              <a:pPr algn="l">
                <a:lnSpc>
                  <a:spcPct val="108000"/>
                </a:lnSpc>
              </a:pPr>
              <a:r>
                <a:rPr sz="1250" b="1" i="0">
                  <a:solidFill>
                    <a:srgbClr val="16130E"/>
                  </a:solidFill>
                  <a:latin typeface="Inter" panose="020B0502030000000004" pitchFamily="34" charset="0"/>
                </a:rPr>
                <a:t>CPA, not CPM.</a:t>
              </a:r>
              <a:r>
                <a:rPr sz="1250" b="0" i="0">
                  <a:solidFill>
                    <a:srgbClr val="6E6658"/>
                  </a:solidFill>
                  <a:latin typeface="Inter" panose="020B0502030000000004" pitchFamily="34" charset="0"/>
                </a:rPr>
                <a:t> The commission a merchant bids is charged only when an agent buys a verified offer.</a:t>
              </a:r>
            </a:p>
          </p:txBody>
        </p:sp>
      </p:grpSp>
      <p:grpSp>
        <p:nvGrpSpPr>
          <p:cNvPr id="37" name="Group 36"/>
          <p:cNvGrpSpPr/>
          <p:nvPr/>
        </p:nvGrpSpPr>
        <p:grpSpPr>
          <a:xfrm>
            <a:off x="914400" y="4160520"/>
            <a:ext cx="4983480" cy="640080"/>
            <a:chOff x="914400" y="4160520"/>
            <a:chExt cx="4983480" cy="640080"/>
          </a:xfrm>
        </p:grpSpPr>
        <p:sp>
          <p:nvSpPr>
            <p:cNvPr id="38" name="Oval 37"/>
            <p:cNvSpPr/>
            <p:nvPr/>
          </p:nvSpPr>
          <p:spPr>
            <a:xfrm>
              <a:off x="914400" y="4251960"/>
              <a:ext cx="91440" cy="91440"/>
            </a:xfrm>
            <a:prstGeom prst="ellipse">
              <a:avLst/>
            </a:prstGeom>
            <a:solidFill>
              <a:srgbClr val="94641F"/>
            </a:solidFill>
            <a:ln>
              <a:noFill/>
            </a:ln>
          </p:spPr>
          <p:txBody>
            <a:bodyPr rtlCol="0" anchor="ctr"/>
            <a:lstStyle/>
            <a:p>
              <a:pPr algn="ctr"/>
            </a:p>
          </p:txBody>
        </p:sp>
        <p:sp>
          <p:nvSpPr>
            <p:cNvPr id="39" name="TextBox 38"/>
            <p:cNvSpPr txBox="1"/>
            <p:nvPr/>
          </p:nvSpPr>
          <p:spPr>
            <a:xfrm>
              <a:off x="1143000" y="4160520"/>
              <a:ext cx="4754880" cy="640080"/>
            </a:xfrm>
            <a:prstGeom prst="rect">
              <a:avLst/>
            </a:prstGeom>
            <a:noFill/>
          </p:spPr>
          <p:txBody>
            <a:bodyPr wrap="square" lIns="0" rIns="0" tIns="0" bIns="0" anchor="t">
              <a:noAutofit/>
            </a:bodyPr>
            <a:lstStyle/>
            <a:p>
              <a:pPr algn="l">
                <a:lnSpc>
                  <a:spcPct val="108000"/>
                </a:lnSpc>
              </a:pPr>
              <a:r>
                <a:rPr sz="1250" b="1" i="0">
                  <a:solidFill>
                    <a:srgbClr val="16130E"/>
                  </a:solidFill>
                  <a:latin typeface="Inter" panose="020B0502030000000004" pitchFamily="34" charset="0"/>
                </a:rPr>
                <a:t>That commission is our take rate.</a:t>
              </a:r>
              <a:r>
                <a:rPr sz="1250" b="0" i="0">
                  <a:solidFill>
                    <a:srgbClr val="6E6658"/>
                  </a:solidFill>
                  <a:latin typeface="Inter" panose="020B0502030000000004" pitchFamily="34" charset="0"/>
                </a:rPr>
                <a:t> No impressions. No clicks. No pay-to-rank.</a:t>
              </a:r>
            </a:p>
          </p:txBody>
        </p:sp>
      </p:grpSp>
      <p:grpSp>
        <p:nvGrpSpPr>
          <p:cNvPr id="40" name="Group 39"/>
          <p:cNvGrpSpPr/>
          <p:nvPr/>
        </p:nvGrpSpPr>
        <p:grpSpPr>
          <a:xfrm>
            <a:off x="914400" y="4828032"/>
            <a:ext cx="4983480" cy="640080"/>
            <a:chOff x="914400" y="4828032"/>
            <a:chExt cx="4983480" cy="640080"/>
          </a:xfrm>
        </p:grpSpPr>
        <p:sp>
          <p:nvSpPr>
            <p:cNvPr id="41" name="Oval 40"/>
            <p:cNvSpPr/>
            <p:nvPr/>
          </p:nvSpPr>
          <p:spPr>
            <a:xfrm>
              <a:off x="914400" y="4919472"/>
              <a:ext cx="91440" cy="91440"/>
            </a:xfrm>
            <a:prstGeom prst="ellipse">
              <a:avLst/>
            </a:prstGeom>
            <a:solidFill>
              <a:srgbClr val="233F6E"/>
            </a:solidFill>
            <a:ln>
              <a:noFill/>
            </a:ln>
          </p:spPr>
          <p:txBody>
            <a:bodyPr rtlCol="0" anchor="ctr"/>
            <a:lstStyle/>
            <a:p>
              <a:pPr algn="ctr"/>
            </a:p>
          </p:txBody>
        </p:sp>
        <p:sp>
          <p:nvSpPr>
            <p:cNvPr id="42" name="TextBox 41"/>
            <p:cNvSpPr txBox="1"/>
            <p:nvPr/>
          </p:nvSpPr>
          <p:spPr>
            <a:xfrm>
              <a:off x="1143000" y="4828032"/>
              <a:ext cx="4754880" cy="640080"/>
            </a:xfrm>
            <a:prstGeom prst="rect">
              <a:avLst/>
            </a:prstGeom>
            <a:noFill/>
          </p:spPr>
          <p:txBody>
            <a:bodyPr wrap="square" lIns="0" rIns="0" tIns="0" bIns="0" anchor="t">
              <a:noAutofit/>
            </a:bodyPr>
            <a:lstStyle/>
            <a:p>
              <a:pPr algn="l">
                <a:lnSpc>
                  <a:spcPct val="108000"/>
                </a:lnSpc>
              </a:pPr>
              <a:r>
                <a:rPr sz="1250" b="1" i="0">
                  <a:solidFill>
                    <a:srgbClr val="16130E"/>
                  </a:solidFill>
                  <a:latin typeface="Inter" panose="020B0502030000000004" pitchFamily="34" charset="0"/>
                </a:rPr>
                <a:t>Wedge:</a:t>
              </a:r>
              <a:r>
                <a:rPr sz="1250" b="0" i="0">
                  <a:solidFill>
                    <a:srgbClr val="6E6658"/>
                  </a:solidFill>
                  <a:latin typeface="Inter" panose="020B0502030000000004" pitchFamily="34" charset="0"/>
                </a:rPr>
                <a:t> DTC merchants and agent shopping apps.</a:t>
              </a:r>
            </a:p>
          </p:txBody>
        </p:sp>
      </p:grpSp>
      <p:grpSp>
        <p:nvGrpSpPr>
          <p:cNvPr id="43" name="Group 42"/>
          <p:cNvGrpSpPr/>
          <p:nvPr/>
        </p:nvGrpSpPr>
        <p:grpSpPr>
          <a:xfrm>
            <a:off x="914400" y="5495544"/>
            <a:ext cx="4983480" cy="640080"/>
            <a:chOff x="914400" y="5495544"/>
            <a:chExt cx="4983480" cy="640080"/>
          </a:xfrm>
        </p:grpSpPr>
        <p:sp>
          <p:nvSpPr>
            <p:cNvPr id="44" name="Oval 43"/>
            <p:cNvSpPr/>
            <p:nvPr/>
          </p:nvSpPr>
          <p:spPr>
            <a:xfrm>
              <a:off x="914400" y="5586984"/>
              <a:ext cx="91440" cy="91440"/>
            </a:xfrm>
            <a:prstGeom prst="ellipse">
              <a:avLst/>
            </a:prstGeom>
            <a:solidFill>
              <a:srgbClr val="B0894F"/>
            </a:solidFill>
            <a:ln>
              <a:noFill/>
            </a:ln>
          </p:spPr>
          <p:txBody>
            <a:bodyPr rtlCol="0" anchor="ctr"/>
            <a:lstStyle/>
            <a:p>
              <a:pPr algn="ctr"/>
            </a:p>
          </p:txBody>
        </p:sp>
        <p:sp>
          <p:nvSpPr>
            <p:cNvPr id="45" name="TextBox 44"/>
            <p:cNvSpPr txBox="1"/>
            <p:nvPr/>
          </p:nvSpPr>
          <p:spPr>
            <a:xfrm>
              <a:off x="1143000" y="5495544"/>
              <a:ext cx="4754880" cy="640080"/>
            </a:xfrm>
            <a:prstGeom prst="rect">
              <a:avLst/>
            </a:prstGeom>
            <a:noFill/>
          </p:spPr>
          <p:txBody>
            <a:bodyPr wrap="square" lIns="0" rIns="0" tIns="0" bIns="0" anchor="t">
              <a:noAutofit/>
            </a:bodyPr>
            <a:lstStyle/>
            <a:p>
              <a:pPr algn="l">
                <a:lnSpc>
                  <a:spcPct val="108000"/>
                </a:lnSpc>
              </a:pPr>
              <a:r>
                <a:rPr sz="1250" b="1" i="0">
                  <a:solidFill>
                    <a:srgbClr val="16130E"/>
                  </a:solidFill>
                  <a:latin typeface="Inter" panose="020B0502030000000004" pitchFamily="34" charset="0"/>
                </a:rPr>
                <a:t>Long game:</a:t>
              </a:r>
              <a:r>
                <a:rPr sz="1250" b="0" i="0">
                  <a:solidFill>
                    <a:srgbClr val="6E6658"/>
                  </a:solidFill>
                  <a:latin typeface="Inter" panose="020B0502030000000004" pitchFamily="34" charset="0"/>
                </a:rPr>
                <a:t> the trust and reputation layer for agent commerce.</a:t>
              </a:r>
            </a:p>
          </p:txBody>
        </p:sp>
      </p:grpSp>
      <p:grpSp>
        <p:nvGrpSpPr>
          <p:cNvPr id="46" name="Group 45"/>
          <p:cNvGrpSpPr/>
          <p:nvPr/>
        </p:nvGrpSpPr>
        <p:grpSpPr>
          <a:xfrm>
            <a:off x="6355080" y="1755648"/>
            <a:ext cx="5148072" cy="4517136"/>
            <a:chOff x="6355080" y="1755648"/>
            <a:chExt cx="5148072" cy="4517136"/>
          </a:xfrm>
        </p:grpSpPr>
        <p:sp>
          <p:nvSpPr>
            <p:cNvPr id="47" name="Rounded Rectangle 46"/>
            <p:cNvSpPr/>
            <p:nvPr/>
          </p:nvSpPr>
          <p:spPr>
            <a:xfrm>
              <a:off x="6355080" y="1755648"/>
              <a:ext cx="5148072" cy="4517136"/>
            </a:xfrm>
            <a:prstGeom prst="roundRect">
              <a:avLst>
                <a:gd name="adj" fmla="val 1214"/>
              </a:avLst>
            </a:prstGeom>
            <a:solidFill>
              <a:srgbClr val="FFFDF7"/>
            </a:solidFill>
            <a:ln w="9525">
              <a:solidFill>
                <a:srgbClr val="E2D9C6"/>
              </a:solidFill>
            </a:ln>
          </p:spPr>
          <p:txBody>
            <a:bodyPr rtlCol="0" anchor="ctr"/>
            <a:lstStyle/>
            <a:p>
              <a:pPr algn="ctr"/>
            </a:p>
          </p:txBody>
        </p:sp>
        <p:sp>
          <p:nvSpPr>
            <p:cNvPr id="48" name="TextBox 47"/>
            <p:cNvSpPr txBox="1"/>
            <p:nvPr/>
          </p:nvSpPr>
          <p:spPr>
            <a:xfrm>
              <a:off x="6583680" y="1874520"/>
              <a:ext cx="4754880" cy="219456"/>
            </a:xfrm>
            <a:prstGeom prst="rect">
              <a:avLst/>
            </a:prstGeom>
            <a:noFill/>
          </p:spPr>
          <p:txBody>
            <a:bodyPr wrap="square" lIns="0" rIns="0" tIns="0" bIns="0" anchor="ctr">
              <a:noAutofit/>
            </a:bodyPr>
            <a:lstStyle/>
            <a:p>
              <a:pPr algn="l"/>
              <a:r>
                <a:rPr sz="850" b="1" i="0" spc="110">
                  <a:solidFill>
                    <a:srgbClr val="9C937F"/>
                  </a:solidFill>
                  <a:latin typeface="Inter" panose="020B0502030000000004" pitchFamily="34" charset="0"/>
                </a:rPr>
                <a:t>WHY NOW</a:t>
              </a:r>
            </a:p>
          </p:txBody>
        </p:sp>
      </p:grpSp>
      <p:sp>
        <p:nvSpPr>
          <p:cNvPr id="49" name="Rectangle 48"/>
          <p:cNvSpPr/>
          <p:nvPr/>
        </p:nvSpPr>
        <p:spPr>
          <a:xfrm>
            <a:off x="6688836" y="2377440"/>
            <a:ext cx="13716" cy="1965960"/>
          </a:xfrm>
          <a:prstGeom prst="rect">
            <a:avLst/>
          </a:prstGeom>
          <a:solidFill>
            <a:srgbClr val="E2D9C6"/>
          </a:solidFill>
          <a:ln>
            <a:noFill/>
          </a:ln>
        </p:spPr>
        <p:txBody>
          <a:bodyPr rtlCol="0" anchor="ctr"/>
          <a:lstStyle/>
          <a:p>
            <a:pPr algn="ctr"/>
          </a:p>
        </p:txBody>
      </p:sp>
      <p:grpSp>
        <p:nvGrpSpPr>
          <p:cNvPr id="50" name="Group 49"/>
          <p:cNvGrpSpPr/>
          <p:nvPr/>
        </p:nvGrpSpPr>
        <p:grpSpPr>
          <a:xfrm>
            <a:off x="6611112" y="2240280"/>
            <a:ext cx="4700016" cy="896112"/>
            <a:chOff x="6611112" y="2240280"/>
            <a:chExt cx="4700016" cy="896112"/>
          </a:xfrm>
        </p:grpSpPr>
        <p:sp>
          <p:nvSpPr>
            <p:cNvPr id="51" name="Oval 50"/>
            <p:cNvSpPr/>
            <p:nvPr/>
          </p:nvSpPr>
          <p:spPr>
            <a:xfrm>
              <a:off x="6611112" y="2295144"/>
              <a:ext cx="173736" cy="173736"/>
            </a:xfrm>
            <a:prstGeom prst="ellipse">
              <a:avLst/>
            </a:prstGeom>
            <a:solidFill>
              <a:srgbClr val="CFC3AA"/>
            </a:solidFill>
            <a:ln w="25400">
              <a:solidFill>
                <a:srgbClr val="FFFDF7"/>
              </a:solidFill>
            </a:ln>
          </p:spPr>
          <p:txBody>
            <a:bodyPr rtlCol="0" anchor="ctr"/>
            <a:lstStyle/>
            <a:p>
              <a:pPr algn="ctr"/>
            </a:p>
          </p:txBody>
        </p:sp>
        <p:sp>
          <p:nvSpPr>
            <p:cNvPr id="52" name="TextBox 51"/>
            <p:cNvSpPr txBox="1"/>
            <p:nvPr/>
          </p:nvSpPr>
          <p:spPr>
            <a:xfrm>
              <a:off x="6967728" y="2240280"/>
              <a:ext cx="4297680" cy="292608"/>
            </a:xfrm>
            <a:prstGeom prst="rect">
              <a:avLst/>
            </a:prstGeom>
            <a:noFill/>
          </p:spPr>
          <p:txBody>
            <a:bodyPr wrap="square" lIns="0" rIns="0" tIns="0" bIns="0" anchor="ctr">
              <a:noAutofit/>
            </a:bodyPr>
            <a:lstStyle/>
            <a:p>
              <a:pPr algn="l"/>
              <a:r>
                <a:rPr sz="1400" b="0" i="0">
                  <a:solidFill>
                    <a:srgbClr val="16130E"/>
                  </a:solidFill>
                  <a:latin typeface="Georgia" panose="02040502050405020303" pitchFamily="18" charset="0"/>
                </a:rPr>
                <a:t>18 months ago   </a:t>
              </a:r>
              <a:r>
                <a:rPr sz="900" b="0" i="0">
                  <a:solidFill>
                    <a:srgbClr val="9C937F"/>
                  </a:solidFill>
                  <a:latin typeface="Inter" panose="020B0502030000000004" pitchFamily="34" charset="0"/>
                </a:rPr>
                <a:t>YC kickoff</a:t>
              </a:r>
            </a:p>
          </p:txBody>
        </p:sp>
        <p:sp>
          <p:nvSpPr>
            <p:cNvPr id="53" name="TextBox 52"/>
            <p:cNvSpPr txBox="1"/>
            <p:nvPr/>
          </p:nvSpPr>
          <p:spPr>
            <a:xfrm>
              <a:off x="6967728" y="2532888"/>
              <a:ext cx="4343400" cy="603504"/>
            </a:xfrm>
            <a:prstGeom prst="rect">
              <a:avLst/>
            </a:prstGeom>
            <a:noFill/>
          </p:spPr>
          <p:txBody>
            <a:bodyPr wrap="square" lIns="0" rIns="0" tIns="0" bIns="0" anchor="t">
              <a:noAutofit/>
            </a:bodyPr>
            <a:lstStyle/>
            <a:p>
              <a:pPr algn="l">
                <a:lnSpc>
                  <a:spcPct val="106000"/>
                </a:lnSpc>
              </a:pPr>
              <a:r>
                <a:rPr sz="1150" b="0" i="0">
                  <a:solidFill>
                    <a:srgbClr val="6E6658"/>
                  </a:solidFill>
                  <a:latin typeface="Inter" panose="020B0502030000000004" pitchFamily="34" charset="0"/>
                </a:rPr>
                <a:t>No MCP. No ACP. No agent had a credit card or a login.</a:t>
              </a:r>
            </a:p>
          </p:txBody>
        </p:sp>
      </p:grpSp>
      <p:grpSp>
        <p:nvGrpSpPr>
          <p:cNvPr id="54" name="Group 53"/>
          <p:cNvGrpSpPr/>
          <p:nvPr/>
        </p:nvGrpSpPr>
        <p:grpSpPr>
          <a:xfrm>
            <a:off x="6611112" y="3154680"/>
            <a:ext cx="4700016" cy="896112"/>
            <a:chOff x="6611112" y="3154680"/>
            <a:chExt cx="4700016" cy="896112"/>
          </a:xfrm>
        </p:grpSpPr>
        <p:sp>
          <p:nvSpPr>
            <p:cNvPr id="55" name="Oval 54"/>
            <p:cNvSpPr/>
            <p:nvPr/>
          </p:nvSpPr>
          <p:spPr>
            <a:xfrm>
              <a:off x="6611112" y="3209544"/>
              <a:ext cx="173736" cy="173736"/>
            </a:xfrm>
            <a:prstGeom prst="ellipse">
              <a:avLst/>
            </a:prstGeom>
            <a:solidFill>
              <a:srgbClr val="233F6E"/>
            </a:solidFill>
            <a:ln w="25400">
              <a:solidFill>
                <a:srgbClr val="FFFDF7"/>
              </a:solidFill>
            </a:ln>
          </p:spPr>
          <p:txBody>
            <a:bodyPr rtlCol="0" anchor="ctr"/>
            <a:lstStyle/>
            <a:p>
              <a:pPr algn="ctr"/>
            </a:p>
          </p:txBody>
        </p:sp>
        <p:sp>
          <p:nvSpPr>
            <p:cNvPr id="56" name="TextBox 55"/>
            <p:cNvSpPr txBox="1"/>
            <p:nvPr/>
          </p:nvSpPr>
          <p:spPr>
            <a:xfrm>
              <a:off x="6967728" y="3154680"/>
              <a:ext cx="4297680" cy="292608"/>
            </a:xfrm>
            <a:prstGeom prst="rect">
              <a:avLst/>
            </a:prstGeom>
            <a:noFill/>
          </p:spPr>
          <p:txBody>
            <a:bodyPr wrap="square" lIns="0" rIns="0" tIns="0" bIns="0" anchor="ctr">
              <a:noAutofit/>
            </a:bodyPr>
            <a:lstStyle/>
            <a:p>
              <a:pPr algn="l"/>
              <a:r>
                <a:rPr sz="1400" b="0" i="0">
                  <a:solidFill>
                    <a:srgbClr val="16130E"/>
                  </a:solidFill>
                  <a:latin typeface="Georgia" panose="02040502050405020303" pitchFamily="18" charset="0"/>
                </a:rPr>
                <a:t>This year</a:t>
              </a:r>
            </a:p>
          </p:txBody>
        </p:sp>
        <p:sp>
          <p:nvSpPr>
            <p:cNvPr id="57" name="TextBox 56"/>
            <p:cNvSpPr txBox="1"/>
            <p:nvPr/>
          </p:nvSpPr>
          <p:spPr>
            <a:xfrm>
              <a:off x="6967728" y="3447288"/>
              <a:ext cx="4343400" cy="603504"/>
            </a:xfrm>
            <a:prstGeom prst="rect">
              <a:avLst/>
            </a:prstGeom>
            <a:noFill/>
          </p:spPr>
          <p:txBody>
            <a:bodyPr wrap="square" lIns="0" rIns="0" tIns="0" bIns="0" anchor="t">
              <a:noAutofit/>
            </a:bodyPr>
            <a:lstStyle/>
            <a:p>
              <a:pPr algn="l">
                <a:lnSpc>
                  <a:spcPct val="106000"/>
                </a:lnSpc>
              </a:pPr>
              <a:r>
                <a:rPr sz="1150" b="0" i="0">
                  <a:solidFill>
                    <a:srgbClr val="6E6658"/>
                  </a:solidFill>
                  <a:latin typeface="Inter" panose="020B0502030000000004" pitchFamily="34" charset="0"/>
                </a:rPr>
                <a:t>Agents got wallets and protocols: MCP and ACP.</a:t>
              </a:r>
            </a:p>
          </p:txBody>
        </p:sp>
      </p:grpSp>
      <p:grpSp>
        <p:nvGrpSpPr>
          <p:cNvPr id="58" name="Group 57"/>
          <p:cNvGrpSpPr/>
          <p:nvPr/>
        </p:nvGrpSpPr>
        <p:grpSpPr>
          <a:xfrm>
            <a:off x="6611112" y="4069080"/>
            <a:ext cx="4700016" cy="896112"/>
            <a:chOff x="6611112" y="4069080"/>
            <a:chExt cx="4700016" cy="896112"/>
          </a:xfrm>
        </p:grpSpPr>
        <p:sp>
          <p:nvSpPr>
            <p:cNvPr id="59" name="Oval 58"/>
            <p:cNvSpPr/>
            <p:nvPr/>
          </p:nvSpPr>
          <p:spPr>
            <a:xfrm>
              <a:off x="6611112" y="4123944"/>
              <a:ext cx="173736" cy="173736"/>
            </a:xfrm>
            <a:prstGeom prst="ellipse">
              <a:avLst/>
            </a:prstGeom>
            <a:solidFill>
              <a:srgbClr val="B0894F"/>
            </a:solidFill>
            <a:ln w="25400">
              <a:solidFill>
                <a:srgbClr val="FFFDF7"/>
              </a:solidFill>
            </a:ln>
          </p:spPr>
          <p:txBody>
            <a:bodyPr rtlCol="0" anchor="ctr"/>
            <a:lstStyle/>
            <a:p>
              <a:pPr algn="ctr"/>
            </a:p>
          </p:txBody>
        </p:sp>
        <p:sp>
          <p:nvSpPr>
            <p:cNvPr id="60" name="TextBox 59"/>
            <p:cNvSpPr txBox="1"/>
            <p:nvPr/>
          </p:nvSpPr>
          <p:spPr>
            <a:xfrm>
              <a:off x="6967728" y="4069080"/>
              <a:ext cx="4297680" cy="292608"/>
            </a:xfrm>
            <a:prstGeom prst="rect">
              <a:avLst/>
            </a:prstGeom>
            <a:noFill/>
          </p:spPr>
          <p:txBody>
            <a:bodyPr wrap="square" lIns="0" rIns="0" tIns="0" bIns="0" anchor="ctr">
              <a:noAutofit/>
            </a:bodyPr>
            <a:lstStyle/>
            <a:p>
              <a:pPr algn="l"/>
              <a:r>
                <a:rPr sz="1400" b="0" i="0">
                  <a:solidFill>
                    <a:srgbClr val="16130E"/>
                  </a:solidFill>
                  <a:latin typeface="Georgia" panose="02040502050405020303" pitchFamily="18" charset="0"/>
                </a:rPr>
                <a:t>Now   </a:t>
              </a:r>
              <a:r>
                <a:rPr sz="900" b="0" i="0">
                  <a:solidFill>
                    <a:srgbClr val="9C937F"/>
                  </a:solidFill>
                  <a:latin typeface="Inter" panose="020B0502030000000004" pitchFamily="34" charset="0"/>
                </a:rPr>
                <a:t>paraphrased</a:t>
              </a:r>
            </a:p>
          </p:txBody>
        </p:sp>
        <p:sp>
          <p:nvSpPr>
            <p:cNvPr id="61" name="TextBox 60"/>
            <p:cNvSpPr txBox="1"/>
            <p:nvPr/>
          </p:nvSpPr>
          <p:spPr>
            <a:xfrm>
              <a:off x="6967728" y="4361688"/>
              <a:ext cx="4343400" cy="603504"/>
            </a:xfrm>
            <a:prstGeom prst="rect">
              <a:avLst/>
            </a:prstGeom>
            <a:noFill/>
          </p:spPr>
          <p:txBody>
            <a:bodyPr wrap="square" lIns="0" rIns="0" tIns="0" bIns="0" anchor="t">
              <a:noAutofit/>
            </a:bodyPr>
            <a:lstStyle/>
            <a:p>
              <a:pPr algn="l">
                <a:lnSpc>
                  <a:spcPct val="106000"/>
                </a:lnSpc>
              </a:pPr>
              <a:r>
                <a:rPr sz="1150" b="0" i="0">
                  <a:solidFill>
                    <a:srgbClr val="6E6658"/>
                  </a:solidFill>
                  <a:latin typeface="Inter" panose="020B0502030000000004" pitchFamily="34" charset="0"/>
                </a:rPr>
                <a:t>Paul Graham: Amazon banning agents is the biggest opening since Amazon. People will want agents to buy things for them.</a:t>
              </a:r>
            </a:p>
          </p:txBody>
        </p:sp>
      </p:grpSp>
      <p:grpSp>
        <p:nvGrpSpPr>
          <p:cNvPr id="62" name="Group 61"/>
          <p:cNvGrpSpPr/>
          <p:nvPr/>
        </p:nvGrpSpPr>
        <p:grpSpPr>
          <a:xfrm>
            <a:off x="6583680" y="5102352"/>
            <a:ext cx="4690872" cy="969264"/>
            <a:chOff x="6583680" y="5102352"/>
            <a:chExt cx="4690872" cy="969264"/>
          </a:xfrm>
        </p:grpSpPr>
        <p:sp>
          <p:nvSpPr>
            <p:cNvPr id="63" name="Rounded Rectangle 62"/>
            <p:cNvSpPr/>
            <p:nvPr/>
          </p:nvSpPr>
          <p:spPr>
            <a:xfrm>
              <a:off x="6583680" y="5102352"/>
              <a:ext cx="4690872" cy="969264"/>
            </a:xfrm>
            <a:prstGeom prst="roundRect">
              <a:avLst>
                <a:gd name="adj" fmla="val 5660"/>
              </a:avLst>
            </a:prstGeom>
            <a:solidFill>
              <a:srgbClr val="F6EBD6"/>
            </a:solidFill>
            <a:ln>
              <a:noFill/>
            </a:ln>
          </p:spPr>
          <p:txBody>
            <a:bodyPr rtlCol="0" anchor="ctr"/>
            <a:lstStyle/>
            <a:p>
              <a:pPr algn="ctr"/>
            </a:p>
          </p:txBody>
        </p:sp>
        <p:sp>
          <p:nvSpPr>
            <p:cNvPr id="64" name="TextBox 63"/>
            <p:cNvSpPr txBox="1"/>
            <p:nvPr/>
          </p:nvSpPr>
          <p:spPr>
            <a:xfrm>
              <a:off x="6784848" y="5138928"/>
              <a:ext cx="4343400" cy="896112"/>
            </a:xfrm>
            <a:prstGeom prst="rect">
              <a:avLst/>
            </a:prstGeom>
            <a:noFill/>
          </p:spPr>
          <p:txBody>
            <a:bodyPr wrap="square" lIns="0" rIns="0" tIns="0" bIns="0" anchor="ctr">
              <a:noAutofit/>
            </a:bodyPr>
            <a:lstStyle/>
            <a:p>
              <a:pPr algn="l">
                <a:lnSpc>
                  <a:spcPct val="108000"/>
                </a:lnSpc>
              </a:pPr>
              <a:r>
                <a:rPr sz="1100" b="1" i="0">
                  <a:solidFill>
                    <a:srgbClr val="94641F"/>
                  </a:solidFill>
                  <a:latin typeface="Inter" panose="020B0502030000000004" pitchFamily="34" charset="0"/>
                </a:rPr>
                <a:t>Search ads are a ~$200B+/yr business</a:t>
              </a:r>
              <a:r>
                <a:rPr sz="1100" b="0" i="0">
                  <a:solidFill>
                    <a:srgbClr val="16130E"/>
                  </a:solidFill>
                  <a:latin typeface="Inter" panose="020B0502030000000004" pitchFamily="34" charset="0"/>
                </a:rPr>
                <a:t> built on human attention. Agents don't look at ads, so that spend has to compete on verifiable offers.</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600"/>
                                        <p:tgtEl>
                                          <p:spTgt spid="15"/>
                                        </p:tgtEl>
                                      </p:cBhvr>
                                    </p:animEffect>
                                  </p:childTnLst>
                                </p:cTn>
                              </p:par>
                              <p:par>
                                <p:cTn id="8" presetID="42" presetClass="entr" presetSubtype="0" fill="hold" grpId="0" nodeType="withEffect">
                                  <p:stCondLst>
                                    <p:cond delay="6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600"/>
                                        <p:tgtEl>
                                          <p:spTgt spid="16"/>
                                        </p:tgtEl>
                                      </p:cBhvr>
                                    </p:animEffect>
                                    <p:anim calcmode="lin" valueType="num">
                                      <p:cBhvr additive="base">
                                        <p:cTn id="11" dur="600" fill="hold" decel="100000"/>
                                        <p:tgtEl>
                                          <p:spTgt spid="16"/>
                                        </p:tgtEl>
                                        <p:attrNameLst>
                                          <p:attrName>ppt_x</p:attrName>
                                        </p:attrNameLst>
                                      </p:cBhvr>
                                      <p:tavLst>
                                        <p:tav tm="0">
                                          <p:val>
                                            <p:strVal val="#ppt_x"/>
                                          </p:val>
                                        </p:tav>
                                        <p:tav tm="100000">
                                          <p:val>
                                            <p:strVal val="#ppt_x"/>
                                          </p:val>
                                        </p:tav>
                                      </p:tavLst>
                                    </p:anim>
                                    <p:anim calcmode="lin" valueType="num">
                                      <p:cBhvr additive="base">
                                        <p:cTn id="12" dur="600" fill="hold" decel="100000"/>
                                        <p:tgtEl>
                                          <p:spTgt spid="16"/>
                                        </p:tgtEl>
                                        <p:attrNameLst>
                                          <p:attrName>ppt_y</p:attrName>
                                        </p:attrNameLst>
                                      </p:cBhvr>
                                      <p:tavLst>
                                        <p:tav tm="0">
                                          <p:val>
                                            <p:strVal val="#ppt_y+0.025"/>
                                          </p:val>
                                        </p:tav>
                                        <p:tav tm="100000">
                                          <p:val>
                                            <p:strVal val="#ppt_y"/>
                                          </p:val>
                                        </p:tav>
                                      </p:tavLst>
                                    </p:anim>
                                  </p:childTnLst>
                                </p:cTn>
                              </p:par>
                              <p:par>
                                <p:cTn id="13" presetID="42" presetClass="entr" presetSubtype="0" fill="hold" grpId="0" nodeType="withEffect">
                                  <p:stCondLst>
                                    <p:cond delay="20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anim calcmode="lin" valueType="num">
                                      <p:cBhvr additive="base">
                                        <p:cTn id="16" dur="500" fill="hold" decel="100000"/>
                                        <p:tgtEl>
                                          <p:spTgt spid="17"/>
                                        </p:tgtEl>
                                        <p:attrNameLst>
                                          <p:attrName>ppt_x</p:attrName>
                                        </p:attrNameLst>
                                      </p:cBhvr>
                                      <p:tavLst>
                                        <p:tav tm="0">
                                          <p:val>
                                            <p:strVal val="#ppt_x"/>
                                          </p:val>
                                        </p:tav>
                                        <p:tav tm="100000">
                                          <p:val>
                                            <p:strVal val="#ppt_x"/>
                                          </p:val>
                                        </p:tav>
                                      </p:tavLst>
                                    </p:anim>
                                    <p:anim calcmode="lin" valueType="num">
                                      <p:cBhvr additive="base">
                                        <p:cTn id="17" dur="500" fill="hold" decel="100000"/>
                                        <p:tgtEl>
                                          <p:spTgt spid="17"/>
                                        </p:tgtEl>
                                        <p:attrNameLst>
                                          <p:attrName>ppt_y</p:attrName>
                                        </p:attrNameLst>
                                      </p:cBhvr>
                                      <p:tavLst>
                                        <p:tav tm="0">
                                          <p:val>
                                            <p:strVal val="#ppt_y+0.025"/>
                                          </p:val>
                                        </p:tav>
                                        <p:tav tm="100000">
                                          <p:val>
                                            <p:strVal val="#ppt_y"/>
                                          </p:val>
                                        </p:tav>
                                      </p:tavLst>
                                    </p:anim>
                                  </p:childTnLst>
                                </p:cTn>
                              </p:par>
                              <p:par>
                                <p:cTn id="18" presetID="53" presetClass="entr" presetSubtype="16" fill="hold" grpId="0" nodeType="withEffect">
                                  <p:stCondLst>
                                    <p:cond delay="45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210"/>
                                        <p:tgtEl>
                                          <p:spTgt spid="20"/>
                                        </p:tgtEl>
                                      </p:cBhvr>
                                    </p:animEffect>
                                    <p:anim calcmode="lin" valueType="num">
                                      <p:cBhvr additive="base">
                                        <p:cTn id="21" dur="350" fill="hold" decel="100000"/>
                                        <p:tgtEl>
                                          <p:spTgt spid="20"/>
                                        </p:tgtEl>
                                        <p:attrNameLst>
                                          <p:attrName>ppt_w</p:attrName>
                                        </p:attrNameLst>
                                      </p:cBhvr>
                                      <p:tavLst>
                                        <p:tav tm="0">
                                          <p:val>
                                            <p:strVal val="#ppt_w*0.85"/>
                                          </p:val>
                                        </p:tav>
                                        <p:tav tm="100000">
                                          <p:val>
                                            <p:strVal val="#ppt_w"/>
                                          </p:val>
                                        </p:tav>
                                      </p:tavLst>
                                    </p:anim>
                                    <p:anim calcmode="lin" valueType="num">
                                      <p:cBhvr additive="base">
                                        <p:cTn id="22" dur="350" fill="hold" decel="100000"/>
                                        <p:tgtEl>
                                          <p:spTgt spid="20"/>
                                        </p:tgtEl>
                                        <p:attrNameLst>
                                          <p:attrName>ppt_h</p:attrName>
                                        </p:attrNameLst>
                                      </p:cBhvr>
                                      <p:tavLst>
                                        <p:tav tm="0">
                                          <p:val>
                                            <p:strVal val="#ppt_h*0.85"/>
                                          </p:val>
                                        </p:tav>
                                        <p:tav tm="100000">
                                          <p:val>
                                            <p:strVal val="#ppt_h"/>
                                          </p:val>
                                        </p:tav>
                                      </p:tavLst>
                                    </p:anim>
                                  </p:childTnLst>
                                </p:cTn>
                              </p:par>
                              <p:par>
                                <p:cTn id="23" presetID="22" presetClass="entr" presetSubtype="8" fill="hold" grpId="0" nodeType="withEffect">
                                  <p:stCondLst>
                                    <p:cond delay="580"/>
                                  </p:stCondLst>
                                  <p:childTnLst>
                                    <p:set>
                                      <p:cBhvr>
                                        <p:cTn id="24" dur="1" fill="hold">
                                          <p:stCondLst>
                                            <p:cond delay="0"/>
                                          </p:stCondLst>
                                        </p:cTn>
                                        <p:tgtEl>
                                          <p:spTgt spid="23"/>
                                        </p:tgtEl>
                                        <p:attrNameLst>
                                          <p:attrName>style.visibility</p:attrName>
                                        </p:attrNameLst>
                                      </p:cBhvr>
                                      <p:to>
                                        <p:strVal val="visible"/>
                                      </p:to>
                                    </p:set>
                                    <p:animEffect transition="in" filter="wipe(left)">
                                      <p:cBhvr>
                                        <p:cTn id="25" dur="220"/>
                                        <p:tgtEl>
                                          <p:spTgt spid="23"/>
                                        </p:tgtEl>
                                      </p:cBhvr>
                                    </p:animEffect>
                                  </p:childTnLst>
                                </p:cTn>
                              </p:par>
                              <p:par>
                                <p:cTn id="26" presetID="53" presetClass="entr" presetSubtype="16" fill="hold" grpId="0" nodeType="withEffect">
                                  <p:stCondLst>
                                    <p:cond delay="67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210"/>
                                        <p:tgtEl>
                                          <p:spTgt spid="25"/>
                                        </p:tgtEl>
                                      </p:cBhvr>
                                    </p:animEffect>
                                    <p:anim calcmode="lin" valueType="num">
                                      <p:cBhvr additive="base">
                                        <p:cTn id="29" dur="350" fill="hold" decel="100000"/>
                                        <p:tgtEl>
                                          <p:spTgt spid="25"/>
                                        </p:tgtEl>
                                        <p:attrNameLst>
                                          <p:attrName>ppt_w</p:attrName>
                                        </p:attrNameLst>
                                      </p:cBhvr>
                                      <p:tavLst>
                                        <p:tav tm="0">
                                          <p:val>
                                            <p:strVal val="#ppt_w*0.85"/>
                                          </p:val>
                                        </p:tav>
                                        <p:tav tm="100000">
                                          <p:val>
                                            <p:strVal val="#ppt_w"/>
                                          </p:val>
                                        </p:tav>
                                      </p:tavLst>
                                    </p:anim>
                                    <p:anim calcmode="lin" valueType="num">
                                      <p:cBhvr additive="base">
                                        <p:cTn id="30" dur="350" fill="hold" decel="100000"/>
                                        <p:tgtEl>
                                          <p:spTgt spid="25"/>
                                        </p:tgtEl>
                                        <p:attrNameLst>
                                          <p:attrName>ppt_h</p:attrName>
                                        </p:attrNameLst>
                                      </p:cBhvr>
                                      <p:tavLst>
                                        <p:tav tm="0">
                                          <p:val>
                                            <p:strVal val="#ppt_h*0.85"/>
                                          </p:val>
                                        </p:tav>
                                        <p:tav tm="100000">
                                          <p:val>
                                            <p:strVal val="#ppt_h"/>
                                          </p:val>
                                        </p:tav>
                                      </p:tavLst>
                                    </p:anim>
                                  </p:childTnLst>
                                </p:cTn>
                              </p:par>
                              <p:par>
                                <p:cTn id="31" presetID="22" presetClass="entr" presetSubtype="8" fill="hold" grpId="0" nodeType="withEffect">
                                  <p:stCondLst>
                                    <p:cond delay="800"/>
                                  </p:stCondLst>
                                  <p:childTnLst>
                                    <p:set>
                                      <p:cBhvr>
                                        <p:cTn id="32" dur="1" fill="hold">
                                          <p:stCondLst>
                                            <p:cond delay="0"/>
                                          </p:stCondLst>
                                        </p:cTn>
                                        <p:tgtEl>
                                          <p:spTgt spid="28"/>
                                        </p:tgtEl>
                                        <p:attrNameLst>
                                          <p:attrName>style.visibility</p:attrName>
                                        </p:attrNameLst>
                                      </p:cBhvr>
                                      <p:to>
                                        <p:strVal val="visible"/>
                                      </p:to>
                                    </p:set>
                                    <p:animEffect transition="in" filter="wipe(left)">
                                      <p:cBhvr>
                                        <p:cTn id="33" dur="220"/>
                                        <p:tgtEl>
                                          <p:spTgt spid="28"/>
                                        </p:tgtEl>
                                      </p:cBhvr>
                                    </p:animEffect>
                                  </p:childTnLst>
                                </p:cTn>
                              </p:par>
                              <p:par>
                                <p:cTn id="34" presetID="53" presetClass="entr" presetSubtype="16" fill="hold" grpId="0" nodeType="withEffect">
                                  <p:stCondLst>
                                    <p:cond delay="890"/>
                                  </p:stCondLst>
                                  <p:childTnLst>
                                    <p:set>
                                      <p:cBhvr>
                                        <p:cTn id="35" dur="1" fill="hold">
                                          <p:stCondLst>
                                            <p:cond delay="0"/>
                                          </p:stCondLst>
                                        </p:cTn>
                                        <p:tgtEl>
                                          <p:spTgt spid="30"/>
                                        </p:tgtEl>
                                        <p:attrNameLst>
                                          <p:attrName>style.visibility</p:attrName>
                                        </p:attrNameLst>
                                      </p:cBhvr>
                                      <p:to>
                                        <p:strVal val="visible"/>
                                      </p:to>
                                    </p:set>
                                    <p:animEffect transition="in" filter="fade">
                                      <p:cBhvr>
                                        <p:cTn id="36" dur="210"/>
                                        <p:tgtEl>
                                          <p:spTgt spid="30"/>
                                        </p:tgtEl>
                                      </p:cBhvr>
                                    </p:animEffect>
                                    <p:anim calcmode="lin" valueType="num">
                                      <p:cBhvr additive="base">
                                        <p:cTn id="37" dur="350" fill="hold" decel="100000"/>
                                        <p:tgtEl>
                                          <p:spTgt spid="30"/>
                                        </p:tgtEl>
                                        <p:attrNameLst>
                                          <p:attrName>ppt_w</p:attrName>
                                        </p:attrNameLst>
                                      </p:cBhvr>
                                      <p:tavLst>
                                        <p:tav tm="0">
                                          <p:val>
                                            <p:strVal val="#ppt_w*0.85"/>
                                          </p:val>
                                        </p:tav>
                                        <p:tav tm="100000">
                                          <p:val>
                                            <p:strVal val="#ppt_w"/>
                                          </p:val>
                                        </p:tav>
                                      </p:tavLst>
                                    </p:anim>
                                    <p:anim calcmode="lin" valueType="num">
                                      <p:cBhvr additive="base">
                                        <p:cTn id="38" dur="350" fill="hold" decel="100000"/>
                                        <p:tgtEl>
                                          <p:spTgt spid="30"/>
                                        </p:tgtEl>
                                        <p:attrNameLst>
                                          <p:attrName>ppt_h</p:attrName>
                                        </p:attrNameLst>
                                      </p:cBhvr>
                                      <p:tavLst>
                                        <p:tav tm="0">
                                          <p:val>
                                            <p:strVal val="#ppt_h*0.85"/>
                                          </p:val>
                                        </p:tav>
                                        <p:tav tm="100000">
                                          <p:val>
                                            <p:strVal val="#ppt_h"/>
                                          </p:val>
                                        </p:tav>
                                      </p:tavLst>
                                    </p:anim>
                                  </p:childTnLst>
                                </p:cTn>
                              </p:par>
                              <p:par>
                                <p:cTn id="39" presetID="10" presetClass="entr" presetSubtype="0" fill="hold" grpId="0" nodeType="withEffect">
                                  <p:stCondLst>
                                    <p:cond delay="100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400"/>
                                        <p:tgtEl>
                                          <p:spTgt spid="33"/>
                                        </p:tgtEl>
                                      </p:cBhvr>
                                    </p:animEffect>
                                  </p:childTnLst>
                                </p:cTn>
                              </p:par>
                              <p:par>
                                <p:cTn id="42" presetID="42" presetClass="entr" presetSubtype="0" fill="hold" grpId="0" nodeType="withEffect">
                                  <p:stCondLst>
                                    <p:cond delay="110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400"/>
                                        <p:tgtEl>
                                          <p:spTgt spid="34"/>
                                        </p:tgtEl>
                                      </p:cBhvr>
                                    </p:animEffect>
                                    <p:anim calcmode="lin" valueType="num">
                                      <p:cBhvr additive="base">
                                        <p:cTn id="45" dur="400" fill="hold" decel="100000"/>
                                        <p:tgtEl>
                                          <p:spTgt spid="34"/>
                                        </p:tgtEl>
                                        <p:attrNameLst>
                                          <p:attrName>ppt_x</p:attrName>
                                        </p:attrNameLst>
                                      </p:cBhvr>
                                      <p:tavLst>
                                        <p:tav tm="0">
                                          <p:val>
                                            <p:strVal val="#ppt_x"/>
                                          </p:val>
                                        </p:tav>
                                        <p:tav tm="100000">
                                          <p:val>
                                            <p:strVal val="#ppt_x"/>
                                          </p:val>
                                        </p:tav>
                                      </p:tavLst>
                                    </p:anim>
                                    <p:anim calcmode="lin" valueType="num">
                                      <p:cBhvr additive="base">
                                        <p:cTn id="46" dur="400" fill="hold" decel="100000"/>
                                        <p:tgtEl>
                                          <p:spTgt spid="34"/>
                                        </p:tgtEl>
                                        <p:attrNameLst>
                                          <p:attrName>ppt_y</p:attrName>
                                        </p:attrNameLst>
                                      </p:cBhvr>
                                      <p:tavLst>
                                        <p:tav tm="0">
                                          <p:val>
                                            <p:strVal val="#ppt_y+0.025"/>
                                          </p:val>
                                        </p:tav>
                                        <p:tav tm="100000">
                                          <p:val>
                                            <p:strVal val="#ppt_y"/>
                                          </p:val>
                                        </p:tav>
                                      </p:tavLst>
                                    </p:anim>
                                  </p:childTnLst>
                                </p:cTn>
                              </p:par>
                              <p:par>
                                <p:cTn id="47" presetID="42" presetClass="entr" presetSubtype="0" fill="hold" grpId="0" nodeType="withEffect">
                                  <p:stCondLst>
                                    <p:cond delay="1220"/>
                                  </p:stCondLst>
                                  <p:childTnLst>
                                    <p:set>
                                      <p:cBhvr>
                                        <p:cTn id="48" dur="1" fill="hold">
                                          <p:stCondLst>
                                            <p:cond delay="0"/>
                                          </p:stCondLst>
                                        </p:cTn>
                                        <p:tgtEl>
                                          <p:spTgt spid="37"/>
                                        </p:tgtEl>
                                        <p:attrNameLst>
                                          <p:attrName>style.visibility</p:attrName>
                                        </p:attrNameLst>
                                      </p:cBhvr>
                                      <p:to>
                                        <p:strVal val="visible"/>
                                      </p:to>
                                    </p:set>
                                    <p:animEffect transition="in" filter="fade">
                                      <p:cBhvr>
                                        <p:cTn id="49" dur="400"/>
                                        <p:tgtEl>
                                          <p:spTgt spid="37"/>
                                        </p:tgtEl>
                                      </p:cBhvr>
                                    </p:animEffect>
                                    <p:anim calcmode="lin" valueType="num">
                                      <p:cBhvr additive="base">
                                        <p:cTn id="50" dur="400" fill="hold" decel="100000"/>
                                        <p:tgtEl>
                                          <p:spTgt spid="37"/>
                                        </p:tgtEl>
                                        <p:attrNameLst>
                                          <p:attrName>ppt_x</p:attrName>
                                        </p:attrNameLst>
                                      </p:cBhvr>
                                      <p:tavLst>
                                        <p:tav tm="0">
                                          <p:val>
                                            <p:strVal val="#ppt_x"/>
                                          </p:val>
                                        </p:tav>
                                        <p:tav tm="100000">
                                          <p:val>
                                            <p:strVal val="#ppt_x"/>
                                          </p:val>
                                        </p:tav>
                                      </p:tavLst>
                                    </p:anim>
                                    <p:anim calcmode="lin" valueType="num">
                                      <p:cBhvr additive="base">
                                        <p:cTn id="51" dur="400" fill="hold" decel="100000"/>
                                        <p:tgtEl>
                                          <p:spTgt spid="37"/>
                                        </p:tgtEl>
                                        <p:attrNameLst>
                                          <p:attrName>ppt_y</p:attrName>
                                        </p:attrNameLst>
                                      </p:cBhvr>
                                      <p:tavLst>
                                        <p:tav tm="0">
                                          <p:val>
                                            <p:strVal val="#ppt_y+0.025"/>
                                          </p:val>
                                        </p:tav>
                                        <p:tav tm="100000">
                                          <p:val>
                                            <p:strVal val="#ppt_y"/>
                                          </p:val>
                                        </p:tav>
                                      </p:tavLst>
                                    </p:anim>
                                  </p:childTnLst>
                                </p:cTn>
                              </p:par>
                              <p:par>
                                <p:cTn id="52" presetID="42" presetClass="entr" presetSubtype="0" fill="hold" grpId="0" nodeType="withEffect">
                                  <p:stCondLst>
                                    <p:cond delay="1340"/>
                                  </p:stCondLst>
                                  <p:childTnLst>
                                    <p:set>
                                      <p:cBhvr>
                                        <p:cTn id="53" dur="1" fill="hold">
                                          <p:stCondLst>
                                            <p:cond delay="0"/>
                                          </p:stCondLst>
                                        </p:cTn>
                                        <p:tgtEl>
                                          <p:spTgt spid="40"/>
                                        </p:tgtEl>
                                        <p:attrNameLst>
                                          <p:attrName>style.visibility</p:attrName>
                                        </p:attrNameLst>
                                      </p:cBhvr>
                                      <p:to>
                                        <p:strVal val="visible"/>
                                      </p:to>
                                    </p:set>
                                    <p:animEffect transition="in" filter="fade">
                                      <p:cBhvr>
                                        <p:cTn id="54" dur="400"/>
                                        <p:tgtEl>
                                          <p:spTgt spid="40"/>
                                        </p:tgtEl>
                                      </p:cBhvr>
                                    </p:animEffect>
                                    <p:anim calcmode="lin" valueType="num">
                                      <p:cBhvr additive="base">
                                        <p:cTn id="55" dur="400" fill="hold" decel="100000"/>
                                        <p:tgtEl>
                                          <p:spTgt spid="40"/>
                                        </p:tgtEl>
                                        <p:attrNameLst>
                                          <p:attrName>ppt_x</p:attrName>
                                        </p:attrNameLst>
                                      </p:cBhvr>
                                      <p:tavLst>
                                        <p:tav tm="0">
                                          <p:val>
                                            <p:strVal val="#ppt_x"/>
                                          </p:val>
                                        </p:tav>
                                        <p:tav tm="100000">
                                          <p:val>
                                            <p:strVal val="#ppt_x"/>
                                          </p:val>
                                        </p:tav>
                                      </p:tavLst>
                                    </p:anim>
                                    <p:anim calcmode="lin" valueType="num">
                                      <p:cBhvr additive="base">
                                        <p:cTn id="56" dur="400" fill="hold" decel="100000"/>
                                        <p:tgtEl>
                                          <p:spTgt spid="40"/>
                                        </p:tgtEl>
                                        <p:attrNameLst>
                                          <p:attrName>ppt_y</p:attrName>
                                        </p:attrNameLst>
                                      </p:cBhvr>
                                      <p:tavLst>
                                        <p:tav tm="0">
                                          <p:val>
                                            <p:strVal val="#ppt_y+0.025"/>
                                          </p:val>
                                        </p:tav>
                                        <p:tav tm="100000">
                                          <p:val>
                                            <p:strVal val="#ppt_y"/>
                                          </p:val>
                                        </p:tav>
                                      </p:tavLst>
                                    </p:anim>
                                  </p:childTnLst>
                                </p:cTn>
                              </p:par>
                              <p:par>
                                <p:cTn id="57" presetID="42" presetClass="entr" presetSubtype="0" fill="hold" grpId="0" nodeType="withEffect">
                                  <p:stCondLst>
                                    <p:cond delay="1460"/>
                                  </p:stCondLst>
                                  <p:childTnLst>
                                    <p:set>
                                      <p:cBhvr>
                                        <p:cTn id="58" dur="1" fill="hold">
                                          <p:stCondLst>
                                            <p:cond delay="0"/>
                                          </p:stCondLst>
                                        </p:cTn>
                                        <p:tgtEl>
                                          <p:spTgt spid="43"/>
                                        </p:tgtEl>
                                        <p:attrNameLst>
                                          <p:attrName>style.visibility</p:attrName>
                                        </p:attrNameLst>
                                      </p:cBhvr>
                                      <p:to>
                                        <p:strVal val="visible"/>
                                      </p:to>
                                    </p:set>
                                    <p:animEffect transition="in" filter="fade">
                                      <p:cBhvr>
                                        <p:cTn id="59" dur="400"/>
                                        <p:tgtEl>
                                          <p:spTgt spid="43"/>
                                        </p:tgtEl>
                                      </p:cBhvr>
                                    </p:animEffect>
                                    <p:anim calcmode="lin" valueType="num">
                                      <p:cBhvr additive="base">
                                        <p:cTn id="60" dur="400" fill="hold" decel="100000"/>
                                        <p:tgtEl>
                                          <p:spTgt spid="43"/>
                                        </p:tgtEl>
                                        <p:attrNameLst>
                                          <p:attrName>ppt_x</p:attrName>
                                        </p:attrNameLst>
                                      </p:cBhvr>
                                      <p:tavLst>
                                        <p:tav tm="0">
                                          <p:val>
                                            <p:strVal val="#ppt_x"/>
                                          </p:val>
                                        </p:tav>
                                        <p:tav tm="100000">
                                          <p:val>
                                            <p:strVal val="#ppt_x"/>
                                          </p:val>
                                        </p:tav>
                                      </p:tavLst>
                                    </p:anim>
                                    <p:anim calcmode="lin" valueType="num">
                                      <p:cBhvr additive="base">
                                        <p:cTn id="61" dur="400" fill="hold" decel="100000"/>
                                        <p:tgtEl>
                                          <p:spTgt spid="43"/>
                                        </p:tgtEl>
                                        <p:attrNameLst>
                                          <p:attrName>ppt_y</p:attrName>
                                        </p:attrNameLst>
                                      </p:cBhvr>
                                      <p:tavLst>
                                        <p:tav tm="0">
                                          <p:val>
                                            <p:strVal val="#ppt_y+0.025"/>
                                          </p:val>
                                        </p:tav>
                                        <p:tav tm="100000">
                                          <p:val>
                                            <p:strVal val="#ppt_y"/>
                                          </p:val>
                                        </p:tav>
                                      </p:tavLst>
                                    </p:anim>
                                  </p:childTnLst>
                                </p:cTn>
                              </p:par>
                              <p:par>
                                <p:cTn id="62" presetID="42" presetClass="entr" presetSubtype="0" fill="hold" grpId="0" nodeType="withEffect">
                                  <p:stCondLst>
                                    <p:cond delay="350"/>
                                  </p:stCondLst>
                                  <p:childTnLst>
                                    <p:set>
                                      <p:cBhvr>
                                        <p:cTn id="63" dur="1" fill="hold">
                                          <p:stCondLst>
                                            <p:cond delay="0"/>
                                          </p:stCondLst>
                                        </p:cTn>
                                        <p:tgtEl>
                                          <p:spTgt spid="46"/>
                                        </p:tgtEl>
                                        <p:attrNameLst>
                                          <p:attrName>style.visibility</p:attrName>
                                        </p:attrNameLst>
                                      </p:cBhvr>
                                      <p:to>
                                        <p:strVal val="visible"/>
                                      </p:to>
                                    </p:set>
                                    <p:animEffect transition="in" filter="fade">
                                      <p:cBhvr>
                                        <p:cTn id="64" dur="500"/>
                                        <p:tgtEl>
                                          <p:spTgt spid="46"/>
                                        </p:tgtEl>
                                      </p:cBhvr>
                                    </p:animEffect>
                                    <p:anim calcmode="lin" valueType="num">
                                      <p:cBhvr additive="base">
                                        <p:cTn id="65" dur="500" fill="hold" decel="100000"/>
                                        <p:tgtEl>
                                          <p:spTgt spid="46"/>
                                        </p:tgtEl>
                                        <p:attrNameLst>
                                          <p:attrName>ppt_x</p:attrName>
                                        </p:attrNameLst>
                                      </p:cBhvr>
                                      <p:tavLst>
                                        <p:tav tm="0">
                                          <p:val>
                                            <p:strVal val="#ppt_x"/>
                                          </p:val>
                                        </p:tav>
                                        <p:tav tm="100000">
                                          <p:val>
                                            <p:strVal val="#ppt_x"/>
                                          </p:val>
                                        </p:tav>
                                      </p:tavLst>
                                    </p:anim>
                                    <p:anim calcmode="lin" valueType="num">
                                      <p:cBhvr additive="base">
                                        <p:cTn id="66" dur="500" fill="hold" decel="100000"/>
                                        <p:tgtEl>
                                          <p:spTgt spid="46"/>
                                        </p:tgtEl>
                                        <p:attrNameLst>
                                          <p:attrName>ppt_y</p:attrName>
                                        </p:attrNameLst>
                                      </p:cBhvr>
                                      <p:tavLst>
                                        <p:tav tm="0">
                                          <p:val>
                                            <p:strVal val="#ppt_y+0.025"/>
                                          </p:val>
                                        </p:tav>
                                        <p:tav tm="100000">
                                          <p:val>
                                            <p:strVal val="#ppt_y"/>
                                          </p:val>
                                        </p:tav>
                                      </p:tavLst>
                                    </p:anim>
                                  </p:childTnLst>
                                </p:cTn>
                              </p:par>
                              <p:par>
                                <p:cTn id="67" presetID="10" presetClass="entr" presetSubtype="0" fill="hold" grpId="0" nodeType="withEffect">
                                  <p:stCondLst>
                                    <p:cond delay="600"/>
                                  </p:stCondLst>
                                  <p:childTnLst>
                                    <p:set>
                                      <p:cBhvr>
                                        <p:cTn id="68" dur="1" fill="hold">
                                          <p:stCondLst>
                                            <p:cond delay="0"/>
                                          </p:stCondLst>
                                        </p:cTn>
                                        <p:tgtEl>
                                          <p:spTgt spid="49"/>
                                        </p:tgtEl>
                                        <p:attrNameLst>
                                          <p:attrName>style.visibility</p:attrName>
                                        </p:attrNameLst>
                                      </p:cBhvr>
                                      <p:to>
                                        <p:strVal val="visible"/>
                                      </p:to>
                                    </p:set>
                                    <p:animEffect transition="in" filter="fade">
                                      <p:cBhvr>
                                        <p:cTn id="69" dur="300"/>
                                        <p:tgtEl>
                                          <p:spTgt spid="49"/>
                                        </p:tgtEl>
                                      </p:cBhvr>
                                    </p:animEffect>
                                  </p:childTnLst>
                                </p:cTn>
                              </p:par>
                              <p:par>
                                <p:cTn id="70" presetID="42" presetClass="entr" presetSubtype="0" fill="hold" grpId="0" nodeType="withEffect">
                                  <p:stCondLst>
                                    <p:cond delay="700"/>
                                  </p:stCondLst>
                                  <p:childTnLst>
                                    <p:set>
                                      <p:cBhvr>
                                        <p:cTn id="71" dur="1" fill="hold">
                                          <p:stCondLst>
                                            <p:cond delay="0"/>
                                          </p:stCondLst>
                                        </p:cTn>
                                        <p:tgtEl>
                                          <p:spTgt spid="50"/>
                                        </p:tgtEl>
                                        <p:attrNameLst>
                                          <p:attrName>style.visibility</p:attrName>
                                        </p:attrNameLst>
                                      </p:cBhvr>
                                      <p:to>
                                        <p:strVal val="visible"/>
                                      </p:to>
                                    </p:set>
                                    <p:animEffect transition="in" filter="fade">
                                      <p:cBhvr>
                                        <p:cTn id="72" dur="450"/>
                                        <p:tgtEl>
                                          <p:spTgt spid="50"/>
                                        </p:tgtEl>
                                      </p:cBhvr>
                                    </p:animEffect>
                                    <p:anim calcmode="lin" valueType="num">
                                      <p:cBhvr additive="base">
                                        <p:cTn id="73" dur="450" fill="hold" decel="100000"/>
                                        <p:tgtEl>
                                          <p:spTgt spid="50"/>
                                        </p:tgtEl>
                                        <p:attrNameLst>
                                          <p:attrName>ppt_x</p:attrName>
                                        </p:attrNameLst>
                                      </p:cBhvr>
                                      <p:tavLst>
                                        <p:tav tm="0">
                                          <p:val>
                                            <p:strVal val="#ppt_x"/>
                                          </p:val>
                                        </p:tav>
                                        <p:tav tm="100000">
                                          <p:val>
                                            <p:strVal val="#ppt_x"/>
                                          </p:val>
                                        </p:tav>
                                      </p:tavLst>
                                    </p:anim>
                                    <p:anim calcmode="lin" valueType="num">
                                      <p:cBhvr additive="base">
                                        <p:cTn id="74" dur="450" fill="hold" decel="100000"/>
                                        <p:tgtEl>
                                          <p:spTgt spid="50"/>
                                        </p:tgtEl>
                                        <p:attrNameLst>
                                          <p:attrName>ppt_y</p:attrName>
                                        </p:attrNameLst>
                                      </p:cBhvr>
                                      <p:tavLst>
                                        <p:tav tm="0">
                                          <p:val>
                                            <p:strVal val="#ppt_y+0.025"/>
                                          </p:val>
                                        </p:tav>
                                        <p:tav tm="100000">
                                          <p:val>
                                            <p:strVal val="#ppt_y"/>
                                          </p:val>
                                        </p:tav>
                                      </p:tavLst>
                                    </p:anim>
                                  </p:childTnLst>
                                </p:cTn>
                              </p:par>
                              <p:par>
                                <p:cTn id="75" presetID="42" presetClass="entr" presetSubtype="0" fill="hold" grpId="0" nodeType="withEffect">
                                  <p:stCondLst>
                                    <p:cond delay="900"/>
                                  </p:stCondLst>
                                  <p:childTnLst>
                                    <p:set>
                                      <p:cBhvr>
                                        <p:cTn id="76" dur="1" fill="hold">
                                          <p:stCondLst>
                                            <p:cond delay="0"/>
                                          </p:stCondLst>
                                        </p:cTn>
                                        <p:tgtEl>
                                          <p:spTgt spid="54"/>
                                        </p:tgtEl>
                                        <p:attrNameLst>
                                          <p:attrName>style.visibility</p:attrName>
                                        </p:attrNameLst>
                                      </p:cBhvr>
                                      <p:to>
                                        <p:strVal val="visible"/>
                                      </p:to>
                                    </p:set>
                                    <p:animEffect transition="in" filter="fade">
                                      <p:cBhvr>
                                        <p:cTn id="77" dur="450"/>
                                        <p:tgtEl>
                                          <p:spTgt spid="54"/>
                                        </p:tgtEl>
                                      </p:cBhvr>
                                    </p:animEffect>
                                    <p:anim calcmode="lin" valueType="num">
                                      <p:cBhvr additive="base">
                                        <p:cTn id="78" dur="450" fill="hold" decel="100000"/>
                                        <p:tgtEl>
                                          <p:spTgt spid="54"/>
                                        </p:tgtEl>
                                        <p:attrNameLst>
                                          <p:attrName>ppt_x</p:attrName>
                                        </p:attrNameLst>
                                      </p:cBhvr>
                                      <p:tavLst>
                                        <p:tav tm="0">
                                          <p:val>
                                            <p:strVal val="#ppt_x"/>
                                          </p:val>
                                        </p:tav>
                                        <p:tav tm="100000">
                                          <p:val>
                                            <p:strVal val="#ppt_x"/>
                                          </p:val>
                                        </p:tav>
                                      </p:tavLst>
                                    </p:anim>
                                    <p:anim calcmode="lin" valueType="num">
                                      <p:cBhvr additive="base">
                                        <p:cTn id="79" dur="450" fill="hold" decel="100000"/>
                                        <p:tgtEl>
                                          <p:spTgt spid="54"/>
                                        </p:tgtEl>
                                        <p:attrNameLst>
                                          <p:attrName>ppt_y</p:attrName>
                                        </p:attrNameLst>
                                      </p:cBhvr>
                                      <p:tavLst>
                                        <p:tav tm="0">
                                          <p:val>
                                            <p:strVal val="#ppt_y+0.025"/>
                                          </p:val>
                                        </p:tav>
                                        <p:tav tm="100000">
                                          <p:val>
                                            <p:strVal val="#ppt_y"/>
                                          </p:val>
                                        </p:tav>
                                      </p:tavLst>
                                    </p:anim>
                                  </p:childTnLst>
                                </p:cTn>
                              </p:par>
                              <p:par>
                                <p:cTn id="80" presetID="42" presetClass="entr" presetSubtype="0" fill="hold" grpId="0" nodeType="withEffect">
                                  <p:stCondLst>
                                    <p:cond delay="1100"/>
                                  </p:stCondLst>
                                  <p:childTnLst>
                                    <p:set>
                                      <p:cBhvr>
                                        <p:cTn id="81" dur="1" fill="hold">
                                          <p:stCondLst>
                                            <p:cond delay="0"/>
                                          </p:stCondLst>
                                        </p:cTn>
                                        <p:tgtEl>
                                          <p:spTgt spid="58"/>
                                        </p:tgtEl>
                                        <p:attrNameLst>
                                          <p:attrName>style.visibility</p:attrName>
                                        </p:attrNameLst>
                                      </p:cBhvr>
                                      <p:to>
                                        <p:strVal val="visible"/>
                                      </p:to>
                                    </p:set>
                                    <p:animEffect transition="in" filter="fade">
                                      <p:cBhvr>
                                        <p:cTn id="82" dur="450"/>
                                        <p:tgtEl>
                                          <p:spTgt spid="58"/>
                                        </p:tgtEl>
                                      </p:cBhvr>
                                    </p:animEffect>
                                    <p:anim calcmode="lin" valueType="num">
                                      <p:cBhvr additive="base">
                                        <p:cTn id="83" dur="450" fill="hold" decel="100000"/>
                                        <p:tgtEl>
                                          <p:spTgt spid="58"/>
                                        </p:tgtEl>
                                        <p:attrNameLst>
                                          <p:attrName>ppt_x</p:attrName>
                                        </p:attrNameLst>
                                      </p:cBhvr>
                                      <p:tavLst>
                                        <p:tav tm="0">
                                          <p:val>
                                            <p:strVal val="#ppt_x"/>
                                          </p:val>
                                        </p:tav>
                                        <p:tav tm="100000">
                                          <p:val>
                                            <p:strVal val="#ppt_x"/>
                                          </p:val>
                                        </p:tav>
                                      </p:tavLst>
                                    </p:anim>
                                    <p:anim calcmode="lin" valueType="num">
                                      <p:cBhvr additive="base">
                                        <p:cTn id="84" dur="450" fill="hold" decel="100000"/>
                                        <p:tgtEl>
                                          <p:spTgt spid="58"/>
                                        </p:tgtEl>
                                        <p:attrNameLst>
                                          <p:attrName>ppt_y</p:attrName>
                                        </p:attrNameLst>
                                      </p:cBhvr>
                                      <p:tavLst>
                                        <p:tav tm="0">
                                          <p:val>
                                            <p:strVal val="#ppt_y+0.025"/>
                                          </p:val>
                                        </p:tav>
                                        <p:tav tm="100000">
                                          <p:val>
                                            <p:strVal val="#ppt_y"/>
                                          </p:val>
                                        </p:tav>
                                      </p:tavLst>
                                    </p:anim>
                                  </p:childTnLst>
                                </p:cTn>
                              </p:par>
                              <p:par>
                                <p:cTn id="85" presetID="42" presetClass="entr" presetSubtype="0" fill="hold" grpId="0" nodeType="withEffect">
                                  <p:stCondLst>
                                    <p:cond delay="1450"/>
                                  </p:stCondLst>
                                  <p:childTnLst>
                                    <p:set>
                                      <p:cBhvr>
                                        <p:cTn id="86" dur="1" fill="hold">
                                          <p:stCondLst>
                                            <p:cond delay="0"/>
                                          </p:stCondLst>
                                        </p:cTn>
                                        <p:tgtEl>
                                          <p:spTgt spid="62"/>
                                        </p:tgtEl>
                                        <p:attrNameLst>
                                          <p:attrName>style.visibility</p:attrName>
                                        </p:attrNameLst>
                                      </p:cBhvr>
                                      <p:to>
                                        <p:strVal val="visible"/>
                                      </p:to>
                                    </p:set>
                                    <p:animEffect transition="in" filter="fade">
                                      <p:cBhvr>
                                        <p:cTn id="87" dur="450"/>
                                        <p:tgtEl>
                                          <p:spTgt spid="62"/>
                                        </p:tgtEl>
                                      </p:cBhvr>
                                    </p:animEffect>
                                    <p:anim calcmode="lin" valueType="num">
                                      <p:cBhvr additive="base">
                                        <p:cTn id="88" dur="450" fill="hold" decel="100000"/>
                                        <p:tgtEl>
                                          <p:spTgt spid="62"/>
                                        </p:tgtEl>
                                        <p:attrNameLst>
                                          <p:attrName>ppt_x</p:attrName>
                                        </p:attrNameLst>
                                      </p:cBhvr>
                                      <p:tavLst>
                                        <p:tav tm="0">
                                          <p:val>
                                            <p:strVal val="#ppt_x"/>
                                          </p:val>
                                        </p:tav>
                                        <p:tav tm="100000">
                                          <p:val>
                                            <p:strVal val="#ppt_x"/>
                                          </p:val>
                                        </p:tav>
                                      </p:tavLst>
                                    </p:anim>
                                    <p:anim calcmode="lin" valueType="num">
                                      <p:cBhvr additive="base">
                                        <p:cTn id="89" dur="450" fill="hold" decel="100000"/>
                                        <p:tgtEl>
                                          <p:spTgt spid="62"/>
                                        </p:tgtEl>
                                        <p:attrNameLst>
                                          <p:attrName>ppt_y</p:attrName>
                                        </p:attrNameLst>
                                      </p:cBhvr>
                                      <p:tavLst>
                                        <p:tav tm="0">
                                          <p:val>
                                            <p:strVal val="#ppt_y+0.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33" grpId="0" animBg="1"/>
      <p:bldP spid="49"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grpSp>
        <p:nvGrpSpPr>
          <p:cNvPr id="2" name="Group 1"/>
          <p:cNvGrpSpPr/>
          <p:nvPr/>
        </p:nvGrpSpPr>
        <p:grpSpPr>
          <a:xfrm>
            <a:off x="685800" y="384048"/>
            <a:ext cx="292608" cy="292608"/>
            <a:chOff x="685800" y="384048"/>
            <a:chExt cx="292608" cy="292608"/>
          </a:xfrm>
        </p:grpSpPr>
        <p:sp>
          <p:nvSpPr>
            <p:cNvPr id="3" name="Oval 2"/>
            <p:cNvSpPr/>
            <p:nvPr/>
          </p:nvSpPr>
          <p:spPr>
            <a:xfrm>
              <a:off x="685800" y="384048"/>
              <a:ext cx="292608" cy="292608"/>
            </a:xfrm>
            <a:prstGeom prst="ellipse">
              <a:avLst/>
            </a:prstGeom>
            <a:solidFill>
              <a:srgbClr val="16130E"/>
            </a:solidFill>
            <a:ln>
              <a:noFill/>
            </a:ln>
          </p:spPr>
          <p:txBody>
            <a:bodyPr rtlCol="0" anchor="ctr"/>
            <a:lstStyle/>
            <a:p>
              <a:pPr algn="ctr"/>
            </a:p>
          </p:txBody>
        </p:sp>
        <p:sp>
          <p:nvSpPr>
            <p:cNvPr id="4" name="Freeform 3"/>
            <p:cNvSpPr/>
            <p:nvPr/>
          </p:nvSpPr>
          <p:spPr>
            <a:xfrm>
              <a:off x="772852" y="517188"/>
              <a:ext cx="72424" cy="72424"/>
            </a:xfrm>
            <a:custGeom>
              <a:avLst/>
              <a:gdLst/>
              <a:ahLst/>
              <a:cxnLst/>
              <a:rect l="l" t="t" r="r" b="b"/>
              <a:pathLst>
                <a:path w="11" h="11">
                  <a:moveTo>
                    <a:pt x="11" y="2"/>
                  </a:moveTo>
                  <a:lnTo>
                    <a:pt x="3" y="10"/>
                  </a:lnTo>
                  <a:lnTo>
                    <a:pt x="2" y="11"/>
                  </a:lnTo>
                  <a:lnTo>
                    <a:pt x="1" y="10"/>
                  </a:lnTo>
                  <a:lnTo>
                    <a:pt x="0" y="9"/>
                  </a:lnTo>
                  <a:lnTo>
                    <a:pt x="1" y="8"/>
                  </a:lnTo>
                  <a:lnTo>
                    <a:pt x="9" y="0"/>
                  </a:lnTo>
                </a:path>
              </a:pathLst>
            </a:custGeom>
            <a:noFill/>
            <a:ln w="13167" cap="rnd">
              <a:solidFill>
                <a:srgbClr val="F4EFE4"/>
              </a:solidFill>
              <a:round/>
            </a:ln>
          </p:spPr>
          <p:txBody>
            <a:bodyPr rtlCol="0" anchor="ctr"/>
            <a:lstStyle/>
            <a:p>
              <a:pPr algn="ctr"/>
            </a:p>
          </p:txBody>
        </p:sp>
        <p:sp>
          <p:nvSpPr>
            <p:cNvPr id="5" name="Freeform 4"/>
            <p:cNvSpPr/>
            <p:nvPr/>
          </p:nvSpPr>
          <p:spPr>
            <a:xfrm>
              <a:off x="858444" y="517188"/>
              <a:ext cx="39504" cy="39504"/>
            </a:xfrm>
            <a:custGeom>
              <a:avLst/>
              <a:gdLst/>
              <a:ahLst/>
              <a:cxnLst/>
              <a:rect l="l" t="t" r="r" b="b"/>
              <a:pathLst>
                <a:path w="6" h="6">
                  <a:moveTo>
                    <a:pt x="0" y="6"/>
                  </a:moveTo>
                  <a:lnTo>
                    <a:pt x="6" y="0"/>
                  </a:lnTo>
                </a:path>
              </a:pathLst>
            </a:custGeom>
            <a:noFill/>
            <a:ln w="13167" cap="rnd">
              <a:solidFill>
                <a:srgbClr val="F4EFE4"/>
              </a:solidFill>
              <a:round/>
            </a:ln>
          </p:spPr>
          <p:txBody>
            <a:bodyPr rtlCol="0" anchor="ctr"/>
            <a:lstStyle/>
            <a:p>
              <a:pPr algn="ctr"/>
            </a:p>
          </p:txBody>
        </p:sp>
        <p:sp>
          <p:nvSpPr>
            <p:cNvPr id="6" name="Freeform 5"/>
            <p:cNvSpPr/>
            <p:nvPr/>
          </p:nvSpPr>
          <p:spPr>
            <a:xfrm>
              <a:off x="805772" y="464516"/>
              <a:ext cx="39504" cy="39504"/>
            </a:xfrm>
            <a:custGeom>
              <a:avLst/>
              <a:gdLst/>
              <a:ahLst/>
              <a:cxnLst/>
              <a:rect l="l" t="t" r="r" b="b"/>
              <a:pathLst>
                <a:path w="6" h="6">
                  <a:moveTo>
                    <a:pt x="0" y="6"/>
                  </a:moveTo>
                  <a:lnTo>
                    <a:pt x="6" y="0"/>
                  </a:lnTo>
                </a:path>
              </a:pathLst>
            </a:custGeom>
            <a:noFill/>
            <a:ln w="13167" cap="rnd">
              <a:solidFill>
                <a:srgbClr val="F4EFE4"/>
              </a:solidFill>
              <a:round/>
            </a:ln>
          </p:spPr>
          <p:txBody>
            <a:bodyPr rtlCol="0" anchor="ctr"/>
            <a:lstStyle/>
            <a:p>
              <a:pPr algn="ctr"/>
            </a:p>
          </p:txBody>
        </p:sp>
        <p:sp>
          <p:nvSpPr>
            <p:cNvPr id="7" name="Freeform 6"/>
            <p:cNvSpPr/>
            <p:nvPr/>
          </p:nvSpPr>
          <p:spPr>
            <a:xfrm>
              <a:off x="812356" y="497436"/>
              <a:ext cx="52672" cy="52672"/>
            </a:xfrm>
            <a:custGeom>
              <a:avLst/>
              <a:gdLst/>
              <a:ahLst/>
              <a:cxnLst/>
              <a:rect l="l" t="t" r="r" b="b"/>
              <a:pathLst>
                <a:path w="8" h="8">
                  <a:moveTo>
                    <a:pt x="0" y="0"/>
                  </a:moveTo>
                  <a:lnTo>
                    <a:pt x="8" y="8"/>
                  </a:lnTo>
                </a:path>
              </a:pathLst>
            </a:custGeom>
            <a:noFill/>
            <a:ln w="13167" cap="rnd">
              <a:solidFill>
                <a:srgbClr val="F4EFE4"/>
              </a:solidFill>
              <a:round/>
            </a:ln>
          </p:spPr>
          <p:txBody>
            <a:bodyPr rtlCol="0" anchor="ctr"/>
            <a:lstStyle/>
            <a:p>
              <a:pPr algn="ctr"/>
            </a:p>
          </p:txBody>
        </p:sp>
        <p:sp>
          <p:nvSpPr>
            <p:cNvPr id="8" name="Freeform 7"/>
            <p:cNvSpPr/>
            <p:nvPr/>
          </p:nvSpPr>
          <p:spPr>
            <a:xfrm>
              <a:off x="838692" y="471100"/>
              <a:ext cx="52672" cy="52672"/>
            </a:xfrm>
            <a:custGeom>
              <a:avLst/>
              <a:gdLst/>
              <a:ahLst/>
              <a:cxnLst/>
              <a:rect l="l" t="t" r="r" b="b"/>
              <a:pathLst>
                <a:path w="8" h="8">
                  <a:moveTo>
                    <a:pt x="8" y="8"/>
                  </a:moveTo>
                  <a:lnTo>
                    <a:pt x="0" y="0"/>
                  </a:lnTo>
                </a:path>
              </a:pathLst>
            </a:custGeom>
            <a:noFill/>
            <a:ln w="13167" cap="rnd">
              <a:solidFill>
                <a:srgbClr val="F4EFE4"/>
              </a:solidFill>
              <a:round/>
            </a:ln>
          </p:spPr>
          <p:txBody>
            <a:bodyPr rtlCol="0" anchor="ctr"/>
            <a:lstStyle/>
            <a:p>
              <a:pPr algn="ctr"/>
            </a:p>
          </p:txBody>
        </p:sp>
      </p:grpSp>
      <p:sp>
        <p:nvSpPr>
          <p:cNvPr id="9" name="TextBox 8"/>
          <p:cNvSpPr txBox="1"/>
          <p:nvPr/>
        </p:nvSpPr>
        <p:spPr>
          <a:xfrm>
            <a:off x="1060704" y="347472"/>
            <a:ext cx="2286000" cy="365760"/>
          </a:xfrm>
          <a:prstGeom prst="rect">
            <a:avLst/>
          </a:prstGeom>
          <a:noFill/>
        </p:spPr>
        <p:txBody>
          <a:bodyPr wrap="square" lIns="0" rIns="0" tIns="0" bIns="0" anchor="ctr">
            <a:noAutofit/>
          </a:bodyPr>
          <a:lstStyle/>
          <a:p>
            <a:pPr algn="l"/>
            <a:r>
              <a:rPr sz="1700" b="0" i="0">
                <a:solidFill>
                  <a:srgbClr val="16130E"/>
                </a:solidFill>
                <a:latin typeface="Georgia" panose="02040502050405020303" pitchFamily="18" charset="0"/>
              </a:rPr>
              <a:t>Bidwire</a:t>
            </a:r>
          </a:p>
        </p:txBody>
      </p:sp>
      <p:sp>
        <p:nvSpPr>
          <p:cNvPr id="10" name="TextBox 9"/>
          <p:cNvSpPr txBox="1"/>
          <p:nvPr/>
        </p:nvSpPr>
        <p:spPr>
          <a:xfrm>
            <a:off x="6019495" y="420624"/>
            <a:ext cx="5486400" cy="219456"/>
          </a:xfrm>
          <a:prstGeom prst="rect">
            <a:avLst/>
          </a:prstGeom>
          <a:noFill/>
        </p:spPr>
        <p:txBody>
          <a:bodyPr wrap="square" lIns="0" rIns="0" tIns="0" bIns="0" anchor="ctr">
            <a:noAutofit/>
          </a:bodyPr>
          <a:lstStyle/>
          <a:p>
            <a:pPr algn="r"/>
            <a:r>
              <a:rPr sz="850" b="1" i="0" spc="110">
                <a:solidFill>
                  <a:srgbClr val="9C937F"/>
                </a:solidFill>
                <a:latin typeface="Inter" panose="020B0502030000000004" pitchFamily="34" charset="0"/>
              </a:rPr>
              <a:t>LOT 09  ·  WHAT WE BUILT IN 24 HOURS</a:t>
            </a:r>
          </a:p>
        </p:txBody>
      </p:sp>
      <p:sp>
        <p:nvSpPr>
          <p:cNvPr id="11" name="Rectangle 10"/>
          <p:cNvSpPr/>
          <p:nvPr/>
        </p:nvSpPr>
        <p:spPr>
          <a:xfrm>
            <a:off x="685800" y="822960"/>
            <a:ext cx="10820095" cy="7315"/>
          </a:xfrm>
          <a:prstGeom prst="rect">
            <a:avLst/>
          </a:prstGeom>
          <a:solidFill>
            <a:srgbClr val="E2D9C6"/>
          </a:solidFill>
          <a:ln>
            <a:noFill/>
          </a:ln>
        </p:spPr>
        <p:txBody>
          <a:bodyPr rtlCol="0" anchor="ctr"/>
          <a:lstStyle/>
          <a:p>
            <a:pPr algn="ctr"/>
          </a:p>
        </p:txBody>
      </p:sp>
      <p:sp>
        <p:nvSpPr>
          <p:cNvPr id="12" name="TextBox 11"/>
          <p:cNvSpPr txBox="1"/>
          <p:nvPr/>
        </p:nvSpPr>
        <p:spPr>
          <a:xfrm>
            <a:off x="685800" y="6400800"/>
            <a:ext cx="6400800" cy="237744"/>
          </a:xfrm>
          <a:prstGeom prst="rect">
            <a:avLst/>
          </a:prstGeom>
          <a:noFill/>
        </p:spPr>
        <p:txBody>
          <a:bodyPr wrap="square" lIns="0" rIns="0" tIns="0" bIns="0" anchor="ctr">
            <a:noAutofit/>
          </a:bodyPr>
          <a:lstStyle/>
          <a:p>
            <a:pPr algn="l"/>
            <a:r>
              <a:rPr sz="850" b="0" i="0">
                <a:solidFill>
                  <a:srgbClr val="9C937F"/>
                </a:solidFill>
                <a:latin typeface="Inter" panose="020B0502030000000004" pitchFamily="34" charset="0"/>
              </a:rPr>
              <a:t>Bidwire · the auction house for AI agents · YC Make Something Agents Want · Oct 18, 2026</a:t>
            </a:r>
          </a:p>
        </p:txBody>
      </p:sp>
      <p:sp>
        <p:nvSpPr>
          <p:cNvPr id="13" name="TextBox 12"/>
          <p:cNvSpPr txBox="1"/>
          <p:nvPr/>
        </p:nvSpPr>
        <p:spPr>
          <a:xfrm>
            <a:off x="6933895" y="6400800"/>
            <a:ext cx="4572000" cy="237744"/>
          </a:xfrm>
          <a:prstGeom prst="rect">
            <a:avLst/>
          </a:prstGeom>
          <a:noFill/>
        </p:spPr>
        <p:txBody>
          <a:bodyPr wrap="square" lIns="0" rIns="0" tIns="0" bIns="0" anchor="ctr">
            <a:noAutofit/>
          </a:bodyPr>
          <a:lstStyle/>
          <a:p>
            <a:pPr algn="r"/>
            <a:r>
              <a:rPr sz="850" b="0" i="0">
                <a:solidFill>
                  <a:srgbClr val="9C937F"/>
                </a:solidFill>
                <a:latin typeface="Inter" panose="020B0502030000000004" pitchFamily="34" charset="0"/>
              </a:rPr>
              <a:t>github.com/vnmoorthy/bidwire</a:t>
            </a:r>
          </a:p>
        </p:txBody>
      </p:sp>
      <p:sp>
        <p:nvSpPr>
          <p:cNvPr id="14" name="Rectangle 13"/>
          <p:cNvSpPr/>
          <p:nvPr/>
        </p:nvSpPr>
        <p:spPr>
          <a:xfrm>
            <a:off x="0" y="6825996"/>
            <a:ext cx="12191695" cy="32004"/>
          </a:xfrm>
          <a:prstGeom prst="rect">
            <a:avLst/>
          </a:prstGeom>
          <a:solidFill>
            <a:srgbClr val="E2D9C6"/>
          </a:solidFill>
          <a:ln>
            <a:noFill/>
          </a:ln>
        </p:spPr>
        <p:txBody>
          <a:bodyPr rtlCol="0" anchor="ctr"/>
          <a:lstStyle/>
          <a:p>
            <a:pPr algn="ctr"/>
          </a:p>
        </p:txBody>
      </p:sp>
      <p:sp>
        <p:nvSpPr>
          <p:cNvPr id="15" name="Rectangle 14"/>
          <p:cNvSpPr/>
          <p:nvPr/>
        </p:nvSpPr>
        <p:spPr>
          <a:xfrm>
            <a:off x="0" y="6825996"/>
            <a:ext cx="10972526" cy="32004"/>
          </a:xfrm>
          <a:prstGeom prst="rect">
            <a:avLst/>
          </a:prstGeom>
          <a:solidFill>
            <a:srgbClr val="B0894F"/>
          </a:solidFill>
          <a:ln>
            <a:noFill/>
          </a:ln>
        </p:spPr>
        <p:txBody>
          <a:bodyPr rtlCol="0" anchor="ctr"/>
          <a:lstStyle/>
          <a:p>
            <a:pPr algn="ctr"/>
          </a:p>
        </p:txBody>
      </p:sp>
      <p:sp>
        <p:nvSpPr>
          <p:cNvPr id="16" name="TextBox 15"/>
          <p:cNvSpPr txBox="1"/>
          <p:nvPr/>
        </p:nvSpPr>
        <p:spPr>
          <a:xfrm>
            <a:off x="685800" y="987552"/>
            <a:ext cx="10835640" cy="603504"/>
          </a:xfrm>
          <a:prstGeom prst="rect">
            <a:avLst/>
          </a:prstGeom>
          <a:noFill/>
        </p:spPr>
        <p:txBody>
          <a:bodyPr wrap="square" lIns="0" rIns="0" tIns="0" bIns="0" anchor="t">
            <a:noAutofit/>
          </a:bodyPr>
          <a:lstStyle/>
          <a:p>
            <a:pPr algn="l">
              <a:lnSpc>
                <a:spcPct val="98000"/>
              </a:lnSpc>
            </a:pPr>
            <a:r>
              <a:rPr sz="4000" b="0" i="0" spc="-40">
                <a:solidFill>
                  <a:srgbClr val="16130E"/>
                </a:solidFill>
                <a:latin typeface="Georgia" panose="02040502050405020303" pitchFamily="18" charset="0"/>
              </a:rPr>
              <a:t>Built in 24 hours. </a:t>
            </a:r>
            <a:r>
              <a:rPr sz="4000" b="0" i="1" spc="-40">
                <a:solidFill>
                  <a:srgbClr val="6E6658"/>
                </a:solidFill>
                <a:latin typeface="Georgia" panose="02040502050405020303" pitchFamily="18" charset="0"/>
              </a:rPr>
              <a:t>Running live.</a:t>
            </a:r>
          </a:p>
        </p:txBody>
      </p:sp>
      <p:sp>
        <p:nvSpPr>
          <p:cNvPr id="17" name="TextBox 16"/>
          <p:cNvSpPr txBox="1"/>
          <p:nvPr/>
        </p:nvSpPr>
        <p:spPr>
          <a:xfrm>
            <a:off x="685800" y="1737360"/>
            <a:ext cx="1828800" cy="219456"/>
          </a:xfrm>
          <a:prstGeom prst="rect">
            <a:avLst/>
          </a:prstGeom>
          <a:noFill/>
        </p:spPr>
        <p:txBody>
          <a:bodyPr wrap="square" lIns="0" rIns="0" tIns="0" bIns="0" anchor="ctr">
            <a:noAutofit/>
          </a:bodyPr>
          <a:lstStyle/>
          <a:p>
            <a:pPr algn="l"/>
            <a:r>
              <a:rPr sz="850" b="1" i="0" spc="110">
                <a:solidFill>
                  <a:srgbClr val="9C937F"/>
                </a:solidFill>
                <a:latin typeface="Inter" panose="020B0502030000000004" pitchFamily="34" charset="0"/>
              </a:rPr>
              <a:t>AGENTS · MCP</a:t>
            </a:r>
          </a:p>
        </p:txBody>
      </p:sp>
      <p:grpSp>
        <p:nvGrpSpPr>
          <p:cNvPr id="18" name="Group 17"/>
          <p:cNvGrpSpPr/>
          <p:nvPr/>
        </p:nvGrpSpPr>
        <p:grpSpPr>
          <a:xfrm>
            <a:off x="685800" y="2011680"/>
            <a:ext cx="1783080" cy="292608"/>
            <a:chOff x="685800" y="2011680"/>
            <a:chExt cx="1783080" cy="292608"/>
          </a:xfrm>
        </p:grpSpPr>
        <p:sp>
          <p:nvSpPr>
            <p:cNvPr id="19" name="Rounded Rectangle 18"/>
            <p:cNvSpPr/>
            <p:nvPr/>
          </p:nvSpPr>
          <p:spPr>
            <a:xfrm>
              <a:off x="685800" y="2011680"/>
              <a:ext cx="1783080" cy="292608"/>
            </a:xfrm>
            <a:prstGeom prst="roundRect">
              <a:avLst>
                <a:gd name="adj" fmla="val 50000"/>
              </a:avLst>
            </a:prstGeom>
            <a:solidFill>
              <a:srgbClr val="E6ECF6"/>
            </a:solidFill>
            <a:ln>
              <a:noFill/>
            </a:ln>
          </p:spPr>
          <p:txBody>
            <a:bodyPr rtlCol="0" anchor="ctr"/>
            <a:lstStyle/>
            <a:p>
              <a:pPr algn="ctr"/>
            </a:p>
          </p:txBody>
        </p:sp>
        <p:sp>
          <p:nvSpPr>
            <p:cNvPr id="20" name="TextBox 19"/>
            <p:cNvSpPr txBox="1"/>
            <p:nvPr/>
          </p:nvSpPr>
          <p:spPr>
            <a:xfrm>
              <a:off x="685800" y="2011680"/>
              <a:ext cx="1783080" cy="292608"/>
            </a:xfrm>
            <a:prstGeom prst="rect">
              <a:avLst/>
            </a:prstGeom>
            <a:noFill/>
          </p:spPr>
          <p:txBody>
            <a:bodyPr wrap="square" lIns="0" rIns="0" tIns="0" bIns="0" anchor="ctr">
              <a:noAutofit/>
            </a:bodyPr>
            <a:lstStyle/>
            <a:p>
              <a:pPr algn="ctr"/>
              <a:r>
                <a:rPr sz="1000" b="1" i="0">
                  <a:solidFill>
                    <a:srgbClr val="233F6E"/>
                  </a:solidFill>
                  <a:latin typeface="Inter" panose="020B0502030000000004" pitchFamily="34" charset="0"/>
                </a:rPr>
                <a:t>Claude Code</a:t>
              </a:r>
            </a:p>
          </p:txBody>
        </p:sp>
      </p:grpSp>
      <p:grpSp>
        <p:nvGrpSpPr>
          <p:cNvPr id="21" name="Group 20"/>
          <p:cNvGrpSpPr/>
          <p:nvPr/>
        </p:nvGrpSpPr>
        <p:grpSpPr>
          <a:xfrm>
            <a:off x="685800" y="2377440"/>
            <a:ext cx="1783080" cy="292608"/>
            <a:chOff x="685800" y="2377440"/>
            <a:chExt cx="1783080" cy="292608"/>
          </a:xfrm>
        </p:grpSpPr>
        <p:sp>
          <p:nvSpPr>
            <p:cNvPr id="22" name="Rounded Rectangle 21"/>
            <p:cNvSpPr/>
            <p:nvPr/>
          </p:nvSpPr>
          <p:spPr>
            <a:xfrm>
              <a:off x="685800" y="2377440"/>
              <a:ext cx="1783080" cy="292608"/>
            </a:xfrm>
            <a:prstGeom prst="roundRect">
              <a:avLst>
                <a:gd name="adj" fmla="val 50000"/>
              </a:avLst>
            </a:prstGeom>
            <a:solidFill>
              <a:srgbClr val="E6ECF6"/>
            </a:solidFill>
            <a:ln>
              <a:noFill/>
            </a:ln>
          </p:spPr>
          <p:txBody>
            <a:bodyPr rtlCol="0" anchor="ctr"/>
            <a:lstStyle/>
            <a:p>
              <a:pPr algn="ctr"/>
            </a:p>
          </p:txBody>
        </p:sp>
        <p:sp>
          <p:nvSpPr>
            <p:cNvPr id="23" name="TextBox 22"/>
            <p:cNvSpPr txBox="1"/>
            <p:nvPr/>
          </p:nvSpPr>
          <p:spPr>
            <a:xfrm>
              <a:off x="685800" y="2377440"/>
              <a:ext cx="1783080" cy="292608"/>
            </a:xfrm>
            <a:prstGeom prst="rect">
              <a:avLst/>
            </a:prstGeom>
            <a:noFill/>
          </p:spPr>
          <p:txBody>
            <a:bodyPr wrap="square" lIns="0" rIns="0" tIns="0" bIns="0" anchor="ctr">
              <a:noAutofit/>
            </a:bodyPr>
            <a:lstStyle/>
            <a:p>
              <a:pPr algn="ctr"/>
              <a:r>
                <a:rPr sz="1000" b="1" i="0">
                  <a:solidFill>
                    <a:srgbClr val="233F6E"/>
                  </a:solidFill>
                  <a:latin typeface="Inter" panose="020B0502030000000004" pitchFamily="34" charset="0"/>
                </a:rPr>
                <a:t>Claude Desktop</a:t>
              </a:r>
            </a:p>
          </p:txBody>
        </p:sp>
      </p:grpSp>
      <p:grpSp>
        <p:nvGrpSpPr>
          <p:cNvPr id="24" name="Group 23"/>
          <p:cNvGrpSpPr/>
          <p:nvPr/>
        </p:nvGrpSpPr>
        <p:grpSpPr>
          <a:xfrm>
            <a:off x="685800" y="2743200"/>
            <a:ext cx="1783080" cy="292608"/>
            <a:chOff x="685800" y="2743200"/>
            <a:chExt cx="1783080" cy="292608"/>
          </a:xfrm>
        </p:grpSpPr>
        <p:sp>
          <p:nvSpPr>
            <p:cNvPr id="25" name="Rounded Rectangle 24"/>
            <p:cNvSpPr/>
            <p:nvPr/>
          </p:nvSpPr>
          <p:spPr>
            <a:xfrm>
              <a:off x="685800" y="2743200"/>
              <a:ext cx="1783080" cy="292608"/>
            </a:xfrm>
            <a:prstGeom prst="roundRect">
              <a:avLst>
                <a:gd name="adj" fmla="val 50000"/>
              </a:avLst>
            </a:prstGeom>
            <a:solidFill>
              <a:srgbClr val="E6ECF6"/>
            </a:solidFill>
            <a:ln>
              <a:noFill/>
            </a:ln>
          </p:spPr>
          <p:txBody>
            <a:bodyPr rtlCol="0" anchor="ctr"/>
            <a:lstStyle/>
            <a:p>
              <a:pPr algn="ctr"/>
            </a:p>
          </p:txBody>
        </p:sp>
        <p:sp>
          <p:nvSpPr>
            <p:cNvPr id="26" name="TextBox 25"/>
            <p:cNvSpPr txBox="1"/>
            <p:nvPr/>
          </p:nvSpPr>
          <p:spPr>
            <a:xfrm>
              <a:off x="685800" y="2743200"/>
              <a:ext cx="1783080" cy="292608"/>
            </a:xfrm>
            <a:prstGeom prst="rect">
              <a:avLst/>
            </a:prstGeom>
            <a:noFill/>
          </p:spPr>
          <p:txBody>
            <a:bodyPr wrap="square" lIns="0" rIns="0" tIns="0" bIns="0" anchor="ctr">
              <a:noAutofit/>
            </a:bodyPr>
            <a:lstStyle/>
            <a:p>
              <a:pPr algn="ctr"/>
              <a:r>
                <a:rPr sz="1000" b="1" i="0">
                  <a:solidFill>
                    <a:srgbClr val="233F6E"/>
                  </a:solidFill>
                  <a:latin typeface="Inter" panose="020B0502030000000004" pitchFamily="34" charset="0"/>
                </a:rPr>
                <a:t>ChatGPT</a:t>
              </a:r>
            </a:p>
          </p:txBody>
        </p:sp>
      </p:grpSp>
      <p:grpSp>
        <p:nvGrpSpPr>
          <p:cNvPr id="27" name="Group 26"/>
          <p:cNvGrpSpPr/>
          <p:nvPr/>
        </p:nvGrpSpPr>
        <p:grpSpPr>
          <a:xfrm>
            <a:off x="685800" y="3108960"/>
            <a:ext cx="1783080" cy="292608"/>
            <a:chOff x="685800" y="3108960"/>
            <a:chExt cx="1783080" cy="292608"/>
          </a:xfrm>
        </p:grpSpPr>
        <p:sp>
          <p:nvSpPr>
            <p:cNvPr id="28" name="Rounded Rectangle 27"/>
            <p:cNvSpPr/>
            <p:nvPr/>
          </p:nvSpPr>
          <p:spPr>
            <a:xfrm>
              <a:off x="685800" y="3108960"/>
              <a:ext cx="1783080" cy="292608"/>
            </a:xfrm>
            <a:prstGeom prst="roundRect">
              <a:avLst>
                <a:gd name="adj" fmla="val 50000"/>
              </a:avLst>
            </a:prstGeom>
            <a:solidFill>
              <a:srgbClr val="E6ECF6"/>
            </a:solidFill>
            <a:ln>
              <a:noFill/>
            </a:ln>
          </p:spPr>
          <p:txBody>
            <a:bodyPr rtlCol="0" anchor="ctr"/>
            <a:lstStyle/>
            <a:p>
              <a:pPr algn="ctr"/>
            </a:p>
          </p:txBody>
        </p:sp>
        <p:sp>
          <p:nvSpPr>
            <p:cNvPr id="29" name="TextBox 28"/>
            <p:cNvSpPr txBox="1"/>
            <p:nvPr/>
          </p:nvSpPr>
          <p:spPr>
            <a:xfrm>
              <a:off x="685800" y="3108960"/>
              <a:ext cx="1783080" cy="292608"/>
            </a:xfrm>
            <a:prstGeom prst="rect">
              <a:avLst/>
            </a:prstGeom>
            <a:noFill/>
          </p:spPr>
          <p:txBody>
            <a:bodyPr wrap="square" lIns="0" rIns="0" tIns="0" bIns="0" anchor="ctr">
              <a:noAutofit/>
            </a:bodyPr>
            <a:lstStyle/>
            <a:p>
              <a:pPr algn="ctr"/>
              <a:r>
                <a:rPr sz="1000" b="1" i="0">
                  <a:solidFill>
                    <a:srgbClr val="233F6E"/>
                  </a:solidFill>
                  <a:latin typeface="Inter" panose="020B0502030000000004" pitchFamily="34" charset="0"/>
                </a:rPr>
                <a:t>Codex</a:t>
              </a:r>
            </a:p>
          </p:txBody>
        </p:sp>
      </p:grpSp>
      <p:grpSp>
        <p:nvGrpSpPr>
          <p:cNvPr id="30" name="Group 29"/>
          <p:cNvGrpSpPr/>
          <p:nvPr/>
        </p:nvGrpSpPr>
        <p:grpSpPr>
          <a:xfrm>
            <a:off x="685800" y="3474720"/>
            <a:ext cx="1783080" cy="292608"/>
            <a:chOff x="685800" y="3474720"/>
            <a:chExt cx="1783080" cy="292608"/>
          </a:xfrm>
        </p:grpSpPr>
        <p:sp>
          <p:nvSpPr>
            <p:cNvPr id="31" name="Rounded Rectangle 30"/>
            <p:cNvSpPr/>
            <p:nvPr/>
          </p:nvSpPr>
          <p:spPr>
            <a:xfrm>
              <a:off x="685800" y="3474720"/>
              <a:ext cx="1783080" cy="292608"/>
            </a:xfrm>
            <a:prstGeom prst="roundRect">
              <a:avLst>
                <a:gd name="adj" fmla="val 50000"/>
              </a:avLst>
            </a:prstGeom>
            <a:solidFill>
              <a:srgbClr val="E6ECF6"/>
            </a:solidFill>
            <a:ln>
              <a:noFill/>
            </a:ln>
          </p:spPr>
          <p:txBody>
            <a:bodyPr rtlCol="0" anchor="ctr"/>
            <a:lstStyle/>
            <a:p>
              <a:pPr algn="ctr"/>
            </a:p>
          </p:txBody>
        </p:sp>
        <p:sp>
          <p:nvSpPr>
            <p:cNvPr id="32" name="TextBox 31"/>
            <p:cNvSpPr txBox="1"/>
            <p:nvPr/>
          </p:nvSpPr>
          <p:spPr>
            <a:xfrm>
              <a:off x="685800" y="3474720"/>
              <a:ext cx="1783080" cy="292608"/>
            </a:xfrm>
            <a:prstGeom prst="rect">
              <a:avLst/>
            </a:prstGeom>
            <a:noFill/>
          </p:spPr>
          <p:txBody>
            <a:bodyPr wrap="square" lIns="0" rIns="0" tIns="0" bIns="0" anchor="ctr">
              <a:noAutofit/>
            </a:bodyPr>
            <a:lstStyle/>
            <a:p>
              <a:pPr algn="ctr"/>
              <a:r>
                <a:rPr sz="1000" b="1" i="0">
                  <a:solidFill>
                    <a:srgbClr val="233F6E"/>
                  </a:solidFill>
                  <a:latin typeface="Inter" panose="020B0502030000000004" pitchFamily="34" charset="0"/>
                </a:rPr>
                <a:t>Cursor</a:t>
              </a:r>
            </a:p>
          </p:txBody>
        </p:sp>
      </p:grpSp>
      <p:sp>
        <p:nvSpPr>
          <p:cNvPr id="33" name="TextBox 32"/>
          <p:cNvSpPr txBox="1"/>
          <p:nvPr/>
        </p:nvSpPr>
        <p:spPr>
          <a:xfrm>
            <a:off x="685800" y="3977640"/>
            <a:ext cx="1828800" cy="219456"/>
          </a:xfrm>
          <a:prstGeom prst="rect">
            <a:avLst/>
          </a:prstGeom>
          <a:noFill/>
        </p:spPr>
        <p:txBody>
          <a:bodyPr wrap="square" lIns="0" rIns="0" tIns="0" bIns="0" anchor="ctr">
            <a:noAutofit/>
          </a:bodyPr>
          <a:lstStyle/>
          <a:p>
            <a:pPr algn="l"/>
            <a:r>
              <a:rPr sz="850" b="1" i="0" spc="110">
                <a:solidFill>
                  <a:srgbClr val="9C937F"/>
                </a:solidFill>
                <a:latin typeface="Inter" panose="020B0502030000000004" pitchFamily="34" charset="0"/>
              </a:rPr>
              <a:t>MERCHANTS · PADDLES</a:t>
            </a:r>
          </a:p>
        </p:txBody>
      </p:sp>
      <p:grpSp>
        <p:nvGrpSpPr>
          <p:cNvPr id="34" name="Group 33"/>
          <p:cNvGrpSpPr/>
          <p:nvPr/>
        </p:nvGrpSpPr>
        <p:grpSpPr>
          <a:xfrm>
            <a:off x="685800" y="4251960"/>
            <a:ext cx="1783080" cy="292608"/>
            <a:chOff x="685800" y="4251960"/>
            <a:chExt cx="1783080" cy="292608"/>
          </a:xfrm>
        </p:grpSpPr>
        <p:sp>
          <p:nvSpPr>
            <p:cNvPr id="35" name="Rounded Rectangle 34"/>
            <p:cNvSpPr/>
            <p:nvPr/>
          </p:nvSpPr>
          <p:spPr>
            <a:xfrm>
              <a:off x="685800" y="4251960"/>
              <a:ext cx="1783080" cy="292608"/>
            </a:xfrm>
            <a:prstGeom prst="roundRect">
              <a:avLst>
                <a:gd name="adj" fmla="val 50000"/>
              </a:avLst>
            </a:prstGeom>
            <a:solidFill>
              <a:srgbClr val="EFE8D9"/>
            </a:solidFill>
            <a:ln>
              <a:noFill/>
            </a:ln>
          </p:spPr>
          <p:txBody>
            <a:bodyPr rtlCol="0" anchor="ctr"/>
            <a:lstStyle/>
            <a:p>
              <a:pPr algn="ctr"/>
            </a:p>
          </p:txBody>
        </p:sp>
        <p:sp>
          <p:nvSpPr>
            <p:cNvPr id="36" name="TextBox 35"/>
            <p:cNvSpPr txBox="1"/>
            <p:nvPr/>
          </p:nvSpPr>
          <p:spPr>
            <a:xfrm>
              <a:off x="685800" y="4251960"/>
              <a:ext cx="1783080" cy="292608"/>
            </a:xfrm>
            <a:prstGeom prst="rect">
              <a:avLst/>
            </a:prstGeom>
            <a:noFill/>
          </p:spPr>
          <p:txBody>
            <a:bodyPr wrap="square" lIns="0" rIns="0" tIns="0" bIns="0" anchor="ctr">
              <a:noAutofit/>
            </a:bodyPr>
            <a:lstStyle/>
            <a:p>
              <a:pPr algn="ctr"/>
              <a:r>
                <a:rPr sz="1000" b="1" i="0">
                  <a:solidFill>
                    <a:srgbClr val="6E6658"/>
                  </a:solidFill>
                  <a:latin typeface="Inter" panose="020B0502030000000004" pitchFamily="34" charset="0"/>
                </a:rPr>
                <a:t>9 bot personas</a:t>
              </a:r>
            </a:p>
          </p:txBody>
        </p:sp>
      </p:grpSp>
      <p:grpSp>
        <p:nvGrpSpPr>
          <p:cNvPr id="37" name="Group 36"/>
          <p:cNvGrpSpPr/>
          <p:nvPr/>
        </p:nvGrpSpPr>
        <p:grpSpPr>
          <a:xfrm>
            <a:off x="685800" y="4617720"/>
            <a:ext cx="1783080" cy="292608"/>
            <a:chOff x="685800" y="4617720"/>
            <a:chExt cx="1783080" cy="292608"/>
          </a:xfrm>
        </p:grpSpPr>
        <p:sp>
          <p:nvSpPr>
            <p:cNvPr id="38" name="Rounded Rectangle 37"/>
            <p:cNvSpPr/>
            <p:nvPr/>
          </p:nvSpPr>
          <p:spPr>
            <a:xfrm>
              <a:off x="685800" y="4617720"/>
              <a:ext cx="1783080" cy="292608"/>
            </a:xfrm>
            <a:prstGeom prst="roundRect">
              <a:avLst>
                <a:gd name="adj" fmla="val 50000"/>
              </a:avLst>
            </a:prstGeom>
            <a:solidFill>
              <a:srgbClr val="EFE8D9"/>
            </a:solidFill>
            <a:ln>
              <a:noFill/>
            </a:ln>
          </p:spPr>
          <p:txBody>
            <a:bodyPr rtlCol="0" anchor="ctr"/>
            <a:lstStyle/>
            <a:p>
              <a:pPr algn="ctr"/>
            </a:p>
          </p:txBody>
        </p:sp>
        <p:sp>
          <p:nvSpPr>
            <p:cNvPr id="39" name="TextBox 38"/>
            <p:cNvSpPr txBox="1"/>
            <p:nvPr/>
          </p:nvSpPr>
          <p:spPr>
            <a:xfrm>
              <a:off x="685800" y="4617720"/>
              <a:ext cx="1783080" cy="292608"/>
            </a:xfrm>
            <a:prstGeom prst="rect">
              <a:avLst/>
            </a:prstGeom>
            <a:noFill/>
          </p:spPr>
          <p:txBody>
            <a:bodyPr wrap="square" lIns="0" rIns="0" tIns="0" bIns="0" anchor="ctr">
              <a:noAutofit/>
            </a:bodyPr>
            <a:lstStyle/>
            <a:p>
              <a:pPr algn="ctr"/>
              <a:r>
                <a:rPr sz="1000" b="1" i="0">
                  <a:solidFill>
                    <a:srgbClr val="6E6658"/>
                  </a:solidFill>
                  <a:latin typeface="Inter" panose="020B0502030000000004" pitchFamily="34" charset="0"/>
                </a:rPr>
                <a:t>People on phones</a:t>
              </a:r>
            </a:p>
          </p:txBody>
        </p:sp>
      </p:grpSp>
      <p:grpSp>
        <p:nvGrpSpPr>
          <p:cNvPr id="40" name="Group 39"/>
          <p:cNvGrpSpPr/>
          <p:nvPr/>
        </p:nvGrpSpPr>
        <p:grpSpPr>
          <a:xfrm>
            <a:off x="685800" y="4983480"/>
            <a:ext cx="1783080" cy="292608"/>
            <a:chOff x="685800" y="4983480"/>
            <a:chExt cx="1783080" cy="292608"/>
          </a:xfrm>
        </p:grpSpPr>
        <p:sp>
          <p:nvSpPr>
            <p:cNvPr id="41" name="Rounded Rectangle 40"/>
            <p:cNvSpPr/>
            <p:nvPr/>
          </p:nvSpPr>
          <p:spPr>
            <a:xfrm>
              <a:off x="685800" y="4983480"/>
              <a:ext cx="1783080" cy="292608"/>
            </a:xfrm>
            <a:prstGeom prst="roundRect">
              <a:avLst>
                <a:gd name="adj" fmla="val 50000"/>
              </a:avLst>
            </a:prstGeom>
            <a:solidFill>
              <a:srgbClr val="EFE8D9"/>
            </a:solidFill>
            <a:ln>
              <a:noFill/>
            </a:ln>
          </p:spPr>
          <p:txBody>
            <a:bodyPr rtlCol="0" anchor="ctr"/>
            <a:lstStyle/>
            <a:p>
              <a:pPr algn="ctr"/>
            </a:p>
          </p:txBody>
        </p:sp>
        <p:sp>
          <p:nvSpPr>
            <p:cNvPr id="42" name="TextBox 41"/>
            <p:cNvSpPr txBox="1"/>
            <p:nvPr/>
          </p:nvSpPr>
          <p:spPr>
            <a:xfrm>
              <a:off x="685800" y="4983480"/>
              <a:ext cx="1783080" cy="292608"/>
            </a:xfrm>
            <a:prstGeom prst="rect">
              <a:avLst/>
            </a:prstGeom>
            <a:noFill/>
          </p:spPr>
          <p:txBody>
            <a:bodyPr wrap="square" lIns="0" rIns="0" tIns="0" bIns="0" anchor="ctr">
              <a:noAutofit/>
            </a:bodyPr>
            <a:lstStyle/>
            <a:p>
              <a:pPr algn="ctr"/>
              <a:r>
                <a:rPr sz="1000" b="1" i="0">
                  <a:solidFill>
                    <a:srgbClr val="6E6658"/>
                  </a:solidFill>
                  <a:latin typeface="Inter" panose="020B0502030000000004" pitchFamily="34" charset="0"/>
                </a:rPr>
                <a:t>Merchant agents</a:t>
              </a:r>
            </a:p>
          </p:txBody>
        </p:sp>
      </p:grpSp>
      <p:cxnSp>
        <p:nvCxnSpPr>
          <p:cNvPr id="43" name="Connector 42"/>
          <p:cNvCxnSpPr/>
          <p:nvPr/>
        </p:nvCxnSpPr>
        <p:spPr>
          <a:xfrm>
            <a:off x="2542032" y="2889504"/>
            <a:ext cx="310896" cy="0"/>
          </a:xfrm>
          <a:prstGeom prst="line">
            <a:avLst/>
          </a:prstGeom>
          <a:ln w="19050">
            <a:solidFill>
              <a:srgbClr val="CFC3AA"/>
            </a:solidFill>
            <a:tailEnd type="triangle" w="med" len="med"/>
          </a:ln>
        </p:spPr>
      </p:cxnSp>
      <p:cxnSp>
        <p:nvCxnSpPr>
          <p:cNvPr id="44" name="Connector 43"/>
          <p:cNvCxnSpPr/>
          <p:nvPr/>
        </p:nvCxnSpPr>
        <p:spPr>
          <a:xfrm>
            <a:off x="2542032" y="4617720"/>
            <a:ext cx="310896" cy="0"/>
          </a:xfrm>
          <a:prstGeom prst="line">
            <a:avLst/>
          </a:prstGeom>
          <a:ln w="19050">
            <a:solidFill>
              <a:srgbClr val="CFC3AA"/>
            </a:solidFill>
            <a:tailEnd type="triangle" w="med" len="med"/>
          </a:ln>
        </p:spPr>
      </p:cxnSp>
      <p:grpSp>
        <p:nvGrpSpPr>
          <p:cNvPr id="45" name="Group 44"/>
          <p:cNvGrpSpPr/>
          <p:nvPr/>
        </p:nvGrpSpPr>
        <p:grpSpPr>
          <a:xfrm>
            <a:off x="2880360" y="1737360"/>
            <a:ext cx="2788920" cy="4526280"/>
            <a:chOff x="2880360" y="1737360"/>
            <a:chExt cx="2788920" cy="4526280"/>
          </a:xfrm>
        </p:grpSpPr>
        <p:sp>
          <p:nvSpPr>
            <p:cNvPr id="46" name="Rounded Rectangle 45"/>
            <p:cNvSpPr/>
            <p:nvPr/>
          </p:nvSpPr>
          <p:spPr>
            <a:xfrm>
              <a:off x="2880360" y="1737360"/>
              <a:ext cx="2788920" cy="4526280"/>
            </a:xfrm>
            <a:prstGeom prst="roundRect">
              <a:avLst>
                <a:gd name="adj" fmla="val 1967"/>
              </a:avLst>
            </a:prstGeom>
            <a:solidFill>
              <a:srgbClr val="FFFDF7"/>
            </a:solidFill>
            <a:ln w="9525">
              <a:solidFill>
                <a:srgbClr val="E2D9C6"/>
              </a:solidFill>
            </a:ln>
          </p:spPr>
          <p:txBody>
            <a:bodyPr rtlCol="0" anchor="ctr"/>
            <a:lstStyle/>
            <a:p>
              <a:pPr algn="ctr"/>
            </a:p>
          </p:txBody>
        </p:sp>
        <p:sp>
          <p:nvSpPr>
            <p:cNvPr id="47" name="Rectangle 46"/>
            <p:cNvSpPr/>
            <p:nvPr/>
          </p:nvSpPr>
          <p:spPr>
            <a:xfrm>
              <a:off x="2880360" y="1737360"/>
              <a:ext cx="2788920" cy="41148"/>
            </a:xfrm>
            <a:prstGeom prst="rect">
              <a:avLst/>
            </a:prstGeom>
            <a:solidFill>
              <a:srgbClr val="16130E"/>
            </a:solidFill>
            <a:ln>
              <a:noFill/>
            </a:ln>
          </p:spPr>
          <p:txBody>
            <a:bodyPr rtlCol="0" anchor="ctr"/>
            <a:lstStyle/>
            <a:p>
              <a:pPr algn="ctr"/>
            </a:p>
          </p:txBody>
        </p:sp>
        <p:sp>
          <p:nvSpPr>
            <p:cNvPr id="48" name="TextBox 47"/>
            <p:cNvSpPr txBox="1"/>
            <p:nvPr/>
          </p:nvSpPr>
          <p:spPr>
            <a:xfrm>
              <a:off x="3063240" y="1865376"/>
              <a:ext cx="2468880" cy="310896"/>
            </a:xfrm>
            <a:prstGeom prst="rect">
              <a:avLst/>
            </a:prstGeom>
            <a:noFill/>
          </p:spPr>
          <p:txBody>
            <a:bodyPr wrap="square" lIns="0" rIns="0" tIns="0" bIns="0" anchor="ctr">
              <a:noAutofit/>
            </a:bodyPr>
            <a:lstStyle/>
            <a:p>
              <a:pPr algn="l"/>
              <a:r>
                <a:rPr sz="1600" b="0" i="0">
                  <a:solidFill>
                    <a:srgbClr val="16130E"/>
                  </a:solidFill>
                  <a:latin typeface="Georgia" panose="02040502050405020303" pitchFamily="18" charset="0"/>
                </a:rPr>
                <a:t>Bidwire server</a:t>
              </a:r>
            </a:p>
          </p:txBody>
        </p:sp>
        <p:sp>
          <p:nvSpPr>
            <p:cNvPr id="49" name="TextBox 48"/>
            <p:cNvSpPr txBox="1"/>
            <p:nvPr/>
          </p:nvSpPr>
          <p:spPr>
            <a:xfrm>
              <a:off x="3063240" y="2157984"/>
              <a:ext cx="2468880" cy="256032"/>
            </a:xfrm>
            <a:prstGeom prst="rect">
              <a:avLst/>
            </a:prstGeom>
            <a:noFill/>
          </p:spPr>
          <p:txBody>
            <a:bodyPr wrap="square" lIns="0" rIns="0" tIns="0" bIns="0" anchor="ctr">
              <a:noAutofit/>
            </a:bodyPr>
            <a:lstStyle/>
            <a:p>
              <a:pPr algn="l"/>
              <a:r>
                <a:rPr sz="950" b="0" i="0">
                  <a:solidFill>
                    <a:srgbClr val="6E6658"/>
                  </a:solidFill>
                  <a:latin typeface="Inter" panose="020B0502030000000004" pitchFamily="34" charset="0"/>
                </a:rPr>
                <a:t>mcp-use v2 · Hono · TypeScript</a:t>
              </a:r>
            </a:p>
          </p:txBody>
        </p:sp>
      </p:grpSp>
      <p:grpSp>
        <p:nvGrpSpPr>
          <p:cNvPr id="50" name="Group 49"/>
          <p:cNvGrpSpPr/>
          <p:nvPr/>
        </p:nvGrpSpPr>
        <p:grpSpPr>
          <a:xfrm>
            <a:off x="3063240" y="2542032"/>
            <a:ext cx="2423160" cy="621792"/>
            <a:chOff x="3063240" y="2542032"/>
            <a:chExt cx="2423160" cy="621792"/>
          </a:xfrm>
        </p:grpSpPr>
        <p:sp>
          <p:nvSpPr>
            <p:cNvPr id="51" name="Rounded Rectangle 50"/>
            <p:cNvSpPr/>
            <p:nvPr/>
          </p:nvSpPr>
          <p:spPr>
            <a:xfrm>
              <a:off x="3063240" y="2542032"/>
              <a:ext cx="2423160" cy="621792"/>
            </a:xfrm>
            <a:prstGeom prst="roundRect">
              <a:avLst>
                <a:gd name="adj" fmla="val 5882"/>
              </a:avLst>
            </a:prstGeom>
            <a:solidFill>
              <a:srgbClr val="EFE8D9"/>
            </a:solidFill>
            <a:ln>
              <a:noFill/>
            </a:ln>
          </p:spPr>
          <p:txBody>
            <a:bodyPr rtlCol="0" anchor="ctr"/>
            <a:lstStyle/>
            <a:p>
              <a:pPr algn="ctr"/>
            </a:p>
          </p:txBody>
        </p:sp>
        <p:sp>
          <p:nvSpPr>
            <p:cNvPr id="52" name="TextBox 51"/>
            <p:cNvSpPr txBox="1"/>
            <p:nvPr/>
          </p:nvSpPr>
          <p:spPr>
            <a:xfrm>
              <a:off x="3200400" y="2587752"/>
              <a:ext cx="2194560" cy="256032"/>
            </a:xfrm>
            <a:prstGeom prst="rect">
              <a:avLst/>
            </a:prstGeom>
            <a:noFill/>
          </p:spPr>
          <p:txBody>
            <a:bodyPr wrap="square" lIns="0" rIns="0" tIns="0" bIns="0" anchor="ctr">
              <a:noAutofit/>
            </a:bodyPr>
            <a:lstStyle/>
            <a:p>
              <a:pPr algn="l"/>
              <a:r>
                <a:rPr sz="1000" b="1" i="0">
                  <a:solidFill>
                    <a:srgbClr val="16130E"/>
                  </a:solidFill>
                  <a:latin typeface="JetBrains Mono" panose="02000009000000000000" pitchFamily="49" charset="0"/>
                </a:rPr>
                <a:t>/mcp</a:t>
              </a:r>
            </a:p>
          </p:txBody>
        </p:sp>
        <p:sp>
          <p:nvSpPr>
            <p:cNvPr id="53" name="TextBox 52"/>
            <p:cNvSpPr txBox="1"/>
            <p:nvPr/>
          </p:nvSpPr>
          <p:spPr>
            <a:xfrm>
              <a:off x="3200400" y="2843784"/>
              <a:ext cx="2212848" cy="292608"/>
            </a:xfrm>
            <a:prstGeom prst="rect">
              <a:avLst/>
            </a:prstGeom>
            <a:noFill/>
          </p:spPr>
          <p:txBody>
            <a:bodyPr wrap="square" lIns="0" rIns="0" tIns="0" bIns="0" anchor="ctr">
              <a:noAutofit/>
            </a:bodyPr>
            <a:lstStyle/>
            <a:p>
              <a:pPr algn="l"/>
              <a:r>
                <a:rPr sz="850" b="0" i="0">
                  <a:solidFill>
                    <a:srgbClr val="6E6658"/>
                  </a:solidFill>
                  <a:latin typeface="Inter" panose="020B0502030000000004" pitchFamily="34" charset="0"/>
                </a:rPr>
                <a:t>12 tools · 3 resources · 2 prompts</a:t>
              </a:r>
            </a:p>
          </p:txBody>
        </p:sp>
      </p:grpSp>
      <p:grpSp>
        <p:nvGrpSpPr>
          <p:cNvPr id="54" name="Group 53"/>
          <p:cNvGrpSpPr/>
          <p:nvPr/>
        </p:nvGrpSpPr>
        <p:grpSpPr>
          <a:xfrm>
            <a:off x="3063240" y="3264408"/>
            <a:ext cx="2423160" cy="621792"/>
            <a:chOff x="3063240" y="3264408"/>
            <a:chExt cx="2423160" cy="621792"/>
          </a:xfrm>
        </p:grpSpPr>
        <p:sp>
          <p:nvSpPr>
            <p:cNvPr id="55" name="Rounded Rectangle 54"/>
            <p:cNvSpPr/>
            <p:nvPr/>
          </p:nvSpPr>
          <p:spPr>
            <a:xfrm>
              <a:off x="3063240" y="3264408"/>
              <a:ext cx="2423160" cy="621792"/>
            </a:xfrm>
            <a:prstGeom prst="roundRect">
              <a:avLst>
                <a:gd name="adj" fmla="val 5882"/>
              </a:avLst>
            </a:prstGeom>
            <a:solidFill>
              <a:srgbClr val="EFE8D9"/>
            </a:solidFill>
            <a:ln>
              <a:noFill/>
            </a:ln>
          </p:spPr>
          <p:txBody>
            <a:bodyPr rtlCol="0" anchor="ctr"/>
            <a:lstStyle/>
            <a:p>
              <a:pPr algn="ctr"/>
            </a:p>
          </p:txBody>
        </p:sp>
        <p:sp>
          <p:nvSpPr>
            <p:cNvPr id="56" name="TextBox 55"/>
            <p:cNvSpPr txBox="1"/>
            <p:nvPr/>
          </p:nvSpPr>
          <p:spPr>
            <a:xfrm>
              <a:off x="3200400" y="3310128"/>
              <a:ext cx="2194560" cy="256032"/>
            </a:xfrm>
            <a:prstGeom prst="rect">
              <a:avLst/>
            </a:prstGeom>
            <a:noFill/>
          </p:spPr>
          <p:txBody>
            <a:bodyPr wrap="square" lIns="0" rIns="0" tIns="0" bIns="0" anchor="ctr">
              <a:noAutofit/>
            </a:bodyPr>
            <a:lstStyle/>
            <a:p>
              <a:pPr algn="l"/>
              <a:r>
                <a:rPr sz="1000" b="1" i="0">
                  <a:solidFill>
                    <a:srgbClr val="16130E"/>
                  </a:solidFill>
                  <a:latin typeface="JetBrains Mono" panose="02000009000000000000" pitchFamily="49" charset="0"/>
                </a:rPr>
                <a:t>tools.ts</a:t>
              </a:r>
            </a:p>
          </p:txBody>
        </p:sp>
        <p:sp>
          <p:nvSpPr>
            <p:cNvPr id="57" name="TextBox 56"/>
            <p:cNvSpPr txBox="1"/>
            <p:nvPr/>
          </p:nvSpPr>
          <p:spPr>
            <a:xfrm>
              <a:off x="3200400" y="3566160"/>
              <a:ext cx="2212848" cy="292608"/>
            </a:xfrm>
            <a:prstGeom prst="rect">
              <a:avLst/>
            </a:prstGeom>
            <a:noFill/>
          </p:spPr>
          <p:txBody>
            <a:bodyPr wrap="square" lIns="0" rIns="0" tIns="0" bIns="0" anchor="ctr">
              <a:noAutofit/>
            </a:bodyPr>
            <a:lstStyle/>
            <a:p>
              <a:pPr algn="l"/>
              <a:r>
                <a:rPr sz="850" b="0" i="0">
                  <a:solidFill>
                    <a:srgbClr val="6E6658"/>
                  </a:solidFill>
                  <a:latin typeface="Inter" panose="020B0502030000000004" pitchFamily="34" charset="0"/>
                </a:rPr>
                <a:t>one registry: MCP, browser playground, demo agent</a:t>
              </a:r>
            </a:p>
          </p:txBody>
        </p:sp>
      </p:grpSp>
      <p:grpSp>
        <p:nvGrpSpPr>
          <p:cNvPr id="58" name="Group 57"/>
          <p:cNvGrpSpPr/>
          <p:nvPr/>
        </p:nvGrpSpPr>
        <p:grpSpPr>
          <a:xfrm>
            <a:off x="3063240" y="3986784"/>
            <a:ext cx="2423160" cy="621792"/>
            <a:chOff x="3063240" y="3986784"/>
            <a:chExt cx="2423160" cy="621792"/>
          </a:xfrm>
        </p:grpSpPr>
        <p:sp>
          <p:nvSpPr>
            <p:cNvPr id="59" name="Rounded Rectangle 58"/>
            <p:cNvSpPr/>
            <p:nvPr/>
          </p:nvSpPr>
          <p:spPr>
            <a:xfrm>
              <a:off x="3063240" y="3986784"/>
              <a:ext cx="2423160" cy="621792"/>
            </a:xfrm>
            <a:prstGeom prst="roundRect">
              <a:avLst>
                <a:gd name="adj" fmla="val 5882"/>
              </a:avLst>
            </a:prstGeom>
            <a:solidFill>
              <a:srgbClr val="EFE8D9"/>
            </a:solidFill>
            <a:ln>
              <a:noFill/>
            </a:ln>
          </p:spPr>
          <p:txBody>
            <a:bodyPr rtlCol="0" anchor="ctr"/>
            <a:lstStyle/>
            <a:p>
              <a:pPr algn="ctr"/>
            </a:p>
          </p:txBody>
        </p:sp>
        <p:sp>
          <p:nvSpPr>
            <p:cNvPr id="60" name="TextBox 59"/>
            <p:cNvSpPr txBox="1"/>
            <p:nvPr/>
          </p:nvSpPr>
          <p:spPr>
            <a:xfrm>
              <a:off x="3200400" y="4032504"/>
              <a:ext cx="2194560" cy="256032"/>
            </a:xfrm>
            <a:prstGeom prst="rect">
              <a:avLst/>
            </a:prstGeom>
            <a:noFill/>
          </p:spPr>
          <p:txBody>
            <a:bodyPr wrap="square" lIns="0" rIns="0" tIns="0" bIns="0" anchor="ctr">
              <a:noAutofit/>
            </a:bodyPr>
            <a:lstStyle/>
            <a:p>
              <a:pPr algn="l"/>
              <a:r>
                <a:rPr sz="1000" b="1" i="0">
                  <a:solidFill>
                    <a:srgbClr val="16130E"/>
                  </a:solidFill>
                  <a:latin typeface="JetBrains Mono" panose="02000009000000000000" pitchFamily="49" charset="0"/>
                </a:rPr>
                <a:t>exchange.ts</a:t>
              </a:r>
            </a:p>
          </p:txBody>
        </p:sp>
        <p:sp>
          <p:nvSpPr>
            <p:cNvPr id="61" name="TextBox 60"/>
            <p:cNvSpPr txBox="1"/>
            <p:nvPr/>
          </p:nvSpPr>
          <p:spPr>
            <a:xfrm>
              <a:off x="3200400" y="4288536"/>
              <a:ext cx="2212848" cy="292608"/>
            </a:xfrm>
            <a:prstGeom prst="rect">
              <a:avLst/>
            </a:prstGeom>
            <a:noFill/>
          </p:spPr>
          <p:txBody>
            <a:bodyPr wrap="square" lIns="0" rIns="0" tIns="0" bIns="0" anchor="ctr">
              <a:noAutofit/>
            </a:bodyPr>
            <a:lstStyle/>
            <a:p>
              <a:pPr algn="l"/>
              <a:r>
                <a:rPr sz="850" b="0" i="0">
                  <a:solidFill>
                    <a:srgbClr val="6E6658"/>
                  </a:solidFill>
                  <a:latin typeface="Inter" panose="020B0502030000000004" pitchFamily="34" charset="0"/>
                </a:rPr>
                <a:t>lot · verify · rank · policy · ledger</a:t>
              </a:r>
            </a:p>
          </p:txBody>
        </p:sp>
      </p:grpSp>
      <p:grpSp>
        <p:nvGrpSpPr>
          <p:cNvPr id="62" name="Group 61"/>
          <p:cNvGrpSpPr/>
          <p:nvPr/>
        </p:nvGrpSpPr>
        <p:grpSpPr>
          <a:xfrm>
            <a:off x="3063240" y="4709160"/>
            <a:ext cx="2423160" cy="621792"/>
            <a:chOff x="3063240" y="4709160"/>
            <a:chExt cx="2423160" cy="621792"/>
          </a:xfrm>
        </p:grpSpPr>
        <p:sp>
          <p:nvSpPr>
            <p:cNvPr id="63" name="Rounded Rectangle 62"/>
            <p:cNvSpPr/>
            <p:nvPr/>
          </p:nvSpPr>
          <p:spPr>
            <a:xfrm>
              <a:off x="3063240" y="4709160"/>
              <a:ext cx="2423160" cy="621792"/>
            </a:xfrm>
            <a:prstGeom prst="roundRect">
              <a:avLst>
                <a:gd name="adj" fmla="val 5882"/>
              </a:avLst>
            </a:prstGeom>
            <a:solidFill>
              <a:srgbClr val="EFE8D9"/>
            </a:solidFill>
            <a:ln>
              <a:noFill/>
            </a:ln>
          </p:spPr>
          <p:txBody>
            <a:bodyPr rtlCol="0" anchor="ctr"/>
            <a:lstStyle/>
            <a:p>
              <a:pPr algn="ctr"/>
            </a:p>
          </p:txBody>
        </p:sp>
        <p:sp>
          <p:nvSpPr>
            <p:cNvPr id="64" name="TextBox 63"/>
            <p:cNvSpPr txBox="1"/>
            <p:nvPr/>
          </p:nvSpPr>
          <p:spPr>
            <a:xfrm>
              <a:off x="3200400" y="4754880"/>
              <a:ext cx="2194560" cy="256032"/>
            </a:xfrm>
            <a:prstGeom prst="rect">
              <a:avLst/>
            </a:prstGeom>
            <a:noFill/>
          </p:spPr>
          <p:txBody>
            <a:bodyPr wrap="square" lIns="0" rIns="0" tIns="0" bIns="0" anchor="ctr">
              <a:noAutofit/>
            </a:bodyPr>
            <a:lstStyle/>
            <a:p>
              <a:pPr algn="l"/>
              <a:r>
                <a:rPr sz="1000" b="1" i="0">
                  <a:solidFill>
                    <a:srgbClr val="16130E"/>
                  </a:solidFill>
                  <a:latin typeface="JetBrains Mono" panose="02000009000000000000" pitchFamily="49" charset="0"/>
                </a:rPr>
                <a:t>SQLite</a:t>
              </a:r>
            </a:p>
          </p:txBody>
        </p:sp>
        <p:sp>
          <p:nvSpPr>
            <p:cNvPr id="65" name="TextBox 64"/>
            <p:cNvSpPr txBox="1"/>
            <p:nvPr/>
          </p:nvSpPr>
          <p:spPr>
            <a:xfrm>
              <a:off x="3200400" y="5010912"/>
              <a:ext cx="2212848" cy="292608"/>
            </a:xfrm>
            <a:prstGeom prst="rect">
              <a:avLst/>
            </a:prstGeom>
            <a:noFill/>
          </p:spPr>
          <p:txBody>
            <a:bodyPr wrap="square" lIns="0" rIns="0" tIns="0" bIns="0" anchor="ctr">
              <a:noAutofit/>
            </a:bodyPr>
            <a:lstStyle/>
            <a:p>
              <a:pPr algn="l"/>
              <a:r>
                <a:rPr sz="850" b="0" i="0">
                  <a:solidFill>
                    <a:srgbClr val="6E6658"/>
                  </a:solidFill>
                  <a:latin typeface="Inter" panose="020B0502030000000004" pitchFamily="34" charset="0"/>
                </a:rPr>
                <a:t>14 tables, plain rows</a:t>
              </a:r>
            </a:p>
          </p:txBody>
        </p:sp>
      </p:grpSp>
      <p:grpSp>
        <p:nvGrpSpPr>
          <p:cNvPr id="66" name="Group 65"/>
          <p:cNvGrpSpPr/>
          <p:nvPr/>
        </p:nvGrpSpPr>
        <p:grpSpPr>
          <a:xfrm>
            <a:off x="3063240" y="5431536"/>
            <a:ext cx="2423160" cy="621792"/>
            <a:chOff x="3063240" y="5431536"/>
            <a:chExt cx="2423160" cy="621792"/>
          </a:xfrm>
        </p:grpSpPr>
        <p:sp>
          <p:nvSpPr>
            <p:cNvPr id="67" name="Rounded Rectangle 66"/>
            <p:cNvSpPr/>
            <p:nvPr/>
          </p:nvSpPr>
          <p:spPr>
            <a:xfrm>
              <a:off x="3063240" y="5431536"/>
              <a:ext cx="2423160" cy="621792"/>
            </a:xfrm>
            <a:prstGeom prst="roundRect">
              <a:avLst>
                <a:gd name="adj" fmla="val 5882"/>
              </a:avLst>
            </a:prstGeom>
            <a:solidFill>
              <a:srgbClr val="EFE8D9"/>
            </a:solidFill>
            <a:ln>
              <a:noFill/>
            </a:ln>
          </p:spPr>
          <p:txBody>
            <a:bodyPr rtlCol="0" anchor="ctr"/>
            <a:lstStyle/>
            <a:p>
              <a:pPr algn="ctr"/>
            </a:p>
          </p:txBody>
        </p:sp>
        <p:sp>
          <p:nvSpPr>
            <p:cNvPr id="68" name="TextBox 67"/>
            <p:cNvSpPr txBox="1"/>
            <p:nvPr/>
          </p:nvSpPr>
          <p:spPr>
            <a:xfrm>
              <a:off x="3200400" y="5477256"/>
              <a:ext cx="2194560" cy="256032"/>
            </a:xfrm>
            <a:prstGeom prst="rect">
              <a:avLst/>
            </a:prstGeom>
            <a:noFill/>
          </p:spPr>
          <p:txBody>
            <a:bodyPr wrap="square" lIns="0" rIns="0" tIns="0" bIns="0" anchor="ctr">
              <a:noAutofit/>
            </a:bodyPr>
            <a:lstStyle/>
            <a:p>
              <a:pPr algn="l"/>
              <a:r>
                <a:rPr sz="1000" b="1" i="0">
                  <a:solidFill>
                    <a:srgbClr val="16130E"/>
                  </a:solidFill>
                  <a:latin typeface="JetBrains Mono" panose="02000009000000000000" pitchFamily="49" charset="0"/>
                </a:rPr>
                <a:t>SSE bus</a:t>
              </a:r>
            </a:p>
          </p:txBody>
        </p:sp>
        <p:sp>
          <p:nvSpPr>
            <p:cNvPr id="69" name="TextBox 68"/>
            <p:cNvSpPr txBox="1"/>
            <p:nvPr/>
          </p:nvSpPr>
          <p:spPr>
            <a:xfrm>
              <a:off x="3200400" y="5733288"/>
              <a:ext cx="2212848" cy="292608"/>
            </a:xfrm>
            <a:prstGeom prst="rect">
              <a:avLst/>
            </a:prstGeom>
            <a:noFill/>
          </p:spPr>
          <p:txBody>
            <a:bodyPr wrap="square" lIns="0" rIns="0" tIns="0" bIns="0" anchor="ctr">
              <a:noAutofit/>
            </a:bodyPr>
            <a:lstStyle/>
            <a:p>
              <a:pPr algn="l"/>
              <a:r>
                <a:rPr sz="850" b="0" i="0">
                  <a:solidFill>
                    <a:srgbClr val="6E6658"/>
                  </a:solidFill>
                  <a:latin typeface="Inter" panose="020B0502030000000004" pitchFamily="34" charset="0"/>
                </a:rPr>
                <a:t>19 live event types</a:t>
              </a:r>
            </a:p>
          </p:txBody>
        </p:sp>
      </p:grpSp>
      <p:cxnSp>
        <p:nvCxnSpPr>
          <p:cNvPr id="70" name="Connector 69"/>
          <p:cNvCxnSpPr/>
          <p:nvPr/>
        </p:nvCxnSpPr>
        <p:spPr>
          <a:xfrm>
            <a:off x="5696712" y="2414016"/>
            <a:ext cx="246888" cy="0"/>
          </a:xfrm>
          <a:prstGeom prst="line">
            <a:avLst/>
          </a:prstGeom>
          <a:ln w="19050">
            <a:solidFill>
              <a:srgbClr val="CFC3AA"/>
            </a:solidFill>
            <a:tailEnd type="triangle" w="med" len="med"/>
          </a:ln>
        </p:spPr>
      </p:cxnSp>
      <p:grpSp>
        <p:nvGrpSpPr>
          <p:cNvPr id="71" name="Group 70"/>
          <p:cNvGrpSpPr/>
          <p:nvPr/>
        </p:nvGrpSpPr>
        <p:grpSpPr>
          <a:xfrm>
            <a:off x="5961888" y="1737360"/>
            <a:ext cx="1828800" cy="1353312"/>
            <a:chOff x="5961888" y="1737360"/>
            <a:chExt cx="1828800" cy="1353312"/>
          </a:xfrm>
        </p:grpSpPr>
        <p:sp>
          <p:nvSpPr>
            <p:cNvPr id="72" name="Rounded Rectangle 71"/>
            <p:cNvSpPr/>
            <p:nvPr/>
          </p:nvSpPr>
          <p:spPr>
            <a:xfrm>
              <a:off x="5961888" y="1737360"/>
              <a:ext cx="1828800" cy="1353312"/>
            </a:xfrm>
            <a:prstGeom prst="roundRect">
              <a:avLst>
                <a:gd name="adj" fmla="val 4054"/>
              </a:avLst>
            </a:prstGeom>
            <a:solidFill>
              <a:srgbClr val="FFFDF7"/>
            </a:solidFill>
            <a:ln w="9525">
              <a:solidFill>
                <a:srgbClr val="E2D9C6"/>
              </a:solidFill>
            </a:ln>
          </p:spPr>
          <p:txBody>
            <a:bodyPr rtlCol="0" anchor="ctr"/>
            <a:lstStyle/>
            <a:p>
              <a:pPr algn="ctr"/>
            </a:p>
          </p:txBody>
        </p:sp>
        <p:sp>
          <p:nvSpPr>
            <p:cNvPr id="73" name="Rectangle 72"/>
            <p:cNvSpPr/>
            <p:nvPr/>
          </p:nvSpPr>
          <p:spPr>
            <a:xfrm>
              <a:off x="5961888" y="1737360"/>
              <a:ext cx="41148" cy="1353312"/>
            </a:xfrm>
            <a:prstGeom prst="rect">
              <a:avLst/>
            </a:prstGeom>
            <a:solidFill>
              <a:srgbClr val="2D6A48"/>
            </a:solidFill>
            <a:ln>
              <a:noFill/>
            </a:ln>
          </p:spPr>
          <p:txBody>
            <a:bodyPr rtlCol="0" anchor="ctr"/>
            <a:lstStyle/>
            <a:p>
              <a:pPr algn="ctr"/>
            </a:p>
          </p:txBody>
        </p:sp>
        <p:sp>
          <p:nvSpPr>
            <p:cNvPr id="74" name="TextBox 73"/>
            <p:cNvSpPr txBox="1"/>
            <p:nvPr/>
          </p:nvSpPr>
          <p:spPr>
            <a:xfrm>
              <a:off x="6144768" y="1847088"/>
              <a:ext cx="1600200" cy="292608"/>
            </a:xfrm>
            <a:prstGeom prst="rect">
              <a:avLst/>
            </a:prstGeom>
            <a:noFill/>
          </p:spPr>
          <p:txBody>
            <a:bodyPr wrap="square" lIns="0" rIns="0" tIns="0" bIns="0" anchor="ctr">
              <a:noAutofit/>
            </a:bodyPr>
            <a:lstStyle/>
            <a:p>
              <a:pPr algn="l"/>
              <a:r>
                <a:rPr sz="1300" b="0" i="0">
                  <a:solidFill>
                    <a:srgbClr val="16130E"/>
                  </a:solidFill>
                  <a:latin typeface="Georgia" panose="02040502050405020303" pitchFamily="18" charset="0"/>
                </a:rPr>
                <a:t>Web app</a:t>
              </a:r>
            </a:p>
          </p:txBody>
        </p:sp>
        <p:sp>
          <p:nvSpPr>
            <p:cNvPr id="75" name="TextBox 74"/>
            <p:cNvSpPr txBox="1"/>
            <p:nvPr/>
          </p:nvSpPr>
          <p:spPr>
            <a:xfrm>
              <a:off x="6144768" y="2139696"/>
              <a:ext cx="1572768" cy="914400"/>
            </a:xfrm>
            <a:prstGeom prst="rect">
              <a:avLst/>
            </a:prstGeom>
            <a:noFill/>
          </p:spPr>
          <p:txBody>
            <a:bodyPr wrap="square" lIns="0" rIns="0" tIns="0" bIns="0" anchor="t">
              <a:noAutofit/>
            </a:bodyPr>
            <a:lstStyle/>
            <a:p>
              <a:pPr algn="l">
                <a:lnSpc>
                  <a:spcPct val="104000"/>
                </a:lnSpc>
              </a:pPr>
              <a:r>
                <a:rPr sz="850" b="0" i="0">
                  <a:solidFill>
                    <a:srgbClr val="6E6658"/>
                  </a:solidFill>
                  <a:latin typeface="Inter" panose="020B0502030000000004" pitchFamily="34" charset="0"/>
                </a:rPr>
                <a:t>Landing · saleroom · paddle app · approver phone · settlement ledger · connect · auctioneer's desk</a:t>
              </a:r>
            </a:p>
          </p:txBody>
        </p:sp>
      </p:grpSp>
      <p:cxnSp>
        <p:nvCxnSpPr>
          <p:cNvPr id="76" name="Connector 75"/>
          <p:cNvCxnSpPr/>
          <p:nvPr/>
        </p:nvCxnSpPr>
        <p:spPr>
          <a:xfrm>
            <a:off x="5696712" y="3858768"/>
            <a:ext cx="246888" cy="0"/>
          </a:xfrm>
          <a:prstGeom prst="line">
            <a:avLst/>
          </a:prstGeom>
          <a:ln w="19050">
            <a:solidFill>
              <a:srgbClr val="CFC3AA"/>
            </a:solidFill>
            <a:tailEnd type="triangle" w="med" len="med"/>
          </a:ln>
        </p:spPr>
      </p:cxnSp>
      <p:cxnSp>
        <p:nvCxnSpPr>
          <p:cNvPr id="77" name="Connector 76"/>
          <p:cNvCxnSpPr/>
          <p:nvPr/>
        </p:nvCxnSpPr>
        <p:spPr>
          <a:xfrm flipH="1">
            <a:off x="5696712" y="4005072"/>
            <a:ext cx="246888" cy="0"/>
          </a:xfrm>
          <a:prstGeom prst="line">
            <a:avLst/>
          </a:prstGeom>
          <a:ln w="15875">
            <a:solidFill>
              <a:srgbClr val="233F6E"/>
            </a:solidFill>
            <a:tailEnd type="triangle" w="med" len="med"/>
          </a:ln>
        </p:spPr>
      </p:cxnSp>
      <p:grpSp>
        <p:nvGrpSpPr>
          <p:cNvPr id="78" name="Group 77"/>
          <p:cNvGrpSpPr/>
          <p:nvPr/>
        </p:nvGrpSpPr>
        <p:grpSpPr>
          <a:xfrm>
            <a:off x="5961888" y="3246120"/>
            <a:ext cx="1828800" cy="1371600"/>
            <a:chOff x="5961888" y="3246120"/>
            <a:chExt cx="1828800" cy="1371600"/>
          </a:xfrm>
        </p:grpSpPr>
        <p:sp>
          <p:nvSpPr>
            <p:cNvPr id="79" name="Rounded Rectangle 78"/>
            <p:cNvSpPr/>
            <p:nvPr/>
          </p:nvSpPr>
          <p:spPr>
            <a:xfrm>
              <a:off x="5961888" y="3246120"/>
              <a:ext cx="1828800" cy="1371600"/>
            </a:xfrm>
            <a:prstGeom prst="roundRect">
              <a:avLst>
                <a:gd name="adj" fmla="val 4000"/>
              </a:avLst>
            </a:prstGeom>
            <a:solidFill>
              <a:srgbClr val="FFFDF7"/>
            </a:solidFill>
            <a:ln w="9525">
              <a:solidFill>
                <a:srgbClr val="E2D9C6"/>
              </a:solidFill>
            </a:ln>
          </p:spPr>
          <p:txBody>
            <a:bodyPr rtlCol="0" anchor="ctr"/>
            <a:lstStyle/>
            <a:p>
              <a:pPr algn="ctr"/>
            </a:p>
          </p:txBody>
        </p:sp>
        <p:sp>
          <p:nvSpPr>
            <p:cNvPr id="80" name="Rectangle 79"/>
            <p:cNvSpPr/>
            <p:nvPr/>
          </p:nvSpPr>
          <p:spPr>
            <a:xfrm>
              <a:off x="5961888" y="3246120"/>
              <a:ext cx="41148" cy="1371600"/>
            </a:xfrm>
            <a:prstGeom prst="rect">
              <a:avLst/>
            </a:prstGeom>
            <a:solidFill>
              <a:srgbClr val="233F6E"/>
            </a:solidFill>
            <a:ln>
              <a:noFill/>
            </a:ln>
          </p:spPr>
          <p:txBody>
            <a:bodyPr rtlCol="0" anchor="ctr"/>
            <a:lstStyle/>
            <a:p>
              <a:pPr algn="ctr"/>
            </a:p>
          </p:txBody>
        </p:sp>
        <p:sp>
          <p:nvSpPr>
            <p:cNvPr id="81" name="TextBox 80"/>
            <p:cNvSpPr txBox="1"/>
            <p:nvPr/>
          </p:nvSpPr>
          <p:spPr>
            <a:xfrm>
              <a:off x="6144768" y="3355848"/>
              <a:ext cx="1600200" cy="292608"/>
            </a:xfrm>
            <a:prstGeom prst="rect">
              <a:avLst/>
            </a:prstGeom>
            <a:noFill/>
          </p:spPr>
          <p:txBody>
            <a:bodyPr wrap="square" lIns="0" rIns="0" tIns="0" bIns="0" anchor="ctr">
              <a:noAutofit/>
            </a:bodyPr>
            <a:lstStyle/>
            <a:p>
              <a:pPr algn="l"/>
              <a:r>
                <a:rPr sz="1300" b="0" i="0">
                  <a:solidFill>
                    <a:srgbClr val="16130E"/>
                  </a:solidFill>
                  <a:latin typeface="Georgia" panose="02040502050405020303" pitchFamily="18" charset="0"/>
                </a:rPr>
                <a:t>Storefronts</a:t>
              </a:r>
            </a:p>
          </p:txBody>
        </p:sp>
        <p:sp>
          <p:nvSpPr>
            <p:cNvPr id="82" name="TextBox 81"/>
            <p:cNvSpPr txBox="1"/>
            <p:nvPr/>
          </p:nvSpPr>
          <p:spPr>
            <a:xfrm>
              <a:off x="6144768" y="3648456"/>
              <a:ext cx="1572768" cy="932688"/>
            </a:xfrm>
            <a:prstGeom prst="rect">
              <a:avLst/>
            </a:prstGeom>
            <a:noFill/>
          </p:spPr>
          <p:txBody>
            <a:bodyPr wrap="square" lIns="0" rIns="0" tIns="0" bIns="0" anchor="t">
              <a:noAutofit/>
            </a:bodyPr>
            <a:lstStyle/>
            <a:p>
              <a:pPr algn="l">
                <a:lnSpc>
                  <a:spcPct val="104000"/>
                </a:lnSpc>
              </a:pPr>
              <a:r>
                <a:rPr sz="850" b="0" i="0">
                  <a:solidFill>
                    <a:srgbClr val="6E6658"/>
                  </a:solidFill>
                  <a:latin typeface="Inter" panose="020B0502030000000004" pitchFamily="34" charset="0"/>
                </a:rPr>
                <a:t>/store/:handle/:sku with schema.org JSON-LD + /quote. The verifier fetches them over HTTP.</a:t>
              </a:r>
            </a:p>
          </p:txBody>
        </p:sp>
      </p:grpSp>
      <p:cxnSp>
        <p:nvCxnSpPr>
          <p:cNvPr id="83" name="Connector 82"/>
          <p:cNvCxnSpPr/>
          <p:nvPr/>
        </p:nvCxnSpPr>
        <p:spPr>
          <a:xfrm>
            <a:off x="5696712" y="5353812"/>
            <a:ext cx="246888" cy="0"/>
          </a:xfrm>
          <a:prstGeom prst="line">
            <a:avLst/>
          </a:prstGeom>
          <a:ln w="19050">
            <a:solidFill>
              <a:srgbClr val="CFC3AA"/>
            </a:solidFill>
            <a:tailEnd type="triangle" w="med" len="med"/>
          </a:ln>
        </p:spPr>
      </p:cxnSp>
      <p:grpSp>
        <p:nvGrpSpPr>
          <p:cNvPr id="84" name="Group 83"/>
          <p:cNvGrpSpPr/>
          <p:nvPr/>
        </p:nvGrpSpPr>
        <p:grpSpPr>
          <a:xfrm>
            <a:off x="5961888" y="4773168"/>
            <a:ext cx="1828800" cy="1161288"/>
            <a:chOff x="5961888" y="4773168"/>
            <a:chExt cx="1828800" cy="1161288"/>
          </a:xfrm>
        </p:grpSpPr>
        <p:sp>
          <p:nvSpPr>
            <p:cNvPr id="85" name="Rounded Rectangle 84"/>
            <p:cNvSpPr/>
            <p:nvPr/>
          </p:nvSpPr>
          <p:spPr>
            <a:xfrm>
              <a:off x="5961888" y="4773168"/>
              <a:ext cx="1828800" cy="1161288"/>
            </a:xfrm>
            <a:prstGeom prst="roundRect">
              <a:avLst>
                <a:gd name="adj" fmla="val 4724"/>
              </a:avLst>
            </a:prstGeom>
            <a:solidFill>
              <a:srgbClr val="FFFDF7"/>
            </a:solidFill>
            <a:ln w="9525">
              <a:solidFill>
                <a:srgbClr val="E2D9C6"/>
              </a:solidFill>
            </a:ln>
          </p:spPr>
          <p:txBody>
            <a:bodyPr rtlCol="0" anchor="ctr"/>
            <a:lstStyle/>
            <a:p>
              <a:pPr algn="ctr"/>
            </a:p>
          </p:txBody>
        </p:sp>
        <p:sp>
          <p:nvSpPr>
            <p:cNvPr id="86" name="Rectangle 85"/>
            <p:cNvSpPr/>
            <p:nvPr/>
          </p:nvSpPr>
          <p:spPr>
            <a:xfrm>
              <a:off x="5961888" y="4773168"/>
              <a:ext cx="41148" cy="1161288"/>
            </a:xfrm>
            <a:prstGeom prst="rect">
              <a:avLst/>
            </a:prstGeom>
            <a:solidFill>
              <a:srgbClr val="94641F"/>
            </a:solidFill>
            <a:ln>
              <a:noFill/>
            </a:ln>
          </p:spPr>
          <p:txBody>
            <a:bodyPr rtlCol="0" anchor="ctr"/>
            <a:lstStyle/>
            <a:p>
              <a:pPr algn="ctr"/>
            </a:p>
          </p:txBody>
        </p:sp>
        <p:sp>
          <p:nvSpPr>
            <p:cNvPr id="87" name="TextBox 86"/>
            <p:cNvSpPr txBox="1"/>
            <p:nvPr/>
          </p:nvSpPr>
          <p:spPr>
            <a:xfrm>
              <a:off x="6144768" y="4882896"/>
              <a:ext cx="1600200" cy="292608"/>
            </a:xfrm>
            <a:prstGeom prst="rect">
              <a:avLst/>
            </a:prstGeom>
            <a:noFill/>
          </p:spPr>
          <p:txBody>
            <a:bodyPr wrap="square" lIns="0" rIns="0" tIns="0" bIns="0" anchor="ctr">
              <a:noAutofit/>
            </a:bodyPr>
            <a:lstStyle/>
            <a:p>
              <a:pPr algn="l"/>
              <a:r>
                <a:rPr sz="1300" b="0" i="0">
                  <a:solidFill>
                    <a:srgbClr val="16130E"/>
                  </a:solidFill>
                  <a:latin typeface="Georgia" panose="02040502050405020303" pitchFamily="18" charset="0"/>
                </a:rPr>
                <a:t>Inkbox</a:t>
              </a:r>
            </a:p>
          </p:txBody>
        </p:sp>
        <p:sp>
          <p:nvSpPr>
            <p:cNvPr id="88" name="TextBox 87"/>
            <p:cNvSpPr txBox="1"/>
            <p:nvPr/>
          </p:nvSpPr>
          <p:spPr>
            <a:xfrm>
              <a:off x="6144768" y="5175504"/>
              <a:ext cx="1572768" cy="722376"/>
            </a:xfrm>
            <a:prstGeom prst="rect">
              <a:avLst/>
            </a:prstGeom>
            <a:noFill/>
          </p:spPr>
          <p:txBody>
            <a:bodyPr wrap="square" lIns="0" rIns="0" tIns="0" bIns="0" anchor="t">
              <a:noAutofit/>
            </a:bodyPr>
            <a:lstStyle/>
            <a:p>
              <a:pPr algn="l">
                <a:lnSpc>
                  <a:spcPct val="104000"/>
                </a:lnSpc>
              </a:pPr>
              <a:r>
                <a:rPr sz="850" b="0" i="0">
                  <a:solidFill>
                    <a:srgbClr val="6E6658"/>
                  </a:solidFill>
                  <a:latin typeface="Inter" panose="020B0502030000000004" pitchFamily="34" charset="0"/>
                </a:rPr>
                <a:t>Agent identity: approval SMS (“Reply YES 1234”) and email receipts.</a:t>
              </a:r>
            </a:p>
          </p:txBody>
        </p:sp>
      </p:grpSp>
      <p:sp>
        <p:nvSpPr>
          <p:cNvPr id="89" name="TextBox 88"/>
          <p:cNvSpPr txBox="1"/>
          <p:nvPr/>
        </p:nvSpPr>
        <p:spPr>
          <a:xfrm>
            <a:off x="8092440" y="1737360"/>
            <a:ext cx="3383280" cy="219456"/>
          </a:xfrm>
          <a:prstGeom prst="rect">
            <a:avLst/>
          </a:prstGeom>
          <a:noFill/>
        </p:spPr>
        <p:txBody>
          <a:bodyPr wrap="square" lIns="0" rIns="0" tIns="0" bIns="0" anchor="ctr">
            <a:noAutofit/>
          </a:bodyPr>
          <a:lstStyle/>
          <a:p>
            <a:pPr algn="l"/>
            <a:r>
              <a:rPr sz="850" b="1" i="0" spc="110">
                <a:solidFill>
                  <a:srgbClr val="9C937F"/>
                </a:solidFill>
                <a:latin typeface="Inter" panose="020B0502030000000004" pitchFamily="34" charset="0"/>
              </a:rPr>
              <a:t>COUNTED FROM THE CODE</a:t>
            </a:r>
          </a:p>
        </p:txBody>
      </p:sp>
      <p:grpSp>
        <p:nvGrpSpPr>
          <p:cNvPr id="90" name="Group 89"/>
          <p:cNvGrpSpPr/>
          <p:nvPr/>
        </p:nvGrpSpPr>
        <p:grpSpPr>
          <a:xfrm>
            <a:off x="8092440" y="2011680"/>
            <a:ext cx="3410712" cy="4251960"/>
            <a:chOff x="8092440" y="2011680"/>
            <a:chExt cx="3410712" cy="4251960"/>
          </a:xfrm>
        </p:grpSpPr>
        <p:sp>
          <p:nvSpPr>
            <p:cNvPr id="91" name="Rounded Rectangle 90"/>
            <p:cNvSpPr/>
            <p:nvPr/>
          </p:nvSpPr>
          <p:spPr>
            <a:xfrm>
              <a:off x="8092440" y="2011680"/>
              <a:ext cx="3410712" cy="4251960"/>
            </a:xfrm>
            <a:prstGeom prst="roundRect">
              <a:avLst>
                <a:gd name="adj" fmla="val 1608"/>
              </a:avLst>
            </a:prstGeom>
            <a:solidFill>
              <a:srgbClr val="FFFDF7"/>
            </a:solidFill>
            <a:ln w="9525">
              <a:solidFill>
                <a:srgbClr val="E2D9C6"/>
              </a:solidFill>
            </a:ln>
          </p:spPr>
          <p:txBody>
            <a:bodyPr rtlCol="0" anchor="ctr"/>
            <a:lstStyle/>
            <a:p>
              <a:pPr algn="ctr"/>
            </a:p>
          </p:txBody>
        </p:sp>
      </p:grpSp>
      <p:grpSp>
        <p:nvGrpSpPr>
          <p:cNvPr id="92" name="Group 91"/>
          <p:cNvGrpSpPr/>
          <p:nvPr/>
        </p:nvGrpSpPr>
        <p:grpSpPr>
          <a:xfrm>
            <a:off x="8275320" y="2084832"/>
            <a:ext cx="1463040" cy="731520"/>
            <a:chOff x="8275320" y="2084832"/>
            <a:chExt cx="1463040" cy="731520"/>
          </a:xfrm>
        </p:grpSpPr>
        <p:sp>
          <p:nvSpPr>
            <p:cNvPr id="93" name="TextBox 92"/>
            <p:cNvSpPr txBox="1"/>
            <p:nvPr/>
          </p:nvSpPr>
          <p:spPr>
            <a:xfrm>
              <a:off x="8275320" y="2084832"/>
              <a:ext cx="1463040" cy="457200"/>
            </a:xfrm>
            <a:prstGeom prst="rect">
              <a:avLst/>
            </a:prstGeom>
            <a:noFill/>
          </p:spPr>
          <p:txBody>
            <a:bodyPr wrap="square" lIns="0" rIns="0" tIns="0" bIns="0" anchor="ctr">
              <a:noAutofit/>
            </a:bodyPr>
            <a:lstStyle/>
            <a:p>
              <a:pPr algn="l"/>
              <a:r>
                <a:rPr sz="2500" b="0" i="0">
                  <a:solidFill>
                    <a:srgbClr val="16130E"/>
                  </a:solidFill>
                  <a:latin typeface="Georgia" panose="02040502050405020303" pitchFamily="18" charset="0"/>
                </a:rPr>
                <a:t>12</a:t>
              </a:r>
            </a:p>
          </p:txBody>
        </p:sp>
        <p:sp>
          <p:nvSpPr>
            <p:cNvPr id="94" name="TextBox 93"/>
            <p:cNvSpPr txBox="1"/>
            <p:nvPr/>
          </p:nvSpPr>
          <p:spPr>
            <a:xfrm>
              <a:off x="8275320" y="2523744"/>
              <a:ext cx="1463040" cy="292608"/>
            </a:xfrm>
            <a:prstGeom prst="rect">
              <a:avLst/>
            </a:prstGeom>
            <a:noFill/>
          </p:spPr>
          <p:txBody>
            <a:bodyPr wrap="square" lIns="0" rIns="0" tIns="0" bIns="0" anchor="ctr">
              <a:noAutofit/>
            </a:bodyPr>
            <a:lstStyle/>
            <a:p>
              <a:pPr algn="l"/>
              <a:r>
                <a:rPr sz="850" b="0" i="0">
                  <a:solidFill>
                    <a:srgbClr val="6E6658"/>
                  </a:solidFill>
                  <a:latin typeface="Inter" panose="020B0502030000000004" pitchFamily="34" charset="0"/>
                </a:rPr>
                <a:t>MCP tools</a:t>
              </a:r>
            </a:p>
          </p:txBody>
        </p:sp>
      </p:grpSp>
      <p:sp>
        <p:nvSpPr>
          <p:cNvPr id="95" name="Rectangle 94"/>
          <p:cNvSpPr/>
          <p:nvPr/>
        </p:nvSpPr>
        <p:spPr>
          <a:xfrm>
            <a:off x="9797796" y="2148840"/>
            <a:ext cx="7315" cy="576072"/>
          </a:xfrm>
          <a:prstGeom prst="rect">
            <a:avLst/>
          </a:prstGeom>
          <a:solidFill>
            <a:srgbClr val="E2D9C6"/>
          </a:solidFill>
          <a:ln>
            <a:noFill/>
          </a:ln>
        </p:spPr>
        <p:txBody>
          <a:bodyPr rtlCol="0" anchor="ctr"/>
          <a:lstStyle/>
          <a:p>
            <a:pPr algn="ctr"/>
          </a:p>
        </p:txBody>
      </p:sp>
      <p:grpSp>
        <p:nvGrpSpPr>
          <p:cNvPr id="96" name="Group 95"/>
          <p:cNvGrpSpPr/>
          <p:nvPr/>
        </p:nvGrpSpPr>
        <p:grpSpPr>
          <a:xfrm>
            <a:off x="9980676" y="2084832"/>
            <a:ext cx="1463040" cy="731520"/>
            <a:chOff x="9980676" y="2084832"/>
            <a:chExt cx="1463040" cy="731520"/>
          </a:xfrm>
        </p:grpSpPr>
        <p:sp>
          <p:nvSpPr>
            <p:cNvPr id="97" name="TextBox 96"/>
            <p:cNvSpPr txBox="1"/>
            <p:nvPr/>
          </p:nvSpPr>
          <p:spPr>
            <a:xfrm>
              <a:off x="9980676" y="2084832"/>
              <a:ext cx="1463040" cy="457200"/>
            </a:xfrm>
            <a:prstGeom prst="rect">
              <a:avLst/>
            </a:prstGeom>
            <a:noFill/>
          </p:spPr>
          <p:txBody>
            <a:bodyPr wrap="square" lIns="0" rIns="0" tIns="0" bIns="0" anchor="ctr">
              <a:noAutofit/>
            </a:bodyPr>
            <a:lstStyle/>
            <a:p>
              <a:pPr algn="l"/>
              <a:r>
                <a:rPr sz="2500" b="0" i="0">
                  <a:solidFill>
                    <a:srgbClr val="16130E"/>
                  </a:solidFill>
                  <a:latin typeface="Georgia" panose="02040502050405020303" pitchFamily="18" charset="0"/>
                </a:rPr>
                <a:t>3 + 2</a:t>
              </a:r>
            </a:p>
          </p:txBody>
        </p:sp>
        <p:sp>
          <p:nvSpPr>
            <p:cNvPr id="98" name="TextBox 97"/>
            <p:cNvSpPr txBox="1"/>
            <p:nvPr/>
          </p:nvSpPr>
          <p:spPr>
            <a:xfrm>
              <a:off x="9980676" y="2523744"/>
              <a:ext cx="1463040" cy="292608"/>
            </a:xfrm>
            <a:prstGeom prst="rect">
              <a:avLst/>
            </a:prstGeom>
            <a:noFill/>
          </p:spPr>
          <p:txBody>
            <a:bodyPr wrap="square" lIns="0" rIns="0" tIns="0" bIns="0" anchor="ctr">
              <a:noAutofit/>
            </a:bodyPr>
            <a:lstStyle/>
            <a:p>
              <a:pPr algn="l"/>
              <a:r>
                <a:rPr sz="850" b="0" i="0">
                  <a:solidFill>
                    <a:srgbClr val="6E6658"/>
                  </a:solidFill>
                  <a:latin typeface="Inter" panose="020B0502030000000004" pitchFamily="34" charset="0"/>
                </a:rPr>
                <a:t>resources + prompts</a:t>
              </a:r>
            </a:p>
          </p:txBody>
        </p:sp>
      </p:grpSp>
      <p:sp>
        <p:nvSpPr>
          <p:cNvPr id="99" name="Rectangle 98"/>
          <p:cNvSpPr/>
          <p:nvPr/>
        </p:nvSpPr>
        <p:spPr>
          <a:xfrm>
            <a:off x="8183880" y="2862072"/>
            <a:ext cx="3227832" cy="7315"/>
          </a:xfrm>
          <a:prstGeom prst="rect">
            <a:avLst/>
          </a:prstGeom>
          <a:solidFill>
            <a:srgbClr val="E2D9C6"/>
          </a:solidFill>
          <a:ln>
            <a:noFill/>
          </a:ln>
        </p:spPr>
        <p:txBody>
          <a:bodyPr rtlCol="0" anchor="ctr"/>
          <a:lstStyle/>
          <a:p>
            <a:pPr algn="ctr"/>
          </a:p>
        </p:txBody>
      </p:sp>
      <p:grpSp>
        <p:nvGrpSpPr>
          <p:cNvPr id="100" name="Group 99"/>
          <p:cNvGrpSpPr/>
          <p:nvPr/>
        </p:nvGrpSpPr>
        <p:grpSpPr>
          <a:xfrm>
            <a:off x="8275320" y="2935224"/>
            <a:ext cx="1463040" cy="731520"/>
            <a:chOff x="8275320" y="2935224"/>
            <a:chExt cx="1463040" cy="731520"/>
          </a:xfrm>
        </p:grpSpPr>
        <p:sp>
          <p:nvSpPr>
            <p:cNvPr id="101" name="TextBox 100"/>
            <p:cNvSpPr txBox="1"/>
            <p:nvPr/>
          </p:nvSpPr>
          <p:spPr>
            <a:xfrm>
              <a:off x="8275320" y="2935224"/>
              <a:ext cx="1463040" cy="457200"/>
            </a:xfrm>
            <a:prstGeom prst="rect">
              <a:avLst/>
            </a:prstGeom>
            <a:noFill/>
          </p:spPr>
          <p:txBody>
            <a:bodyPr wrap="square" lIns="0" rIns="0" tIns="0" bIns="0" anchor="ctr">
              <a:noAutofit/>
            </a:bodyPr>
            <a:lstStyle/>
            <a:p>
              <a:pPr algn="l"/>
              <a:r>
                <a:rPr sz="2500" b="0" i="0">
                  <a:solidFill>
                    <a:srgbClr val="16130E"/>
                  </a:solidFill>
                  <a:latin typeface="Georgia" panose="02040502050405020303" pitchFamily="18" charset="0"/>
                </a:rPr>
                <a:t>8</a:t>
              </a:r>
            </a:p>
          </p:txBody>
        </p:sp>
        <p:sp>
          <p:nvSpPr>
            <p:cNvPr id="102" name="TextBox 101"/>
            <p:cNvSpPr txBox="1"/>
            <p:nvPr/>
          </p:nvSpPr>
          <p:spPr>
            <a:xfrm>
              <a:off x="8275320" y="3374136"/>
              <a:ext cx="1463040" cy="292608"/>
            </a:xfrm>
            <a:prstGeom prst="rect">
              <a:avLst/>
            </a:prstGeom>
            <a:noFill/>
          </p:spPr>
          <p:txBody>
            <a:bodyPr wrap="square" lIns="0" rIns="0" tIns="0" bIns="0" anchor="ctr">
              <a:noAutofit/>
            </a:bodyPr>
            <a:lstStyle/>
            <a:p>
              <a:pPr algn="l"/>
              <a:r>
                <a:rPr sz="850" b="0" i="0">
                  <a:solidFill>
                    <a:srgbClr val="6E6658"/>
                  </a:solidFill>
                  <a:latin typeface="Inter" panose="020B0502030000000004" pitchFamily="34" charset="0"/>
                </a:rPr>
                <a:t>demo scenarios</a:t>
              </a:r>
            </a:p>
          </p:txBody>
        </p:sp>
      </p:grpSp>
      <p:sp>
        <p:nvSpPr>
          <p:cNvPr id="103" name="Rectangle 102"/>
          <p:cNvSpPr/>
          <p:nvPr/>
        </p:nvSpPr>
        <p:spPr>
          <a:xfrm>
            <a:off x="9797796" y="2999232"/>
            <a:ext cx="7315" cy="576072"/>
          </a:xfrm>
          <a:prstGeom prst="rect">
            <a:avLst/>
          </a:prstGeom>
          <a:solidFill>
            <a:srgbClr val="E2D9C6"/>
          </a:solidFill>
          <a:ln>
            <a:noFill/>
          </a:ln>
        </p:spPr>
        <p:txBody>
          <a:bodyPr rtlCol="0" anchor="ctr"/>
          <a:lstStyle/>
          <a:p>
            <a:pPr algn="ctr"/>
          </a:p>
        </p:txBody>
      </p:sp>
      <p:grpSp>
        <p:nvGrpSpPr>
          <p:cNvPr id="104" name="Group 103"/>
          <p:cNvGrpSpPr/>
          <p:nvPr/>
        </p:nvGrpSpPr>
        <p:grpSpPr>
          <a:xfrm>
            <a:off x="9980676" y="2935224"/>
            <a:ext cx="1463040" cy="731520"/>
            <a:chOff x="9980676" y="2935224"/>
            <a:chExt cx="1463040" cy="731520"/>
          </a:xfrm>
        </p:grpSpPr>
        <p:sp>
          <p:nvSpPr>
            <p:cNvPr id="105" name="TextBox 104"/>
            <p:cNvSpPr txBox="1"/>
            <p:nvPr/>
          </p:nvSpPr>
          <p:spPr>
            <a:xfrm>
              <a:off x="9980676" y="2935224"/>
              <a:ext cx="1463040" cy="457200"/>
            </a:xfrm>
            <a:prstGeom prst="rect">
              <a:avLst/>
            </a:prstGeom>
            <a:noFill/>
          </p:spPr>
          <p:txBody>
            <a:bodyPr wrap="square" lIns="0" rIns="0" tIns="0" bIns="0" anchor="ctr">
              <a:noAutofit/>
            </a:bodyPr>
            <a:lstStyle/>
            <a:p>
              <a:pPr algn="l"/>
              <a:r>
                <a:rPr sz="2500" b="0" i="0">
                  <a:solidFill>
                    <a:srgbClr val="16130E"/>
                  </a:solidFill>
                  <a:latin typeface="Georgia" panose="02040502050405020303" pitchFamily="18" charset="0"/>
                </a:rPr>
                <a:t>9</a:t>
              </a:r>
            </a:p>
          </p:txBody>
        </p:sp>
        <p:sp>
          <p:nvSpPr>
            <p:cNvPr id="106" name="TextBox 105"/>
            <p:cNvSpPr txBox="1"/>
            <p:nvPr/>
          </p:nvSpPr>
          <p:spPr>
            <a:xfrm>
              <a:off x="9980676" y="3374136"/>
              <a:ext cx="1463040" cy="292608"/>
            </a:xfrm>
            <a:prstGeom prst="rect">
              <a:avLst/>
            </a:prstGeom>
            <a:noFill/>
          </p:spPr>
          <p:txBody>
            <a:bodyPr wrap="square" lIns="0" rIns="0" tIns="0" bIns="0" anchor="ctr">
              <a:noAutofit/>
            </a:bodyPr>
            <a:lstStyle/>
            <a:p>
              <a:pPr algn="l"/>
              <a:r>
                <a:rPr sz="850" b="0" i="0">
                  <a:solidFill>
                    <a:srgbClr val="6E6658"/>
                  </a:solidFill>
                  <a:latin typeface="Inter" panose="020B0502030000000004" pitchFamily="34" charset="0"/>
                </a:rPr>
                <a:t>merchant bot personas</a:t>
              </a:r>
            </a:p>
          </p:txBody>
        </p:sp>
      </p:grpSp>
      <p:sp>
        <p:nvSpPr>
          <p:cNvPr id="107" name="Rectangle 106"/>
          <p:cNvSpPr/>
          <p:nvPr/>
        </p:nvSpPr>
        <p:spPr>
          <a:xfrm>
            <a:off x="8183880" y="3712464"/>
            <a:ext cx="3227832" cy="7315"/>
          </a:xfrm>
          <a:prstGeom prst="rect">
            <a:avLst/>
          </a:prstGeom>
          <a:solidFill>
            <a:srgbClr val="E2D9C6"/>
          </a:solidFill>
          <a:ln>
            <a:noFill/>
          </a:ln>
        </p:spPr>
        <p:txBody>
          <a:bodyPr rtlCol="0" anchor="ctr"/>
          <a:lstStyle/>
          <a:p>
            <a:pPr algn="ctr"/>
          </a:p>
        </p:txBody>
      </p:sp>
      <p:grpSp>
        <p:nvGrpSpPr>
          <p:cNvPr id="108" name="Group 107"/>
          <p:cNvGrpSpPr/>
          <p:nvPr/>
        </p:nvGrpSpPr>
        <p:grpSpPr>
          <a:xfrm>
            <a:off x="8275320" y="3785616"/>
            <a:ext cx="1463040" cy="731520"/>
            <a:chOff x="8275320" y="3785616"/>
            <a:chExt cx="1463040" cy="731520"/>
          </a:xfrm>
        </p:grpSpPr>
        <p:sp>
          <p:nvSpPr>
            <p:cNvPr id="109" name="TextBox 108"/>
            <p:cNvSpPr txBox="1"/>
            <p:nvPr/>
          </p:nvSpPr>
          <p:spPr>
            <a:xfrm>
              <a:off x="8275320" y="3785616"/>
              <a:ext cx="1463040" cy="457200"/>
            </a:xfrm>
            <a:prstGeom prst="rect">
              <a:avLst/>
            </a:prstGeom>
            <a:noFill/>
          </p:spPr>
          <p:txBody>
            <a:bodyPr wrap="square" lIns="0" rIns="0" tIns="0" bIns="0" anchor="ctr">
              <a:noAutofit/>
            </a:bodyPr>
            <a:lstStyle/>
            <a:p>
              <a:pPr algn="l"/>
              <a:r>
                <a:rPr sz="2500" b="0" i="0">
                  <a:solidFill>
                    <a:srgbClr val="16130E"/>
                  </a:solidFill>
                  <a:latin typeface="Georgia" panose="02040502050405020303" pitchFamily="18" charset="0"/>
                </a:rPr>
                <a:t>6</a:t>
              </a:r>
            </a:p>
          </p:txBody>
        </p:sp>
        <p:sp>
          <p:nvSpPr>
            <p:cNvPr id="110" name="TextBox 109"/>
            <p:cNvSpPr txBox="1"/>
            <p:nvPr/>
          </p:nvSpPr>
          <p:spPr>
            <a:xfrm>
              <a:off x="8275320" y="4224528"/>
              <a:ext cx="1463040" cy="292608"/>
            </a:xfrm>
            <a:prstGeom prst="rect">
              <a:avLst/>
            </a:prstGeom>
            <a:noFill/>
          </p:spPr>
          <p:txBody>
            <a:bodyPr wrap="square" lIns="0" rIns="0" tIns="0" bIns="0" anchor="ctr">
              <a:noAutofit/>
            </a:bodyPr>
            <a:lstStyle/>
            <a:p>
              <a:pPr algn="l"/>
              <a:r>
                <a:rPr sz="850" b="0" i="0">
                  <a:solidFill>
                    <a:srgbClr val="6E6658"/>
                  </a:solidFill>
                  <a:latin typeface="Inter" panose="020B0502030000000004" pitchFamily="34" charset="0"/>
                </a:rPr>
                <a:t>verification checks</a:t>
              </a:r>
            </a:p>
          </p:txBody>
        </p:sp>
      </p:grpSp>
      <p:sp>
        <p:nvSpPr>
          <p:cNvPr id="111" name="Rectangle 110"/>
          <p:cNvSpPr/>
          <p:nvPr/>
        </p:nvSpPr>
        <p:spPr>
          <a:xfrm>
            <a:off x="9797796" y="3849624"/>
            <a:ext cx="7315" cy="576072"/>
          </a:xfrm>
          <a:prstGeom prst="rect">
            <a:avLst/>
          </a:prstGeom>
          <a:solidFill>
            <a:srgbClr val="E2D9C6"/>
          </a:solidFill>
          <a:ln>
            <a:noFill/>
          </a:ln>
        </p:spPr>
        <p:txBody>
          <a:bodyPr rtlCol="0" anchor="ctr"/>
          <a:lstStyle/>
          <a:p>
            <a:pPr algn="ctr"/>
          </a:p>
        </p:txBody>
      </p:sp>
      <p:grpSp>
        <p:nvGrpSpPr>
          <p:cNvPr id="112" name="Group 111"/>
          <p:cNvGrpSpPr/>
          <p:nvPr/>
        </p:nvGrpSpPr>
        <p:grpSpPr>
          <a:xfrm>
            <a:off x="9980676" y="3785616"/>
            <a:ext cx="1463040" cy="731520"/>
            <a:chOff x="9980676" y="3785616"/>
            <a:chExt cx="1463040" cy="731520"/>
          </a:xfrm>
        </p:grpSpPr>
        <p:sp>
          <p:nvSpPr>
            <p:cNvPr id="113" name="TextBox 112"/>
            <p:cNvSpPr txBox="1"/>
            <p:nvPr/>
          </p:nvSpPr>
          <p:spPr>
            <a:xfrm>
              <a:off x="9980676" y="3785616"/>
              <a:ext cx="1463040" cy="457200"/>
            </a:xfrm>
            <a:prstGeom prst="rect">
              <a:avLst/>
            </a:prstGeom>
            <a:noFill/>
          </p:spPr>
          <p:txBody>
            <a:bodyPr wrap="square" lIns="0" rIns="0" tIns="0" bIns="0" anchor="ctr">
              <a:noAutofit/>
            </a:bodyPr>
            <a:lstStyle/>
            <a:p>
              <a:pPr algn="l"/>
              <a:r>
                <a:rPr sz="2500" b="0" i="0">
                  <a:solidFill>
                    <a:srgbClr val="16130E"/>
                  </a:solidFill>
                  <a:latin typeface="Georgia" panose="02040502050405020303" pitchFamily="18" charset="0"/>
                </a:rPr>
                <a:t>5</a:t>
              </a:r>
            </a:p>
          </p:txBody>
        </p:sp>
        <p:sp>
          <p:nvSpPr>
            <p:cNvPr id="114" name="TextBox 113"/>
            <p:cNvSpPr txBox="1"/>
            <p:nvPr/>
          </p:nvSpPr>
          <p:spPr>
            <a:xfrm>
              <a:off x="9980676" y="4224528"/>
              <a:ext cx="1463040" cy="292608"/>
            </a:xfrm>
            <a:prstGeom prst="rect">
              <a:avLst/>
            </a:prstGeom>
            <a:noFill/>
          </p:spPr>
          <p:txBody>
            <a:bodyPr wrap="square" lIns="0" rIns="0" tIns="0" bIns="0" anchor="ctr">
              <a:noAutofit/>
            </a:bodyPr>
            <a:lstStyle/>
            <a:p>
              <a:pPr algn="l"/>
              <a:r>
                <a:rPr sz="850" b="0" i="0">
                  <a:solidFill>
                    <a:srgbClr val="6E6658"/>
                  </a:solidFill>
                  <a:latin typeface="Inter" panose="020B0502030000000004" pitchFamily="34" charset="0"/>
                </a:rPr>
                <a:t>ranking factors</a:t>
              </a:r>
            </a:p>
          </p:txBody>
        </p:sp>
      </p:grpSp>
      <p:sp>
        <p:nvSpPr>
          <p:cNvPr id="115" name="Rectangle 114"/>
          <p:cNvSpPr/>
          <p:nvPr/>
        </p:nvSpPr>
        <p:spPr>
          <a:xfrm>
            <a:off x="8183880" y="4562856"/>
            <a:ext cx="3227832" cy="7315"/>
          </a:xfrm>
          <a:prstGeom prst="rect">
            <a:avLst/>
          </a:prstGeom>
          <a:solidFill>
            <a:srgbClr val="E2D9C6"/>
          </a:solidFill>
          <a:ln>
            <a:noFill/>
          </a:ln>
        </p:spPr>
        <p:txBody>
          <a:bodyPr rtlCol="0" anchor="ctr"/>
          <a:lstStyle/>
          <a:p>
            <a:pPr algn="ctr"/>
          </a:p>
        </p:txBody>
      </p:sp>
      <p:grpSp>
        <p:nvGrpSpPr>
          <p:cNvPr id="116" name="Group 115"/>
          <p:cNvGrpSpPr/>
          <p:nvPr/>
        </p:nvGrpSpPr>
        <p:grpSpPr>
          <a:xfrm>
            <a:off x="8275320" y="4636008"/>
            <a:ext cx="1463040" cy="731520"/>
            <a:chOff x="8275320" y="4636008"/>
            <a:chExt cx="1463040" cy="731520"/>
          </a:xfrm>
        </p:grpSpPr>
        <p:sp>
          <p:nvSpPr>
            <p:cNvPr id="117" name="TextBox 116"/>
            <p:cNvSpPr txBox="1"/>
            <p:nvPr/>
          </p:nvSpPr>
          <p:spPr>
            <a:xfrm>
              <a:off x="8275320" y="4636008"/>
              <a:ext cx="1463040" cy="457200"/>
            </a:xfrm>
            <a:prstGeom prst="rect">
              <a:avLst/>
            </a:prstGeom>
            <a:noFill/>
          </p:spPr>
          <p:txBody>
            <a:bodyPr wrap="square" lIns="0" rIns="0" tIns="0" bIns="0" anchor="ctr">
              <a:noAutofit/>
            </a:bodyPr>
            <a:lstStyle/>
            <a:p>
              <a:pPr algn="l"/>
              <a:r>
                <a:rPr sz="2500" b="0" i="0">
                  <a:solidFill>
                    <a:srgbClr val="16130E"/>
                  </a:solidFill>
                  <a:latin typeface="Georgia" panose="02040502050405020303" pitchFamily="18" charset="0"/>
                </a:rPr>
                <a:t>26</a:t>
              </a:r>
            </a:p>
          </p:txBody>
        </p:sp>
        <p:sp>
          <p:nvSpPr>
            <p:cNvPr id="118" name="TextBox 117"/>
            <p:cNvSpPr txBox="1"/>
            <p:nvPr/>
          </p:nvSpPr>
          <p:spPr>
            <a:xfrm>
              <a:off x="8275320" y="5074920"/>
              <a:ext cx="1463040" cy="292608"/>
            </a:xfrm>
            <a:prstGeom prst="rect">
              <a:avLst/>
            </a:prstGeom>
            <a:noFill/>
          </p:spPr>
          <p:txBody>
            <a:bodyPr wrap="square" lIns="0" rIns="0" tIns="0" bIns="0" anchor="ctr">
              <a:noAutofit/>
            </a:bodyPr>
            <a:lstStyle/>
            <a:p>
              <a:pPr algn="l"/>
              <a:r>
                <a:rPr sz="850" b="0" i="0">
                  <a:solidFill>
                    <a:srgbClr val="6E6658"/>
                  </a:solidFill>
                  <a:latin typeface="Inter" panose="020B0502030000000004" pitchFamily="34" charset="0"/>
                </a:rPr>
                <a:t>real products in 6 categories</a:t>
              </a:r>
            </a:p>
          </p:txBody>
        </p:sp>
      </p:grpSp>
      <p:sp>
        <p:nvSpPr>
          <p:cNvPr id="119" name="Rectangle 118"/>
          <p:cNvSpPr/>
          <p:nvPr/>
        </p:nvSpPr>
        <p:spPr>
          <a:xfrm>
            <a:off x="9797796" y="4700016"/>
            <a:ext cx="7315" cy="576072"/>
          </a:xfrm>
          <a:prstGeom prst="rect">
            <a:avLst/>
          </a:prstGeom>
          <a:solidFill>
            <a:srgbClr val="E2D9C6"/>
          </a:solidFill>
          <a:ln>
            <a:noFill/>
          </a:ln>
        </p:spPr>
        <p:txBody>
          <a:bodyPr rtlCol="0" anchor="ctr"/>
          <a:lstStyle/>
          <a:p>
            <a:pPr algn="ctr"/>
          </a:p>
        </p:txBody>
      </p:sp>
      <p:grpSp>
        <p:nvGrpSpPr>
          <p:cNvPr id="120" name="Group 119"/>
          <p:cNvGrpSpPr/>
          <p:nvPr/>
        </p:nvGrpSpPr>
        <p:grpSpPr>
          <a:xfrm>
            <a:off x="9980676" y="4636008"/>
            <a:ext cx="1463040" cy="731520"/>
            <a:chOff x="9980676" y="4636008"/>
            <a:chExt cx="1463040" cy="731520"/>
          </a:xfrm>
        </p:grpSpPr>
        <p:sp>
          <p:nvSpPr>
            <p:cNvPr id="121" name="TextBox 120"/>
            <p:cNvSpPr txBox="1"/>
            <p:nvPr/>
          </p:nvSpPr>
          <p:spPr>
            <a:xfrm>
              <a:off x="9980676" y="4636008"/>
              <a:ext cx="1463040" cy="457200"/>
            </a:xfrm>
            <a:prstGeom prst="rect">
              <a:avLst/>
            </a:prstGeom>
            <a:noFill/>
          </p:spPr>
          <p:txBody>
            <a:bodyPr wrap="square" lIns="0" rIns="0" tIns="0" bIns="0" anchor="ctr">
              <a:noAutofit/>
            </a:bodyPr>
            <a:lstStyle/>
            <a:p>
              <a:pPr algn="l"/>
              <a:r>
                <a:rPr sz="2500" b="0" i="0">
                  <a:solidFill>
                    <a:srgbClr val="16130E"/>
                  </a:solidFill>
                  <a:latin typeface="Georgia" panose="02040502050405020303" pitchFamily="18" charset="0"/>
                </a:rPr>
                <a:t>4</a:t>
              </a:r>
            </a:p>
          </p:txBody>
        </p:sp>
        <p:sp>
          <p:nvSpPr>
            <p:cNvPr id="122" name="TextBox 121"/>
            <p:cNvSpPr txBox="1"/>
            <p:nvPr/>
          </p:nvSpPr>
          <p:spPr>
            <a:xfrm>
              <a:off x="9980676" y="5074920"/>
              <a:ext cx="1463040" cy="292608"/>
            </a:xfrm>
            <a:prstGeom prst="rect">
              <a:avLst/>
            </a:prstGeom>
            <a:noFill/>
          </p:spPr>
          <p:txBody>
            <a:bodyPr wrap="square" lIns="0" rIns="0" tIns="0" bIns="0" anchor="ctr">
              <a:noAutofit/>
            </a:bodyPr>
            <a:lstStyle/>
            <a:p>
              <a:pPr algn="l"/>
              <a:r>
                <a:rPr sz="850" b="0" i="0">
                  <a:solidFill>
                    <a:srgbClr val="6E6658"/>
                  </a:solidFill>
                  <a:latin typeface="Inter" panose="020B0502030000000004" pitchFamily="34" charset="0"/>
                </a:rPr>
                <a:t>buyer agents</a:t>
              </a:r>
            </a:p>
          </p:txBody>
        </p:sp>
      </p:grpSp>
      <p:sp>
        <p:nvSpPr>
          <p:cNvPr id="123" name="Rectangle 122"/>
          <p:cNvSpPr/>
          <p:nvPr/>
        </p:nvSpPr>
        <p:spPr>
          <a:xfrm>
            <a:off x="8183880" y="5413248"/>
            <a:ext cx="3227832" cy="7315"/>
          </a:xfrm>
          <a:prstGeom prst="rect">
            <a:avLst/>
          </a:prstGeom>
          <a:solidFill>
            <a:srgbClr val="E2D9C6"/>
          </a:solidFill>
          <a:ln>
            <a:noFill/>
          </a:ln>
        </p:spPr>
        <p:txBody>
          <a:bodyPr rtlCol="0" anchor="ctr"/>
          <a:lstStyle/>
          <a:p>
            <a:pPr algn="ctr"/>
          </a:p>
        </p:txBody>
      </p:sp>
      <p:grpSp>
        <p:nvGrpSpPr>
          <p:cNvPr id="124" name="Group 123"/>
          <p:cNvGrpSpPr/>
          <p:nvPr/>
        </p:nvGrpSpPr>
        <p:grpSpPr>
          <a:xfrm>
            <a:off x="8275320" y="5486400"/>
            <a:ext cx="1463040" cy="731520"/>
            <a:chOff x="8275320" y="5486400"/>
            <a:chExt cx="1463040" cy="731520"/>
          </a:xfrm>
        </p:grpSpPr>
        <p:sp>
          <p:nvSpPr>
            <p:cNvPr id="125" name="TextBox 124"/>
            <p:cNvSpPr txBox="1"/>
            <p:nvPr/>
          </p:nvSpPr>
          <p:spPr>
            <a:xfrm>
              <a:off x="8275320" y="5486400"/>
              <a:ext cx="1463040" cy="457200"/>
            </a:xfrm>
            <a:prstGeom prst="rect">
              <a:avLst/>
            </a:prstGeom>
            <a:noFill/>
          </p:spPr>
          <p:txBody>
            <a:bodyPr wrap="square" lIns="0" rIns="0" tIns="0" bIns="0" anchor="ctr">
              <a:noAutofit/>
            </a:bodyPr>
            <a:lstStyle/>
            <a:p>
              <a:pPr algn="l"/>
              <a:r>
                <a:rPr sz="2500" b="0" i="0">
                  <a:solidFill>
                    <a:srgbClr val="16130E"/>
                  </a:solidFill>
                  <a:latin typeface="Georgia" panose="02040502050405020303" pitchFamily="18" charset="0"/>
                </a:rPr>
                <a:t>14</a:t>
              </a:r>
            </a:p>
          </p:txBody>
        </p:sp>
        <p:sp>
          <p:nvSpPr>
            <p:cNvPr id="126" name="TextBox 125"/>
            <p:cNvSpPr txBox="1"/>
            <p:nvPr/>
          </p:nvSpPr>
          <p:spPr>
            <a:xfrm>
              <a:off x="8275320" y="5925312"/>
              <a:ext cx="1463040" cy="292608"/>
            </a:xfrm>
            <a:prstGeom prst="rect">
              <a:avLst/>
            </a:prstGeom>
            <a:noFill/>
          </p:spPr>
          <p:txBody>
            <a:bodyPr wrap="square" lIns="0" rIns="0" tIns="0" bIns="0" anchor="ctr">
              <a:noAutofit/>
            </a:bodyPr>
            <a:lstStyle/>
            <a:p>
              <a:pPr algn="l"/>
              <a:r>
                <a:rPr sz="850" b="0" i="0">
                  <a:solidFill>
                    <a:srgbClr val="6E6658"/>
                  </a:solidFill>
                  <a:latin typeface="Inter" panose="020B0502030000000004" pitchFamily="34" charset="0"/>
                </a:rPr>
                <a:t>SQLite tables</a:t>
              </a:r>
            </a:p>
          </p:txBody>
        </p:sp>
      </p:grpSp>
      <p:sp>
        <p:nvSpPr>
          <p:cNvPr id="127" name="Rectangle 126"/>
          <p:cNvSpPr/>
          <p:nvPr/>
        </p:nvSpPr>
        <p:spPr>
          <a:xfrm>
            <a:off x="9797796" y="5550408"/>
            <a:ext cx="7315" cy="576072"/>
          </a:xfrm>
          <a:prstGeom prst="rect">
            <a:avLst/>
          </a:prstGeom>
          <a:solidFill>
            <a:srgbClr val="E2D9C6"/>
          </a:solidFill>
          <a:ln>
            <a:noFill/>
          </a:ln>
        </p:spPr>
        <p:txBody>
          <a:bodyPr rtlCol="0" anchor="ctr"/>
          <a:lstStyle/>
          <a:p>
            <a:pPr algn="ctr"/>
          </a:p>
        </p:txBody>
      </p:sp>
      <p:grpSp>
        <p:nvGrpSpPr>
          <p:cNvPr id="128" name="Group 127"/>
          <p:cNvGrpSpPr/>
          <p:nvPr/>
        </p:nvGrpSpPr>
        <p:grpSpPr>
          <a:xfrm>
            <a:off x="9980676" y="5486400"/>
            <a:ext cx="1463040" cy="731520"/>
            <a:chOff x="9980676" y="5486400"/>
            <a:chExt cx="1463040" cy="731520"/>
          </a:xfrm>
        </p:grpSpPr>
        <p:sp>
          <p:nvSpPr>
            <p:cNvPr id="129" name="TextBox 128"/>
            <p:cNvSpPr txBox="1"/>
            <p:nvPr/>
          </p:nvSpPr>
          <p:spPr>
            <a:xfrm>
              <a:off x="9980676" y="5486400"/>
              <a:ext cx="1463040" cy="457200"/>
            </a:xfrm>
            <a:prstGeom prst="rect">
              <a:avLst/>
            </a:prstGeom>
            <a:noFill/>
          </p:spPr>
          <p:txBody>
            <a:bodyPr wrap="square" lIns="0" rIns="0" tIns="0" bIns="0" anchor="ctr">
              <a:noAutofit/>
            </a:bodyPr>
            <a:lstStyle/>
            <a:p>
              <a:pPr algn="l"/>
              <a:r>
                <a:rPr sz="2500" b="0" i="0">
                  <a:solidFill>
                    <a:srgbClr val="16130E"/>
                  </a:solidFill>
                  <a:latin typeface="Georgia" panose="02040502050405020303" pitchFamily="18" charset="0"/>
                </a:rPr>
                <a:t>9,415</a:t>
              </a:r>
            </a:p>
          </p:txBody>
        </p:sp>
        <p:sp>
          <p:nvSpPr>
            <p:cNvPr id="130" name="TextBox 129"/>
            <p:cNvSpPr txBox="1"/>
            <p:nvPr/>
          </p:nvSpPr>
          <p:spPr>
            <a:xfrm>
              <a:off x="9980676" y="5925312"/>
              <a:ext cx="1463040" cy="292608"/>
            </a:xfrm>
            <a:prstGeom prst="rect">
              <a:avLst/>
            </a:prstGeom>
            <a:noFill/>
          </p:spPr>
          <p:txBody>
            <a:bodyPr wrap="square" lIns="0" rIns="0" tIns="0" bIns="0" anchor="ctr">
              <a:noAutofit/>
            </a:bodyPr>
            <a:lstStyle/>
            <a:p>
              <a:pPr algn="l"/>
              <a:r>
                <a:rPr sz="850" b="0" i="0">
                  <a:solidFill>
                    <a:srgbClr val="6E6658"/>
                  </a:solidFill>
                  <a:latin typeface="Inter" panose="020B0502030000000004" pitchFamily="34" charset="0"/>
                </a:rPr>
                <a:t>lines of TypeScript</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600"/>
                                        <p:tgtEl>
                                          <p:spTgt spid="15"/>
                                        </p:tgtEl>
                                      </p:cBhvr>
                                    </p:animEffect>
                                  </p:childTnLst>
                                </p:cTn>
                              </p:par>
                              <p:par>
                                <p:cTn id="8" presetID="42" presetClass="entr" presetSubtype="0" fill="hold" grpId="0" nodeType="withEffect">
                                  <p:stCondLst>
                                    <p:cond delay="6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600"/>
                                        <p:tgtEl>
                                          <p:spTgt spid="16"/>
                                        </p:tgtEl>
                                      </p:cBhvr>
                                    </p:animEffect>
                                    <p:anim calcmode="lin" valueType="num">
                                      <p:cBhvr additive="base">
                                        <p:cTn id="11" dur="600" fill="hold" decel="100000"/>
                                        <p:tgtEl>
                                          <p:spTgt spid="16"/>
                                        </p:tgtEl>
                                        <p:attrNameLst>
                                          <p:attrName>ppt_x</p:attrName>
                                        </p:attrNameLst>
                                      </p:cBhvr>
                                      <p:tavLst>
                                        <p:tav tm="0">
                                          <p:val>
                                            <p:strVal val="#ppt_x"/>
                                          </p:val>
                                        </p:tav>
                                        <p:tav tm="100000">
                                          <p:val>
                                            <p:strVal val="#ppt_x"/>
                                          </p:val>
                                        </p:tav>
                                      </p:tavLst>
                                    </p:anim>
                                    <p:anim calcmode="lin" valueType="num">
                                      <p:cBhvr additive="base">
                                        <p:cTn id="12" dur="600" fill="hold" decel="100000"/>
                                        <p:tgtEl>
                                          <p:spTgt spid="16"/>
                                        </p:tgtEl>
                                        <p:attrNameLst>
                                          <p:attrName>ppt_y</p:attrName>
                                        </p:attrNameLst>
                                      </p:cBhvr>
                                      <p:tavLst>
                                        <p:tav tm="0">
                                          <p:val>
                                            <p:strVal val="#ppt_y+0.025"/>
                                          </p:val>
                                        </p:tav>
                                        <p:tav tm="100000">
                                          <p:val>
                                            <p:strVal val="#ppt_y"/>
                                          </p:val>
                                        </p:tav>
                                      </p:tavLst>
                                    </p:anim>
                                  </p:childTnLst>
                                </p:cTn>
                              </p:par>
                              <p:par>
                                <p:cTn id="13" presetID="10" presetClass="entr" presetSubtype="0" fill="hold" grpId="0" nodeType="withEffect">
                                  <p:stCondLst>
                                    <p:cond delay="20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300"/>
                                        <p:tgtEl>
                                          <p:spTgt spid="17"/>
                                        </p:tgtEl>
                                      </p:cBhvr>
                                    </p:animEffect>
                                  </p:childTnLst>
                                </p:cTn>
                              </p:par>
                              <p:par>
                                <p:cTn id="16" presetID="42" presetClass="entr" presetSubtype="0" fill="hold" grpId="0" nodeType="withEffect">
                                  <p:stCondLst>
                                    <p:cond delay="25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300"/>
                                        <p:tgtEl>
                                          <p:spTgt spid="18"/>
                                        </p:tgtEl>
                                      </p:cBhvr>
                                    </p:animEffect>
                                    <p:anim calcmode="lin" valueType="num">
                                      <p:cBhvr additive="base">
                                        <p:cTn id="19" dur="300" fill="hold" decel="100000"/>
                                        <p:tgtEl>
                                          <p:spTgt spid="18"/>
                                        </p:tgtEl>
                                        <p:attrNameLst>
                                          <p:attrName>ppt_x</p:attrName>
                                        </p:attrNameLst>
                                      </p:cBhvr>
                                      <p:tavLst>
                                        <p:tav tm="0">
                                          <p:val>
                                            <p:strVal val="#ppt_x-0.02"/>
                                          </p:val>
                                        </p:tav>
                                        <p:tav tm="100000">
                                          <p:val>
                                            <p:strVal val="#ppt_x"/>
                                          </p:val>
                                        </p:tav>
                                      </p:tavLst>
                                    </p:anim>
                                    <p:anim calcmode="lin" valueType="num">
                                      <p:cBhvr additive="base">
                                        <p:cTn id="20" dur="300" fill="hold" decel="100000"/>
                                        <p:tgtEl>
                                          <p:spTgt spid="18"/>
                                        </p:tgtEl>
                                        <p:attrNameLst>
                                          <p:attrName>ppt_y</p:attrName>
                                        </p:attrNameLst>
                                      </p:cBhvr>
                                      <p:tavLst>
                                        <p:tav tm="0">
                                          <p:val>
                                            <p:strVal val="#ppt_y"/>
                                          </p:val>
                                        </p:tav>
                                        <p:tav tm="100000">
                                          <p:val>
                                            <p:strVal val="#ppt_y"/>
                                          </p:val>
                                        </p:tav>
                                      </p:tavLst>
                                    </p:anim>
                                  </p:childTnLst>
                                </p:cTn>
                              </p:par>
                              <p:par>
                                <p:cTn id="21" presetID="42" presetClass="entr" presetSubtype="0" fill="hold" grpId="0" nodeType="withEffect">
                                  <p:stCondLst>
                                    <p:cond delay="31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300"/>
                                        <p:tgtEl>
                                          <p:spTgt spid="21"/>
                                        </p:tgtEl>
                                      </p:cBhvr>
                                    </p:animEffect>
                                    <p:anim calcmode="lin" valueType="num">
                                      <p:cBhvr additive="base">
                                        <p:cTn id="24" dur="300" fill="hold" decel="100000"/>
                                        <p:tgtEl>
                                          <p:spTgt spid="21"/>
                                        </p:tgtEl>
                                        <p:attrNameLst>
                                          <p:attrName>ppt_x</p:attrName>
                                        </p:attrNameLst>
                                      </p:cBhvr>
                                      <p:tavLst>
                                        <p:tav tm="0">
                                          <p:val>
                                            <p:strVal val="#ppt_x-0.02"/>
                                          </p:val>
                                        </p:tav>
                                        <p:tav tm="100000">
                                          <p:val>
                                            <p:strVal val="#ppt_x"/>
                                          </p:val>
                                        </p:tav>
                                      </p:tavLst>
                                    </p:anim>
                                    <p:anim calcmode="lin" valueType="num">
                                      <p:cBhvr additive="base">
                                        <p:cTn id="25" dur="300" fill="hold" decel="100000"/>
                                        <p:tgtEl>
                                          <p:spTgt spid="21"/>
                                        </p:tgtEl>
                                        <p:attrNameLst>
                                          <p:attrName>ppt_y</p:attrName>
                                        </p:attrNameLst>
                                      </p:cBhvr>
                                      <p:tavLst>
                                        <p:tav tm="0">
                                          <p:val>
                                            <p:strVal val="#ppt_y"/>
                                          </p:val>
                                        </p:tav>
                                        <p:tav tm="100000">
                                          <p:val>
                                            <p:strVal val="#ppt_y"/>
                                          </p:val>
                                        </p:tav>
                                      </p:tavLst>
                                    </p:anim>
                                  </p:childTnLst>
                                </p:cTn>
                              </p:par>
                              <p:par>
                                <p:cTn id="26" presetID="42" presetClass="entr" presetSubtype="0" fill="hold" grpId="0" nodeType="withEffect">
                                  <p:stCondLst>
                                    <p:cond delay="37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300"/>
                                        <p:tgtEl>
                                          <p:spTgt spid="24"/>
                                        </p:tgtEl>
                                      </p:cBhvr>
                                    </p:animEffect>
                                    <p:anim calcmode="lin" valueType="num">
                                      <p:cBhvr additive="base">
                                        <p:cTn id="29" dur="300" fill="hold" decel="100000"/>
                                        <p:tgtEl>
                                          <p:spTgt spid="24"/>
                                        </p:tgtEl>
                                        <p:attrNameLst>
                                          <p:attrName>ppt_x</p:attrName>
                                        </p:attrNameLst>
                                      </p:cBhvr>
                                      <p:tavLst>
                                        <p:tav tm="0">
                                          <p:val>
                                            <p:strVal val="#ppt_x-0.02"/>
                                          </p:val>
                                        </p:tav>
                                        <p:tav tm="100000">
                                          <p:val>
                                            <p:strVal val="#ppt_x"/>
                                          </p:val>
                                        </p:tav>
                                      </p:tavLst>
                                    </p:anim>
                                    <p:anim calcmode="lin" valueType="num">
                                      <p:cBhvr additive="base">
                                        <p:cTn id="30" dur="300" fill="hold" decel="100000"/>
                                        <p:tgtEl>
                                          <p:spTgt spid="24"/>
                                        </p:tgtEl>
                                        <p:attrNameLst>
                                          <p:attrName>ppt_y</p:attrName>
                                        </p:attrNameLst>
                                      </p:cBhvr>
                                      <p:tavLst>
                                        <p:tav tm="0">
                                          <p:val>
                                            <p:strVal val="#ppt_y"/>
                                          </p:val>
                                        </p:tav>
                                        <p:tav tm="100000">
                                          <p:val>
                                            <p:strVal val="#ppt_y"/>
                                          </p:val>
                                        </p:tav>
                                      </p:tavLst>
                                    </p:anim>
                                  </p:childTnLst>
                                </p:cTn>
                              </p:par>
                              <p:par>
                                <p:cTn id="31" presetID="42" presetClass="entr" presetSubtype="0" fill="hold" grpId="0" nodeType="withEffect">
                                  <p:stCondLst>
                                    <p:cond delay="43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300"/>
                                        <p:tgtEl>
                                          <p:spTgt spid="27"/>
                                        </p:tgtEl>
                                      </p:cBhvr>
                                    </p:animEffect>
                                    <p:anim calcmode="lin" valueType="num">
                                      <p:cBhvr additive="base">
                                        <p:cTn id="34" dur="300" fill="hold" decel="100000"/>
                                        <p:tgtEl>
                                          <p:spTgt spid="27"/>
                                        </p:tgtEl>
                                        <p:attrNameLst>
                                          <p:attrName>ppt_x</p:attrName>
                                        </p:attrNameLst>
                                      </p:cBhvr>
                                      <p:tavLst>
                                        <p:tav tm="0">
                                          <p:val>
                                            <p:strVal val="#ppt_x-0.02"/>
                                          </p:val>
                                        </p:tav>
                                        <p:tav tm="100000">
                                          <p:val>
                                            <p:strVal val="#ppt_x"/>
                                          </p:val>
                                        </p:tav>
                                      </p:tavLst>
                                    </p:anim>
                                    <p:anim calcmode="lin" valueType="num">
                                      <p:cBhvr additive="base">
                                        <p:cTn id="35" dur="300" fill="hold" decel="100000"/>
                                        <p:tgtEl>
                                          <p:spTgt spid="27"/>
                                        </p:tgtEl>
                                        <p:attrNameLst>
                                          <p:attrName>ppt_y</p:attrName>
                                        </p:attrNameLst>
                                      </p:cBhvr>
                                      <p:tavLst>
                                        <p:tav tm="0">
                                          <p:val>
                                            <p:strVal val="#ppt_y"/>
                                          </p:val>
                                        </p:tav>
                                        <p:tav tm="100000">
                                          <p:val>
                                            <p:strVal val="#ppt_y"/>
                                          </p:val>
                                        </p:tav>
                                      </p:tavLst>
                                    </p:anim>
                                  </p:childTnLst>
                                </p:cTn>
                              </p:par>
                              <p:par>
                                <p:cTn id="36" presetID="42" presetClass="entr" presetSubtype="0" fill="hold" grpId="0" nodeType="withEffect">
                                  <p:stCondLst>
                                    <p:cond delay="490"/>
                                  </p:stCondLst>
                                  <p:childTnLst>
                                    <p:set>
                                      <p:cBhvr>
                                        <p:cTn id="37" dur="1" fill="hold">
                                          <p:stCondLst>
                                            <p:cond delay="0"/>
                                          </p:stCondLst>
                                        </p:cTn>
                                        <p:tgtEl>
                                          <p:spTgt spid="30"/>
                                        </p:tgtEl>
                                        <p:attrNameLst>
                                          <p:attrName>style.visibility</p:attrName>
                                        </p:attrNameLst>
                                      </p:cBhvr>
                                      <p:to>
                                        <p:strVal val="visible"/>
                                      </p:to>
                                    </p:set>
                                    <p:animEffect transition="in" filter="fade">
                                      <p:cBhvr>
                                        <p:cTn id="38" dur="300"/>
                                        <p:tgtEl>
                                          <p:spTgt spid="30"/>
                                        </p:tgtEl>
                                      </p:cBhvr>
                                    </p:animEffect>
                                    <p:anim calcmode="lin" valueType="num">
                                      <p:cBhvr additive="base">
                                        <p:cTn id="39" dur="300" fill="hold" decel="100000"/>
                                        <p:tgtEl>
                                          <p:spTgt spid="30"/>
                                        </p:tgtEl>
                                        <p:attrNameLst>
                                          <p:attrName>ppt_x</p:attrName>
                                        </p:attrNameLst>
                                      </p:cBhvr>
                                      <p:tavLst>
                                        <p:tav tm="0">
                                          <p:val>
                                            <p:strVal val="#ppt_x-0.02"/>
                                          </p:val>
                                        </p:tav>
                                        <p:tav tm="100000">
                                          <p:val>
                                            <p:strVal val="#ppt_x"/>
                                          </p:val>
                                        </p:tav>
                                      </p:tavLst>
                                    </p:anim>
                                    <p:anim calcmode="lin" valueType="num">
                                      <p:cBhvr additive="base">
                                        <p:cTn id="40" dur="300" fill="hold" decel="100000"/>
                                        <p:tgtEl>
                                          <p:spTgt spid="30"/>
                                        </p:tgtEl>
                                        <p:attrNameLst>
                                          <p:attrName>ppt_y</p:attrName>
                                        </p:attrNameLst>
                                      </p:cBhvr>
                                      <p:tavLst>
                                        <p:tav tm="0">
                                          <p:val>
                                            <p:strVal val="#ppt_y"/>
                                          </p:val>
                                        </p:tav>
                                        <p:tav tm="100000">
                                          <p:val>
                                            <p:strVal val="#ppt_y"/>
                                          </p:val>
                                        </p:tav>
                                      </p:tavLst>
                                    </p:anim>
                                  </p:childTnLst>
                                </p:cTn>
                              </p:par>
                              <p:par>
                                <p:cTn id="41" presetID="10" presetClass="entr" presetSubtype="0" fill="hold" grpId="0" nodeType="withEffect">
                                  <p:stCondLst>
                                    <p:cond delay="55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300"/>
                                        <p:tgtEl>
                                          <p:spTgt spid="33"/>
                                        </p:tgtEl>
                                      </p:cBhvr>
                                    </p:animEffect>
                                  </p:childTnLst>
                                </p:cTn>
                              </p:par>
                              <p:par>
                                <p:cTn id="44" presetID="42" presetClass="entr" presetSubtype="0" fill="hold" grpId="0" nodeType="withEffect">
                                  <p:stCondLst>
                                    <p:cond delay="60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300"/>
                                        <p:tgtEl>
                                          <p:spTgt spid="34"/>
                                        </p:tgtEl>
                                      </p:cBhvr>
                                    </p:animEffect>
                                    <p:anim calcmode="lin" valueType="num">
                                      <p:cBhvr additive="base">
                                        <p:cTn id="47" dur="300" fill="hold" decel="100000"/>
                                        <p:tgtEl>
                                          <p:spTgt spid="34"/>
                                        </p:tgtEl>
                                        <p:attrNameLst>
                                          <p:attrName>ppt_x</p:attrName>
                                        </p:attrNameLst>
                                      </p:cBhvr>
                                      <p:tavLst>
                                        <p:tav tm="0">
                                          <p:val>
                                            <p:strVal val="#ppt_x-0.02"/>
                                          </p:val>
                                        </p:tav>
                                        <p:tav tm="100000">
                                          <p:val>
                                            <p:strVal val="#ppt_x"/>
                                          </p:val>
                                        </p:tav>
                                      </p:tavLst>
                                    </p:anim>
                                    <p:anim calcmode="lin" valueType="num">
                                      <p:cBhvr additive="base">
                                        <p:cTn id="48" dur="300" fill="hold" decel="100000"/>
                                        <p:tgtEl>
                                          <p:spTgt spid="34"/>
                                        </p:tgtEl>
                                        <p:attrNameLst>
                                          <p:attrName>ppt_y</p:attrName>
                                        </p:attrNameLst>
                                      </p:cBhvr>
                                      <p:tavLst>
                                        <p:tav tm="0">
                                          <p:val>
                                            <p:strVal val="#ppt_y"/>
                                          </p:val>
                                        </p:tav>
                                        <p:tav tm="100000">
                                          <p:val>
                                            <p:strVal val="#ppt_y"/>
                                          </p:val>
                                        </p:tav>
                                      </p:tavLst>
                                    </p:anim>
                                  </p:childTnLst>
                                </p:cTn>
                              </p:par>
                              <p:par>
                                <p:cTn id="49" presetID="42" presetClass="entr" presetSubtype="0" fill="hold" grpId="0" nodeType="withEffect">
                                  <p:stCondLst>
                                    <p:cond delay="660"/>
                                  </p:stCondLst>
                                  <p:childTnLst>
                                    <p:set>
                                      <p:cBhvr>
                                        <p:cTn id="50" dur="1" fill="hold">
                                          <p:stCondLst>
                                            <p:cond delay="0"/>
                                          </p:stCondLst>
                                        </p:cTn>
                                        <p:tgtEl>
                                          <p:spTgt spid="37"/>
                                        </p:tgtEl>
                                        <p:attrNameLst>
                                          <p:attrName>style.visibility</p:attrName>
                                        </p:attrNameLst>
                                      </p:cBhvr>
                                      <p:to>
                                        <p:strVal val="visible"/>
                                      </p:to>
                                    </p:set>
                                    <p:animEffect transition="in" filter="fade">
                                      <p:cBhvr>
                                        <p:cTn id="51" dur="300"/>
                                        <p:tgtEl>
                                          <p:spTgt spid="37"/>
                                        </p:tgtEl>
                                      </p:cBhvr>
                                    </p:animEffect>
                                    <p:anim calcmode="lin" valueType="num">
                                      <p:cBhvr additive="base">
                                        <p:cTn id="52" dur="300" fill="hold" decel="100000"/>
                                        <p:tgtEl>
                                          <p:spTgt spid="37"/>
                                        </p:tgtEl>
                                        <p:attrNameLst>
                                          <p:attrName>ppt_x</p:attrName>
                                        </p:attrNameLst>
                                      </p:cBhvr>
                                      <p:tavLst>
                                        <p:tav tm="0">
                                          <p:val>
                                            <p:strVal val="#ppt_x-0.02"/>
                                          </p:val>
                                        </p:tav>
                                        <p:tav tm="100000">
                                          <p:val>
                                            <p:strVal val="#ppt_x"/>
                                          </p:val>
                                        </p:tav>
                                      </p:tavLst>
                                    </p:anim>
                                    <p:anim calcmode="lin" valueType="num">
                                      <p:cBhvr additive="base">
                                        <p:cTn id="53" dur="300" fill="hold" decel="100000"/>
                                        <p:tgtEl>
                                          <p:spTgt spid="37"/>
                                        </p:tgtEl>
                                        <p:attrNameLst>
                                          <p:attrName>ppt_y</p:attrName>
                                        </p:attrNameLst>
                                      </p:cBhvr>
                                      <p:tavLst>
                                        <p:tav tm="0">
                                          <p:val>
                                            <p:strVal val="#ppt_y"/>
                                          </p:val>
                                        </p:tav>
                                        <p:tav tm="100000">
                                          <p:val>
                                            <p:strVal val="#ppt_y"/>
                                          </p:val>
                                        </p:tav>
                                      </p:tavLst>
                                    </p:anim>
                                  </p:childTnLst>
                                </p:cTn>
                              </p:par>
                              <p:par>
                                <p:cTn id="54" presetID="42" presetClass="entr" presetSubtype="0" fill="hold" grpId="0" nodeType="withEffect">
                                  <p:stCondLst>
                                    <p:cond delay="720"/>
                                  </p:stCondLst>
                                  <p:childTnLst>
                                    <p:set>
                                      <p:cBhvr>
                                        <p:cTn id="55" dur="1" fill="hold">
                                          <p:stCondLst>
                                            <p:cond delay="0"/>
                                          </p:stCondLst>
                                        </p:cTn>
                                        <p:tgtEl>
                                          <p:spTgt spid="40"/>
                                        </p:tgtEl>
                                        <p:attrNameLst>
                                          <p:attrName>style.visibility</p:attrName>
                                        </p:attrNameLst>
                                      </p:cBhvr>
                                      <p:to>
                                        <p:strVal val="visible"/>
                                      </p:to>
                                    </p:set>
                                    <p:animEffect transition="in" filter="fade">
                                      <p:cBhvr>
                                        <p:cTn id="56" dur="300"/>
                                        <p:tgtEl>
                                          <p:spTgt spid="40"/>
                                        </p:tgtEl>
                                      </p:cBhvr>
                                    </p:animEffect>
                                    <p:anim calcmode="lin" valueType="num">
                                      <p:cBhvr additive="base">
                                        <p:cTn id="57" dur="300" fill="hold" decel="100000"/>
                                        <p:tgtEl>
                                          <p:spTgt spid="40"/>
                                        </p:tgtEl>
                                        <p:attrNameLst>
                                          <p:attrName>ppt_x</p:attrName>
                                        </p:attrNameLst>
                                      </p:cBhvr>
                                      <p:tavLst>
                                        <p:tav tm="0">
                                          <p:val>
                                            <p:strVal val="#ppt_x-0.02"/>
                                          </p:val>
                                        </p:tav>
                                        <p:tav tm="100000">
                                          <p:val>
                                            <p:strVal val="#ppt_x"/>
                                          </p:val>
                                        </p:tav>
                                      </p:tavLst>
                                    </p:anim>
                                    <p:anim calcmode="lin" valueType="num">
                                      <p:cBhvr additive="base">
                                        <p:cTn id="58" dur="300" fill="hold" decel="100000"/>
                                        <p:tgtEl>
                                          <p:spTgt spid="40"/>
                                        </p:tgtEl>
                                        <p:attrNameLst>
                                          <p:attrName>ppt_y</p:attrName>
                                        </p:attrNameLst>
                                      </p:cBhvr>
                                      <p:tavLst>
                                        <p:tav tm="0">
                                          <p:val>
                                            <p:strVal val="#ppt_y"/>
                                          </p:val>
                                        </p:tav>
                                        <p:tav tm="100000">
                                          <p:val>
                                            <p:strVal val="#ppt_y"/>
                                          </p:val>
                                        </p:tav>
                                      </p:tavLst>
                                    </p:anim>
                                  </p:childTnLst>
                                </p:cTn>
                              </p:par>
                              <p:par>
                                <p:cTn id="59" presetID="22" presetClass="entr" presetSubtype="8" fill="hold" grpId="0" nodeType="withEffect">
                                  <p:stCondLst>
                                    <p:cond delay="850"/>
                                  </p:stCondLst>
                                  <p:childTnLst>
                                    <p:set>
                                      <p:cBhvr>
                                        <p:cTn id="60" dur="1" fill="hold">
                                          <p:stCondLst>
                                            <p:cond delay="0"/>
                                          </p:stCondLst>
                                        </p:cTn>
                                        <p:tgtEl>
                                          <p:spTgt spid="43"/>
                                        </p:tgtEl>
                                        <p:attrNameLst>
                                          <p:attrName>style.visibility</p:attrName>
                                        </p:attrNameLst>
                                      </p:cBhvr>
                                      <p:to>
                                        <p:strVal val="visible"/>
                                      </p:to>
                                    </p:set>
                                    <p:animEffect transition="in" filter="wipe(left)">
                                      <p:cBhvr>
                                        <p:cTn id="61" dur="220"/>
                                        <p:tgtEl>
                                          <p:spTgt spid="43"/>
                                        </p:tgtEl>
                                      </p:cBhvr>
                                    </p:animEffect>
                                  </p:childTnLst>
                                </p:cTn>
                              </p:par>
                              <p:par>
                                <p:cTn id="62" presetID="22" presetClass="entr" presetSubtype="8" fill="hold" grpId="0" nodeType="withEffect">
                                  <p:stCondLst>
                                    <p:cond delay="850"/>
                                  </p:stCondLst>
                                  <p:childTnLst>
                                    <p:set>
                                      <p:cBhvr>
                                        <p:cTn id="63" dur="1" fill="hold">
                                          <p:stCondLst>
                                            <p:cond delay="0"/>
                                          </p:stCondLst>
                                        </p:cTn>
                                        <p:tgtEl>
                                          <p:spTgt spid="44"/>
                                        </p:tgtEl>
                                        <p:attrNameLst>
                                          <p:attrName>style.visibility</p:attrName>
                                        </p:attrNameLst>
                                      </p:cBhvr>
                                      <p:to>
                                        <p:strVal val="visible"/>
                                      </p:to>
                                    </p:set>
                                    <p:animEffect transition="in" filter="wipe(left)">
                                      <p:cBhvr>
                                        <p:cTn id="64" dur="220"/>
                                        <p:tgtEl>
                                          <p:spTgt spid="44"/>
                                        </p:tgtEl>
                                      </p:cBhvr>
                                    </p:animEffect>
                                  </p:childTnLst>
                                </p:cTn>
                              </p:par>
                              <p:par>
                                <p:cTn id="65" presetID="42" presetClass="entr" presetSubtype="0" fill="hold" grpId="0" nodeType="withEffect">
                                  <p:stCondLst>
                                    <p:cond delay="800"/>
                                  </p:stCondLst>
                                  <p:childTnLst>
                                    <p:set>
                                      <p:cBhvr>
                                        <p:cTn id="66" dur="1" fill="hold">
                                          <p:stCondLst>
                                            <p:cond delay="0"/>
                                          </p:stCondLst>
                                        </p:cTn>
                                        <p:tgtEl>
                                          <p:spTgt spid="45"/>
                                        </p:tgtEl>
                                        <p:attrNameLst>
                                          <p:attrName>style.visibility</p:attrName>
                                        </p:attrNameLst>
                                      </p:cBhvr>
                                      <p:to>
                                        <p:strVal val="visible"/>
                                      </p:to>
                                    </p:set>
                                    <p:animEffect transition="in" filter="fade">
                                      <p:cBhvr>
                                        <p:cTn id="67" dur="500"/>
                                        <p:tgtEl>
                                          <p:spTgt spid="45"/>
                                        </p:tgtEl>
                                      </p:cBhvr>
                                    </p:animEffect>
                                    <p:anim calcmode="lin" valueType="num">
                                      <p:cBhvr additive="base">
                                        <p:cTn id="68" dur="500" fill="hold" decel="100000"/>
                                        <p:tgtEl>
                                          <p:spTgt spid="45"/>
                                        </p:tgtEl>
                                        <p:attrNameLst>
                                          <p:attrName>ppt_x</p:attrName>
                                        </p:attrNameLst>
                                      </p:cBhvr>
                                      <p:tavLst>
                                        <p:tav tm="0">
                                          <p:val>
                                            <p:strVal val="#ppt_x"/>
                                          </p:val>
                                        </p:tav>
                                        <p:tav tm="100000">
                                          <p:val>
                                            <p:strVal val="#ppt_x"/>
                                          </p:val>
                                        </p:tav>
                                      </p:tavLst>
                                    </p:anim>
                                    <p:anim calcmode="lin" valueType="num">
                                      <p:cBhvr additive="base">
                                        <p:cTn id="69" dur="500" fill="hold" decel="100000"/>
                                        <p:tgtEl>
                                          <p:spTgt spid="45"/>
                                        </p:tgtEl>
                                        <p:attrNameLst>
                                          <p:attrName>ppt_y</p:attrName>
                                        </p:attrNameLst>
                                      </p:cBhvr>
                                      <p:tavLst>
                                        <p:tav tm="0">
                                          <p:val>
                                            <p:strVal val="#ppt_y+0.025"/>
                                          </p:val>
                                        </p:tav>
                                        <p:tav tm="100000">
                                          <p:val>
                                            <p:strVal val="#ppt_y"/>
                                          </p:val>
                                        </p:tav>
                                      </p:tavLst>
                                    </p:anim>
                                  </p:childTnLst>
                                </p:cTn>
                              </p:par>
                              <p:par>
                                <p:cTn id="70" presetID="10" presetClass="entr" presetSubtype="0" fill="hold" grpId="0" nodeType="withEffect">
                                  <p:stCondLst>
                                    <p:cond delay="1000"/>
                                  </p:stCondLst>
                                  <p:childTnLst>
                                    <p:set>
                                      <p:cBhvr>
                                        <p:cTn id="71" dur="1" fill="hold">
                                          <p:stCondLst>
                                            <p:cond delay="0"/>
                                          </p:stCondLst>
                                        </p:cTn>
                                        <p:tgtEl>
                                          <p:spTgt spid="50"/>
                                        </p:tgtEl>
                                        <p:attrNameLst>
                                          <p:attrName>style.visibility</p:attrName>
                                        </p:attrNameLst>
                                      </p:cBhvr>
                                      <p:to>
                                        <p:strVal val="visible"/>
                                      </p:to>
                                    </p:set>
                                    <p:animEffect transition="in" filter="fade">
                                      <p:cBhvr>
                                        <p:cTn id="72" dur="300"/>
                                        <p:tgtEl>
                                          <p:spTgt spid="50"/>
                                        </p:tgtEl>
                                      </p:cBhvr>
                                    </p:animEffect>
                                  </p:childTnLst>
                                </p:cTn>
                              </p:par>
                              <p:par>
                                <p:cTn id="73" presetID="10" presetClass="entr" presetSubtype="0" fill="hold" grpId="0" nodeType="withEffect">
                                  <p:stCondLst>
                                    <p:cond delay="1100"/>
                                  </p:stCondLst>
                                  <p:childTnLst>
                                    <p:set>
                                      <p:cBhvr>
                                        <p:cTn id="74" dur="1" fill="hold">
                                          <p:stCondLst>
                                            <p:cond delay="0"/>
                                          </p:stCondLst>
                                        </p:cTn>
                                        <p:tgtEl>
                                          <p:spTgt spid="54"/>
                                        </p:tgtEl>
                                        <p:attrNameLst>
                                          <p:attrName>style.visibility</p:attrName>
                                        </p:attrNameLst>
                                      </p:cBhvr>
                                      <p:to>
                                        <p:strVal val="visible"/>
                                      </p:to>
                                    </p:set>
                                    <p:animEffect transition="in" filter="fade">
                                      <p:cBhvr>
                                        <p:cTn id="75" dur="300"/>
                                        <p:tgtEl>
                                          <p:spTgt spid="54"/>
                                        </p:tgtEl>
                                      </p:cBhvr>
                                    </p:animEffect>
                                  </p:childTnLst>
                                </p:cTn>
                              </p:par>
                              <p:par>
                                <p:cTn id="76" presetID="10" presetClass="entr" presetSubtype="0" fill="hold" grpId="0" nodeType="withEffect">
                                  <p:stCondLst>
                                    <p:cond delay="1200"/>
                                  </p:stCondLst>
                                  <p:childTnLst>
                                    <p:set>
                                      <p:cBhvr>
                                        <p:cTn id="77" dur="1" fill="hold">
                                          <p:stCondLst>
                                            <p:cond delay="0"/>
                                          </p:stCondLst>
                                        </p:cTn>
                                        <p:tgtEl>
                                          <p:spTgt spid="58"/>
                                        </p:tgtEl>
                                        <p:attrNameLst>
                                          <p:attrName>style.visibility</p:attrName>
                                        </p:attrNameLst>
                                      </p:cBhvr>
                                      <p:to>
                                        <p:strVal val="visible"/>
                                      </p:to>
                                    </p:set>
                                    <p:animEffect transition="in" filter="fade">
                                      <p:cBhvr>
                                        <p:cTn id="78" dur="300"/>
                                        <p:tgtEl>
                                          <p:spTgt spid="58"/>
                                        </p:tgtEl>
                                      </p:cBhvr>
                                    </p:animEffect>
                                  </p:childTnLst>
                                </p:cTn>
                              </p:par>
                              <p:par>
                                <p:cTn id="79" presetID="10" presetClass="entr" presetSubtype="0" fill="hold" grpId="0" nodeType="withEffect">
                                  <p:stCondLst>
                                    <p:cond delay="1300"/>
                                  </p:stCondLst>
                                  <p:childTnLst>
                                    <p:set>
                                      <p:cBhvr>
                                        <p:cTn id="80" dur="1" fill="hold">
                                          <p:stCondLst>
                                            <p:cond delay="0"/>
                                          </p:stCondLst>
                                        </p:cTn>
                                        <p:tgtEl>
                                          <p:spTgt spid="62"/>
                                        </p:tgtEl>
                                        <p:attrNameLst>
                                          <p:attrName>style.visibility</p:attrName>
                                        </p:attrNameLst>
                                      </p:cBhvr>
                                      <p:to>
                                        <p:strVal val="visible"/>
                                      </p:to>
                                    </p:set>
                                    <p:animEffect transition="in" filter="fade">
                                      <p:cBhvr>
                                        <p:cTn id="81" dur="300"/>
                                        <p:tgtEl>
                                          <p:spTgt spid="62"/>
                                        </p:tgtEl>
                                      </p:cBhvr>
                                    </p:animEffect>
                                  </p:childTnLst>
                                </p:cTn>
                              </p:par>
                              <p:par>
                                <p:cTn id="82" presetID="10" presetClass="entr" presetSubtype="0" fill="hold" grpId="0" nodeType="withEffect">
                                  <p:stCondLst>
                                    <p:cond delay="1400"/>
                                  </p:stCondLst>
                                  <p:childTnLst>
                                    <p:set>
                                      <p:cBhvr>
                                        <p:cTn id="83" dur="1" fill="hold">
                                          <p:stCondLst>
                                            <p:cond delay="0"/>
                                          </p:stCondLst>
                                        </p:cTn>
                                        <p:tgtEl>
                                          <p:spTgt spid="66"/>
                                        </p:tgtEl>
                                        <p:attrNameLst>
                                          <p:attrName>style.visibility</p:attrName>
                                        </p:attrNameLst>
                                      </p:cBhvr>
                                      <p:to>
                                        <p:strVal val="visible"/>
                                      </p:to>
                                    </p:set>
                                    <p:animEffect transition="in" filter="fade">
                                      <p:cBhvr>
                                        <p:cTn id="84" dur="300"/>
                                        <p:tgtEl>
                                          <p:spTgt spid="66"/>
                                        </p:tgtEl>
                                      </p:cBhvr>
                                    </p:animEffect>
                                  </p:childTnLst>
                                </p:cTn>
                              </p:par>
                              <p:par>
                                <p:cTn id="85" presetID="22" presetClass="entr" presetSubtype="8" fill="hold" grpId="0" nodeType="withEffect">
                                  <p:stCondLst>
                                    <p:cond delay="1550"/>
                                  </p:stCondLst>
                                  <p:childTnLst>
                                    <p:set>
                                      <p:cBhvr>
                                        <p:cTn id="86" dur="1" fill="hold">
                                          <p:stCondLst>
                                            <p:cond delay="0"/>
                                          </p:stCondLst>
                                        </p:cTn>
                                        <p:tgtEl>
                                          <p:spTgt spid="70"/>
                                        </p:tgtEl>
                                        <p:attrNameLst>
                                          <p:attrName>style.visibility</p:attrName>
                                        </p:attrNameLst>
                                      </p:cBhvr>
                                      <p:to>
                                        <p:strVal val="visible"/>
                                      </p:to>
                                    </p:set>
                                    <p:animEffect transition="in" filter="wipe(left)">
                                      <p:cBhvr>
                                        <p:cTn id="87" dur="220"/>
                                        <p:tgtEl>
                                          <p:spTgt spid="70"/>
                                        </p:tgtEl>
                                      </p:cBhvr>
                                    </p:animEffect>
                                  </p:childTnLst>
                                </p:cTn>
                              </p:par>
                              <p:par>
                                <p:cTn id="88" presetID="42" presetClass="entr" presetSubtype="0" fill="hold" grpId="0" nodeType="withEffect">
                                  <p:stCondLst>
                                    <p:cond delay="1600"/>
                                  </p:stCondLst>
                                  <p:childTnLst>
                                    <p:set>
                                      <p:cBhvr>
                                        <p:cTn id="89" dur="1" fill="hold">
                                          <p:stCondLst>
                                            <p:cond delay="0"/>
                                          </p:stCondLst>
                                        </p:cTn>
                                        <p:tgtEl>
                                          <p:spTgt spid="71"/>
                                        </p:tgtEl>
                                        <p:attrNameLst>
                                          <p:attrName>style.visibility</p:attrName>
                                        </p:attrNameLst>
                                      </p:cBhvr>
                                      <p:to>
                                        <p:strVal val="visible"/>
                                      </p:to>
                                    </p:set>
                                    <p:animEffect transition="in" filter="fade">
                                      <p:cBhvr>
                                        <p:cTn id="90" dur="400"/>
                                        <p:tgtEl>
                                          <p:spTgt spid="71"/>
                                        </p:tgtEl>
                                      </p:cBhvr>
                                    </p:animEffect>
                                    <p:anim calcmode="lin" valueType="num">
                                      <p:cBhvr additive="base">
                                        <p:cTn id="91" dur="400" fill="hold" decel="100000"/>
                                        <p:tgtEl>
                                          <p:spTgt spid="71"/>
                                        </p:tgtEl>
                                        <p:attrNameLst>
                                          <p:attrName>ppt_x</p:attrName>
                                        </p:attrNameLst>
                                      </p:cBhvr>
                                      <p:tavLst>
                                        <p:tav tm="0">
                                          <p:val>
                                            <p:strVal val="#ppt_x"/>
                                          </p:val>
                                        </p:tav>
                                        <p:tav tm="100000">
                                          <p:val>
                                            <p:strVal val="#ppt_x"/>
                                          </p:val>
                                        </p:tav>
                                      </p:tavLst>
                                    </p:anim>
                                    <p:anim calcmode="lin" valueType="num">
                                      <p:cBhvr additive="base">
                                        <p:cTn id="92" dur="400" fill="hold" decel="100000"/>
                                        <p:tgtEl>
                                          <p:spTgt spid="71"/>
                                        </p:tgtEl>
                                        <p:attrNameLst>
                                          <p:attrName>ppt_y</p:attrName>
                                        </p:attrNameLst>
                                      </p:cBhvr>
                                      <p:tavLst>
                                        <p:tav tm="0">
                                          <p:val>
                                            <p:strVal val="#ppt_y+0.025"/>
                                          </p:val>
                                        </p:tav>
                                        <p:tav tm="100000">
                                          <p:val>
                                            <p:strVal val="#ppt_y"/>
                                          </p:val>
                                        </p:tav>
                                      </p:tavLst>
                                    </p:anim>
                                  </p:childTnLst>
                                </p:cTn>
                              </p:par>
                              <p:par>
                                <p:cTn id="93" presetID="22" presetClass="entr" presetSubtype="8" fill="hold" grpId="0" nodeType="withEffect">
                                  <p:stCondLst>
                                    <p:cond delay="1700"/>
                                  </p:stCondLst>
                                  <p:childTnLst>
                                    <p:set>
                                      <p:cBhvr>
                                        <p:cTn id="94" dur="1" fill="hold">
                                          <p:stCondLst>
                                            <p:cond delay="0"/>
                                          </p:stCondLst>
                                        </p:cTn>
                                        <p:tgtEl>
                                          <p:spTgt spid="77"/>
                                        </p:tgtEl>
                                        <p:attrNameLst>
                                          <p:attrName>style.visibility</p:attrName>
                                        </p:attrNameLst>
                                      </p:cBhvr>
                                      <p:to>
                                        <p:strVal val="visible"/>
                                      </p:to>
                                    </p:set>
                                    <p:animEffect transition="in" filter="wipe(left)">
                                      <p:cBhvr>
                                        <p:cTn id="95" dur="220"/>
                                        <p:tgtEl>
                                          <p:spTgt spid="77"/>
                                        </p:tgtEl>
                                      </p:cBhvr>
                                    </p:animEffect>
                                  </p:childTnLst>
                                </p:cTn>
                              </p:par>
                              <p:par>
                                <p:cTn id="96" presetID="22" presetClass="entr" presetSubtype="8" fill="hold" grpId="0" nodeType="withEffect">
                                  <p:stCondLst>
                                    <p:cond delay="1660"/>
                                  </p:stCondLst>
                                  <p:childTnLst>
                                    <p:set>
                                      <p:cBhvr>
                                        <p:cTn id="97" dur="1" fill="hold">
                                          <p:stCondLst>
                                            <p:cond delay="0"/>
                                          </p:stCondLst>
                                        </p:cTn>
                                        <p:tgtEl>
                                          <p:spTgt spid="76"/>
                                        </p:tgtEl>
                                        <p:attrNameLst>
                                          <p:attrName>style.visibility</p:attrName>
                                        </p:attrNameLst>
                                      </p:cBhvr>
                                      <p:to>
                                        <p:strVal val="visible"/>
                                      </p:to>
                                    </p:set>
                                    <p:animEffect transition="in" filter="wipe(left)">
                                      <p:cBhvr>
                                        <p:cTn id="98" dur="220"/>
                                        <p:tgtEl>
                                          <p:spTgt spid="76"/>
                                        </p:tgtEl>
                                      </p:cBhvr>
                                    </p:animEffect>
                                  </p:childTnLst>
                                </p:cTn>
                              </p:par>
                              <p:par>
                                <p:cTn id="99" presetID="42" presetClass="entr" presetSubtype="0" fill="hold" grpId="0" nodeType="withEffect">
                                  <p:stCondLst>
                                    <p:cond delay="1730"/>
                                  </p:stCondLst>
                                  <p:childTnLst>
                                    <p:set>
                                      <p:cBhvr>
                                        <p:cTn id="100" dur="1" fill="hold">
                                          <p:stCondLst>
                                            <p:cond delay="0"/>
                                          </p:stCondLst>
                                        </p:cTn>
                                        <p:tgtEl>
                                          <p:spTgt spid="78"/>
                                        </p:tgtEl>
                                        <p:attrNameLst>
                                          <p:attrName>style.visibility</p:attrName>
                                        </p:attrNameLst>
                                      </p:cBhvr>
                                      <p:to>
                                        <p:strVal val="visible"/>
                                      </p:to>
                                    </p:set>
                                    <p:animEffect transition="in" filter="fade">
                                      <p:cBhvr>
                                        <p:cTn id="101" dur="400"/>
                                        <p:tgtEl>
                                          <p:spTgt spid="78"/>
                                        </p:tgtEl>
                                      </p:cBhvr>
                                    </p:animEffect>
                                    <p:anim calcmode="lin" valueType="num">
                                      <p:cBhvr additive="base">
                                        <p:cTn id="102" dur="400" fill="hold" decel="100000"/>
                                        <p:tgtEl>
                                          <p:spTgt spid="78"/>
                                        </p:tgtEl>
                                        <p:attrNameLst>
                                          <p:attrName>ppt_x</p:attrName>
                                        </p:attrNameLst>
                                      </p:cBhvr>
                                      <p:tavLst>
                                        <p:tav tm="0">
                                          <p:val>
                                            <p:strVal val="#ppt_x"/>
                                          </p:val>
                                        </p:tav>
                                        <p:tav tm="100000">
                                          <p:val>
                                            <p:strVal val="#ppt_x"/>
                                          </p:val>
                                        </p:tav>
                                      </p:tavLst>
                                    </p:anim>
                                    <p:anim calcmode="lin" valueType="num">
                                      <p:cBhvr additive="base">
                                        <p:cTn id="103" dur="400" fill="hold" decel="100000"/>
                                        <p:tgtEl>
                                          <p:spTgt spid="78"/>
                                        </p:tgtEl>
                                        <p:attrNameLst>
                                          <p:attrName>ppt_y</p:attrName>
                                        </p:attrNameLst>
                                      </p:cBhvr>
                                      <p:tavLst>
                                        <p:tav tm="0">
                                          <p:val>
                                            <p:strVal val="#ppt_y+0.025"/>
                                          </p:val>
                                        </p:tav>
                                        <p:tav tm="100000">
                                          <p:val>
                                            <p:strVal val="#ppt_y"/>
                                          </p:val>
                                        </p:tav>
                                      </p:tavLst>
                                    </p:anim>
                                  </p:childTnLst>
                                </p:cTn>
                              </p:par>
                              <p:par>
                                <p:cTn id="104" presetID="22" presetClass="entr" presetSubtype="8" fill="hold" grpId="0" nodeType="withEffect">
                                  <p:stCondLst>
                                    <p:cond delay="1770"/>
                                  </p:stCondLst>
                                  <p:childTnLst>
                                    <p:set>
                                      <p:cBhvr>
                                        <p:cTn id="105" dur="1" fill="hold">
                                          <p:stCondLst>
                                            <p:cond delay="0"/>
                                          </p:stCondLst>
                                        </p:cTn>
                                        <p:tgtEl>
                                          <p:spTgt spid="83"/>
                                        </p:tgtEl>
                                        <p:attrNameLst>
                                          <p:attrName>style.visibility</p:attrName>
                                        </p:attrNameLst>
                                      </p:cBhvr>
                                      <p:to>
                                        <p:strVal val="visible"/>
                                      </p:to>
                                    </p:set>
                                    <p:animEffect transition="in" filter="wipe(left)">
                                      <p:cBhvr>
                                        <p:cTn id="106" dur="220"/>
                                        <p:tgtEl>
                                          <p:spTgt spid="83"/>
                                        </p:tgtEl>
                                      </p:cBhvr>
                                    </p:animEffect>
                                  </p:childTnLst>
                                </p:cTn>
                              </p:par>
                              <p:par>
                                <p:cTn id="107" presetID="42" presetClass="entr" presetSubtype="0" fill="hold" grpId="0" nodeType="withEffect">
                                  <p:stCondLst>
                                    <p:cond delay="1860"/>
                                  </p:stCondLst>
                                  <p:childTnLst>
                                    <p:set>
                                      <p:cBhvr>
                                        <p:cTn id="108" dur="1" fill="hold">
                                          <p:stCondLst>
                                            <p:cond delay="0"/>
                                          </p:stCondLst>
                                        </p:cTn>
                                        <p:tgtEl>
                                          <p:spTgt spid="84"/>
                                        </p:tgtEl>
                                        <p:attrNameLst>
                                          <p:attrName>style.visibility</p:attrName>
                                        </p:attrNameLst>
                                      </p:cBhvr>
                                      <p:to>
                                        <p:strVal val="visible"/>
                                      </p:to>
                                    </p:set>
                                    <p:animEffect transition="in" filter="fade">
                                      <p:cBhvr>
                                        <p:cTn id="109" dur="400"/>
                                        <p:tgtEl>
                                          <p:spTgt spid="84"/>
                                        </p:tgtEl>
                                      </p:cBhvr>
                                    </p:animEffect>
                                    <p:anim calcmode="lin" valueType="num">
                                      <p:cBhvr additive="base">
                                        <p:cTn id="110" dur="400" fill="hold" decel="100000"/>
                                        <p:tgtEl>
                                          <p:spTgt spid="84"/>
                                        </p:tgtEl>
                                        <p:attrNameLst>
                                          <p:attrName>ppt_x</p:attrName>
                                        </p:attrNameLst>
                                      </p:cBhvr>
                                      <p:tavLst>
                                        <p:tav tm="0">
                                          <p:val>
                                            <p:strVal val="#ppt_x"/>
                                          </p:val>
                                        </p:tav>
                                        <p:tav tm="100000">
                                          <p:val>
                                            <p:strVal val="#ppt_x"/>
                                          </p:val>
                                        </p:tav>
                                      </p:tavLst>
                                    </p:anim>
                                    <p:anim calcmode="lin" valueType="num">
                                      <p:cBhvr additive="base">
                                        <p:cTn id="111" dur="400" fill="hold" decel="100000"/>
                                        <p:tgtEl>
                                          <p:spTgt spid="84"/>
                                        </p:tgtEl>
                                        <p:attrNameLst>
                                          <p:attrName>ppt_y</p:attrName>
                                        </p:attrNameLst>
                                      </p:cBhvr>
                                      <p:tavLst>
                                        <p:tav tm="0">
                                          <p:val>
                                            <p:strVal val="#ppt_y+0.025"/>
                                          </p:val>
                                        </p:tav>
                                        <p:tav tm="100000">
                                          <p:val>
                                            <p:strVal val="#ppt_y"/>
                                          </p:val>
                                        </p:tav>
                                      </p:tavLst>
                                    </p:anim>
                                  </p:childTnLst>
                                </p:cTn>
                              </p:par>
                              <p:par>
                                <p:cTn id="112" presetID="10" presetClass="entr" presetSubtype="0" fill="hold" grpId="0" nodeType="withEffect">
                                  <p:stCondLst>
                                    <p:cond delay="1800"/>
                                  </p:stCondLst>
                                  <p:childTnLst>
                                    <p:set>
                                      <p:cBhvr>
                                        <p:cTn id="113" dur="1" fill="hold">
                                          <p:stCondLst>
                                            <p:cond delay="0"/>
                                          </p:stCondLst>
                                        </p:cTn>
                                        <p:tgtEl>
                                          <p:spTgt spid="89"/>
                                        </p:tgtEl>
                                        <p:attrNameLst>
                                          <p:attrName>style.visibility</p:attrName>
                                        </p:attrNameLst>
                                      </p:cBhvr>
                                      <p:to>
                                        <p:strVal val="visible"/>
                                      </p:to>
                                    </p:set>
                                    <p:animEffect transition="in" filter="fade">
                                      <p:cBhvr>
                                        <p:cTn id="114" dur="300"/>
                                        <p:tgtEl>
                                          <p:spTgt spid="89"/>
                                        </p:tgtEl>
                                      </p:cBhvr>
                                    </p:animEffect>
                                  </p:childTnLst>
                                </p:cTn>
                              </p:par>
                              <p:par>
                                <p:cTn id="115" presetID="42" presetClass="entr" presetSubtype="0" fill="hold" grpId="0" nodeType="withEffect">
                                  <p:stCondLst>
                                    <p:cond delay="1850"/>
                                  </p:stCondLst>
                                  <p:childTnLst>
                                    <p:set>
                                      <p:cBhvr>
                                        <p:cTn id="116" dur="1" fill="hold">
                                          <p:stCondLst>
                                            <p:cond delay="0"/>
                                          </p:stCondLst>
                                        </p:cTn>
                                        <p:tgtEl>
                                          <p:spTgt spid="90"/>
                                        </p:tgtEl>
                                        <p:attrNameLst>
                                          <p:attrName>style.visibility</p:attrName>
                                        </p:attrNameLst>
                                      </p:cBhvr>
                                      <p:to>
                                        <p:strVal val="visible"/>
                                      </p:to>
                                    </p:set>
                                    <p:animEffect transition="in" filter="fade">
                                      <p:cBhvr>
                                        <p:cTn id="117" dur="450"/>
                                        <p:tgtEl>
                                          <p:spTgt spid="90"/>
                                        </p:tgtEl>
                                      </p:cBhvr>
                                    </p:animEffect>
                                    <p:anim calcmode="lin" valueType="num">
                                      <p:cBhvr additive="base">
                                        <p:cTn id="118" dur="450" fill="hold" decel="100000"/>
                                        <p:tgtEl>
                                          <p:spTgt spid="90"/>
                                        </p:tgtEl>
                                        <p:attrNameLst>
                                          <p:attrName>ppt_x</p:attrName>
                                        </p:attrNameLst>
                                      </p:cBhvr>
                                      <p:tavLst>
                                        <p:tav tm="0">
                                          <p:val>
                                            <p:strVal val="#ppt_x"/>
                                          </p:val>
                                        </p:tav>
                                        <p:tav tm="100000">
                                          <p:val>
                                            <p:strVal val="#ppt_x"/>
                                          </p:val>
                                        </p:tav>
                                      </p:tavLst>
                                    </p:anim>
                                    <p:anim calcmode="lin" valueType="num">
                                      <p:cBhvr additive="base">
                                        <p:cTn id="119" dur="450" fill="hold" decel="100000"/>
                                        <p:tgtEl>
                                          <p:spTgt spid="90"/>
                                        </p:tgtEl>
                                        <p:attrNameLst>
                                          <p:attrName>ppt_y</p:attrName>
                                        </p:attrNameLst>
                                      </p:cBhvr>
                                      <p:tavLst>
                                        <p:tav tm="0">
                                          <p:val>
                                            <p:strVal val="#ppt_y+0.025"/>
                                          </p:val>
                                        </p:tav>
                                        <p:tav tm="100000">
                                          <p:val>
                                            <p:strVal val="#ppt_y"/>
                                          </p:val>
                                        </p:tav>
                                      </p:tavLst>
                                    </p:anim>
                                  </p:childTnLst>
                                </p:cTn>
                              </p:par>
                              <p:par>
                                <p:cTn id="120" presetID="42" presetClass="entr" presetSubtype="0" fill="hold" grpId="0" nodeType="withEffect">
                                  <p:stCondLst>
                                    <p:cond delay="1950"/>
                                  </p:stCondLst>
                                  <p:childTnLst>
                                    <p:set>
                                      <p:cBhvr>
                                        <p:cTn id="121" dur="1" fill="hold">
                                          <p:stCondLst>
                                            <p:cond delay="0"/>
                                          </p:stCondLst>
                                        </p:cTn>
                                        <p:tgtEl>
                                          <p:spTgt spid="92"/>
                                        </p:tgtEl>
                                        <p:attrNameLst>
                                          <p:attrName>style.visibility</p:attrName>
                                        </p:attrNameLst>
                                      </p:cBhvr>
                                      <p:to>
                                        <p:strVal val="visible"/>
                                      </p:to>
                                    </p:set>
                                    <p:animEffect transition="in" filter="fade">
                                      <p:cBhvr>
                                        <p:cTn id="122" dur="350"/>
                                        <p:tgtEl>
                                          <p:spTgt spid="92"/>
                                        </p:tgtEl>
                                      </p:cBhvr>
                                    </p:animEffect>
                                    <p:anim calcmode="lin" valueType="num">
                                      <p:cBhvr additive="base">
                                        <p:cTn id="123" dur="350" fill="hold" decel="100000"/>
                                        <p:tgtEl>
                                          <p:spTgt spid="92"/>
                                        </p:tgtEl>
                                        <p:attrNameLst>
                                          <p:attrName>ppt_x</p:attrName>
                                        </p:attrNameLst>
                                      </p:cBhvr>
                                      <p:tavLst>
                                        <p:tav tm="0">
                                          <p:val>
                                            <p:strVal val="#ppt_x"/>
                                          </p:val>
                                        </p:tav>
                                        <p:tav tm="100000">
                                          <p:val>
                                            <p:strVal val="#ppt_x"/>
                                          </p:val>
                                        </p:tav>
                                      </p:tavLst>
                                    </p:anim>
                                    <p:anim calcmode="lin" valueType="num">
                                      <p:cBhvr additive="base">
                                        <p:cTn id="124" dur="350" fill="hold" decel="100000"/>
                                        <p:tgtEl>
                                          <p:spTgt spid="92"/>
                                        </p:tgtEl>
                                        <p:attrNameLst>
                                          <p:attrName>ppt_y</p:attrName>
                                        </p:attrNameLst>
                                      </p:cBhvr>
                                      <p:tavLst>
                                        <p:tav tm="0">
                                          <p:val>
                                            <p:strVal val="#ppt_y+0.025"/>
                                          </p:val>
                                        </p:tav>
                                        <p:tav tm="100000">
                                          <p:val>
                                            <p:strVal val="#ppt_y"/>
                                          </p:val>
                                        </p:tav>
                                      </p:tavLst>
                                    </p:anim>
                                  </p:childTnLst>
                                </p:cTn>
                              </p:par>
                              <p:par>
                                <p:cTn id="125" presetID="42" presetClass="entr" presetSubtype="0" fill="hold" grpId="0" nodeType="withEffect">
                                  <p:stCondLst>
                                    <p:cond delay="2020"/>
                                  </p:stCondLst>
                                  <p:childTnLst>
                                    <p:set>
                                      <p:cBhvr>
                                        <p:cTn id="126" dur="1" fill="hold">
                                          <p:stCondLst>
                                            <p:cond delay="0"/>
                                          </p:stCondLst>
                                        </p:cTn>
                                        <p:tgtEl>
                                          <p:spTgt spid="96"/>
                                        </p:tgtEl>
                                        <p:attrNameLst>
                                          <p:attrName>style.visibility</p:attrName>
                                        </p:attrNameLst>
                                      </p:cBhvr>
                                      <p:to>
                                        <p:strVal val="visible"/>
                                      </p:to>
                                    </p:set>
                                    <p:animEffect transition="in" filter="fade">
                                      <p:cBhvr>
                                        <p:cTn id="127" dur="350"/>
                                        <p:tgtEl>
                                          <p:spTgt spid="96"/>
                                        </p:tgtEl>
                                      </p:cBhvr>
                                    </p:animEffect>
                                    <p:anim calcmode="lin" valueType="num">
                                      <p:cBhvr additive="base">
                                        <p:cTn id="128" dur="350" fill="hold" decel="100000"/>
                                        <p:tgtEl>
                                          <p:spTgt spid="96"/>
                                        </p:tgtEl>
                                        <p:attrNameLst>
                                          <p:attrName>ppt_x</p:attrName>
                                        </p:attrNameLst>
                                      </p:cBhvr>
                                      <p:tavLst>
                                        <p:tav tm="0">
                                          <p:val>
                                            <p:strVal val="#ppt_x"/>
                                          </p:val>
                                        </p:tav>
                                        <p:tav tm="100000">
                                          <p:val>
                                            <p:strVal val="#ppt_x"/>
                                          </p:val>
                                        </p:tav>
                                      </p:tavLst>
                                    </p:anim>
                                    <p:anim calcmode="lin" valueType="num">
                                      <p:cBhvr additive="base">
                                        <p:cTn id="129" dur="350" fill="hold" decel="100000"/>
                                        <p:tgtEl>
                                          <p:spTgt spid="96"/>
                                        </p:tgtEl>
                                        <p:attrNameLst>
                                          <p:attrName>ppt_y</p:attrName>
                                        </p:attrNameLst>
                                      </p:cBhvr>
                                      <p:tavLst>
                                        <p:tav tm="0">
                                          <p:val>
                                            <p:strVal val="#ppt_y+0.025"/>
                                          </p:val>
                                        </p:tav>
                                        <p:tav tm="100000">
                                          <p:val>
                                            <p:strVal val="#ppt_y"/>
                                          </p:val>
                                        </p:tav>
                                      </p:tavLst>
                                    </p:anim>
                                  </p:childTnLst>
                                </p:cTn>
                              </p:par>
                              <p:par>
                                <p:cTn id="130" presetID="42" presetClass="entr" presetSubtype="0" fill="hold" grpId="0" nodeType="withEffect">
                                  <p:stCondLst>
                                    <p:cond delay="2090"/>
                                  </p:stCondLst>
                                  <p:childTnLst>
                                    <p:set>
                                      <p:cBhvr>
                                        <p:cTn id="131" dur="1" fill="hold">
                                          <p:stCondLst>
                                            <p:cond delay="0"/>
                                          </p:stCondLst>
                                        </p:cTn>
                                        <p:tgtEl>
                                          <p:spTgt spid="100"/>
                                        </p:tgtEl>
                                        <p:attrNameLst>
                                          <p:attrName>style.visibility</p:attrName>
                                        </p:attrNameLst>
                                      </p:cBhvr>
                                      <p:to>
                                        <p:strVal val="visible"/>
                                      </p:to>
                                    </p:set>
                                    <p:animEffect transition="in" filter="fade">
                                      <p:cBhvr>
                                        <p:cTn id="132" dur="350"/>
                                        <p:tgtEl>
                                          <p:spTgt spid="100"/>
                                        </p:tgtEl>
                                      </p:cBhvr>
                                    </p:animEffect>
                                    <p:anim calcmode="lin" valueType="num">
                                      <p:cBhvr additive="base">
                                        <p:cTn id="133" dur="350" fill="hold" decel="100000"/>
                                        <p:tgtEl>
                                          <p:spTgt spid="100"/>
                                        </p:tgtEl>
                                        <p:attrNameLst>
                                          <p:attrName>ppt_x</p:attrName>
                                        </p:attrNameLst>
                                      </p:cBhvr>
                                      <p:tavLst>
                                        <p:tav tm="0">
                                          <p:val>
                                            <p:strVal val="#ppt_x"/>
                                          </p:val>
                                        </p:tav>
                                        <p:tav tm="100000">
                                          <p:val>
                                            <p:strVal val="#ppt_x"/>
                                          </p:val>
                                        </p:tav>
                                      </p:tavLst>
                                    </p:anim>
                                    <p:anim calcmode="lin" valueType="num">
                                      <p:cBhvr additive="base">
                                        <p:cTn id="134" dur="350" fill="hold" decel="100000"/>
                                        <p:tgtEl>
                                          <p:spTgt spid="100"/>
                                        </p:tgtEl>
                                        <p:attrNameLst>
                                          <p:attrName>ppt_y</p:attrName>
                                        </p:attrNameLst>
                                      </p:cBhvr>
                                      <p:tavLst>
                                        <p:tav tm="0">
                                          <p:val>
                                            <p:strVal val="#ppt_y+0.025"/>
                                          </p:val>
                                        </p:tav>
                                        <p:tav tm="100000">
                                          <p:val>
                                            <p:strVal val="#ppt_y"/>
                                          </p:val>
                                        </p:tav>
                                      </p:tavLst>
                                    </p:anim>
                                  </p:childTnLst>
                                </p:cTn>
                              </p:par>
                              <p:par>
                                <p:cTn id="135" presetID="42" presetClass="entr" presetSubtype="0" fill="hold" grpId="0" nodeType="withEffect">
                                  <p:stCondLst>
                                    <p:cond delay="2160"/>
                                  </p:stCondLst>
                                  <p:childTnLst>
                                    <p:set>
                                      <p:cBhvr>
                                        <p:cTn id="136" dur="1" fill="hold">
                                          <p:stCondLst>
                                            <p:cond delay="0"/>
                                          </p:stCondLst>
                                        </p:cTn>
                                        <p:tgtEl>
                                          <p:spTgt spid="104"/>
                                        </p:tgtEl>
                                        <p:attrNameLst>
                                          <p:attrName>style.visibility</p:attrName>
                                        </p:attrNameLst>
                                      </p:cBhvr>
                                      <p:to>
                                        <p:strVal val="visible"/>
                                      </p:to>
                                    </p:set>
                                    <p:animEffect transition="in" filter="fade">
                                      <p:cBhvr>
                                        <p:cTn id="137" dur="350"/>
                                        <p:tgtEl>
                                          <p:spTgt spid="104"/>
                                        </p:tgtEl>
                                      </p:cBhvr>
                                    </p:animEffect>
                                    <p:anim calcmode="lin" valueType="num">
                                      <p:cBhvr additive="base">
                                        <p:cTn id="138" dur="350" fill="hold" decel="100000"/>
                                        <p:tgtEl>
                                          <p:spTgt spid="104"/>
                                        </p:tgtEl>
                                        <p:attrNameLst>
                                          <p:attrName>ppt_x</p:attrName>
                                        </p:attrNameLst>
                                      </p:cBhvr>
                                      <p:tavLst>
                                        <p:tav tm="0">
                                          <p:val>
                                            <p:strVal val="#ppt_x"/>
                                          </p:val>
                                        </p:tav>
                                        <p:tav tm="100000">
                                          <p:val>
                                            <p:strVal val="#ppt_x"/>
                                          </p:val>
                                        </p:tav>
                                      </p:tavLst>
                                    </p:anim>
                                    <p:anim calcmode="lin" valueType="num">
                                      <p:cBhvr additive="base">
                                        <p:cTn id="139" dur="350" fill="hold" decel="100000"/>
                                        <p:tgtEl>
                                          <p:spTgt spid="104"/>
                                        </p:tgtEl>
                                        <p:attrNameLst>
                                          <p:attrName>ppt_y</p:attrName>
                                        </p:attrNameLst>
                                      </p:cBhvr>
                                      <p:tavLst>
                                        <p:tav tm="0">
                                          <p:val>
                                            <p:strVal val="#ppt_y+0.025"/>
                                          </p:val>
                                        </p:tav>
                                        <p:tav tm="100000">
                                          <p:val>
                                            <p:strVal val="#ppt_y"/>
                                          </p:val>
                                        </p:tav>
                                      </p:tavLst>
                                    </p:anim>
                                  </p:childTnLst>
                                </p:cTn>
                              </p:par>
                              <p:par>
                                <p:cTn id="140" presetID="42" presetClass="entr" presetSubtype="0" fill="hold" grpId="0" nodeType="withEffect">
                                  <p:stCondLst>
                                    <p:cond delay="2230"/>
                                  </p:stCondLst>
                                  <p:childTnLst>
                                    <p:set>
                                      <p:cBhvr>
                                        <p:cTn id="141" dur="1" fill="hold">
                                          <p:stCondLst>
                                            <p:cond delay="0"/>
                                          </p:stCondLst>
                                        </p:cTn>
                                        <p:tgtEl>
                                          <p:spTgt spid="108"/>
                                        </p:tgtEl>
                                        <p:attrNameLst>
                                          <p:attrName>style.visibility</p:attrName>
                                        </p:attrNameLst>
                                      </p:cBhvr>
                                      <p:to>
                                        <p:strVal val="visible"/>
                                      </p:to>
                                    </p:set>
                                    <p:animEffect transition="in" filter="fade">
                                      <p:cBhvr>
                                        <p:cTn id="142" dur="350"/>
                                        <p:tgtEl>
                                          <p:spTgt spid="108"/>
                                        </p:tgtEl>
                                      </p:cBhvr>
                                    </p:animEffect>
                                    <p:anim calcmode="lin" valueType="num">
                                      <p:cBhvr additive="base">
                                        <p:cTn id="143" dur="350" fill="hold" decel="100000"/>
                                        <p:tgtEl>
                                          <p:spTgt spid="108"/>
                                        </p:tgtEl>
                                        <p:attrNameLst>
                                          <p:attrName>ppt_x</p:attrName>
                                        </p:attrNameLst>
                                      </p:cBhvr>
                                      <p:tavLst>
                                        <p:tav tm="0">
                                          <p:val>
                                            <p:strVal val="#ppt_x"/>
                                          </p:val>
                                        </p:tav>
                                        <p:tav tm="100000">
                                          <p:val>
                                            <p:strVal val="#ppt_x"/>
                                          </p:val>
                                        </p:tav>
                                      </p:tavLst>
                                    </p:anim>
                                    <p:anim calcmode="lin" valueType="num">
                                      <p:cBhvr additive="base">
                                        <p:cTn id="144" dur="350" fill="hold" decel="100000"/>
                                        <p:tgtEl>
                                          <p:spTgt spid="108"/>
                                        </p:tgtEl>
                                        <p:attrNameLst>
                                          <p:attrName>ppt_y</p:attrName>
                                        </p:attrNameLst>
                                      </p:cBhvr>
                                      <p:tavLst>
                                        <p:tav tm="0">
                                          <p:val>
                                            <p:strVal val="#ppt_y+0.025"/>
                                          </p:val>
                                        </p:tav>
                                        <p:tav tm="100000">
                                          <p:val>
                                            <p:strVal val="#ppt_y"/>
                                          </p:val>
                                        </p:tav>
                                      </p:tavLst>
                                    </p:anim>
                                  </p:childTnLst>
                                </p:cTn>
                              </p:par>
                              <p:par>
                                <p:cTn id="145" presetID="42" presetClass="entr" presetSubtype="0" fill="hold" grpId="0" nodeType="withEffect">
                                  <p:stCondLst>
                                    <p:cond delay="2300"/>
                                  </p:stCondLst>
                                  <p:childTnLst>
                                    <p:set>
                                      <p:cBhvr>
                                        <p:cTn id="146" dur="1" fill="hold">
                                          <p:stCondLst>
                                            <p:cond delay="0"/>
                                          </p:stCondLst>
                                        </p:cTn>
                                        <p:tgtEl>
                                          <p:spTgt spid="112"/>
                                        </p:tgtEl>
                                        <p:attrNameLst>
                                          <p:attrName>style.visibility</p:attrName>
                                        </p:attrNameLst>
                                      </p:cBhvr>
                                      <p:to>
                                        <p:strVal val="visible"/>
                                      </p:to>
                                    </p:set>
                                    <p:animEffect transition="in" filter="fade">
                                      <p:cBhvr>
                                        <p:cTn id="147" dur="350"/>
                                        <p:tgtEl>
                                          <p:spTgt spid="112"/>
                                        </p:tgtEl>
                                      </p:cBhvr>
                                    </p:animEffect>
                                    <p:anim calcmode="lin" valueType="num">
                                      <p:cBhvr additive="base">
                                        <p:cTn id="148" dur="350" fill="hold" decel="100000"/>
                                        <p:tgtEl>
                                          <p:spTgt spid="112"/>
                                        </p:tgtEl>
                                        <p:attrNameLst>
                                          <p:attrName>ppt_x</p:attrName>
                                        </p:attrNameLst>
                                      </p:cBhvr>
                                      <p:tavLst>
                                        <p:tav tm="0">
                                          <p:val>
                                            <p:strVal val="#ppt_x"/>
                                          </p:val>
                                        </p:tav>
                                        <p:tav tm="100000">
                                          <p:val>
                                            <p:strVal val="#ppt_x"/>
                                          </p:val>
                                        </p:tav>
                                      </p:tavLst>
                                    </p:anim>
                                    <p:anim calcmode="lin" valueType="num">
                                      <p:cBhvr additive="base">
                                        <p:cTn id="149" dur="350" fill="hold" decel="100000"/>
                                        <p:tgtEl>
                                          <p:spTgt spid="112"/>
                                        </p:tgtEl>
                                        <p:attrNameLst>
                                          <p:attrName>ppt_y</p:attrName>
                                        </p:attrNameLst>
                                      </p:cBhvr>
                                      <p:tavLst>
                                        <p:tav tm="0">
                                          <p:val>
                                            <p:strVal val="#ppt_y+0.025"/>
                                          </p:val>
                                        </p:tav>
                                        <p:tav tm="100000">
                                          <p:val>
                                            <p:strVal val="#ppt_y"/>
                                          </p:val>
                                        </p:tav>
                                      </p:tavLst>
                                    </p:anim>
                                  </p:childTnLst>
                                </p:cTn>
                              </p:par>
                              <p:par>
                                <p:cTn id="150" presetID="42" presetClass="entr" presetSubtype="0" fill="hold" grpId="0" nodeType="withEffect">
                                  <p:stCondLst>
                                    <p:cond delay="2370"/>
                                  </p:stCondLst>
                                  <p:childTnLst>
                                    <p:set>
                                      <p:cBhvr>
                                        <p:cTn id="151" dur="1" fill="hold">
                                          <p:stCondLst>
                                            <p:cond delay="0"/>
                                          </p:stCondLst>
                                        </p:cTn>
                                        <p:tgtEl>
                                          <p:spTgt spid="116"/>
                                        </p:tgtEl>
                                        <p:attrNameLst>
                                          <p:attrName>style.visibility</p:attrName>
                                        </p:attrNameLst>
                                      </p:cBhvr>
                                      <p:to>
                                        <p:strVal val="visible"/>
                                      </p:to>
                                    </p:set>
                                    <p:animEffect transition="in" filter="fade">
                                      <p:cBhvr>
                                        <p:cTn id="152" dur="350"/>
                                        <p:tgtEl>
                                          <p:spTgt spid="116"/>
                                        </p:tgtEl>
                                      </p:cBhvr>
                                    </p:animEffect>
                                    <p:anim calcmode="lin" valueType="num">
                                      <p:cBhvr additive="base">
                                        <p:cTn id="153" dur="350" fill="hold" decel="100000"/>
                                        <p:tgtEl>
                                          <p:spTgt spid="116"/>
                                        </p:tgtEl>
                                        <p:attrNameLst>
                                          <p:attrName>ppt_x</p:attrName>
                                        </p:attrNameLst>
                                      </p:cBhvr>
                                      <p:tavLst>
                                        <p:tav tm="0">
                                          <p:val>
                                            <p:strVal val="#ppt_x"/>
                                          </p:val>
                                        </p:tav>
                                        <p:tav tm="100000">
                                          <p:val>
                                            <p:strVal val="#ppt_x"/>
                                          </p:val>
                                        </p:tav>
                                      </p:tavLst>
                                    </p:anim>
                                    <p:anim calcmode="lin" valueType="num">
                                      <p:cBhvr additive="base">
                                        <p:cTn id="154" dur="350" fill="hold" decel="100000"/>
                                        <p:tgtEl>
                                          <p:spTgt spid="116"/>
                                        </p:tgtEl>
                                        <p:attrNameLst>
                                          <p:attrName>ppt_y</p:attrName>
                                        </p:attrNameLst>
                                      </p:cBhvr>
                                      <p:tavLst>
                                        <p:tav tm="0">
                                          <p:val>
                                            <p:strVal val="#ppt_y+0.025"/>
                                          </p:val>
                                        </p:tav>
                                        <p:tav tm="100000">
                                          <p:val>
                                            <p:strVal val="#ppt_y"/>
                                          </p:val>
                                        </p:tav>
                                      </p:tavLst>
                                    </p:anim>
                                  </p:childTnLst>
                                </p:cTn>
                              </p:par>
                              <p:par>
                                <p:cTn id="155" presetID="42" presetClass="entr" presetSubtype="0" fill="hold" grpId="0" nodeType="withEffect">
                                  <p:stCondLst>
                                    <p:cond delay="2440"/>
                                  </p:stCondLst>
                                  <p:childTnLst>
                                    <p:set>
                                      <p:cBhvr>
                                        <p:cTn id="156" dur="1" fill="hold">
                                          <p:stCondLst>
                                            <p:cond delay="0"/>
                                          </p:stCondLst>
                                        </p:cTn>
                                        <p:tgtEl>
                                          <p:spTgt spid="120"/>
                                        </p:tgtEl>
                                        <p:attrNameLst>
                                          <p:attrName>style.visibility</p:attrName>
                                        </p:attrNameLst>
                                      </p:cBhvr>
                                      <p:to>
                                        <p:strVal val="visible"/>
                                      </p:to>
                                    </p:set>
                                    <p:animEffect transition="in" filter="fade">
                                      <p:cBhvr>
                                        <p:cTn id="157" dur="350"/>
                                        <p:tgtEl>
                                          <p:spTgt spid="120"/>
                                        </p:tgtEl>
                                      </p:cBhvr>
                                    </p:animEffect>
                                    <p:anim calcmode="lin" valueType="num">
                                      <p:cBhvr additive="base">
                                        <p:cTn id="158" dur="350" fill="hold" decel="100000"/>
                                        <p:tgtEl>
                                          <p:spTgt spid="120"/>
                                        </p:tgtEl>
                                        <p:attrNameLst>
                                          <p:attrName>ppt_x</p:attrName>
                                        </p:attrNameLst>
                                      </p:cBhvr>
                                      <p:tavLst>
                                        <p:tav tm="0">
                                          <p:val>
                                            <p:strVal val="#ppt_x"/>
                                          </p:val>
                                        </p:tav>
                                        <p:tav tm="100000">
                                          <p:val>
                                            <p:strVal val="#ppt_x"/>
                                          </p:val>
                                        </p:tav>
                                      </p:tavLst>
                                    </p:anim>
                                    <p:anim calcmode="lin" valueType="num">
                                      <p:cBhvr additive="base">
                                        <p:cTn id="159" dur="350" fill="hold" decel="100000"/>
                                        <p:tgtEl>
                                          <p:spTgt spid="120"/>
                                        </p:tgtEl>
                                        <p:attrNameLst>
                                          <p:attrName>ppt_y</p:attrName>
                                        </p:attrNameLst>
                                      </p:cBhvr>
                                      <p:tavLst>
                                        <p:tav tm="0">
                                          <p:val>
                                            <p:strVal val="#ppt_y+0.025"/>
                                          </p:val>
                                        </p:tav>
                                        <p:tav tm="100000">
                                          <p:val>
                                            <p:strVal val="#ppt_y"/>
                                          </p:val>
                                        </p:tav>
                                      </p:tavLst>
                                    </p:anim>
                                  </p:childTnLst>
                                </p:cTn>
                              </p:par>
                              <p:par>
                                <p:cTn id="160" presetID="42" presetClass="entr" presetSubtype="0" fill="hold" grpId="0" nodeType="withEffect">
                                  <p:stCondLst>
                                    <p:cond delay="2510"/>
                                  </p:stCondLst>
                                  <p:childTnLst>
                                    <p:set>
                                      <p:cBhvr>
                                        <p:cTn id="161" dur="1" fill="hold">
                                          <p:stCondLst>
                                            <p:cond delay="0"/>
                                          </p:stCondLst>
                                        </p:cTn>
                                        <p:tgtEl>
                                          <p:spTgt spid="124"/>
                                        </p:tgtEl>
                                        <p:attrNameLst>
                                          <p:attrName>style.visibility</p:attrName>
                                        </p:attrNameLst>
                                      </p:cBhvr>
                                      <p:to>
                                        <p:strVal val="visible"/>
                                      </p:to>
                                    </p:set>
                                    <p:animEffect transition="in" filter="fade">
                                      <p:cBhvr>
                                        <p:cTn id="162" dur="350"/>
                                        <p:tgtEl>
                                          <p:spTgt spid="124"/>
                                        </p:tgtEl>
                                      </p:cBhvr>
                                    </p:animEffect>
                                    <p:anim calcmode="lin" valueType="num">
                                      <p:cBhvr additive="base">
                                        <p:cTn id="163" dur="350" fill="hold" decel="100000"/>
                                        <p:tgtEl>
                                          <p:spTgt spid="124"/>
                                        </p:tgtEl>
                                        <p:attrNameLst>
                                          <p:attrName>ppt_x</p:attrName>
                                        </p:attrNameLst>
                                      </p:cBhvr>
                                      <p:tavLst>
                                        <p:tav tm="0">
                                          <p:val>
                                            <p:strVal val="#ppt_x"/>
                                          </p:val>
                                        </p:tav>
                                        <p:tav tm="100000">
                                          <p:val>
                                            <p:strVal val="#ppt_x"/>
                                          </p:val>
                                        </p:tav>
                                      </p:tavLst>
                                    </p:anim>
                                    <p:anim calcmode="lin" valueType="num">
                                      <p:cBhvr additive="base">
                                        <p:cTn id="164" dur="350" fill="hold" decel="100000"/>
                                        <p:tgtEl>
                                          <p:spTgt spid="124"/>
                                        </p:tgtEl>
                                        <p:attrNameLst>
                                          <p:attrName>ppt_y</p:attrName>
                                        </p:attrNameLst>
                                      </p:cBhvr>
                                      <p:tavLst>
                                        <p:tav tm="0">
                                          <p:val>
                                            <p:strVal val="#ppt_y+0.025"/>
                                          </p:val>
                                        </p:tav>
                                        <p:tav tm="100000">
                                          <p:val>
                                            <p:strVal val="#ppt_y"/>
                                          </p:val>
                                        </p:tav>
                                      </p:tavLst>
                                    </p:anim>
                                  </p:childTnLst>
                                </p:cTn>
                              </p:par>
                              <p:par>
                                <p:cTn id="165" presetID="42" presetClass="entr" presetSubtype="0" fill="hold" grpId="0" nodeType="withEffect">
                                  <p:stCondLst>
                                    <p:cond delay="2580"/>
                                  </p:stCondLst>
                                  <p:childTnLst>
                                    <p:set>
                                      <p:cBhvr>
                                        <p:cTn id="166" dur="1" fill="hold">
                                          <p:stCondLst>
                                            <p:cond delay="0"/>
                                          </p:stCondLst>
                                        </p:cTn>
                                        <p:tgtEl>
                                          <p:spTgt spid="128"/>
                                        </p:tgtEl>
                                        <p:attrNameLst>
                                          <p:attrName>style.visibility</p:attrName>
                                        </p:attrNameLst>
                                      </p:cBhvr>
                                      <p:to>
                                        <p:strVal val="visible"/>
                                      </p:to>
                                    </p:set>
                                    <p:animEffect transition="in" filter="fade">
                                      <p:cBhvr>
                                        <p:cTn id="167" dur="350"/>
                                        <p:tgtEl>
                                          <p:spTgt spid="128"/>
                                        </p:tgtEl>
                                      </p:cBhvr>
                                    </p:animEffect>
                                    <p:anim calcmode="lin" valueType="num">
                                      <p:cBhvr additive="base">
                                        <p:cTn id="168" dur="350" fill="hold" decel="100000"/>
                                        <p:tgtEl>
                                          <p:spTgt spid="128"/>
                                        </p:tgtEl>
                                        <p:attrNameLst>
                                          <p:attrName>ppt_x</p:attrName>
                                        </p:attrNameLst>
                                      </p:cBhvr>
                                      <p:tavLst>
                                        <p:tav tm="0">
                                          <p:val>
                                            <p:strVal val="#ppt_x"/>
                                          </p:val>
                                        </p:tav>
                                        <p:tav tm="100000">
                                          <p:val>
                                            <p:strVal val="#ppt_x"/>
                                          </p:val>
                                        </p:tav>
                                      </p:tavLst>
                                    </p:anim>
                                    <p:anim calcmode="lin" valueType="num">
                                      <p:cBhvr additive="base">
                                        <p:cTn id="169" dur="350" fill="hold" decel="100000"/>
                                        <p:tgtEl>
                                          <p:spTgt spid="128"/>
                                        </p:tgtEl>
                                        <p:attrNameLst>
                                          <p:attrName>ppt_y</p:attrName>
                                        </p:attrNameLst>
                                      </p:cBhvr>
                                      <p:tavLst>
                                        <p:tav tm="0">
                                          <p:val>
                                            <p:strVal val="#ppt_y+0.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33" grpId="0" animBg="1"/>
      <p:bldP spid="89"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grpSp>
        <p:nvGrpSpPr>
          <p:cNvPr id="2" name="Group 1"/>
          <p:cNvGrpSpPr/>
          <p:nvPr/>
        </p:nvGrpSpPr>
        <p:grpSpPr>
          <a:xfrm>
            <a:off x="777240" y="868680"/>
            <a:ext cx="603504" cy="603504"/>
            <a:chOff x="777240" y="868680"/>
            <a:chExt cx="603504" cy="603504"/>
          </a:xfrm>
        </p:grpSpPr>
        <p:sp>
          <p:nvSpPr>
            <p:cNvPr id="3" name="Oval 2"/>
            <p:cNvSpPr/>
            <p:nvPr/>
          </p:nvSpPr>
          <p:spPr>
            <a:xfrm>
              <a:off x="777240" y="868680"/>
              <a:ext cx="603504" cy="603504"/>
            </a:xfrm>
            <a:prstGeom prst="ellipse">
              <a:avLst/>
            </a:prstGeom>
            <a:solidFill>
              <a:srgbClr val="16130E"/>
            </a:solidFill>
            <a:ln>
              <a:noFill/>
            </a:ln>
          </p:spPr>
          <p:txBody>
            <a:bodyPr rtlCol="0" anchor="ctr"/>
            <a:lstStyle/>
            <a:p>
              <a:pPr algn="ctr"/>
            </a:p>
          </p:txBody>
        </p:sp>
        <p:sp>
          <p:nvSpPr>
            <p:cNvPr id="4" name="Freeform 3"/>
            <p:cNvSpPr/>
            <p:nvPr/>
          </p:nvSpPr>
          <p:spPr>
            <a:xfrm>
              <a:off x="956783" y="1143276"/>
              <a:ext cx="149369" cy="149369"/>
            </a:xfrm>
            <a:custGeom>
              <a:avLst/>
              <a:gdLst/>
              <a:ahLst/>
              <a:cxnLst/>
              <a:rect l="l" t="t" r="r" b="b"/>
              <a:pathLst>
                <a:path w="11" h="11">
                  <a:moveTo>
                    <a:pt x="11" y="2"/>
                  </a:moveTo>
                  <a:lnTo>
                    <a:pt x="3" y="10"/>
                  </a:lnTo>
                  <a:lnTo>
                    <a:pt x="2" y="11"/>
                  </a:lnTo>
                  <a:lnTo>
                    <a:pt x="1" y="10"/>
                  </a:lnTo>
                  <a:lnTo>
                    <a:pt x="0" y="9"/>
                  </a:lnTo>
                  <a:lnTo>
                    <a:pt x="1" y="8"/>
                  </a:lnTo>
                  <a:lnTo>
                    <a:pt x="9" y="0"/>
                  </a:lnTo>
                </a:path>
              </a:pathLst>
            </a:custGeom>
            <a:noFill/>
            <a:ln w="27157" cap="rnd">
              <a:solidFill>
                <a:srgbClr val="F4EFE4"/>
              </a:solidFill>
              <a:round/>
            </a:ln>
          </p:spPr>
          <p:txBody>
            <a:bodyPr rtlCol="0" anchor="ctr"/>
            <a:lstStyle/>
            <a:p>
              <a:pPr algn="ctr"/>
            </a:p>
          </p:txBody>
        </p:sp>
        <p:sp>
          <p:nvSpPr>
            <p:cNvPr id="5" name="Freeform 4"/>
            <p:cNvSpPr/>
            <p:nvPr/>
          </p:nvSpPr>
          <p:spPr>
            <a:xfrm>
              <a:off x="1133310" y="1143276"/>
              <a:ext cx="81474" cy="81474"/>
            </a:xfrm>
            <a:custGeom>
              <a:avLst/>
              <a:gdLst/>
              <a:ahLst/>
              <a:cxnLst/>
              <a:rect l="l" t="t" r="r" b="b"/>
              <a:pathLst>
                <a:path w="6" h="6">
                  <a:moveTo>
                    <a:pt x="0" y="6"/>
                  </a:moveTo>
                  <a:lnTo>
                    <a:pt x="6" y="0"/>
                  </a:lnTo>
                </a:path>
              </a:pathLst>
            </a:custGeom>
            <a:noFill/>
            <a:ln w="27157" cap="rnd">
              <a:solidFill>
                <a:srgbClr val="F4EFE4"/>
              </a:solidFill>
              <a:round/>
            </a:ln>
          </p:spPr>
          <p:txBody>
            <a:bodyPr rtlCol="0" anchor="ctr"/>
            <a:lstStyle/>
            <a:p>
              <a:pPr algn="ctr"/>
            </a:p>
          </p:txBody>
        </p:sp>
        <p:sp>
          <p:nvSpPr>
            <p:cNvPr id="6" name="Freeform 5"/>
            <p:cNvSpPr/>
            <p:nvPr/>
          </p:nvSpPr>
          <p:spPr>
            <a:xfrm>
              <a:off x="1024678" y="1034644"/>
              <a:ext cx="81474" cy="81474"/>
            </a:xfrm>
            <a:custGeom>
              <a:avLst/>
              <a:gdLst/>
              <a:ahLst/>
              <a:cxnLst/>
              <a:rect l="l" t="t" r="r" b="b"/>
              <a:pathLst>
                <a:path w="6" h="6">
                  <a:moveTo>
                    <a:pt x="0" y="6"/>
                  </a:moveTo>
                  <a:lnTo>
                    <a:pt x="6" y="0"/>
                  </a:lnTo>
                </a:path>
              </a:pathLst>
            </a:custGeom>
            <a:noFill/>
            <a:ln w="27157" cap="rnd">
              <a:solidFill>
                <a:srgbClr val="F4EFE4"/>
              </a:solidFill>
              <a:round/>
            </a:ln>
          </p:spPr>
          <p:txBody>
            <a:bodyPr rtlCol="0" anchor="ctr"/>
            <a:lstStyle/>
            <a:p>
              <a:pPr algn="ctr"/>
            </a:p>
          </p:txBody>
        </p:sp>
        <p:sp>
          <p:nvSpPr>
            <p:cNvPr id="7" name="Freeform 6"/>
            <p:cNvSpPr/>
            <p:nvPr/>
          </p:nvSpPr>
          <p:spPr>
            <a:xfrm>
              <a:off x="1038257" y="1102539"/>
              <a:ext cx="108632" cy="108632"/>
            </a:xfrm>
            <a:custGeom>
              <a:avLst/>
              <a:gdLst/>
              <a:ahLst/>
              <a:cxnLst/>
              <a:rect l="l" t="t" r="r" b="b"/>
              <a:pathLst>
                <a:path w="8" h="8">
                  <a:moveTo>
                    <a:pt x="0" y="0"/>
                  </a:moveTo>
                  <a:lnTo>
                    <a:pt x="8" y="8"/>
                  </a:lnTo>
                </a:path>
              </a:pathLst>
            </a:custGeom>
            <a:noFill/>
            <a:ln w="27157" cap="rnd">
              <a:solidFill>
                <a:srgbClr val="F4EFE4"/>
              </a:solidFill>
              <a:round/>
            </a:ln>
          </p:spPr>
          <p:txBody>
            <a:bodyPr rtlCol="0" anchor="ctr"/>
            <a:lstStyle/>
            <a:p>
              <a:pPr algn="ctr"/>
            </a:p>
          </p:txBody>
        </p:sp>
        <p:sp>
          <p:nvSpPr>
            <p:cNvPr id="8" name="Freeform 7"/>
            <p:cNvSpPr/>
            <p:nvPr/>
          </p:nvSpPr>
          <p:spPr>
            <a:xfrm>
              <a:off x="1092573" y="1048223"/>
              <a:ext cx="108632" cy="108632"/>
            </a:xfrm>
            <a:custGeom>
              <a:avLst/>
              <a:gdLst/>
              <a:ahLst/>
              <a:cxnLst/>
              <a:rect l="l" t="t" r="r" b="b"/>
              <a:pathLst>
                <a:path w="8" h="8">
                  <a:moveTo>
                    <a:pt x="8" y="8"/>
                  </a:moveTo>
                  <a:lnTo>
                    <a:pt x="0" y="0"/>
                  </a:lnTo>
                </a:path>
              </a:pathLst>
            </a:custGeom>
            <a:noFill/>
            <a:ln w="27157" cap="rnd">
              <a:solidFill>
                <a:srgbClr val="F4EFE4"/>
              </a:solidFill>
              <a:round/>
            </a:ln>
          </p:spPr>
          <p:txBody>
            <a:bodyPr rtlCol="0" anchor="ctr"/>
            <a:lstStyle/>
            <a:p>
              <a:pPr algn="ctr"/>
            </a:p>
          </p:txBody>
        </p:sp>
      </p:grpSp>
      <p:sp>
        <p:nvSpPr>
          <p:cNvPr id="9" name="TextBox 8"/>
          <p:cNvSpPr txBox="1"/>
          <p:nvPr/>
        </p:nvSpPr>
        <p:spPr>
          <a:xfrm>
            <a:off x="1554480" y="850392"/>
            <a:ext cx="3657600" cy="640080"/>
          </a:xfrm>
          <a:prstGeom prst="rect">
            <a:avLst/>
          </a:prstGeom>
          <a:noFill/>
        </p:spPr>
        <p:txBody>
          <a:bodyPr wrap="square" lIns="0" rIns="0" tIns="0" bIns="0" anchor="ctr">
            <a:noAutofit/>
          </a:bodyPr>
          <a:lstStyle/>
          <a:p>
            <a:pPr algn="l"/>
            <a:r>
              <a:rPr sz="3000" b="0" i="0">
                <a:solidFill>
                  <a:srgbClr val="16130E"/>
                </a:solidFill>
                <a:latin typeface="Georgia" panose="02040502050405020303" pitchFamily="18" charset="0"/>
              </a:rPr>
              <a:t>Bidwire</a:t>
            </a:r>
          </a:p>
        </p:txBody>
      </p:sp>
      <p:sp>
        <p:nvSpPr>
          <p:cNvPr id="10" name="TextBox 9"/>
          <p:cNvSpPr txBox="1"/>
          <p:nvPr/>
        </p:nvSpPr>
        <p:spPr>
          <a:xfrm>
            <a:off x="731520" y="1783080"/>
            <a:ext cx="10881360" cy="1325880"/>
          </a:xfrm>
          <a:prstGeom prst="rect">
            <a:avLst/>
          </a:prstGeom>
          <a:noFill/>
        </p:spPr>
        <p:txBody>
          <a:bodyPr wrap="square" lIns="0" rIns="0" tIns="0" bIns="0" anchor="ctr">
            <a:noAutofit/>
          </a:bodyPr>
          <a:lstStyle/>
          <a:p>
            <a:pPr algn="l"/>
            <a:r>
              <a:rPr sz="8000" b="0" i="0" spc="-160">
                <a:solidFill>
                  <a:srgbClr val="16130E"/>
                </a:solidFill>
                <a:latin typeface="Georgia" panose="02040502050405020303" pitchFamily="18" charset="0"/>
              </a:rPr>
              <a:t>You can't bribe </a:t>
            </a:r>
            <a:r>
              <a:rPr sz="8000" b="0" i="1" spc="-160">
                <a:solidFill>
                  <a:srgbClr val="B0894F"/>
                </a:solidFill>
                <a:latin typeface="Georgia" panose="02040502050405020303" pitchFamily="18" charset="0"/>
              </a:rPr>
              <a:t>an agent.</a:t>
            </a:r>
          </a:p>
        </p:txBody>
      </p:sp>
      <p:sp>
        <p:nvSpPr>
          <p:cNvPr id="11" name="TextBox 10"/>
          <p:cNvSpPr txBox="1"/>
          <p:nvPr/>
        </p:nvSpPr>
        <p:spPr>
          <a:xfrm>
            <a:off x="777240" y="3200400"/>
            <a:ext cx="10515600" cy="457200"/>
          </a:xfrm>
          <a:prstGeom prst="rect">
            <a:avLst/>
          </a:prstGeom>
          <a:noFill/>
        </p:spPr>
        <p:txBody>
          <a:bodyPr wrap="square" lIns="0" rIns="0" tIns="0" bIns="0" anchor="t">
            <a:noAutofit/>
          </a:bodyPr>
          <a:lstStyle/>
          <a:p>
            <a:pPr algn="l"/>
            <a:r>
              <a:rPr sz="2100" b="0" i="0">
                <a:solidFill>
                  <a:srgbClr val="6E6658"/>
                </a:solidFill>
                <a:latin typeface="Inter" panose="020B0502030000000004" pitchFamily="34" charset="0"/>
              </a:rPr>
              <a:t>Verified offers. Merit ranking. Commission only at the hammer.</a:t>
            </a:r>
          </a:p>
        </p:txBody>
      </p:sp>
      <p:grpSp>
        <p:nvGrpSpPr>
          <p:cNvPr id="12" name="Group 11"/>
          <p:cNvGrpSpPr/>
          <p:nvPr/>
        </p:nvGrpSpPr>
        <p:grpSpPr>
          <a:xfrm>
            <a:off x="777240" y="4069080"/>
            <a:ext cx="3447288" cy="1298448"/>
            <a:chOff x="777240" y="4069080"/>
            <a:chExt cx="3447288" cy="1298448"/>
          </a:xfrm>
        </p:grpSpPr>
        <p:sp>
          <p:nvSpPr>
            <p:cNvPr id="13" name="Rounded Rectangle 12"/>
            <p:cNvSpPr/>
            <p:nvPr/>
          </p:nvSpPr>
          <p:spPr>
            <a:xfrm>
              <a:off x="777240" y="4069080"/>
              <a:ext cx="3447288" cy="1298448"/>
            </a:xfrm>
            <a:prstGeom prst="roundRect">
              <a:avLst>
                <a:gd name="adj" fmla="val 7042"/>
              </a:avLst>
            </a:prstGeom>
            <a:solidFill>
              <a:srgbClr val="0F0E0C"/>
            </a:solidFill>
            <a:ln>
              <a:noFill/>
            </a:ln>
            <a:effectLst>
              <a:outerShdw blurRad="384048" dist="109728" dir="5400000" algn="t" rotWithShape="0">
                <a:srgbClr val="16130E">
                  <a:alpha val="12000"/>
                </a:srgbClr>
              </a:outerShdw>
            </a:effectLst>
          </p:spPr>
          <p:txBody>
            <a:bodyPr rtlCol="0" anchor="ctr"/>
            <a:lstStyle/>
            <a:p>
              <a:pPr algn="ctr"/>
            </a:p>
          </p:txBody>
        </p:sp>
        <p:sp>
          <p:nvSpPr>
            <p:cNvPr id="14" name="Rounded Rectangle 13"/>
            <p:cNvSpPr/>
            <p:nvPr/>
          </p:nvSpPr>
          <p:spPr>
            <a:xfrm>
              <a:off x="841248" y="4133088"/>
              <a:ext cx="3319272" cy="1170432"/>
            </a:xfrm>
            <a:prstGeom prst="roundRect">
              <a:avLst>
                <a:gd name="adj" fmla="val 4687"/>
              </a:avLst>
            </a:prstGeom>
            <a:noFill/>
            <a:ln w="9525">
              <a:solidFill>
                <a:srgbClr val="B0894F">
                  <a:alpha val="60000"/>
                </a:srgbClr>
              </a:solidFill>
            </a:ln>
          </p:spPr>
          <p:txBody>
            <a:bodyPr rtlCol="0" anchor="ctr"/>
            <a:lstStyle/>
            <a:p>
              <a:pPr algn="ctr"/>
            </a:p>
          </p:txBody>
        </p:sp>
        <p:sp>
          <p:nvSpPr>
            <p:cNvPr id="15" name="TextBox 14"/>
            <p:cNvSpPr txBox="1"/>
            <p:nvPr/>
          </p:nvSpPr>
          <p:spPr>
            <a:xfrm>
              <a:off x="1005840" y="4224528"/>
              <a:ext cx="3017520" cy="219456"/>
            </a:xfrm>
            <a:prstGeom prst="rect">
              <a:avLst/>
            </a:prstGeom>
            <a:noFill/>
          </p:spPr>
          <p:txBody>
            <a:bodyPr wrap="square" lIns="0" rIns="0" tIns="0" bIns="0" anchor="ctr">
              <a:noAutofit/>
            </a:bodyPr>
            <a:lstStyle/>
            <a:p>
              <a:pPr algn="l"/>
              <a:r>
                <a:rPr sz="850" b="1" i="0" spc="110">
                  <a:solidFill>
                    <a:srgbClr val="B0894F"/>
                  </a:solidFill>
                  <a:latin typeface="Inter" panose="020B0502030000000004" pitchFamily="34" charset="0"/>
                </a:rPr>
                <a:t>GITHUB</a:t>
              </a:r>
            </a:p>
          </p:txBody>
        </p:sp>
        <p:sp>
          <p:nvSpPr>
            <p:cNvPr id="16" name="TextBox 15"/>
            <p:cNvSpPr txBox="1"/>
            <p:nvPr/>
          </p:nvSpPr>
          <p:spPr>
            <a:xfrm>
              <a:off x="1005840" y="4526280"/>
              <a:ext cx="3063240" cy="731520"/>
            </a:xfrm>
            <a:prstGeom prst="rect">
              <a:avLst/>
            </a:prstGeom>
            <a:noFill/>
          </p:spPr>
          <p:txBody>
            <a:bodyPr wrap="square" lIns="0" rIns="0" tIns="0" bIns="0" anchor="t">
              <a:noAutofit/>
            </a:bodyPr>
            <a:lstStyle/>
            <a:p>
              <a:pPr algn="l">
                <a:lnSpc>
                  <a:spcPct val="105000"/>
                </a:lnSpc>
              </a:pPr>
              <a:r>
                <a:rPr sz="1300" b="1" i="0">
                  <a:solidFill>
                    <a:srgbClr val="F3E9D2"/>
                  </a:solidFill>
                  <a:latin typeface="JetBrains Mono" panose="02000009000000000000" pitchFamily="49" charset="0"/>
                </a:rPr>
                <a:t>github.com/vnmoorthy/bidwire</a:t>
              </a:r>
            </a:p>
          </p:txBody>
        </p:sp>
      </p:grpSp>
      <p:grpSp>
        <p:nvGrpSpPr>
          <p:cNvPr id="17" name="Group 16"/>
          <p:cNvGrpSpPr/>
          <p:nvPr/>
        </p:nvGrpSpPr>
        <p:grpSpPr>
          <a:xfrm>
            <a:off x="4407408" y="4069080"/>
            <a:ext cx="3447288" cy="1298448"/>
            <a:chOff x="4407408" y="4069080"/>
            <a:chExt cx="3447288" cy="1298448"/>
          </a:xfrm>
        </p:grpSpPr>
        <p:sp>
          <p:nvSpPr>
            <p:cNvPr id="18" name="Rounded Rectangle 17"/>
            <p:cNvSpPr/>
            <p:nvPr/>
          </p:nvSpPr>
          <p:spPr>
            <a:xfrm>
              <a:off x="4407408" y="4069080"/>
              <a:ext cx="3447288" cy="1298448"/>
            </a:xfrm>
            <a:prstGeom prst="roundRect">
              <a:avLst>
                <a:gd name="adj" fmla="val 4225"/>
              </a:avLst>
            </a:prstGeom>
            <a:solidFill>
              <a:srgbClr val="FFFDF7"/>
            </a:solidFill>
            <a:ln w="9525">
              <a:solidFill>
                <a:srgbClr val="E2D9C6"/>
              </a:solidFill>
            </a:ln>
          </p:spPr>
          <p:txBody>
            <a:bodyPr rtlCol="0" anchor="ctr"/>
            <a:lstStyle/>
            <a:p>
              <a:pPr algn="ctr"/>
            </a:p>
          </p:txBody>
        </p:sp>
        <p:sp>
          <p:nvSpPr>
            <p:cNvPr id="19" name="Oval 18"/>
            <p:cNvSpPr/>
            <p:nvPr/>
          </p:nvSpPr>
          <p:spPr>
            <a:xfrm>
              <a:off x="4636008" y="4274820"/>
              <a:ext cx="82296" cy="82296"/>
            </a:xfrm>
            <a:prstGeom prst="ellipse">
              <a:avLst/>
            </a:prstGeom>
            <a:solidFill>
              <a:srgbClr val="B0894F"/>
            </a:solidFill>
            <a:ln>
              <a:noFill/>
            </a:ln>
          </p:spPr>
          <p:txBody>
            <a:bodyPr rtlCol="0" anchor="ctr"/>
            <a:lstStyle/>
            <a:p>
              <a:pPr algn="ctr"/>
            </a:p>
          </p:txBody>
        </p:sp>
        <p:sp>
          <p:nvSpPr>
            <p:cNvPr id="20" name="TextBox 19"/>
            <p:cNvSpPr txBox="1"/>
            <p:nvPr/>
          </p:nvSpPr>
          <p:spPr>
            <a:xfrm>
              <a:off x="4800600" y="4206240"/>
              <a:ext cx="2926080" cy="219456"/>
            </a:xfrm>
            <a:prstGeom prst="rect">
              <a:avLst/>
            </a:prstGeom>
            <a:noFill/>
          </p:spPr>
          <p:txBody>
            <a:bodyPr wrap="square" lIns="0" rIns="0" tIns="0" bIns="0" anchor="ctr">
              <a:noAutofit/>
            </a:bodyPr>
            <a:lstStyle/>
            <a:p>
              <a:pPr algn="l"/>
              <a:r>
                <a:rPr sz="850" b="1" i="0" spc="110">
                  <a:solidFill>
                    <a:srgbClr val="9C937F"/>
                  </a:solidFill>
                  <a:latin typeface="Inter" panose="020B0502030000000004" pitchFamily="34" charset="0"/>
                </a:rPr>
                <a:t>TRY IT LIVE</a:t>
              </a:r>
            </a:p>
          </p:txBody>
        </p:sp>
        <p:sp>
          <p:nvSpPr>
            <p:cNvPr id="21" name="TextBox 20"/>
            <p:cNvSpPr txBox="1"/>
            <p:nvPr/>
          </p:nvSpPr>
          <p:spPr>
            <a:xfrm>
              <a:off x="4636008" y="4526280"/>
              <a:ext cx="3063240" cy="777240"/>
            </a:xfrm>
            <a:prstGeom prst="rect">
              <a:avLst/>
            </a:prstGeom>
            <a:noFill/>
          </p:spPr>
          <p:txBody>
            <a:bodyPr wrap="square" lIns="0" rIns="0" tIns="0" bIns="0" anchor="t">
              <a:noAutofit/>
            </a:bodyPr>
            <a:lstStyle/>
            <a:p>
              <a:pPr algn="l">
                <a:lnSpc>
                  <a:spcPct val="108000"/>
                </a:lnSpc>
              </a:pPr>
              <a:r>
                <a:rPr sz="1300" b="0" i="0">
                  <a:solidFill>
                    <a:srgbClr val="16130E"/>
                  </a:solidFill>
                  <a:latin typeface="Inter" panose="020B0502030000000004" pitchFamily="34" charset="0"/>
                </a:rPr>
                <a:t>Point any MCP client at /mcp. Two calls: </a:t>
              </a:r>
              <a:r>
                <a:rPr sz="1300" b="0" i="0">
                  <a:solidFill>
                    <a:srgbClr val="16130E"/>
                  </a:solidFill>
                  <a:latin typeface="JetBrains Mono" panose="02000009000000000000" pitchFamily="49" charset="0"/>
                </a:rPr>
                <a:t>find_offers</a:t>
              </a:r>
              <a:r>
                <a:rPr sz="1300" b="0" i="0">
                  <a:solidFill>
                    <a:srgbClr val="16130E"/>
                  </a:solidFill>
                  <a:latin typeface="Inter" panose="020B0502030000000004" pitchFamily="34" charset="0"/>
                </a:rPr>
                <a:t> → </a:t>
              </a:r>
              <a:r>
                <a:rPr sz="1300" b="0" i="0">
                  <a:solidFill>
                    <a:srgbClr val="16130E"/>
                  </a:solidFill>
                  <a:latin typeface="JetBrains Mono" panose="02000009000000000000" pitchFamily="49" charset="0"/>
                </a:rPr>
                <a:t>buy_offer</a:t>
              </a:r>
              <a:r>
                <a:rPr sz="1300" b="0" i="0">
                  <a:solidFill>
                    <a:srgbClr val="16130E"/>
                  </a:solidFill>
                  <a:latin typeface="Inter" panose="020B0502030000000004" pitchFamily="34" charset="0"/>
                </a:rPr>
                <a:t>.</a:t>
              </a:r>
            </a:p>
          </p:txBody>
        </p:sp>
      </p:grpSp>
      <p:grpSp>
        <p:nvGrpSpPr>
          <p:cNvPr id="22" name="Group 21"/>
          <p:cNvGrpSpPr/>
          <p:nvPr/>
        </p:nvGrpSpPr>
        <p:grpSpPr>
          <a:xfrm>
            <a:off x="8037576" y="4069080"/>
            <a:ext cx="3447288" cy="1298448"/>
            <a:chOff x="8037576" y="4069080"/>
            <a:chExt cx="3447288" cy="1298448"/>
          </a:xfrm>
        </p:grpSpPr>
        <p:sp>
          <p:nvSpPr>
            <p:cNvPr id="23" name="Rounded Rectangle 22"/>
            <p:cNvSpPr/>
            <p:nvPr/>
          </p:nvSpPr>
          <p:spPr>
            <a:xfrm>
              <a:off x="8037576" y="4069080"/>
              <a:ext cx="3447288" cy="1298448"/>
            </a:xfrm>
            <a:prstGeom prst="roundRect">
              <a:avLst>
                <a:gd name="adj" fmla="val 4225"/>
              </a:avLst>
            </a:prstGeom>
            <a:solidFill>
              <a:srgbClr val="FFFDF7"/>
            </a:solidFill>
            <a:ln w="9525">
              <a:solidFill>
                <a:srgbClr val="E2D9C6"/>
              </a:solidFill>
            </a:ln>
          </p:spPr>
          <p:txBody>
            <a:bodyPr rtlCol="0" anchor="ctr"/>
            <a:lstStyle/>
            <a:p>
              <a:pPr algn="ctr"/>
            </a:p>
          </p:txBody>
        </p:sp>
        <p:sp>
          <p:nvSpPr>
            <p:cNvPr id="24" name="TextBox 23"/>
            <p:cNvSpPr txBox="1"/>
            <p:nvPr/>
          </p:nvSpPr>
          <p:spPr>
            <a:xfrm>
              <a:off x="8266176" y="4206240"/>
              <a:ext cx="2926080" cy="219456"/>
            </a:xfrm>
            <a:prstGeom prst="rect">
              <a:avLst/>
            </a:prstGeom>
            <a:noFill/>
          </p:spPr>
          <p:txBody>
            <a:bodyPr wrap="square" lIns="0" rIns="0" tIns="0" bIns="0" anchor="ctr">
              <a:noAutofit/>
            </a:bodyPr>
            <a:lstStyle/>
            <a:p>
              <a:pPr algn="l"/>
              <a:r>
                <a:rPr sz="850" b="1" i="0" spc="110">
                  <a:solidFill>
                    <a:srgbClr val="9C937F"/>
                  </a:solidFill>
                  <a:latin typeface="Inter" panose="020B0502030000000004" pitchFamily="34" charset="0"/>
                </a:rPr>
                <a:t>THE ASK</a:t>
              </a:r>
            </a:p>
          </p:txBody>
        </p:sp>
        <p:sp>
          <p:nvSpPr>
            <p:cNvPr id="25" name="TextBox 24"/>
            <p:cNvSpPr txBox="1"/>
            <p:nvPr/>
          </p:nvSpPr>
          <p:spPr>
            <a:xfrm>
              <a:off x="8266176" y="4526280"/>
              <a:ext cx="3063240" cy="777240"/>
            </a:xfrm>
            <a:prstGeom prst="rect">
              <a:avLst/>
            </a:prstGeom>
            <a:noFill/>
          </p:spPr>
          <p:txBody>
            <a:bodyPr wrap="square" lIns="0" rIns="0" tIns="0" bIns="0" anchor="t">
              <a:noAutofit/>
            </a:bodyPr>
            <a:lstStyle/>
            <a:p>
              <a:pPr algn="l">
                <a:lnSpc>
                  <a:spcPct val="108000"/>
                </a:lnSpc>
              </a:pPr>
              <a:r>
                <a:rPr sz="1300" b="0" i="0">
                  <a:solidFill>
                    <a:srgbClr val="16130E"/>
                  </a:solidFill>
                  <a:latin typeface="Inter" panose="020B0502030000000004" pitchFamily="34" charset="0"/>
                </a:rPr>
                <a:t>Merchants: pilot pay-at-the-hammer. Agent builders: plug in find_offers.</a:t>
              </a:r>
            </a:p>
          </p:txBody>
        </p:sp>
      </p:grpSp>
      <p:sp>
        <p:nvSpPr>
          <p:cNvPr id="26" name="TextBox 25"/>
          <p:cNvSpPr txBox="1"/>
          <p:nvPr/>
        </p:nvSpPr>
        <p:spPr>
          <a:xfrm>
            <a:off x="777240" y="5806440"/>
            <a:ext cx="10789920" cy="292608"/>
          </a:xfrm>
          <a:prstGeom prst="rect">
            <a:avLst/>
          </a:prstGeom>
          <a:noFill/>
        </p:spPr>
        <p:txBody>
          <a:bodyPr wrap="square" lIns="0" rIns="0" tIns="0" bIns="0" anchor="ctr">
            <a:noAutofit/>
          </a:bodyPr>
          <a:lstStyle/>
          <a:p>
            <a:pPr algn="l"/>
            <a:r>
              <a:rPr sz="1000" b="0" i="0">
                <a:solidFill>
                  <a:srgbClr val="9C937F"/>
                </a:solidFill>
                <a:latin typeface="Inter" panose="020B0502030000000004" pitchFamily="34" charset="0"/>
              </a:rPr>
              <a:t>Built at YC “Make Something Agents Want” · with mcp-use (Manufact) and Inkbox · by @vnmoorthy</a:t>
            </a:r>
          </a:p>
        </p:txBody>
      </p:sp>
      <p:sp>
        <p:nvSpPr>
          <p:cNvPr id="27" name="Rectangle 26"/>
          <p:cNvSpPr/>
          <p:nvPr/>
        </p:nvSpPr>
        <p:spPr>
          <a:xfrm>
            <a:off x="0" y="6825996"/>
            <a:ext cx="12191695" cy="32004"/>
          </a:xfrm>
          <a:prstGeom prst="rect">
            <a:avLst/>
          </a:prstGeom>
          <a:solidFill>
            <a:srgbClr val="B0894F"/>
          </a:solidFill>
          <a:ln>
            <a:noFill/>
          </a:ln>
        </p:spPr>
        <p:txBody>
          <a:bodyPr rtlCol="0" anchor="ctr"/>
          <a:lstStyle/>
          <a:p>
            <a:pPr algn="ct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70"/>
                                        <p:tgtEl>
                                          <p:spTgt spid="2"/>
                                        </p:tgtEl>
                                      </p:cBhvr>
                                    </p:animEffect>
                                    <p:anim calcmode="lin" valueType="num">
                                      <p:cBhvr additive="base">
                                        <p:cTn id="8" dur="450" fill="hold" decel="100000"/>
                                        <p:tgtEl>
                                          <p:spTgt spid="2"/>
                                        </p:tgtEl>
                                        <p:attrNameLst>
                                          <p:attrName>ppt_w</p:attrName>
                                        </p:attrNameLst>
                                      </p:cBhvr>
                                      <p:tavLst>
                                        <p:tav tm="0">
                                          <p:val>
                                            <p:strVal val="#ppt_w*0.85"/>
                                          </p:val>
                                        </p:tav>
                                        <p:tav tm="100000">
                                          <p:val>
                                            <p:strVal val="#ppt_w"/>
                                          </p:val>
                                        </p:tav>
                                      </p:tavLst>
                                    </p:anim>
                                    <p:anim calcmode="lin" valueType="num">
                                      <p:cBhvr additive="base">
                                        <p:cTn id="9" dur="450" fill="hold" decel="100000"/>
                                        <p:tgtEl>
                                          <p:spTgt spid="2"/>
                                        </p:tgtEl>
                                        <p:attrNameLst>
                                          <p:attrName>ppt_h</p:attrName>
                                        </p:attrNameLst>
                                      </p:cBhvr>
                                      <p:tavLst>
                                        <p:tav tm="0">
                                          <p:val>
                                            <p:strVal val="#ppt_h*0.85"/>
                                          </p:val>
                                        </p:tav>
                                        <p:tav tm="100000">
                                          <p:val>
                                            <p:strVal val="#ppt_h"/>
                                          </p:val>
                                        </p:tav>
                                      </p:tavLst>
                                    </p:anim>
                                  </p:childTnLst>
                                </p:cTn>
                              </p:par>
                              <p:par>
                                <p:cTn id="10" presetID="10" presetClass="entr" presetSubtype="0" fill="hold" grpId="0" nodeType="withEffect">
                                  <p:stCondLst>
                                    <p:cond delay="10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par>
                                <p:cTn id="13" presetID="42" presetClass="entr" presetSubtype="0" fill="hold" grpId="0" nodeType="withEffect">
                                  <p:stCondLst>
                                    <p:cond delay="25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700"/>
                                        <p:tgtEl>
                                          <p:spTgt spid="10"/>
                                        </p:tgtEl>
                                      </p:cBhvr>
                                    </p:animEffect>
                                    <p:anim calcmode="lin" valueType="num">
                                      <p:cBhvr additive="base">
                                        <p:cTn id="16" dur="700" fill="hold" decel="100000"/>
                                        <p:tgtEl>
                                          <p:spTgt spid="10"/>
                                        </p:tgtEl>
                                        <p:attrNameLst>
                                          <p:attrName>ppt_x</p:attrName>
                                        </p:attrNameLst>
                                      </p:cBhvr>
                                      <p:tavLst>
                                        <p:tav tm="0">
                                          <p:val>
                                            <p:strVal val="#ppt_x"/>
                                          </p:val>
                                        </p:tav>
                                        <p:tav tm="100000">
                                          <p:val>
                                            <p:strVal val="#ppt_x"/>
                                          </p:val>
                                        </p:tav>
                                      </p:tavLst>
                                    </p:anim>
                                    <p:anim calcmode="lin" valueType="num">
                                      <p:cBhvr additive="base">
                                        <p:cTn id="17" dur="700" fill="hold" decel="100000"/>
                                        <p:tgtEl>
                                          <p:spTgt spid="10"/>
                                        </p:tgtEl>
                                        <p:attrNameLst>
                                          <p:attrName>ppt_y</p:attrName>
                                        </p:attrNameLst>
                                      </p:cBhvr>
                                      <p:tavLst>
                                        <p:tav tm="0">
                                          <p:val>
                                            <p:strVal val="#ppt_y+0.025"/>
                                          </p:val>
                                        </p:tav>
                                        <p:tav tm="100000">
                                          <p:val>
                                            <p:strVal val="#ppt_y"/>
                                          </p:val>
                                        </p:tav>
                                      </p:tavLst>
                                    </p:anim>
                                  </p:childTnLst>
                                </p:cTn>
                              </p:par>
                              <p:par>
                                <p:cTn id="18" presetID="10" presetClass="entr" presetSubtype="0" fill="hold" grpId="0" nodeType="withEffect">
                                  <p:stCondLst>
                                    <p:cond delay="65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par>
                                <p:cTn id="21" presetID="42" presetClass="entr" presetSubtype="0" fill="hold" grpId="0" nodeType="withEffect">
                                  <p:stCondLst>
                                    <p:cond delay="95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anim calcmode="lin" valueType="num">
                                      <p:cBhvr additive="base">
                                        <p:cTn id="24" dur="450" fill="hold" decel="100000"/>
                                        <p:tgtEl>
                                          <p:spTgt spid="12"/>
                                        </p:tgtEl>
                                        <p:attrNameLst>
                                          <p:attrName>ppt_x</p:attrName>
                                        </p:attrNameLst>
                                      </p:cBhvr>
                                      <p:tavLst>
                                        <p:tav tm="0">
                                          <p:val>
                                            <p:strVal val="#ppt_x"/>
                                          </p:val>
                                        </p:tav>
                                        <p:tav tm="100000">
                                          <p:val>
                                            <p:strVal val="#ppt_x"/>
                                          </p:val>
                                        </p:tav>
                                      </p:tavLst>
                                    </p:anim>
                                    <p:anim calcmode="lin" valueType="num">
                                      <p:cBhvr additive="base">
                                        <p:cTn id="25" dur="450" fill="hold" decel="100000"/>
                                        <p:tgtEl>
                                          <p:spTgt spid="12"/>
                                        </p:tgtEl>
                                        <p:attrNameLst>
                                          <p:attrName>ppt_y</p:attrName>
                                        </p:attrNameLst>
                                      </p:cBhvr>
                                      <p:tavLst>
                                        <p:tav tm="0">
                                          <p:val>
                                            <p:strVal val="#ppt_y+0.025"/>
                                          </p:val>
                                        </p:tav>
                                        <p:tav tm="100000">
                                          <p:val>
                                            <p:strVal val="#ppt_y"/>
                                          </p:val>
                                        </p:tav>
                                      </p:tavLst>
                                    </p:anim>
                                  </p:childTnLst>
                                </p:cTn>
                              </p:par>
                              <p:par>
                                <p:cTn id="26" presetID="42" presetClass="entr" presetSubtype="0" fill="hold" grpId="0" nodeType="withEffect">
                                  <p:stCondLst>
                                    <p:cond delay="110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anim calcmode="lin" valueType="num">
                                      <p:cBhvr additive="base">
                                        <p:cTn id="29" dur="450" fill="hold" decel="100000"/>
                                        <p:tgtEl>
                                          <p:spTgt spid="17"/>
                                        </p:tgtEl>
                                        <p:attrNameLst>
                                          <p:attrName>ppt_x</p:attrName>
                                        </p:attrNameLst>
                                      </p:cBhvr>
                                      <p:tavLst>
                                        <p:tav tm="0">
                                          <p:val>
                                            <p:strVal val="#ppt_x"/>
                                          </p:val>
                                        </p:tav>
                                        <p:tav tm="100000">
                                          <p:val>
                                            <p:strVal val="#ppt_x"/>
                                          </p:val>
                                        </p:tav>
                                      </p:tavLst>
                                    </p:anim>
                                    <p:anim calcmode="lin" valueType="num">
                                      <p:cBhvr additive="base">
                                        <p:cTn id="30" dur="450" fill="hold" decel="100000"/>
                                        <p:tgtEl>
                                          <p:spTgt spid="17"/>
                                        </p:tgtEl>
                                        <p:attrNameLst>
                                          <p:attrName>ppt_y</p:attrName>
                                        </p:attrNameLst>
                                      </p:cBhvr>
                                      <p:tavLst>
                                        <p:tav tm="0">
                                          <p:val>
                                            <p:strVal val="#ppt_y+0.025"/>
                                          </p:val>
                                        </p:tav>
                                        <p:tav tm="100000">
                                          <p:val>
                                            <p:strVal val="#ppt_y"/>
                                          </p:val>
                                        </p:tav>
                                      </p:tavLst>
                                    </p:anim>
                                  </p:childTnLst>
                                </p:cTn>
                              </p:par>
                              <p:par>
                                <p:cTn id="31" presetID="42" presetClass="entr" presetSubtype="0" fill="hold" grpId="0" nodeType="withEffect">
                                  <p:stCondLst>
                                    <p:cond delay="125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450"/>
                                        <p:tgtEl>
                                          <p:spTgt spid="22"/>
                                        </p:tgtEl>
                                      </p:cBhvr>
                                    </p:animEffect>
                                    <p:anim calcmode="lin" valueType="num">
                                      <p:cBhvr additive="base">
                                        <p:cTn id="34" dur="450" fill="hold" decel="100000"/>
                                        <p:tgtEl>
                                          <p:spTgt spid="22"/>
                                        </p:tgtEl>
                                        <p:attrNameLst>
                                          <p:attrName>ppt_x</p:attrName>
                                        </p:attrNameLst>
                                      </p:cBhvr>
                                      <p:tavLst>
                                        <p:tav tm="0">
                                          <p:val>
                                            <p:strVal val="#ppt_x"/>
                                          </p:val>
                                        </p:tav>
                                        <p:tav tm="100000">
                                          <p:val>
                                            <p:strVal val="#ppt_x"/>
                                          </p:val>
                                        </p:tav>
                                      </p:tavLst>
                                    </p:anim>
                                    <p:anim calcmode="lin" valueType="num">
                                      <p:cBhvr additive="base">
                                        <p:cTn id="35" dur="450" fill="hold" decel="100000"/>
                                        <p:tgtEl>
                                          <p:spTgt spid="22"/>
                                        </p:tgtEl>
                                        <p:attrNameLst>
                                          <p:attrName>ppt_y</p:attrName>
                                        </p:attrNameLst>
                                      </p:cBhvr>
                                      <p:tavLst>
                                        <p:tav tm="0">
                                          <p:val>
                                            <p:strVal val="#ppt_y+0.025"/>
                                          </p:val>
                                        </p:tav>
                                        <p:tav tm="100000">
                                          <p:val>
                                            <p:strVal val="#ppt_y"/>
                                          </p:val>
                                        </p:tav>
                                      </p:tavLst>
                                    </p:anim>
                                  </p:childTnLst>
                                </p:cTn>
                              </p:par>
                              <p:par>
                                <p:cTn id="36" presetID="10" presetClass="entr" presetSubtype="0" fill="hold" grpId="0" nodeType="withEffect">
                                  <p:stCondLst>
                                    <p:cond delay="150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4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2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Bidwire: the auction house for AI agents</dc:title>
  <dc:subject>YC Make Something Agents Want, Oct 18 2026</dc:subject>
  <dc:creator>Bidwire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