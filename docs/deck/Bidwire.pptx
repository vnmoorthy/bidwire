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auction house for AI agents. When an agent shops, nobody sees an ad: no banner, no sponsored slot. So the only way a merchant wins an agent's purchase is with an offer that's actually true. Bidwire is the saleroom where that happens,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web they land on was built to manipulate humans: sponsored slots and SEO, drip pricing where $34.99 becomes $63.99 at checkout, fake specs, and now prompt injection hidden in product pitches. Agents get gamed. And merchants can't reach agents at all: there's no ad slot inside a tool 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merchants raise a paddle with claims a machine can check: delivered price, delivery time, features. We verify every claim, rank on merit with public weights, and commission can't buy rank. YC asked us to rebuild a tool built for humans. This is Google Ads, rebuilt for agents.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a lot sells. The agent calls find_offers with its need, budget and deadline. For twelve seconds, bots, people in this room and merchant agents bid. We check each bid against the merchant's real page and checkout, withdraw the liars and rank on merit. Then buy_offer pays from a prepaid wallet; over the limit, the human approves by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lot: 8 paddles, 5 verified, 3 withdrawn: a prompt injection, a hidden checkout fee and a fake ANC claim. A merchant offered $35 commission and stayed at number 5. A nine-day shipper missed a five-day deadline and ranked down. The $368.99 hammer price was over the $300 limit, so it went to the human's phone for a YES. And when a merchant sells out mid-purchase, the agent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Bidwire is an MCP server built on mcp-use from Manufact: twelve tools, three resources, two prompts. The happy path is two calls, find_offers then buy_offer. Errors come back with hints, buys take idempotency keys, the first call needs zero config, and merchant pitches are treated as data, never instructions. It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enforced in code. Every paddle gets six checks against the merchant's own page and checkout, including pitch safety. Fail one and the bid is withdrawn, and the merchant loses trust with every agent. Ranking weights are public, and commission counts for zero. Humans set spending limits, every transaction in the ledger sums to zero, and every tool call is logged.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Merchants pay commission only at the hammer, when a verified sale happens: no impressions, no clicks, and that commission is our take. The wedge is DTC merchants and agent shopping apps; the long game is the trust layer for agent commerce. Why now: eighteen months ago agents had no MCP, no ACP, no cards. Search ads are a $200B-plus business built on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all of this in twenty-four hours and it's running right now: an MCP server on mcp-use and Hono, SQLite, a live saleroom over server-sent events, real storefront pages with schema.org data that the verifier fetches over HTTP,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is the only thing worth bidding on. You can't bribe an agent. The code is at github.com/vnmoorthy/bidwire, and the saleroom is live right now: connect your agent and buy something, or raise a paddle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DF7"/>
            </a:solidFill>
            <a:ln w="9525">
              <a:solidFill>
                <a:srgbClr val="E2D9C6"/>
              </a:solidFill>
            </a:ln>
          </p:spPr>
          <p:txBody>
            <a:bodyPr rtlCol="0" anchor="ctr"/>
            <a:lstStyle/>
            <a:p>
              <a:pPr algn="ctr"/>
            </a:p>
          </p:txBody>
        </p:sp>
        <p:sp>
          <p:nvSpPr>
            <p:cNvPr id="4" name="Oval 3"/>
            <p:cNvSpPr/>
            <p:nvPr/>
          </p:nvSpPr>
          <p:spPr>
            <a:xfrm>
              <a:off x="886968" y="726948"/>
              <a:ext cx="82296" cy="82296"/>
            </a:xfrm>
            <a:prstGeom prst="ellipse">
              <a:avLst/>
            </a:prstGeom>
            <a:solidFill>
              <a:srgbClr val="B0894F"/>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Live  ·  YC Make Something Agents Want  ·  Oct 18, 2026</a:t>
              </a:r>
            </a:p>
          </p:txBody>
        </p:sp>
      </p:grpSp>
      <p:grpSp>
        <p:nvGrpSpPr>
          <p:cNvPr id="6" name="Group 5"/>
          <p:cNvGrpSpPr/>
          <p:nvPr/>
        </p:nvGrpSpPr>
        <p:grpSpPr>
          <a:xfrm>
            <a:off x="749808" y="1371600"/>
            <a:ext cx="896112" cy="896112"/>
            <a:chOff x="749808" y="1371600"/>
            <a:chExt cx="896112" cy="896112"/>
          </a:xfrm>
        </p:grpSpPr>
        <p:sp>
          <p:nvSpPr>
            <p:cNvPr id="7" name="Oval 6"/>
            <p:cNvSpPr/>
            <p:nvPr/>
          </p:nvSpPr>
          <p:spPr>
            <a:xfrm>
              <a:off x="749808" y="1371600"/>
              <a:ext cx="896112" cy="896112"/>
            </a:xfrm>
            <a:prstGeom prst="ellipse">
              <a:avLst/>
            </a:prstGeom>
            <a:solidFill>
              <a:srgbClr val="16130E"/>
            </a:solidFill>
            <a:ln>
              <a:noFill/>
            </a:ln>
          </p:spPr>
          <p:txBody>
            <a:bodyPr rtlCol="0" anchor="ctr"/>
            <a:lstStyle/>
            <a:p>
              <a:pPr algn="ctr"/>
            </a:p>
          </p:txBody>
        </p:sp>
        <p:sp>
          <p:nvSpPr>
            <p:cNvPr id="8" name="Freeform 7"/>
            <p:cNvSpPr/>
            <p:nvPr/>
          </p:nvSpPr>
          <p:spPr>
            <a:xfrm>
              <a:off x="1016403" y="1779336"/>
              <a:ext cx="221793" cy="221793"/>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40325" cap="rnd">
              <a:solidFill>
                <a:srgbClr val="F4EFE4"/>
              </a:solidFill>
              <a:round/>
            </a:ln>
          </p:spPr>
          <p:txBody>
            <a:bodyPr rtlCol="0" anchor="ctr"/>
            <a:lstStyle/>
            <a:p>
              <a:pPr algn="ctr"/>
            </a:p>
          </p:txBody>
        </p:sp>
        <p:sp>
          <p:nvSpPr>
            <p:cNvPr id="9" name="Freeform 8"/>
            <p:cNvSpPr/>
            <p:nvPr/>
          </p:nvSpPr>
          <p:spPr>
            <a:xfrm>
              <a:off x="1278522" y="1779336"/>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0" name="Freeform 9"/>
            <p:cNvSpPr/>
            <p:nvPr/>
          </p:nvSpPr>
          <p:spPr>
            <a:xfrm>
              <a:off x="1117218" y="1618032"/>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1" name="Freeform 10"/>
            <p:cNvSpPr/>
            <p:nvPr/>
          </p:nvSpPr>
          <p:spPr>
            <a:xfrm>
              <a:off x="1137381" y="1718847"/>
              <a:ext cx="161304" cy="161304"/>
            </a:xfrm>
            <a:custGeom>
              <a:avLst/>
              <a:gdLst/>
              <a:ahLst/>
              <a:cxnLst/>
              <a:rect l="l" t="t" r="r" b="b"/>
              <a:pathLst>
                <a:path w="8" h="8">
                  <a:moveTo>
                    <a:pt x="0" y="0"/>
                  </a:moveTo>
                  <a:lnTo>
                    <a:pt x="8" y="8"/>
                  </a:lnTo>
                </a:path>
              </a:pathLst>
            </a:custGeom>
            <a:noFill/>
            <a:ln w="40325" cap="rnd">
              <a:solidFill>
                <a:srgbClr val="F4EFE4"/>
              </a:solidFill>
              <a:round/>
            </a:ln>
          </p:spPr>
          <p:txBody>
            <a:bodyPr rtlCol="0" anchor="ctr"/>
            <a:lstStyle/>
            <a:p>
              <a:pPr algn="ctr"/>
            </a:p>
          </p:txBody>
        </p:sp>
        <p:sp>
          <p:nvSpPr>
            <p:cNvPr id="12" name="Freeform 11"/>
            <p:cNvSpPr/>
            <p:nvPr/>
          </p:nvSpPr>
          <p:spPr>
            <a:xfrm>
              <a:off x="1218033" y="1638195"/>
              <a:ext cx="161304" cy="161304"/>
            </a:xfrm>
            <a:custGeom>
              <a:avLst/>
              <a:gdLst/>
              <a:ahLst/>
              <a:cxnLst/>
              <a:rect l="l" t="t" r="r" b="b"/>
              <a:pathLst>
                <a:path w="8" h="8">
                  <a:moveTo>
                    <a:pt x="8" y="8"/>
                  </a:moveTo>
                  <a:lnTo>
                    <a:pt x="0" y="0"/>
                  </a:lnTo>
                </a:path>
              </a:pathLst>
            </a:custGeom>
            <a:noFill/>
            <a:ln w="40325" cap="rnd">
              <a:solidFill>
                <a:srgbClr val="F4EFE4"/>
              </a:solidFill>
              <a:round/>
            </a:ln>
          </p:spPr>
          <p:txBody>
            <a:bodyPr rtlCol="0" anchor="ctr"/>
            <a:lstStyle/>
            <a:p>
              <a:pPr algn="ctr"/>
            </a:p>
          </p:txBody>
        </p:sp>
      </p:grpSp>
      <p:sp>
        <p:nvSpPr>
          <p:cNvPr id="13" name="TextBox 12"/>
          <p:cNvSpPr txBox="1"/>
          <p:nvPr/>
        </p:nvSpPr>
        <p:spPr>
          <a:xfrm>
            <a:off x="1828800" y="1188720"/>
            <a:ext cx="4937760" cy="1243584"/>
          </a:xfrm>
          <a:prstGeom prst="rect">
            <a:avLst/>
          </a:prstGeom>
          <a:noFill/>
        </p:spPr>
        <p:txBody>
          <a:bodyPr wrap="square" lIns="0" rIns="0" tIns="0" bIns="0" anchor="ctr">
            <a:noAutofit/>
          </a:bodyPr>
          <a:lstStyle/>
          <a:p>
            <a:pPr algn="l"/>
            <a:r>
              <a:rPr sz="8400" b="0" i="0" spc="-200">
                <a:solidFill>
                  <a:srgbClr val="16130E"/>
                </a:solidFill>
                <a:latin typeface="Georgia" panose="02040502050405020303" pitchFamily="18" charset="0"/>
              </a:rPr>
              <a:t>Bidwire</a:t>
            </a:r>
          </a:p>
        </p:txBody>
      </p:sp>
      <p:sp>
        <p:nvSpPr>
          <p:cNvPr id="14" name="TextBox 13"/>
          <p:cNvSpPr txBox="1"/>
          <p:nvPr/>
        </p:nvSpPr>
        <p:spPr>
          <a:xfrm>
            <a:off x="731520" y="2560320"/>
            <a:ext cx="5852160" cy="1005840"/>
          </a:xfrm>
          <a:prstGeom prst="rect">
            <a:avLst/>
          </a:prstGeom>
          <a:noFill/>
        </p:spPr>
        <p:txBody>
          <a:bodyPr wrap="square" lIns="0" rIns="0" tIns="0" bIns="0" anchor="t">
            <a:noAutofit/>
          </a:bodyPr>
          <a:lstStyle/>
          <a:p>
            <a:pPr algn="l">
              <a:lnSpc>
                <a:spcPct val="95000"/>
              </a:lnSpc>
            </a:pPr>
            <a:r>
              <a:rPr sz="3400" b="0" i="0" spc="-40">
                <a:solidFill>
                  <a:srgbClr val="16130E"/>
                </a:solidFill>
                <a:latin typeface="Georgia" panose="02040502050405020303" pitchFamily="18" charset="0"/>
              </a:rPr>
              <a:t>The auction house</a:t>
            </a:r>
          </a:p>
          <a:p>
            <a:pPr algn="l">
              <a:lnSpc>
                <a:spcPct val="95000"/>
              </a:lnSpc>
            </a:pPr>
            <a:r>
              <a:rPr sz="3400" b="0" i="0" spc="-40">
                <a:solidFill>
                  <a:srgbClr val="16130E"/>
                </a:solidFill>
                <a:latin typeface="Georgia" panose="02040502050405020303" pitchFamily="18" charset="0"/>
              </a:rPr>
              <a:t>for </a:t>
            </a:r>
            <a:r>
              <a:rPr sz="3400" b="0" i="1" spc="-40">
                <a:solidFill>
                  <a:srgbClr val="16130E"/>
                </a:solidFill>
                <a:latin typeface="Georgia" panose="02040502050405020303" pitchFamily="18" charset="0"/>
              </a:rPr>
              <a:t>AI agents.</a:t>
            </a:r>
          </a:p>
        </p:txBody>
      </p:sp>
      <p:sp>
        <p:nvSpPr>
          <p:cNvPr id="15" name="TextBox 14"/>
          <p:cNvSpPr txBox="1"/>
          <p:nvPr/>
        </p:nvSpPr>
        <p:spPr>
          <a:xfrm>
            <a:off x="731520" y="3675888"/>
            <a:ext cx="5577840" cy="731520"/>
          </a:xfrm>
          <a:prstGeom prst="rect">
            <a:avLst/>
          </a:prstGeom>
          <a:noFill/>
        </p:spPr>
        <p:txBody>
          <a:bodyPr wrap="square" lIns="0" rIns="0" tIns="0" bIns="0" anchor="t">
            <a:noAutofit/>
          </a:bodyPr>
          <a:lstStyle/>
          <a:p>
            <a:pPr algn="l">
              <a:lnSpc>
                <a:spcPct val="115000"/>
              </a:lnSpc>
            </a:pPr>
            <a:r>
              <a:rPr sz="1800" b="0" i="0">
                <a:solidFill>
                  <a:srgbClr val="6E6658"/>
                </a:solidFill>
                <a:latin typeface="Inter" panose="020B0502030000000004" pitchFamily="34" charset="0"/>
              </a:rPr>
              <a:t>When agents shop, nobody sees an ad.</a:t>
            </a:r>
          </a:p>
          <a:p>
            <a:pPr algn="l">
              <a:lnSpc>
                <a:spcPct val="115000"/>
              </a:lnSpc>
            </a:pPr>
            <a:r>
              <a:rPr sz="1800" b="0" i="0">
                <a:solidFill>
                  <a:srgbClr val="16130E"/>
                </a:solidFill>
                <a:latin typeface="Inter" panose="020B0502030000000004" pitchFamily="34" charset="0"/>
              </a:rPr>
              <a:t>So merchants have to tell the truth.</a:t>
            </a:r>
          </a:p>
        </p:txBody>
      </p:sp>
      <p:grpSp>
        <p:nvGrpSpPr>
          <p:cNvPr id="16" name="Group 15"/>
          <p:cNvGrpSpPr/>
          <p:nvPr/>
        </p:nvGrpSpPr>
        <p:grpSpPr>
          <a:xfrm>
            <a:off x="731520" y="4617720"/>
            <a:ext cx="2008632" cy="292608"/>
            <a:chOff x="731520" y="4617720"/>
            <a:chExt cx="2008632" cy="292608"/>
          </a:xfrm>
        </p:grpSpPr>
        <p:sp>
          <p:nvSpPr>
            <p:cNvPr id="17" name="Rounded Rectangle 16"/>
            <p:cNvSpPr/>
            <p:nvPr/>
          </p:nvSpPr>
          <p:spPr>
            <a:xfrm>
              <a:off x="731520" y="4617720"/>
              <a:ext cx="2008632" cy="292608"/>
            </a:xfrm>
            <a:prstGeom prst="roundRect">
              <a:avLst>
                <a:gd name="adj" fmla="val 50000"/>
              </a:avLst>
            </a:prstGeom>
            <a:solidFill>
              <a:srgbClr val="E6ECF6"/>
            </a:solidFill>
            <a:ln>
              <a:noFill/>
            </a:ln>
          </p:spPr>
          <p:txBody>
            <a:bodyPr rtlCol="0" anchor="ctr"/>
            <a:lstStyle/>
            <a:p>
              <a:pPr algn="ctr"/>
            </a:p>
          </p:txBody>
        </p:sp>
        <p:sp>
          <p:nvSpPr>
            <p:cNvPr id="18" name="TextBox 17"/>
            <p:cNvSpPr txBox="1"/>
            <p:nvPr/>
          </p:nvSpPr>
          <p:spPr>
            <a:xfrm>
              <a:off x="731520" y="4617720"/>
              <a:ext cx="2008632" cy="292608"/>
            </a:xfrm>
            <a:prstGeom prst="rect">
              <a:avLst/>
            </a:prstGeom>
            <a:noFill/>
          </p:spPr>
          <p:txBody>
            <a:bodyPr wrap="square" lIns="0" rIns="0" tIns="0" bIns="0" anchor="ctr">
              <a:noAutofit/>
            </a:bodyPr>
            <a:lstStyle/>
            <a:p>
              <a:pPr algn="ctr"/>
              <a:r>
                <a:rPr sz="1000" b="1" i="0">
                  <a:solidFill>
                    <a:srgbClr val="233F6E"/>
                  </a:solidFill>
                  <a:latin typeface="JetBrains Mono" panose="02000009000000000000" pitchFamily="49" charset="0"/>
                </a:rPr>
                <a:t>find_offers → buy_offer</a:t>
              </a:r>
            </a:p>
          </p:txBody>
        </p:sp>
      </p:grpSp>
      <p:grpSp>
        <p:nvGrpSpPr>
          <p:cNvPr id="19" name="Group 18"/>
          <p:cNvGrpSpPr/>
          <p:nvPr/>
        </p:nvGrpSpPr>
        <p:grpSpPr>
          <a:xfrm>
            <a:off x="2831592" y="4617720"/>
            <a:ext cx="1536192" cy="292608"/>
            <a:chOff x="2831592" y="4617720"/>
            <a:chExt cx="1536192" cy="292608"/>
          </a:xfrm>
        </p:grpSpPr>
        <p:sp>
          <p:nvSpPr>
            <p:cNvPr id="20" name="Rounded Rectangle 19"/>
            <p:cNvSpPr/>
            <p:nvPr/>
          </p:nvSpPr>
          <p:spPr>
            <a:xfrm>
              <a:off x="2831592" y="4617720"/>
              <a:ext cx="1536192" cy="292608"/>
            </a:xfrm>
            <a:prstGeom prst="roundRect">
              <a:avLst>
                <a:gd name="adj" fmla="val 50000"/>
              </a:avLst>
            </a:prstGeom>
            <a:solidFill>
              <a:srgbClr val="E5F0E8"/>
            </a:solidFill>
            <a:ln>
              <a:noFill/>
            </a:ln>
          </p:spPr>
          <p:txBody>
            <a:bodyPr rtlCol="0" anchor="ctr"/>
            <a:lstStyle/>
            <a:p>
              <a:pPr algn="ctr"/>
            </a:p>
          </p:txBody>
        </p:sp>
        <p:sp>
          <p:nvSpPr>
            <p:cNvPr id="21" name="TextBox 20"/>
            <p:cNvSpPr txBox="1"/>
            <p:nvPr/>
          </p:nvSpPr>
          <p:spPr>
            <a:xfrm>
              <a:off x="2831592" y="4617720"/>
              <a:ext cx="1536192" cy="292608"/>
            </a:xfrm>
            <a:prstGeom prst="rect">
              <a:avLst/>
            </a:prstGeom>
            <a:noFill/>
          </p:spPr>
          <p:txBody>
            <a:bodyPr wrap="square" lIns="0" rIns="0" tIns="0" bIns="0" anchor="ctr">
              <a:noAutofit/>
            </a:bodyPr>
            <a:lstStyle/>
            <a:p>
              <a:pPr algn="ctr"/>
              <a:r>
                <a:rPr sz="1000" b="1" i="0">
                  <a:solidFill>
                    <a:srgbClr val="2D6A48"/>
                  </a:solidFill>
                  <a:latin typeface="Inter" panose="020B0502030000000004" pitchFamily="34" charset="0"/>
                </a:rPr>
                <a:t>Every bid verified</a:t>
              </a:r>
            </a:p>
          </p:txBody>
        </p:sp>
      </p:grpSp>
      <p:grpSp>
        <p:nvGrpSpPr>
          <p:cNvPr id="22" name="Group 21"/>
          <p:cNvGrpSpPr/>
          <p:nvPr/>
        </p:nvGrpSpPr>
        <p:grpSpPr>
          <a:xfrm>
            <a:off x="731520" y="5001768"/>
            <a:ext cx="2105152" cy="292608"/>
            <a:chOff x="731520" y="5001768"/>
            <a:chExt cx="2105152" cy="292608"/>
          </a:xfrm>
        </p:grpSpPr>
        <p:sp>
          <p:nvSpPr>
            <p:cNvPr id="23" name="Rounded Rectangle 22"/>
            <p:cNvSpPr/>
            <p:nvPr/>
          </p:nvSpPr>
          <p:spPr>
            <a:xfrm>
              <a:off x="731520" y="5001768"/>
              <a:ext cx="2105152" cy="292608"/>
            </a:xfrm>
            <a:prstGeom prst="roundRect">
              <a:avLst>
                <a:gd name="adj" fmla="val 50000"/>
              </a:avLst>
            </a:prstGeom>
            <a:solidFill>
              <a:srgbClr val="F6EBD6"/>
            </a:solidFill>
            <a:ln>
              <a:noFill/>
            </a:ln>
          </p:spPr>
          <p:txBody>
            <a:bodyPr rtlCol="0" anchor="ctr"/>
            <a:lstStyle/>
            <a:p>
              <a:pPr algn="ctr"/>
            </a:p>
          </p:txBody>
        </p:sp>
        <p:sp>
          <p:nvSpPr>
            <p:cNvPr id="24" name="TextBox 23"/>
            <p:cNvSpPr txBox="1"/>
            <p:nvPr/>
          </p:nvSpPr>
          <p:spPr>
            <a:xfrm>
              <a:off x="731520" y="5001768"/>
              <a:ext cx="2105152" cy="292608"/>
            </a:xfrm>
            <a:prstGeom prst="rect">
              <a:avLst/>
            </a:prstGeom>
            <a:noFill/>
          </p:spPr>
          <p:txBody>
            <a:bodyPr wrap="square" lIns="0" rIns="0" tIns="0" bIns="0" anchor="ctr">
              <a:noAutofit/>
            </a:bodyPr>
            <a:lstStyle/>
            <a:p>
              <a:pPr algn="ctr"/>
              <a:r>
                <a:rPr sz="1000" b="1" i="0">
                  <a:solidFill>
                    <a:srgbClr val="94641F"/>
                  </a:solidFill>
                  <a:latin typeface="Inter" panose="020B0502030000000004" pitchFamily="34" charset="0"/>
                </a:rPr>
                <a:t>Commission never buys rank</a:t>
              </a:r>
            </a:p>
          </p:txBody>
        </p:sp>
      </p:grpSp>
      <p:grpSp>
        <p:nvGrpSpPr>
          <p:cNvPr id="25" name="Group 24"/>
          <p:cNvGrpSpPr/>
          <p:nvPr/>
        </p:nvGrpSpPr>
        <p:grpSpPr>
          <a:xfrm>
            <a:off x="2928112" y="5001768"/>
            <a:ext cx="1607312" cy="292608"/>
            <a:chOff x="2928112" y="5001768"/>
            <a:chExt cx="1607312" cy="292608"/>
          </a:xfrm>
        </p:grpSpPr>
        <p:sp>
          <p:nvSpPr>
            <p:cNvPr id="26" name="Rounded Rectangle 25"/>
            <p:cNvSpPr/>
            <p:nvPr/>
          </p:nvSpPr>
          <p:spPr>
            <a:xfrm>
              <a:off x="2928112" y="5001768"/>
              <a:ext cx="1607312" cy="292608"/>
            </a:xfrm>
            <a:prstGeom prst="roundRect">
              <a:avLst>
                <a:gd name="adj" fmla="val 50000"/>
              </a:avLst>
            </a:prstGeom>
            <a:solidFill>
              <a:srgbClr val="F5EBD6"/>
            </a:solidFill>
            <a:ln>
              <a:noFill/>
            </a:ln>
          </p:spPr>
          <p:txBody>
            <a:bodyPr rtlCol="0" anchor="ctr"/>
            <a:lstStyle/>
            <a:p>
              <a:pPr algn="ctr"/>
            </a:p>
          </p:txBody>
        </p:sp>
        <p:sp>
          <p:nvSpPr>
            <p:cNvPr id="27" name="TextBox 26"/>
            <p:cNvSpPr txBox="1"/>
            <p:nvPr/>
          </p:nvSpPr>
          <p:spPr>
            <a:xfrm>
              <a:off x="2928112" y="5001768"/>
              <a:ext cx="1607312" cy="292608"/>
            </a:xfrm>
            <a:prstGeom prst="rect">
              <a:avLst/>
            </a:prstGeom>
            <a:noFill/>
          </p:spPr>
          <p:txBody>
            <a:bodyPr wrap="square" lIns="0" rIns="0" tIns="0" bIns="0" anchor="ctr">
              <a:noAutofit/>
            </a:bodyPr>
            <a:lstStyle/>
            <a:p>
              <a:pPr algn="ctr"/>
              <a:r>
                <a:rPr sz="1000" b="1" i="0">
                  <a:solidFill>
                    <a:srgbClr val="B0894F"/>
                  </a:solidFill>
                  <a:latin typeface="Inter" panose="020B0502030000000004" pitchFamily="34" charset="0"/>
                </a:rPr>
                <a:t>12-second live lots</a:t>
              </a:r>
            </a:p>
          </p:txBody>
        </p:sp>
      </p:grpSp>
      <p:sp>
        <p:nvSpPr>
          <p:cNvPr id="28" name="TextBox 27"/>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C937F"/>
                </a:solidFill>
                <a:latin typeface="Inter" panose="020B0502030000000004" pitchFamily="34" charset="0"/>
              </a:rPr>
              <a:t>Built with mcp-use (Manufact) · Inkbox · MCP over streamable HTTP</a:t>
            </a:r>
          </a:p>
        </p:txBody>
      </p:sp>
      <p:grpSp>
        <p:nvGrpSpPr>
          <p:cNvPr id="29" name="Group 28"/>
          <p:cNvGrpSpPr/>
          <p:nvPr/>
        </p:nvGrpSpPr>
        <p:grpSpPr>
          <a:xfrm>
            <a:off x="6720840" y="1097280"/>
            <a:ext cx="5989320" cy="3642170"/>
            <a:chOff x="6720840" y="1097280"/>
            <a:chExt cx="5989320" cy="3642170"/>
          </a:xfrm>
        </p:grpSpPr>
        <p:sp>
          <p:nvSpPr>
            <p:cNvPr id="30" name="Rounded Rectangle 29"/>
            <p:cNvSpPr/>
            <p:nvPr/>
          </p:nvSpPr>
          <p:spPr>
            <a:xfrm>
              <a:off x="6720840" y="1097280"/>
              <a:ext cx="5989320" cy="3642170"/>
            </a:xfrm>
            <a:prstGeom prst="roundRect">
              <a:avLst>
                <a:gd name="adj" fmla="val 2008"/>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31" name="Oval 30"/>
            <p:cNvSpPr/>
            <p:nvPr/>
          </p:nvSpPr>
          <p:spPr>
            <a:xfrm>
              <a:off x="6867144" y="1197864"/>
              <a:ext cx="73152" cy="73152"/>
            </a:xfrm>
            <a:prstGeom prst="ellipse">
              <a:avLst/>
            </a:prstGeom>
            <a:solidFill>
              <a:srgbClr val="CFC3AA"/>
            </a:solidFill>
            <a:ln>
              <a:noFill/>
            </a:ln>
          </p:spPr>
          <p:txBody>
            <a:bodyPr rtlCol="0" anchor="ctr"/>
            <a:lstStyle/>
            <a:p>
              <a:pPr algn="ctr"/>
            </a:p>
          </p:txBody>
        </p:sp>
        <p:sp>
          <p:nvSpPr>
            <p:cNvPr id="32" name="Oval 31"/>
            <p:cNvSpPr/>
            <p:nvPr/>
          </p:nvSpPr>
          <p:spPr>
            <a:xfrm>
              <a:off x="7004304" y="1197864"/>
              <a:ext cx="73152" cy="73152"/>
            </a:xfrm>
            <a:prstGeom prst="ellipse">
              <a:avLst/>
            </a:prstGeom>
            <a:solidFill>
              <a:srgbClr val="CFC3AA"/>
            </a:solidFill>
            <a:ln>
              <a:noFill/>
            </a:ln>
          </p:spPr>
          <p:txBody>
            <a:bodyPr rtlCol="0" anchor="ctr"/>
            <a:lstStyle/>
            <a:p>
              <a:pPr algn="ctr"/>
            </a:p>
          </p:txBody>
        </p:sp>
        <p:sp>
          <p:nvSpPr>
            <p:cNvPr id="33" name="Oval 32"/>
            <p:cNvSpPr/>
            <p:nvPr/>
          </p:nvSpPr>
          <p:spPr>
            <a:xfrm>
              <a:off x="7141464" y="1197864"/>
              <a:ext cx="73152" cy="73152"/>
            </a:xfrm>
            <a:prstGeom prst="ellipse">
              <a:avLst/>
            </a:prstGeom>
            <a:solidFill>
              <a:srgbClr val="CFC3AA"/>
            </a:solidFill>
            <a:ln>
              <a:noFill/>
            </a:ln>
          </p:spPr>
          <p:txBody>
            <a:bodyPr rtlCol="0" anchor="ctr"/>
            <a:lstStyle/>
            <a:p>
              <a:pPr algn="ctr"/>
            </a:p>
          </p:txBody>
        </p:sp>
        <p:sp>
          <p:nvSpPr>
            <p:cNvPr id="34" name="Rounded Rectangle 33"/>
            <p:cNvSpPr/>
            <p:nvPr/>
          </p:nvSpPr>
          <p:spPr>
            <a:xfrm>
              <a:off x="8517636" y="1156716"/>
              <a:ext cx="2395728" cy="155448"/>
            </a:xfrm>
            <a:prstGeom prst="roundRect">
              <a:avLst>
                <a:gd name="adj" fmla="val 50000"/>
              </a:avLst>
            </a:prstGeom>
            <a:solidFill>
              <a:srgbClr val="EFE8D9"/>
            </a:solidFill>
            <a:ln>
              <a:noFill/>
            </a:ln>
          </p:spPr>
          <p:txBody>
            <a:bodyPr rtlCol="0" anchor="ctr"/>
            <a:lstStyle/>
            <a:p>
              <a:pPr algn="ctr"/>
            </a:p>
          </p:txBody>
        </p:sp>
        <p:sp>
          <p:nvSpPr>
            <p:cNvPr id="35" name="TextBox 34"/>
            <p:cNvSpPr txBox="1"/>
            <p:nvPr/>
          </p:nvSpPr>
          <p:spPr>
            <a:xfrm>
              <a:off x="8517636" y="1156716"/>
              <a:ext cx="2395728"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36" name="Rectangle 35"/>
            <p:cNvSpPr/>
            <p:nvPr/>
          </p:nvSpPr>
          <p:spPr>
            <a:xfrm>
              <a:off x="6729984" y="1362456"/>
              <a:ext cx="5971032" cy="7315"/>
            </a:xfrm>
            <a:prstGeom prst="rect">
              <a:avLst/>
            </a:prstGeom>
            <a:solidFill>
              <a:srgbClr val="E2D9C6"/>
            </a:solidFill>
            <a:ln>
              <a:noFill/>
            </a:ln>
          </p:spPr>
          <p:txBody>
            <a:bodyPr rtlCol="0" anchor="ctr"/>
            <a:lstStyle/>
            <a:p>
              <a:pPr algn="ctr"/>
            </a:p>
          </p:txBody>
        </p:sp>
        <p:pic>
          <p:nvPicPr>
            <p:cNvPr id="37" name="Picture 36" descr="exchange-liar.png"/>
            <p:cNvPicPr>
              <a:picLocks noChangeAspect="1"/>
            </p:cNvPicPr>
            <p:nvPr/>
          </p:nvPicPr>
          <p:blipFill>
            <a:blip r:embed="rId2"/>
            <a:srcRect r="34000" b="34000"/>
            <a:stretch>
              <a:fillRect/>
            </a:stretch>
          </p:blipFill>
          <p:spPr>
            <a:xfrm>
              <a:off x="6729984" y="1371600"/>
              <a:ext cx="5971032" cy="3358706"/>
            </a:xfrm>
            <a:prstGeom prst="roundRect">
              <a:avLst>
                <a:gd name="adj" fmla="val 1361"/>
              </a:avLst>
            </a:prstGeom>
          </p:spPr>
        </p:pic>
      </p:grpSp>
      <p:grpSp>
        <p:nvGrpSpPr>
          <p:cNvPr id="38" name="Group 37"/>
          <p:cNvGrpSpPr/>
          <p:nvPr/>
        </p:nvGrpSpPr>
        <p:grpSpPr>
          <a:xfrm>
            <a:off x="6172200" y="4389120"/>
            <a:ext cx="4709160" cy="1353312"/>
            <a:chOff x="6172200" y="4389120"/>
            <a:chExt cx="4709160" cy="1353312"/>
          </a:xfrm>
        </p:grpSpPr>
        <p:sp>
          <p:nvSpPr>
            <p:cNvPr id="39" name="Rounded Rectangle 38"/>
            <p:cNvSpPr/>
            <p:nvPr/>
          </p:nvSpPr>
          <p:spPr>
            <a:xfrm>
              <a:off x="6172200" y="4389120"/>
              <a:ext cx="4709160" cy="1353312"/>
            </a:xfrm>
            <a:prstGeom prst="roundRect">
              <a:avLst>
                <a:gd name="adj" fmla="val 405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40" name="Rectangle 39"/>
            <p:cNvSpPr/>
            <p:nvPr/>
          </p:nvSpPr>
          <p:spPr>
            <a:xfrm>
              <a:off x="6172200" y="4389120"/>
              <a:ext cx="54864" cy="1353312"/>
            </a:xfrm>
            <a:prstGeom prst="rect">
              <a:avLst/>
            </a:prstGeom>
            <a:solidFill>
              <a:srgbClr val="8E2A22"/>
            </a:solidFill>
            <a:ln>
              <a:noFill/>
            </a:ln>
          </p:spPr>
          <p:txBody>
            <a:bodyPr rtlCol="0" anchor="ctr"/>
            <a:lstStyle/>
            <a:p>
              <a:pPr algn="ctr"/>
            </a:p>
          </p:txBody>
        </p:sp>
        <p:sp>
          <p:nvSpPr>
            <p:cNvPr id="41" name="TextBox 40"/>
            <p:cNvSpPr txBox="1"/>
            <p:nvPr/>
          </p:nvSpPr>
          <p:spPr>
            <a:xfrm>
              <a:off x="6400800" y="4507992"/>
              <a:ext cx="3291840" cy="292608"/>
            </a:xfrm>
            <a:prstGeom prst="rect">
              <a:avLst/>
            </a:prstGeom>
            <a:noFill/>
          </p:spPr>
          <p:txBody>
            <a:bodyPr wrap="square" lIns="0" rIns="0" tIns="0" bIns="0" anchor="ctr">
              <a:noAutofit/>
            </a:bodyPr>
            <a:lstStyle/>
            <a:p>
              <a:pPr algn="l"/>
              <a:r>
                <a:rPr sz="1500" b="0" i="0">
                  <a:solidFill>
                    <a:srgbClr val="16130E"/>
                  </a:solidFill>
                  <a:latin typeface="Georgia" panose="02040502050405020303" pitchFamily="18" charset="0"/>
                </a:rPr>
                <a:t>Bid withdrawn · DealDrop Direct</a:t>
              </a:r>
            </a:p>
          </p:txBody>
        </p:sp>
        <p:sp>
          <p:nvSpPr>
            <p:cNvPr id="42" name="TextBox 41"/>
            <p:cNvSpPr txBox="1"/>
            <p:nvPr/>
          </p:nvSpPr>
          <p:spPr>
            <a:xfrm>
              <a:off x="6400800" y="4828032"/>
              <a:ext cx="4297680" cy="438912"/>
            </a:xfrm>
            <a:prstGeom prst="rect">
              <a:avLst/>
            </a:prstGeom>
            <a:noFill/>
          </p:spPr>
          <p:txBody>
            <a:bodyPr wrap="square" lIns="0" rIns="0" tIns="0" bIns="0" anchor="t">
              <a:noAutofit/>
            </a:bodyPr>
            <a:lstStyle/>
            <a:p>
              <a:pPr algn="l">
                <a:lnSpc>
                  <a:spcPct val="105000"/>
                </a:lnSpc>
              </a:pPr>
              <a:r>
                <a:rPr sz="1050" b="0" i="0">
                  <a:solidFill>
                    <a:srgbClr val="6E6658"/>
                  </a:solidFill>
                  <a:latin typeface="Inter" panose="020B0502030000000004" pitchFamily="34" charset="0"/>
                </a:rPr>
                <a:t>Claimed $34.99 delivered · the checkout says $63.99 (+$29.00 “Service &amp; handling fee”)</a:t>
              </a:r>
            </a:p>
          </p:txBody>
        </p:sp>
        <p:sp>
          <p:nvSpPr>
            <p:cNvPr id="43" name="TextBox 42"/>
            <p:cNvSpPr txBox="1"/>
            <p:nvPr/>
          </p:nvSpPr>
          <p:spPr>
            <a:xfrm>
              <a:off x="6400800" y="5358384"/>
              <a:ext cx="4297680" cy="274320"/>
            </a:xfrm>
            <a:prstGeom prst="rect">
              <a:avLst/>
            </a:prstGeom>
            <a:noFill/>
          </p:spPr>
          <p:txBody>
            <a:bodyPr wrap="square" lIns="0" rIns="0" tIns="0" bIns="0" anchor="t">
              <a:noAutofit/>
            </a:bodyPr>
            <a:lstStyle/>
            <a:p>
              <a:pPr algn="l"/>
              <a:r>
                <a:rPr sz="850" b="0" i="0">
                  <a:solidFill>
                    <a:srgbClr val="9C937F"/>
                  </a:solidFill>
                  <a:latin typeface="Inter" panose="020B0502030000000004" pitchFamily="34" charset="0"/>
                </a:rPr>
                <a:t>Live run: a headless Claude Code agent over MCP saw this and bought the No. 1 verified offer.</a:t>
              </a:r>
            </a:p>
          </p:txBody>
        </p:sp>
        <p:sp>
          <p:nvSpPr>
            <p:cNvPr id="44" name="Rounded Rectangle 43"/>
            <p:cNvSpPr/>
            <p:nvPr/>
          </p:nvSpPr>
          <p:spPr>
            <a:xfrm rot="21420000">
              <a:off x="9692640" y="4507992"/>
              <a:ext cx="1024128" cy="274320"/>
            </a:xfrm>
            <a:prstGeom prst="roundRect">
              <a:avLst>
                <a:gd name="adj" fmla="val 13333"/>
              </a:avLst>
            </a:prstGeom>
            <a:solidFill>
              <a:srgbClr val="F6E3DF"/>
            </a:solidFill>
            <a:ln w="12700">
              <a:solidFill>
                <a:srgbClr val="8E2A22"/>
              </a:solidFill>
            </a:ln>
          </p:spPr>
          <p:txBody>
            <a:bodyPr rtlCol="0" anchor="ctr"/>
            <a:lstStyle/>
            <a:p>
              <a:pPr algn="ctr"/>
            </a:p>
          </p:txBody>
        </p:sp>
        <p:sp>
          <p:nvSpPr>
            <p:cNvPr id="45" name="TextBox 44"/>
            <p:cNvSpPr txBox="1"/>
            <p:nvPr/>
          </p:nvSpPr>
          <p:spPr>
            <a:xfrm rot="21420000">
              <a:off x="9692640" y="4507992"/>
              <a:ext cx="1024128" cy="274320"/>
            </a:xfrm>
            <a:prstGeom prst="rect">
              <a:avLst/>
            </a:prstGeom>
            <a:noFill/>
          </p:spPr>
          <p:txBody>
            <a:bodyPr wrap="square" lIns="0" rIns="0" tIns="0" bIns="0" anchor="ctr">
              <a:noAutofit/>
            </a:bodyPr>
            <a:lstStyle/>
            <a:p>
              <a:pPr algn="ctr"/>
              <a:r>
                <a:rPr sz="900" b="1" i="0" spc="100">
                  <a:solidFill>
                    <a:srgbClr val="8E2A22"/>
                  </a:solidFill>
                  <a:latin typeface="Inter" panose="020B0502030000000004" pitchFamily="34" charset="0"/>
                </a:rPr>
                <a:t>WITHDRAWN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650"/>
                                        <p:tgtEl>
                                          <p:spTgt spid="13"/>
                                        </p:tgtEl>
                                      </p:cBhvr>
                                    </p:animEffect>
                                    <p:anim calcmode="lin" valueType="num">
                                      <p:cBhvr additive="base">
                                        <p:cTn id="1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3"/>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600"/>
                                        <p:tgtEl>
                                          <p:spTgt spid="14"/>
                                        </p:tgtEl>
                                      </p:cBhvr>
                                    </p:animEffect>
                                    <p:anim calcmode="lin" valueType="num">
                                      <p:cBhvr additive="base">
                                        <p:cTn id="21"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4"/>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600"/>
                                        <p:tgtEl>
                                          <p:spTgt spid="15"/>
                                        </p:tgtEl>
                                      </p:cBhvr>
                                    </p:animEffect>
                                    <p:anim calcmode="lin" valueType="num">
                                      <p:cBhvr additive="base">
                                        <p:cTn id="2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5"/>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anim calcmode="lin" valueType="num">
                                      <p:cBhvr additive="base">
                                        <p:cTn id="31"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6"/>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anim calcmode="lin" valueType="num">
                                      <p:cBhvr additive="base">
                                        <p:cTn id="36"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9"/>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50"/>
                                        <p:tgtEl>
                                          <p:spTgt spid="22"/>
                                        </p:tgtEl>
                                      </p:cBhvr>
                                    </p:animEffect>
                                    <p:anim calcmode="lin" valueType="num">
                                      <p:cBhvr additive="base">
                                        <p:cTn id="4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22"/>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anim calcmode="lin" valueType="num">
                                      <p:cBhvr additive="base">
                                        <p:cTn id="46"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5"/>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800"/>
                                        <p:tgtEl>
                                          <p:spTgt spid="29"/>
                                        </p:tgtEl>
                                      </p:cBhvr>
                                    </p:animEffect>
                                    <p:anim calcmode="lin" valueType="num">
                                      <p:cBhvr additive="base">
                                        <p:cTn id="54" dur="800" fill="hold" decel="100000"/>
                                        <p:tgtEl>
                                          <p:spTgt spid="29"/>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9"/>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210"/>
                                        <p:tgtEl>
                                          <p:spTgt spid="38"/>
                                        </p:tgtEl>
                                      </p:cBhvr>
                                    </p:animEffect>
                                    <p:anim calcmode="lin" valueType="num">
                                      <p:cBhvr additive="base">
                                        <p:cTn id="59" dur="350" fill="hold" decel="100000"/>
                                        <p:tgtEl>
                                          <p:spTgt spid="3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3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02  ·  THE PROBLEM</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243833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960120"/>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Agents can shop now. </a:t>
            </a:r>
            <a:r>
              <a:rPr sz="3600" b="0" i="1" spc="-40">
                <a:solidFill>
                  <a:srgbClr val="6E6658"/>
                </a:solidFill>
                <a:latin typeface="Georgia" panose="02040502050405020303" pitchFamily="18" charset="0"/>
              </a:rPr>
              <a:t>The web was built to manipulate humans.</a:t>
            </a:r>
          </a:p>
        </p:txBody>
      </p:sp>
      <p:sp>
        <p:nvSpPr>
          <p:cNvPr id="17" name="TextBox 16"/>
          <p:cNvSpPr txBox="1"/>
          <p:nvPr/>
        </p:nvSpPr>
        <p:spPr>
          <a:xfrm>
            <a:off x="685800" y="2157984"/>
            <a:ext cx="6400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THE WEB DOES TO SHOPPERS</a:t>
            </a:r>
          </a:p>
        </p:txBody>
      </p:sp>
      <p:grpSp>
        <p:nvGrpSpPr>
          <p:cNvPr id="18" name="Group 17"/>
          <p:cNvGrpSpPr/>
          <p:nvPr/>
        </p:nvGrpSpPr>
        <p:grpSpPr>
          <a:xfrm>
            <a:off x="685800" y="2450592"/>
            <a:ext cx="3218688" cy="1499616"/>
            <a:chOff x="685800" y="2450592"/>
            <a:chExt cx="3218688" cy="1499616"/>
          </a:xfrm>
        </p:grpSpPr>
        <p:sp>
          <p:nvSpPr>
            <p:cNvPr id="19" name="Rounded Rectangle 18"/>
            <p:cNvSpPr/>
            <p:nvPr/>
          </p:nvSpPr>
          <p:spPr>
            <a:xfrm>
              <a:off x="685800"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0" name="Rounded Rectangle 19"/>
            <p:cNvSpPr/>
            <p:nvPr/>
          </p:nvSpPr>
          <p:spPr>
            <a:xfrm>
              <a:off x="914400" y="2670048"/>
              <a:ext cx="530352" cy="365760"/>
            </a:xfrm>
            <a:prstGeom prst="roundRect">
              <a:avLst>
                <a:gd name="adj" fmla="val 12500"/>
              </a:avLst>
            </a:prstGeom>
            <a:solidFill>
              <a:srgbClr val="F6E3DF"/>
            </a:solidFill>
            <a:ln>
              <a:noFill/>
            </a:ln>
          </p:spPr>
          <p:txBody>
            <a:bodyPr rtlCol="0" anchor="ctr"/>
            <a:lstStyle/>
            <a:p>
              <a:pPr algn="ctr"/>
            </a:p>
          </p:txBody>
        </p:sp>
        <p:sp>
          <p:nvSpPr>
            <p:cNvPr id="21" name="TextBox 20"/>
            <p:cNvSpPr txBox="1"/>
            <p:nvPr/>
          </p:nvSpPr>
          <p:spPr>
            <a:xfrm>
              <a:off x="914400"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Ad</a:t>
              </a:r>
            </a:p>
          </p:txBody>
        </p:sp>
        <p:sp>
          <p:nvSpPr>
            <p:cNvPr id="22" name="TextBox 21"/>
            <p:cNvSpPr txBox="1"/>
            <p:nvPr/>
          </p:nvSpPr>
          <p:spPr>
            <a:xfrm>
              <a:off x="914400"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Sponsored slots &amp; SEO</a:t>
              </a:r>
            </a:p>
          </p:txBody>
        </p:sp>
        <p:sp>
          <p:nvSpPr>
            <p:cNvPr id="23" name="TextBox 22"/>
            <p:cNvSpPr txBox="1"/>
            <p:nvPr/>
          </p:nvSpPr>
          <p:spPr>
            <a:xfrm>
              <a:off x="914400"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Placement goes to whoever pays, or games, the most.</a:t>
              </a:r>
            </a:p>
          </p:txBody>
        </p:sp>
      </p:grpSp>
      <p:grpSp>
        <p:nvGrpSpPr>
          <p:cNvPr id="24" name="Group 23"/>
          <p:cNvGrpSpPr/>
          <p:nvPr/>
        </p:nvGrpSpPr>
        <p:grpSpPr>
          <a:xfrm>
            <a:off x="4087368" y="2450592"/>
            <a:ext cx="3218688" cy="1499616"/>
            <a:chOff x="4087368" y="2450592"/>
            <a:chExt cx="3218688" cy="1499616"/>
          </a:xfrm>
        </p:grpSpPr>
        <p:sp>
          <p:nvSpPr>
            <p:cNvPr id="25" name="Rounded Rectangle 24"/>
            <p:cNvSpPr/>
            <p:nvPr/>
          </p:nvSpPr>
          <p:spPr>
            <a:xfrm>
              <a:off x="4087368"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6" name="Rounded Rectangle 25"/>
            <p:cNvSpPr/>
            <p:nvPr/>
          </p:nvSpPr>
          <p:spPr>
            <a:xfrm>
              <a:off x="4315968" y="2670048"/>
              <a:ext cx="658368" cy="365760"/>
            </a:xfrm>
            <a:prstGeom prst="roundRect">
              <a:avLst>
                <a:gd name="adj" fmla="val 12500"/>
              </a:avLst>
            </a:prstGeom>
            <a:solidFill>
              <a:srgbClr val="F6E3DF"/>
            </a:solidFill>
            <a:ln>
              <a:noFill/>
            </a:ln>
          </p:spPr>
          <p:txBody>
            <a:bodyPr rtlCol="0" anchor="ctr"/>
            <a:lstStyle/>
            <a:p>
              <a:pPr algn="ctr"/>
            </a:p>
          </p:txBody>
        </p:sp>
        <p:sp>
          <p:nvSpPr>
            <p:cNvPr id="27" name="TextBox 26"/>
            <p:cNvSpPr txBox="1"/>
            <p:nvPr/>
          </p:nvSpPr>
          <p:spPr>
            <a:xfrm>
              <a:off x="4315968" y="267004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+$29</a:t>
              </a:r>
            </a:p>
          </p:txBody>
        </p:sp>
        <p:sp>
          <p:nvSpPr>
            <p:cNvPr id="28" name="TextBox 27"/>
            <p:cNvSpPr txBox="1"/>
            <p:nvPr/>
          </p:nvSpPr>
          <p:spPr>
            <a:xfrm>
              <a:off x="4315968"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Drip pricing</a:t>
              </a:r>
            </a:p>
          </p:txBody>
        </p:sp>
        <p:sp>
          <p:nvSpPr>
            <p:cNvPr id="29" name="TextBox 28"/>
            <p:cNvSpPr txBox="1"/>
            <p:nvPr/>
          </p:nvSpPr>
          <p:spPr>
            <a:xfrm>
              <a:off x="4315968"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$34.99 on the page. $63.99 at checkout.</a:t>
              </a:r>
            </a:p>
          </p:txBody>
        </p:sp>
      </p:grpSp>
      <p:grpSp>
        <p:nvGrpSpPr>
          <p:cNvPr id="30" name="Group 29"/>
          <p:cNvGrpSpPr/>
          <p:nvPr/>
        </p:nvGrpSpPr>
        <p:grpSpPr>
          <a:xfrm>
            <a:off x="685800" y="4096512"/>
            <a:ext cx="3218688" cy="1499616"/>
            <a:chOff x="685800" y="4096512"/>
            <a:chExt cx="3218688" cy="1499616"/>
          </a:xfrm>
        </p:grpSpPr>
        <p:sp>
          <p:nvSpPr>
            <p:cNvPr id="31" name="Rounded Rectangle 30"/>
            <p:cNvSpPr/>
            <p:nvPr/>
          </p:nvSpPr>
          <p:spPr>
            <a:xfrm>
              <a:off x="685800"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2" name="Rounded Rectangle 31"/>
            <p:cNvSpPr/>
            <p:nvPr/>
          </p:nvSpPr>
          <p:spPr>
            <a:xfrm>
              <a:off x="914400" y="4315968"/>
              <a:ext cx="658368" cy="365760"/>
            </a:xfrm>
            <a:prstGeom prst="roundRect">
              <a:avLst>
                <a:gd name="adj" fmla="val 12500"/>
              </a:avLst>
            </a:prstGeom>
            <a:solidFill>
              <a:srgbClr val="F6E3DF"/>
            </a:solidFill>
            <a:ln>
              <a:noFill/>
            </a:ln>
          </p:spPr>
          <p:txBody>
            <a:bodyPr rtlCol="0" anchor="ctr"/>
            <a:lstStyle/>
            <a:p>
              <a:pPr algn="ctr"/>
            </a:p>
          </p:txBody>
        </p:sp>
        <p:sp>
          <p:nvSpPr>
            <p:cNvPr id="33" name="TextBox 32"/>
            <p:cNvSpPr txBox="1"/>
            <p:nvPr/>
          </p:nvSpPr>
          <p:spPr>
            <a:xfrm>
              <a:off x="914400"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ANC?</a:t>
              </a:r>
            </a:p>
          </p:txBody>
        </p:sp>
        <p:sp>
          <p:nvSpPr>
            <p:cNvPr id="34" name="TextBox 33"/>
            <p:cNvSpPr txBox="1"/>
            <p:nvPr/>
          </p:nvSpPr>
          <p:spPr>
            <a:xfrm>
              <a:off x="914400"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Fake specs</a:t>
              </a:r>
            </a:p>
          </p:txBody>
        </p:sp>
        <p:sp>
          <p:nvSpPr>
            <p:cNvPr id="35" name="TextBox 34"/>
            <p:cNvSpPr txBox="1"/>
            <p:nvPr/>
          </p:nvSpPr>
          <p:spPr>
            <a:xfrm>
              <a:off x="914400"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“Noise cancelling” on headphones that don't have it.</a:t>
              </a:r>
            </a:p>
          </p:txBody>
        </p:sp>
      </p:grpSp>
      <p:grpSp>
        <p:nvGrpSpPr>
          <p:cNvPr id="36" name="Group 35"/>
          <p:cNvGrpSpPr/>
          <p:nvPr/>
        </p:nvGrpSpPr>
        <p:grpSpPr>
          <a:xfrm>
            <a:off x="4087368" y="4096512"/>
            <a:ext cx="3218688" cy="1499616"/>
            <a:chOff x="4087368" y="4096512"/>
            <a:chExt cx="3218688" cy="1499616"/>
          </a:xfrm>
        </p:grpSpPr>
        <p:sp>
          <p:nvSpPr>
            <p:cNvPr id="37" name="Rounded Rectangle 36"/>
            <p:cNvSpPr/>
            <p:nvPr/>
          </p:nvSpPr>
          <p:spPr>
            <a:xfrm>
              <a:off x="4087368"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8" name="Rounded Rectangle 37"/>
            <p:cNvSpPr/>
            <p:nvPr/>
          </p:nvSpPr>
          <p:spPr>
            <a:xfrm>
              <a:off x="4315968" y="4315968"/>
              <a:ext cx="658368" cy="365760"/>
            </a:xfrm>
            <a:prstGeom prst="roundRect">
              <a:avLst>
                <a:gd name="adj" fmla="val 12500"/>
              </a:avLst>
            </a:prstGeom>
            <a:solidFill>
              <a:srgbClr val="F6E3DF"/>
            </a:solidFill>
            <a:ln>
              <a:noFill/>
            </a:ln>
          </p:spPr>
          <p:txBody>
            <a:bodyPr rtlCol="0" anchor="ctr"/>
            <a:lstStyle/>
            <a:p>
              <a:pPr algn="ctr"/>
            </a:p>
          </p:txBody>
        </p:sp>
        <p:sp>
          <p:nvSpPr>
            <p:cNvPr id="39" name="TextBox 38"/>
            <p:cNvSpPr txBox="1"/>
            <p:nvPr/>
          </p:nvSpPr>
          <p:spPr>
            <a:xfrm>
              <a:off x="4315968"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SYS:</a:t>
              </a:r>
            </a:p>
          </p:txBody>
        </p:sp>
        <p:sp>
          <p:nvSpPr>
            <p:cNvPr id="40" name="TextBox 39"/>
            <p:cNvSpPr txBox="1"/>
            <p:nvPr/>
          </p:nvSpPr>
          <p:spPr>
            <a:xfrm>
              <a:off x="4315968"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Prompt injection</a:t>
              </a:r>
            </a:p>
          </p:txBody>
        </p:sp>
        <p:sp>
          <p:nvSpPr>
            <p:cNvPr id="41" name="TextBox 40"/>
            <p:cNvSpPr txBox="1"/>
            <p:nvPr/>
          </p:nvSpPr>
          <p:spPr>
            <a:xfrm>
              <a:off x="4315968"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“Ignore your previous instructions”, hidden in a product pitch.</a:t>
              </a:r>
            </a:p>
          </p:txBody>
        </p:sp>
      </p:grpSp>
      <p:grpSp>
        <p:nvGrpSpPr>
          <p:cNvPr id="42" name="Group 41"/>
          <p:cNvGrpSpPr/>
          <p:nvPr/>
        </p:nvGrpSpPr>
        <p:grpSpPr>
          <a:xfrm>
            <a:off x="7443216" y="3639312"/>
            <a:ext cx="402336" cy="402336"/>
            <a:chOff x="7443216" y="3639312"/>
            <a:chExt cx="402336" cy="402336"/>
          </a:xfrm>
        </p:grpSpPr>
        <p:sp>
          <p:nvSpPr>
            <p:cNvPr id="43" name="Oval 42"/>
            <p:cNvSpPr/>
            <p:nvPr/>
          </p:nvSpPr>
          <p:spPr>
            <a:xfrm>
              <a:off x="7443216" y="3639312"/>
              <a:ext cx="402336" cy="402336"/>
            </a:xfrm>
            <a:prstGeom prst="ellipse">
              <a:avLst/>
            </a:prstGeom>
            <a:solidFill>
              <a:srgbClr val="FFFDF7"/>
            </a:solidFill>
            <a:ln w="9525">
              <a:solidFill>
                <a:srgbClr val="CFC3AA"/>
              </a:solidFill>
            </a:ln>
          </p:spPr>
          <p:txBody>
            <a:bodyPr rtlCol="0" anchor="ctr"/>
            <a:lstStyle/>
            <a:p>
              <a:pPr algn="ctr"/>
            </a:p>
          </p:txBody>
        </p:sp>
        <p:sp>
          <p:nvSpPr>
            <p:cNvPr id="44" name="TextBox 43"/>
            <p:cNvSpPr txBox="1"/>
            <p:nvPr/>
          </p:nvSpPr>
          <p:spPr>
            <a:xfrm>
              <a:off x="7443216" y="3639312"/>
              <a:ext cx="402336" cy="402336"/>
            </a:xfrm>
            <a:prstGeom prst="rect">
              <a:avLst/>
            </a:prstGeom>
            <a:noFill/>
          </p:spPr>
          <p:txBody>
            <a:bodyPr wrap="square" lIns="0" rIns="0" tIns="0" bIns="0" anchor="ctr">
              <a:noAutofit/>
            </a:bodyPr>
            <a:lstStyle/>
            <a:p>
              <a:pPr algn="ctr"/>
              <a:r>
                <a:rPr sz="1500" b="0" i="0">
                  <a:solidFill>
                    <a:srgbClr val="6E6658"/>
                  </a:solidFill>
                  <a:latin typeface="Inter" panose="020B0502030000000004" pitchFamily="34" charset="0"/>
                </a:rPr>
                <a:t>→</a:t>
              </a:r>
            </a:p>
          </p:txBody>
        </p:sp>
      </p:grpSp>
      <p:sp>
        <p:nvSpPr>
          <p:cNvPr id="45" name="TextBox 44"/>
          <p:cNvSpPr txBox="1"/>
          <p:nvPr/>
        </p:nvSpPr>
        <p:spPr>
          <a:xfrm>
            <a:off x="8092440" y="2157984"/>
            <a:ext cx="34747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BREAKS</a:t>
            </a:r>
          </a:p>
        </p:txBody>
      </p:sp>
      <p:grpSp>
        <p:nvGrpSpPr>
          <p:cNvPr id="46" name="Group 45"/>
          <p:cNvGrpSpPr/>
          <p:nvPr/>
        </p:nvGrpSpPr>
        <p:grpSpPr>
          <a:xfrm>
            <a:off x="8092440" y="2450592"/>
            <a:ext cx="3410712" cy="1499616"/>
            <a:chOff x="8092440" y="2450592"/>
            <a:chExt cx="3410712" cy="1499616"/>
          </a:xfrm>
        </p:grpSpPr>
        <p:sp>
          <p:nvSpPr>
            <p:cNvPr id="47" name="Rounded Rectangle 46"/>
            <p:cNvSpPr/>
            <p:nvPr/>
          </p:nvSpPr>
          <p:spPr>
            <a:xfrm>
              <a:off x="8092440" y="245059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48" name="Rectangle 47"/>
            <p:cNvSpPr/>
            <p:nvPr/>
          </p:nvSpPr>
          <p:spPr>
            <a:xfrm>
              <a:off x="8092440" y="2450592"/>
              <a:ext cx="41148" cy="1499616"/>
            </a:xfrm>
            <a:prstGeom prst="rect">
              <a:avLst/>
            </a:prstGeom>
            <a:solidFill>
              <a:srgbClr val="233F6E"/>
            </a:solidFill>
            <a:ln>
              <a:noFill/>
            </a:ln>
          </p:spPr>
          <p:txBody>
            <a:bodyPr rtlCol="0" anchor="ctr"/>
            <a:lstStyle/>
            <a:p>
              <a:pPr algn="ctr"/>
            </a:p>
          </p:txBody>
        </p:sp>
        <p:sp>
          <p:nvSpPr>
            <p:cNvPr id="49" name="TextBox 48"/>
            <p:cNvSpPr txBox="1"/>
            <p:nvPr/>
          </p:nvSpPr>
          <p:spPr>
            <a:xfrm>
              <a:off x="8339328" y="267004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Agents get gamed</a:t>
              </a:r>
            </a:p>
          </p:txBody>
        </p:sp>
        <p:sp>
          <p:nvSpPr>
            <p:cNvPr id="50" name="TextBox 49"/>
            <p:cNvSpPr txBox="1"/>
            <p:nvPr/>
          </p:nvSpPr>
          <p:spPr>
            <a:xfrm>
              <a:off x="8339328" y="307238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They read the same pages and trust the same claims. Nobody checks the checkout.</a:t>
              </a:r>
            </a:p>
          </p:txBody>
        </p:sp>
      </p:grpSp>
      <p:grpSp>
        <p:nvGrpSpPr>
          <p:cNvPr id="51" name="Group 50"/>
          <p:cNvGrpSpPr/>
          <p:nvPr/>
        </p:nvGrpSpPr>
        <p:grpSpPr>
          <a:xfrm>
            <a:off x="8092440" y="4096512"/>
            <a:ext cx="3410712" cy="1499616"/>
            <a:chOff x="8092440" y="4096512"/>
            <a:chExt cx="3410712" cy="1499616"/>
          </a:xfrm>
        </p:grpSpPr>
        <p:sp>
          <p:nvSpPr>
            <p:cNvPr id="52" name="Rounded Rectangle 51"/>
            <p:cNvSpPr/>
            <p:nvPr/>
          </p:nvSpPr>
          <p:spPr>
            <a:xfrm>
              <a:off x="8092440" y="409651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53" name="Rectangle 52"/>
            <p:cNvSpPr/>
            <p:nvPr/>
          </p:nvSpPr>
          <p:spPr>
            <a:xfrm>
              <a:off x="8092440" y="4096512"/>
              <a:ext cx="41148" cy="1499616"/>
            </a:xfrm>
            <a:prstGeom prst="rect">
              <a:avLst/>
            </a:prstGeom>
            <a:solidFill>
              <a:srgbClr val="94641F"/>
            </a:solidFill>
            <a:ln>
              <a:noFill/>
            </a:ln>
          </p:spPr>
          <p:txBody>
            <a:bodyPr rtlCol="0" anchor="ctr"/>
            <a:lstStyle/>
            <a:p>
              <a:pPr algn="ctr"/>
            </a:p>
          </p:txBody>
        </p:sp>
        <p:sp>
          <p:nvSpPr>
            <p:cNvPr id="54" name="TextBox 53"/>
            <p:cNvSpPr txBox="1"/>
            <p:nvPr/>
          </p:nvSpPr>
          <p:spPr>
            <a:xfrm>
              <a:off x="8339328" y="431596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Merchants can't reach agents</a:t>
              </a:r>
            </a:p>
          </p:txBody>
        </p:sp>
        <p:sp>
          <p:nvSpPr>
            <p:cNvPr id="55" name="TextBox 54"/>
            <p:cNvSpPr txBox="1"/>
            <p:nvPr/>
          </p:nvSpPr>
          <p:spPr>
            <a:xfrm>
              <a:off x="8339328" y="471830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There's no ad slot inside a tool call. Banners and SEO never reach a shopping agent.</a:t>
              </a:r>
            </a:p>
          </p:txBody>
        </p:sp>
      </p:grpSp>
      <p:sp>
        <p:nvSpPr>
          <p:cNvPr id="56" name="TextBox 55"/>
          <p:cNvSpPr txBox="1"/>
          <p:nvPr/>
        </p:nvSpPr>
        <p:spPr>
          <a:xfrm>
            <a:off x="685800" y="5833872"/>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Agents need offers they can </a:t>
            </a:r>
            <a:r>
              <a:rPr sz="1700" b="1" i="0">
                <a:solidFill>
                  <a:srgbClr val="16130E"/>
                </a:solidFill>
                <a:latin typeface="Inter" panose="020B0502030000000004" pitchFamily="34" charset="0"/>
              </a:rPr>
              <a:t>verify</a:t>
            </a:r>
            <a:r>
              <a:rPr sz="1700" b="0" i="0">
                <a:solidFill>
                  <a:srgbClr val="6E6658"/>
                </a:solidFill>
                <a:latin typeface="Inter" panose="020B0502030000000004" pitchFamily="34" charset="0"/>
              </a:rPr>
              <a:t>. Merchants need a way to </a:t>
            </a:r>
            <a:r>
              <a:rPr sz="1700" b="1" i="0">
                <a:solidFill>
                  <a:srgbClr val="16130E"/>
                </a:solidFill>
                <a:latin typeface="Inter" panose="020B0502030000000004" pitchFamily="34" charset="0"/>
              </a:rPr>
              <a:t>compete</a:t>
            </a:r>
            <a:r>
              <a:rPr sz="1700" b="0" i="0">
                <a:solidFill>
                  <a:srgbClr val="6E6658"/>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anim calcmode="lin" valueType="num">
                                      <p:cBhvr additive="base">
                                        <p:cTn id="24" dur="500" fill="hold" decel="100000"/>
                                        <p:tgtEl>
                                          <p:spTgt spid="24"/>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4"/>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additive="base">
                                        <p:cTn id="29" dur="500" fill="hold" decel="100000"/>
                                        <p:tgtEl>
                                          <p:spTgt spid="30"/>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30"/>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500"/>
                                        <p:tgtEl>
                                          <p:spTgt spid="36"/>
                                        </p:tgtEl>
                                      </p:cBhvr>
                                    </p:animEffect>
                                    <p:anim calcmode="lin" valueType="num">
                                      <p:cBhvr additive="base">
                                        <p:cTn id="34" dur="500" fill="hold" decel="100000"/>
                                        <p:tgtEl>
                                          <p:spTgt spid="36"/>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6"/>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210"/>
                                        <p:tgtEl>
                                          <p:spTgt spid="42"/>
                                        </p:tgtEl>
                                      </p:cBhvr>
                                    </p:animEffect>
                                    <p:anim calcmode="lin" valueType="num">
                                      <p:cBhvr additive="base">
                                        <p:cTn id="39" dur="350" fill="hold" decel="100000"/>
                                        <p:tgtEl>
                                          <p:spTgt spid="42"/>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42"/>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400"/>
                                        <p:tgtEl>
                                          <p:spTgt spid="45"/>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51"/>
                                        </p:tgtEl>
                                        <p:attrNameLst>
                                          <p:attrName>style.visibility</p:attrName>
                                        </p:attrNameLst>
                                      </p:cBhvr>
                                      <p:to>
                                        <p:strVal val="visible"/>
                                      </p:to>
                                    </p:set>
                                    <p:animEffect transition="in" filter="fade">
                                      <p:cBhvr>
                                        <p:cTn id="51" dur="500"/>
                                        <p:tgtEl>
                                          <p:spTgt spid="51"/>
                                        </p:tgtEl>
                                      </p:cBhvr>
                                    </p:animEffect>
                                    <p:anim calcmode="lin" valueType="num">
                                      <p:cBhvr additive="base">
                                        <p:cTn id="52" dur="500" fill="hold" decel="100000"/>
                                        <p:tgtEl>
                                          <p:spTgt spid="51"/>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51"/>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600"/>
                                        <p:tgtEl>
                                          <p:spTgt spid="56"/>
                                        </p:tgtEl>
                                      </p:cBhvr>
                                    </p:animEffect>
                                    <p:anim calcmode="lin" valueType="num">
                                      <p:cBhvr additive="base">
                                        <p:cTn id="57" dur="600" fill="hold" decel="100000"/>
                                        <p:tgtEl>
                                          <p:spTgt spid="56"/>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6"/>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5" grpId="0" animBg="1"/>
      <p:bldP spid="5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03  ·  THE INSIGHT</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365750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60120"/>
            <a:ext cx="10835640" cy="914400"/>
          </a:xfrm>
          <a:prstGeom prst="rect">
            <a:avLst/>
          </a:prstGeom>
          <a:noFill/>
        </p:spPr>
        <p:txBody>
          <a:bodyPr wrap="square" lIns="0" rIns="0" tIns="0" bIns="0" anchor="ctr">
            <a:noAutofit/>
          </a:bodyPr>
          <a:lstStyle/>
          <a:p>
            <a:pPr algn="l"/>
            <a:r>
              <a:rPr sz="5800" b="0" i="0" spc="-100">
                <a:solidFill>
                  <a:srgbClr val="16130E"/>
                </a:solidFill>
                <a:latin typeface="Georgia" panose="02040502050405020303" pitchFamily="18" charset="0"/>
              </a:rPr>
              <a:t>For an agent, </a:t>
            </a:r>
            <a:r>
              <a:rPr sz="5800" b="0" i="1" spc="-100">
                <a:solidFill>
                  <a:srgbClr val="B0894F"/>
                </a:solidFill>
                <a:latin typeface="Georgia" panose="02040502050405020303" pitchFamily="18" charset="0"/>
              </a:rPr>
              <a:t>the ad is the offer.</a:t>
            </a:r>
          </a:p>
        </p:txBody>
      </p:sp>
      <p:sp>
        <p:nvSpPr>
          <p:cNvPr id="17" name="TextBox 16"/>
          <p:cNvSpPr txBox="1"/>
          <p:nvPr/>
        </p:nvSpPr>
        <p:spPr>
          <a:xfrm>
            <a:off x="685800" y="1920240"/>
            <a:ext cx="10835640" cy="411480"/>
          </a:xfrm>
          <a:prstGeom prst="rect">
            <a:avLst/>
          </a:prstGeom>
          <a:noFill/>
        </p:spPr>
        <p:txBody>
          <a:bodyPr wrap="square" lIns="0" rIns="0" tIns="0" bIns="0" anchor="t">
            <a:noAutofit/>
          </a:bodyPr>
          <a:lstStyle/>
          <a:p>
            <a:pPr algn="l"/>
            <a:r>
              <a:rPr sz="1900" b="0" i="0">
                <a:solidFill>
                  <a:srgbClr val="6E6658"/>
                </a:solidFill>
                <a:latin typeface="Inter" panose="020B0502030000000004" pitchFamily="34" charset="0"/>
              </a:rPr>
              <a:t>So merchants raise a paddle with claims a machine can check, and we check every one.</a:t>
            </a:r>
          </a:p>
        </p:txBody>
      </p:sp>
      <p:grpSp>
        <p:nvGrpSpPr>
          <p:cNvPr id="18" name="Group 17"/>
          <p:cNvGrpSpPr/>
          <p:nvPr/>
        </p:nvGrpSpPr>
        <p:grpSpPr>
          <a:xfrm>
            <a:off x="685800" y="2578608"/>
            <a:ext cx="3474720" cy="2724912"/>
            <a:chOff x="685800" y="2578608"/>
            <a:chExt cx="3474720" cy="2724912"/>
          </a:xfrm>
        </p:grpSpPr>
        <p:sp>
          <p:nvSpPr>
            <p:cNvPr id="19" name="Rounded Rectangle 18"/>
            <p:cNvSpPr/>
            <p:nvPr/>
          </p:nvSpPr>
          <p:spPr>
            <a:xfrm>
              <a:off x="685800"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41832"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1</a:t>
              </a:r>
            </a:p>
          </p:txBody>
        </p:sp>
        <p:sp>
          <p:nvSpPr>
            <p:cNvPr id="21" name="TextBox 20"/>
            <p:cNvSpPr txBox="1"/>
            <p:nvPr/>
          </p:nvSpPr>
          <p:spPr>
            <a:xfrm>
              <a:off x="941832"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Bid with verifiable claims</a:t>
              </a:r>
            </a:p>
          </p:txBody>
        </p:sp>
        <p:sp>
          <p:nvSpPr>
            <p:cNvPr id="22" name="TextBox 21"/>
            <p:cNvSpPr txBox="1"/>
            <p:nvPr/>
          </p:nvSpPr>
          <p:spPr>
            <a:xfrm>
              <a:off x="941832"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Delivered price, delivery days and features, checked against the merchant's own product page (schema.org JSON-LD) and live checkout.</a:t>
              </a:r>
            </a:p>
          </p:txBody>
        </p:sp>
      </p:grpSp>
      <p:grpSp>
        <p:nvGrpSpPr>
          <p:cNvPr id="23" name="Group 22"/>
          <p:cNvGrpSpPr/>
          <p:nvPr/>
        </p:nvGrpSpPr>
        <p:grpSpPr>
          <a:xfrm>
            <a:off x="941832" y="4754880"/>
            <a:ext cx="728980" cy="292608"/>
            <a:chOff x="941832" y="4754880"/>
            <a:chExt cx="728980" cy="292608"/>
          </a:xfrm>
        </p:grpSpPr>
        <p:sp>
          <p:nvSpPr>
            <p:cNvPr id="24" name="Rounded Rectangle 23"/>
            <p:cNvSpPr/>
            <p:nvPr/>
          </p:nvSpPr>
          <p:spPr>
            <a:xfrm>
              <a:off x="941832" y="4754880"/>
              <a:ext cx="728980" cy="292608"/>
            </a:xfrm>
            <a:prstGeom prst="roundRect">
              <a:avLst>
                <a:gd name="adj" fmla="val 50000"/>
              </a:avLst>
            </a:prstGeom>
            <a:solidFill>
              <a:srgbClr val="E5F0E8"/>
            </a:solidFill>
            <a:ln>
              <a:noFill/>
            </a:ln>
          </p:spPr>
          <p:txBody>
            <a:bodyPr rtlCol="0" anchor="ctr"/>
            <a:lstStyle/>
            <a:p>
              <a:pPr algn="ctr"/>
            </a:p>
          </p:txBody>
        </p:sp>
        <p:sp>
          <p:nvSpPr>
            <p:cNvPr id="25" name="TextBox 24"/>
            <p:cNvSpPr txBox="1"/>
            <p:nvPr/>
          </p:nvSpPr>
          <p:spPr>
            <a:xfrm>
              <a:off x="941832" y="4754880"/>
              <a:ext cx="728980"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Price ✓</a:t>
              </a:r>
            </a:p>
          </p:txBody>
        </p:sp>
      </p:grpSp>
      <p:grpSp>
        <p:nvGrpSpPr>
          <p:cNvPr id="26" name="Group 25"/>
          <p:cNvGrpSpPr/>
          <p:nvPr/>
        </p:nvGrpSpPr>
        <p:grpSpPr>
          <a:xfrm>
            <a:off x="1743964" y="4754880"/>
            <a:ext cx="999236" cy="292608"/>
            <a:chOff x="1743964" y="4754880"/>
            <a:chExt cx="999236" cy="292608"/>
          </a:xfrm>
        </p:grpSpPr>
        <p:sp>
          <p:nvSpPr>
            <p:cNvPr id="27" name="Rounded Rectangle 26"/>
            <p:cNvSpPr/>
            <p:nvPr/>
          </p:nvSpPr>
          <p:spPr>
            <a:xfrm>
              <a:off x="1743964" y="4754880"/>
              <a:ext cx="999236" cy="292608"/>
            </a:xfrm>
            <a:prstGeom prst="roundRect">
              <a:avLst>
                <a:gd name="adj" fmla="val 50000"/>
              </a:avLst>
            </a:prstGeom>
            <a:solidFill>
              <a:srgbClr val="E5F0E8"/>
            </a:solidFill>
            <a:ln>
              <a:noFill/>
            </a:ln>
          </p:spPr>
          <p:txBody>
            <a:bodyPr rtlCol="0" anchor="ctr"/>
            <a:lstStyle/>
            <a:p>
              <a:pPr algn="ctr"/>
            </a:p>
          </p:txBody>
        </p:sp>
        <p:sp>
          <p:nvSpPr>
            <p:cNvPr id="28" name="TextBox 27"/>
            <p:cNvSpPr txBox="1"/>
            <p:nvPr/>
          </p:nvSpPr>
          <p:spPr>
            <a:xfrm>
              <a:off x="1743964" y="4754880"/>
              <a:ext cx="999236"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Ship days ✓</a:t>
              </a:r>
            </a:p>
          </p:txBody>
        </p:sp>
      </p:grpSp>
      <p:grpSp>
        <p:nvGrpSpPr>
          <p:cNvPr id="29" name="Group 28"/>
          <p:cNvGrpSpPr/>
          <p:nvPr/>
        </p:nvGrpSpPr>
        <p:grpSpPr>
          <a:xfrm>
            <a:off x="2816352" y="4754880"/>
            <a:ext cx="931672" cy="292608"/>
            <a:chOff x="2816352" y="4754880"/>
            <a:chExt cx="931672" cy="292608"/>
          </a:xfrm>
        </p:grpSpPr>
        <p:sp>
          <p:nvSpPr>
            <p:cNvPr id="30" name="Rounded Rectangle 29"/>
            <p:cNvSpPr/>
            <p:nvPr/>
          </p:nvSpPr>
          <p:spPr>
            <a:xfrm>
              <a:off x="2816352" y="4754880"/>
              <a:ext cx="931672" cy="292608"/>
            </a:xfrm>
            <a:prstGeom prst="roundRect">
              <a:avLst>
                <a:gd name="adj" fmla="val 50000"/>
              </a:avLst>
            </a:prstGeom>
            <a:solidFill>
              <a:srgbClr val="E5F0E8"/>
            </a:solidFill>
            <a:ln>
              <a:noFill/>
            </a:ln>
          </p:spPr>
          <p:txBody>
            <a:bodyPr rtlCol="0" anchor="ctr"/>
            <a:lstStyle/>
            <a:p>
              <a:pPr algn="ctr"/>
            </a:p>
          </p:txBody>
        </p:sp>
        <p:sp>
          <p:nvSpPr>
            <p:cNvPr id="31" name="TextBox 30"/>
            <p:cNvSpPr txBox="1"/>
            <p:nvPr/>
          </p:nvSpPr>
          <p:spPr>
            <a:xfrm>
              <a:off x="2816352" y="4754880"/>
              <a:ext cx="931672"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Features ✓</a:t>
              </a:r>
            </a:p>
          </p:txBody>
        </p:sp>
      </p:grpSp>
      <p:grpSp>
        <p:nvGrpSpPr>
          <p:cNvPr id="32" name="Group 31"/>
          <p:cNvGrpSpPr/>
          <p:nvPr/>
        </p:nvGrpSpPr>
        <p:grpSpPr>
          <a:xfrm>
            <a:off x="4357116" y="2578608"/>
            <a:ext cx="3474720" cy="2724912"/>
            <a:chOff x="4357116" y="2578608"/>
            <a:chExt cx="3474720" cy="2724912"/>
          </a:xfrm>
        </p:grpSpPr>
        <p:sp>
          <p:nvSpPr>
            <p:cNvPr id="33" name="Rounded Rectangle 32"/>
            <p:cNvSpPr/>
            <p:nvPr/>
          </p:nvSpPr>
          <p:spPr>
            <a:xfrm>
              <a:off x="4357116"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34" name="TextBox 33"/>
            <p:cNvSpPr txBox="1"/>
            <p:nvPr/>
          </p:nvSpPr>
          <p:spPr>
            <a:xfrm>
              <a:off x="4613148"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2</a:t>
              </a:r>
            </a:p>
          </p:txBody>
        </p:sp>
        <p:sp>
          <p:nvSpPr>
            <p:cNvPr id="35" name="TextBox 34"/>
            <p:cNvSpPr txBox="1"/>
            <p:nvPr/>
          </p:nvSpPr>
          <p:spPr>
            <a:xfrm>
              <a:off x="4613148"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Rank on merit</a:t>
              </a:r>
            </a:p>
          </p:txBody>
        </p:sp>
        <p:sp>
          <p:nvSpPr>
            <p:cNvPr id="36" name="TextBox 35"/>
            <p:cNvSpPr txBox="1"/>
            <p:nvPr/>
          </p:nvSpPr>
          <p:spPr>
            <a:xfrm>
              <a:off x="4613148"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Verified offers are scored 0–100 with public weights. Agents can read the policy as an MCP resource.</a:t>
              </a:r>
            </a:p>
          </p:txBody>
        </p:sp>
      </p:grpSp>
      <p:grpSp>
        <p:nvGrpSpPr>
          <p:cNvPr id="37" name="Group 36"/>
          <p:cNvGrpSpPr/>
          <p:nvPr/>
        </p:nvGrpSpPr>
        <p:grpSpPr>
          <a:xfrm>
            <a:off x="4613148" y="4754880"/>
            <a:ext cx="1162202" cy="292608"/>
            <a:chOff x="4613148" y="4754880"/>
            <a:chExt cx="1162202" cy="292608"/>
          </a:xfrm>
        </p:grpSpPr>
        <p:sp>
          <p:nvSpPr>
            <p:cNvPr id="38" name="Rounded Rectangle 37"/>
            <p:cNvSpPr/>
            <p:nvPr/>
          </p:nvSpPr>
          <p:spPr>
            <a:xfrm>
              <a:off x="4613148" y="4754880"/>
              <a:ext cx="1162202" cy="292608"/>
            </a:xfrm>
            <a:prstGeom prst="roundRect">
              <a:avLst>
                <a:gd name="adj" fmla="val 6250"/>
              </a:avLst>
            </a:prstGeom>
            <a:solidFill>
              <a:srgbClr val="16130E"/>
            </a:solidFill>
            <a:ln>
              <a:noFill/>
            </a:ln>
          </p:spPr>
          <p:txBody>
            <a:bodyPr rtlCol="0" anchor="ctr"/>
            <a:lstStyle/>
            <a:p>
              <a:pPr algn="ctr"/>
            </a:p>
          </p:txBody>
        </p:sp>
        <p:sp>
          <p:nvSpPr>
            <p:cNvPr id="39" name="TextBox 38"/>
            <p:cNvSpPr txBox="1"/>
            <p:nvPr/>
          </p:nvSpPr>
          <p:spPr>
            <a:xfrm>
              <a:off x="4613148" y="4754880"/>
              <a:ext cx="1162202"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Price 40</a:t>
              </a:r>
            </a:p>
          </p:txBody>
        </p:sp>
      </p:grpSp>
      <p:grpSp>
        <p:nvGrpSpPr>
          <p:cNvPr id="40" name="Group 39"/>
          <p:cNvGrpSpPr/>
          <p:nvPr/>
        </p:nvGrpSpPr>
        <p:grpSpPr>
          <a:xfrm>
            <a:off x="5798210" y="4754880"/>
            <a:ext cx="717804" cy="292608"/>
            <a:chOff x="5798210" y="4754880"/>
            <a:chExt cx="717804" cy="292608"/>
          </a:xfrm>
        </p:grpSpPr>
        <p:sp>
          <p:nvSpPr>
            <p:cNvPr id="41" name="Rounded Rectangle 40"/>
            <p:cNvSpPr/>
            <p:nvPr/>
          </p:nvSpPr>
          <p:spPr>
            <a:xfrm>
              <a:off x="5798210" y="4754880"/>
              <a:ext cx="717804" cy="292608"/>
            </a:xfrm>
            <a:prstGeom prst="roundRect">
              <a:avLst>
                <a:gd name="adj" fmla="val 6250"/>
              </a:avLst>
            </a:prstGeom>
            <a:solidFill>
              <a:srgbClr val="3B352B"/>
            </a:solidFill>
            <a:ln>
              <a:noFill/>
            </a:ln>
          </p:spPr>
          <p:txBody>
            <a:bodyPr rtlCol="0" anchor="ctr"/>
            <a:lstStyle/>
            <a:p>
              <a:pPr algn="ctr"/>
            </a:p>
          </p:txBody>
        </p:sp>
        <p:sp>
          <p:nvSpPr>
            <p:cNvPr id="42" name="TextBox 41"/>
            <p:cNvSpPr txBox="1"/>
            <p:nvPr/>
          </p:nvSpPr>
          <p:spPr>
            <a:xfrm>
              <a:off x="5798210" y="4754880"/>
              <a:ext cx="717804"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25</a:t>
              </a:r>
            </a:p>
          </p:txBody>
        </p:sp>
      </p:grpSp>
      <p:grpSp>
        <p:nvGrpSpPr>
          <p:cNvPr id="43" name="Group 42"/>
          <p:cNvGrpSpPr/>
          <p:nvPr/>
        </p:nvGrpSpPr>
        <p:grpSpPr>
          <a:xfrm>
            <a:off x="6538874" y="4754880"/>
            <a:ext cx="421538" cy="292608"/>
            <a:chOff x="6538874" y="4754880"/>
            <a:chExt cx="421538" cy="292608"/>
          </a:xfrm>
        </p:grpSpPr>
        <p:sp>
          <p:nvSpPr>
            <p:cNvPr id="44" name="Rounded Rectangle 43"/>
            <p:cNvSpPr/>
            <p:nvPr/>
          </p:nvSpPr>
          <p:spPr>
            <a:xfrm>
              <a:off x="6538874" y="4754880"/>
              <a:ext cx="421538" cy="292608"/>
            </a:xfrm>
            <a:prstGeom prst="roundRect">
              <a:avLst>
                <a:gd name="adj" fmla="val 6250"/>
              </a:avLst>
            </a:prstGeom>
            <a:solidFill>
              <a:srgbClr val="6E6658"/>
            </a:solidFill>
            <a:ln>
              <a:noFill/>
            </a:ln>
          </p:spPr>
          <p:txBody>
            <a:bodyPr rtlCol="0" anchor="ctr"/>
            <a:lstStyle/>
            <a:p>
              <a:pPr algn="ctr"/>
            </a:p>
          </p:txBody>
        </p:sp>
        <p:sp>
          <p:nvSpPr>
            <p:cNvPr id="45" name="TextBox 44"/>
            <p:cNvSpPr txBox="1"/>
            <p:nvPr/>
          </p:nvSpPr>
          <p:spPr>
            <a:xfrm>
              <a:off x="6538874" y="4754880"/>
              <a:ext cx="421538"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15</a:t>
              </a:r>
            </a:p>
          </p:txBody>
        </p:sp>
      </p:grpSp>
      <p:grpSp>
        <p:nvGrpSpPr>
          <p:cNvPr id="46" name="Group 45"/>
          <p:cNvGrpSpPr/>
          <p:nvPr/>
        </p:nvGrpSpPr>
        <p:grpSpPr>
          <a:xfrm>
            <a:off x="6983273" y="4754880"/>
            <a:ext cx="421538" cy="292608"/>
            <a:chOff x="6983273" y="4754880"/>
            <a:chExt cx="421538" cy="292608"/>
          </a:xfrm>
        </p:grpSpPr>
        <p:sp>
          <p:nvSpPr>
            <p:cNvPr id="47" name="Rounded Rectangle 46"/>
            <p:cNvSpPr/>
            <p:nvPr/>
          </p:nvSpPr>
          <p:spPr>
            <a:xfrm>
              <a:off x="6983273" y="4754880"/>
              <a:ext cx="421538" cy="292608"/>
            </a:xfrm>
            <a:prstGeom prst="roundRect">
              <a:avLst>
                <a:gd name="adj" fmla="val 6250"/>
              </a:avLst>
            </a:prstGeom>
            <a:solidFill>
              <a:srgbClr val="A89E89"/>
            </a:solidFill>
            <a:ln>
              <a:noFill/>
            </a:ln>
          </p:spPr>
          <p:txBody>
            <a:bodyPr rtlCol="0" anchor="ctr"/>
            <a:lstStyle/>
            <a:p>
              <a:pPr algn="ctr"/>
            </a:p>
          </p:txBody>
        </p:sp>
        <p:sp>
          <p:nvSpPr>
            <p:cNvPr id="48" name="TextBox 47"/>
            <p:cNvSpPr txBox="1"/>
            <p:nvPr/>
          </p:nvSpPr>
          <p:spPr>
            <a:xfrm>
              <a:off x="6983273" y="4754880"/>
              <a:ext cx="421538"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15</a:t>
              </a:r>
            </a:p>
          </p:txBody>
        </p:sp>
      </p:grpSp>
      <p:grpSp>
        <p:nvGrpSpPr>
          <p:cNvPr id="49" name="Group 48"/>
          <p:cNvGrpSpPr/>
          <p:nvPr/>
        </p:nvGrpSpPr>
        <p:grpSpPr>
          <a:xfrm>
            <a:off x="7427671" y="4754880"/>
            <a:ext cx="125273" cy="292608"/>
            <a:chOff x="7427671" y="4754880"/>
            <a:chExt cx="125273" cy="292608"/>
          </a:xfrm>
        </p:grpSpPr>
        <p:sp>
          <p:nvSpPr>
            <p:cNvPr id="50" name="Rounded Rectangle 49"/>
            <p:cNvSpPr/>
            <p:nvPr/>
          </p:nvSpPr>
          <p:spPr>
            <a:xfrm>
              <a:off x="7427671" y="4754880"/>
              <a:ext cx="125273" cy="292608"/>
            </a:xfrm>
            <a:prstGeom prst="roundRect">
              <a:avLst>
                <a:gd name="adj" fmla="val 14598"/>
              </a:avLst>
            </a:prstGeom>
            <a:solidFill>
              <a:srgbClr val="D8CDB6"/>
            </a:solidFill>
            <a:ln>
              <a:noFill/>
            </a:ln>
          </p:spPr>
          <p:txBody>
            <a:bodyPr rtlCol="0" anchor="ctr"/>
            <a:lstStyle/>
            <a:p>
              <a:pPr algn="ctr"/>
            </a:p>
          </p:txBody>
        </p:sp>
        <p:sp>
          <p:nvSpPr>
            <p:cNvPr id="51" name="TextBox 50"/>
            <p:cNvSpPr txBox="1"/>
            <p:nvPr/>
          </p:nvSpPr>
          <p:spPr>
            <a:xfrm>
              <a:off x="7427671" y="4754880"/>
              <a:ext cx="125273"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5</a:t>
              </a:r>
            </a:p>
          </p:txBody>
        </p:sp>
      </p:grpSp>
      <p:grpSp>
        <p:nvGrpSpPr>
          <p:cNvPr id="52" name="Group 51"/>
          <p:cNvGrpSpPr/>
          <p:nvPr/>
        </p:nvGrpSpPr>
        <p:grpSpPr>
          <a:xfrm>
            <a:off x="8028432" y="2578608"/>
            <a:ext cx="3474720" cy="2724912"/>
            <a:chOff x="8028432" y="2578608"/>
            <a:chExt cx="3474720" cy="2724912"/>
          </a:xfrm>
        </p:grpSpPr>
        <p:sp>
          <p:nvSpPr>
            <p:cNvPr id="53" name="Rounded Rectangle 52"/>
            <p:cNvSpPr/>
            <p:nvPr/>
          </p:nvSpPr>
          <p:spPr>
            <a:xfrm>
              <a:off x="8028432"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54" name="TextBox 53"/>
            <p:cNvSpPr txBox="1"/>
            <p:nvPr/>
          </p:nvSpPr>
          <p:spPr>
            <a:xfrm>
              <a:off x="8284464"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3</a:t>
              </a:r>
            </a:p>
          </p:txBody>
        </p:sp>
        <p:sp>
          <p:nvSpPr>
            <p:cNvPr id="55" name="TextBox 54"/>
            <p:cNvSpPr txBox="1"/>
            <p:nvPr/>
          </p:nvSpPr>
          <p:spPr>
            <a:xfrm>
              <a:off x="8284464"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Commission can't buy rank</a:t>
              </a:r>
            </a:p>
          </p:txBody>
        </p:sp>
        <p:sp>
          <p:nvSpPr>
            <p:cNvPr id="56" name="TextBox 55"/>
            <p:cNvSpPr txBox="1"/>
            <p:nvPr/>
          </p:nvSpPr>
          <p:spPr>
            <a:xfrm>
              <a:off x="8284464"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A merchant pays commission only when an agent buys, and it only breaks near-ties (under 0.5 merit points).</a:t>
              </a:r>
            </a:p>
          </p:txBody>
        </p:sp>
      </p:grpSp>
      <p:grpSp>
        <p:nvGrpSpPr>
          <p:cNvPr id="57" name="Group 56"/>
          <p:cNvGrpSpPr/>
          <p:nvPr/>
        </p:nvGrpSpPr>
        <p:grpSpPr>
          <a:xfrm>
            <a:off x="8284464" y="4754880"/>
            <a:ext cx="1134364" cy="292608"/>
            <a:chOff x="8284464" y="4754880"/>
            <a:chExt cx="1134364" cy="292608"/>
          </a:xfrm>
        </p:grpSpPr>
        <p:sp>
          <p:nvSpPr>
            <p:cNvPr id="58" name="Rounded Rectangle 57"/>
            <p:cNvSpPr/>
            <p:nvPr/>
          </p:nvSpPr>
          <p:spPr>
            <a:xfrm>
              <a:off x="8284464" y="4754880"/>
              <a:ext cx="1134364" cy="292608"/>
            </a:xfrm>
            <a:prstGeom prst="roundRect">
              <a:avLst>
                <a:gd name="adj" fmla="val 50000"/>
              </a:avLst>
            </a:prstGeom>
            <a:solidFill>
              <a:srgbClr val="F6EBD6"/>
            </a:solidFill>
            <a:ln>
              <a:noFill/>
            </a:ln>
          </p:spPr>
          <p:txBody>
            <a:bodyPr rtlCol="0" anchor="ctr"/>
            <a:lstStyle/>
            <a:p>
              <a:pPr algn="ctr"/>
            </a:p>
          </p:txBody>
        </p:sp>
        <p:sp>
          <p:nvSpPr>
            <p:cNvPr id="59" name="TextBox 58"/>
            <p:cNvSpPr txBox="1"/>
            <p:nvPr/>
          </p:nvSpPr>
          <p:spPr>
            <a:xfrm>
              <a:off x="8284464" y="4754880"/>
              <a:ext cx="1134364" cy="292608"/>
            </a:xfrm>
            <a:prstGeom prst="rect">
              <a:avLst/>
            </a:prstGeom>
            <a:noFill/>
          </p:spPr>
          <p:txBody>
            <a:bodyPr wrap="square" lIns="0" rIns="0" tIns="0" bIns="0" anchor="ctr">
              <a:noAutofit/>
            </a:bodyPr>
            <a:lstStyle/>
            <a:p>
              <a:pPr algn="ctr"/>
              <a:r>
                <a:rPr sz="950" b="1" i="0">
                  <a:solidFill>
                    <a:srgbClr val="94641F"/>
                  </a:solidFill>
                  <a:latin typeface="Inter" panose="020B0502030000000004" pitchFamily="34" charset="0"/>
                </a:rPr>
                <a:t>Bribe ignored</a:t>
              </a:r>
            </a:p>
          </p:txBody>
        </p:sp>
      </p:grpSp>
      <p:sp>
        <p:nvSpPr>
          <p:cNvPr id="60" name="TextBox 59"/>
          <p:cNvSpPr txBox="1"/>
          <p:nvPr/>
        </p:nvSpPr>
        <p:spPr>
          <a:xfrm>
            <a:off x="9528556" y="4754880"/>
            <a:ext cx="1920240" cy="292608"/>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Offered $35 commission · still No. 5</a:t>
            </a:r>
          </a:p>
        </p:txBody>
      </p:sp>
      <p:grpSp>
        <p:nvGrpSpPr>
          <p:cNvPr id="61" name="Group 60"/>
          <p:cNvGrpSpPr/>
          <p:nvPr/>
        </p:nvGrpSpPr>
        <p:grpSpPr>
          <a:xfrm>
            <a:off x="685800" y="5559552"/>
            <a:ext cx="10817352" cy="548640"/>
            <a:chOff x="685800" y="5559552"/>
            <a:chExt cx="10817352" cy="548640"/>
          </a:xfrm>
        </p:grpSpPr>
        <p:sp>
          <p:nvSpPr>
            <p:cNvPr id="62" name="Rounded Rectangle 61"/>
            <p:cNvSpPr/>
            <p:nvPr/>
          </p:nvSpPr>
          <p:spPr>
            <a:xfrm>
              <a:off x="685800" y="5559552"/>
              <a:ext cx="10817352" cy="548640"/>
            </a:xfrm>
            <a:prstGeom prst="roundRect">
              <a:avLst>
                <a:gd name="adj" fmla="val 10000"/>
              </a:avLst>
            </a:prstGeom>
            <a:solidFill>
              <a:srgbClr val="FFFDF7"/>
            </a:solidFill>
            <a:ln w="9525">
              <a:solidFill>
                <a:srgbClr val="E2D9C6"/>
              </a:solidFill>
            </a:ln>
          </p:spPr>
          <p:txBody>
            <a:bodyPr rtlCol="0" anchor="ctr"/>
            <a:lstStyle/>
            <a:p>
              <a:pPr algn="ctr"/>
            </a:p>
          </p:txBody>
        </p:sp>
        <p:sp>
          <p:nvSpPr>
            <p:cNvPr id="63" name="TextBox 62"/>
            <p:cNvSpPr txBox="1"/>
            <p:nvPr/>
          </p:nvSpPr>
          <p:spPr>
            <a:xfrm>
              <a:off x="914400" y="5559552"/>
              <a:ext cx="10424160" cy="548640"/>
            </a:xfrm>
            <a:prstGeom prst="rect">
              <a:avLst/>
            </a:prstGeom>
            <a:noFill/>
          </p:spPr>
          <p:txBody>
            <a:bodyPr wrap="square" lIns="0" rIns="0" tIns="0" bIns="0" anchor="ctr">
              <a:noAutofit/>
            </a:bodyPr>
            <a:lstStyle/>
            <a:p>
              <a:pPr algn="l"/>
              <a:r>
                <a:rPr sz="1300" b="0" i="0">
                  <a:solidFill>
                    <a:srgbClr val="6E6658"/>
                  </a:solidFill>
                  <a:latin typeface="Inter" panose="020B0502030000000004" pitchFamily="34" charset="0"/>
                </a:rPr>
                <a:t>YC prompt: rebuild a tool that was built for humans.</a:t>
              </a:r>
              <a:r>
                <a:rPr sz="1300" b="0" i="0">
                  <a:solidFill>
                    <a:srgbClr val="16130E"/>
                  </a:solidFill>
                  <a:latin typeface="Inter" panose="020B0502030000000004" pitchFamily="34" charset="0"/>
                </a:rPr>
                <a:t>      Search: Google → Exa      ·      Ads: Google Ads → </a:t>
              </a:r>
              <a:r>
                <a:rPr sz="1300" b="1" i="0">
                  <a:solidFill>
                    <a:srgbClr val="16130E"/>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additive="base">
                                        <p:cTn id="1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50"/>
                                        <p:tgtEl>
                                          <p:spTgt spid="18"/>
                                        </p:tgtEl>
                                      </p:cBhvr>
                                    </p:animEffect>
                                    <p:anim calcmode="lin" valueType="num">
                                      <p:cBhvr additive="base">
                                        <p:cTn id="19" dur="55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8"/>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80"/>
                                        <p:tgtEl>
                                          <p:spTgt spid="23"/>
                                        </p:tgtEl>
                                      </p:cBhvr>
                                    </p:animEffect>
                                    <p:anim calcmode="lin" valueType="num">
                                      <p:cBhvr additive="base">
                                        <p:cTn id="24"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3"/>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180"/>
                                        <p:tgtEl>
                                          <p:spTgt spid="26"/>
                                        </p:tgtEl>
                                      </p:cBhvr>
                                    </p:animEffect>
                                    <p:anim calcmode="lin" valueType="num">
                                      <p:cBhvr additive="base">
                                        <p:cTn id="29"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6"/>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180"/>
                                        <p:tgtEl>
                                          <p:spTgt spid="29"/>
                                        </p:tgtEl>
                                      </p:cBhvr>
                                    </p:animEffect>
                                    <p:anim calcmode="lin" valueType="num">
                                      <p:cBhvr additive="base">
                                        <p:cTn id="34" dur="300" fill="hold" decel="100000"/>
                                        <p:tgtEl>
                                          <p:spTgt spid="29"/>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9"/>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50"/>
                                        <p:tgtEl>
                                          <p:spTgt spid="32"/>
                                        </p:tgtEl>
                                      </p:cBhvr>
                                    </p:animEffect>
                                    <p:anim calcmode="lin" valueType="num">
                                      <p:cBhvr additive="base">
                                        <p:cTn id="39" dur="550" fill="hold" decel="100000"/>
                                        <p:tgtEl>
                                          <p:spTgt spid="32"/>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32"/>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400"/>
                                        <p:tgtEl>
                                          <p:spTgt spid="37"/>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40"/>
                                        </p:tgtEl>
                                        <p:attrNameLst>
                                          <p:attrName>style.visibility</p:attrName>
                                        </p:attrNameLst>
                                      </p:cBhvr>
                                      <p:to>
                                        <p:strVal val="visible"/>
                                      </p:to>
                                    </p:set>
                                    <p:animEffect transition="in" filter="wipe(left)">
                                      <p:cBhvr>
                                        <p:cTn id="46" dur="400"/>
                                        <p:tgtEl>
                                          <p:spTgt spid="40"/>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3"/>
                                        </p:tgtEl>
                                        <p:attrNameLst>
                                          <p:attrName>style.visibility</p:attrName>
                                        </p:attrNameLst>
                                      </p:cBhvr>
                                      <p:to>
                                        <p:strVal val="visible"/>
                                      </p:to>
                                    </p:set>
                                    <p:animEffect transition="in" filter="wipe(left)">
                                      <p:cBhvr>
                                        <p:cTn id="49" dur="400"/>
                                        <p:tgtEl>
                                          <p:spTgt spid="43"/>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6"/>
                                        </p:tgtEl>
                                        <p:attrNameLst>
                                          <p:attrName>style.visibility</p:attrName>
                                        </p:attrNameLst>
                                      </p:cBhvr>
                                      <p:to>
                                        <p:strVal val="visible"/>
                                      </p:to>
                                    </p:set>
                                    <p:animEffect transition="in" filter="wipe(left)">
                                      <p:cBhvr>
                                        <p:cTn id="52" dur="400"/>
                                        <p:tgtEl>
                                          <p:spTgt spid="46"/>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9"/>
                                        </p:tgtEl>
                                        <p:attrNameLst>
                                          <p:attrName>style.visibility</p:attrName>
                                        </p:attrNameLst>
                                      </p:cBhvr>
                                      <p:to>
                                        <p:strVal val="visible"/>
                                      </p:to>
                                    </p:set>
                                    <p:animEffect transition="in" filter="wipe(left)">
                                      <p:cBhvr>
                                        <p:cTn id="55" dur="400"/>
                                        <p:tgtEl>
                                          <p:spTgt spid="49"/>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50"/>
                                        <p:tgtEl>
                                          <p:spTgt spid="52"/>
                                        </p:tgtEl>
                                      </p:cBhvr>
                                    </p:animEffect>
                                    <p:anim calcmode="lin" valueType="num">
                                      <p:cBhvr additive="base">
                                        <p:cTn id="59" dur="550" fill="hold" decel="100000"/>
                                        <p:tgtEl>
                                          <p:spTgt spid="52"/>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2"/>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7"/>
                                        </p:tgtEl>
                                        <p:attrNameLst>
                                          <p:attrName>style.visibility</p:attrName>
                                        </p:attrNameLst>
                                      </p:cBhvr>
                                      <p:to>
                                        <p:strVal val="visible"/>
                                      </p:to>
                                    </p:set>
                                    <p:animEffect transition="in" filter="fade">
                                      <p:cBhvr>
                                        <p:cTn id="63" dur="180"/>
                                        <p:tgtEl>
                                          <p:spTgt spid="57"/>
                                        </p:tgtEl>
                                      </p:cBhvr>
                                    </p:animEffect>
                                    <p:anim calcmode="lin" valueType="num">
                                      <p:cBhvr additive="base">
                                        <p:cTn id="64" dur="300" fill="hold" decel="100000"/>
                                        <p:tgtEl>
                                          <p:spTgt spid="57"/>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7"/>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300"/>
                                        <p:tgtEl>
                                          <p:spTgt spid="60"/>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04  ·  HOW A LOT SELLS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487667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3800" b="0" i="0" spc="-40">
                <a:solidFill>
                  <a:srgbClr val="16130E"/>
                </a:solidFill>
                <a:latin typeface="Georgia" panose="02040502050405020303" pitchFamily="18" charset="0"/>
              </a:rPr>
              <a:t>One tool call in. </a:t>
            </a:r>
            <a:r>
              <a:rPr sz="3800" b="0" i="1" spc="-40">
                <a:solidFill>
                  <a:srgbClr val="6E6658"/>
                </a:solidFill>
                <a:latin typeface="Georgia" panose="02040502050405020303" pitchFamily="18" charset="0"/>
              </a:rPr>
              <a:t>A verified purchase out.</a:t>
            </a:r>
          </a:p>
        </p:txBody>
      </p:sp>
      <p:grpSp>
        <p:nvGrpSpPr>
          <p:cNvPr id="17" name="Group 16"/>
          <p:cNvGrpSpPr/>
          <p:nvPr/>
        </p:nvGrpSpPr>
        <p:grpSpPr>
          <a:xfrm>
            <a:off x="685800" y="1828800"/>
            <a:ext cx="1385316" cy="2148840"/>
            <a:chOff x="685800" y="1828800"/>
            <a:chExt cx="1385316" cy="2148840"/>
          </a:xfrm>
        </p:grpSpPr>
        <p:sp>
          <p:nvSpPr>
            <p:cNvPr id="18" name="Rounded Rectangle 17"/>
            <p:cNvSpPr/>
            <p:nvPr/>
          </p:nvSpPr>
          <p:spPr>
            <a:xfrm>
              <a:off x="68580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83210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1</a:t>
              </a:r>
            </a:p>
          </p:txBody>
        </p:sp>
        <p:sp>
          <p:nvSpPr>
            <p:cNvPr id="20" name="TextBox 19"/>
            <p:cNvSpPr txBox="1"/>
            <p:nvPr/>
          </p:nvSpPr>
          <p:spPr>
            <a:xfrm>
              <a:off x="832104"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find_offers</a:t>
              </a:r>
            </a:p>
          </p:txBody>
        </p:sp>
        <p:sp>
          <p:nvSpPr>
            <p:cNvPr id="21" name="TextBox 20"/>
            <p:cNvSpPr txBox="1"/>
            <p:nvPr/>
          </p:nvSpPr>
          <p:spPr>
            <a:xfrm>
              <a:off x="83210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The agent opens a lot: need, budget, deadline and must-haves.</a:t>
              </a:r>
            </a:p>
          </p:txBody>
        </p:sp>
      </p:grpSp>
      <p:cxnSp>
        <p:nvCxnSpPr>
          <p:cNvPr id="22" name="Connector 21"/>
          <p:cNvCxnSpPr/>
          <p:nvPr/>
        </p:nvCxnSpPr>
        <p:spPr>
          <a:xfrm>
            <a:off x="2098548" y="2903220"/>
            <a:ext cx="137160" cy="0"/>
          </a:xfrm>
          <a:prstGeom prst="line">
            <a:avLst/>
          </a:prstGeom>
          <a:ln w="19050">
            <a:solidFill>
              <a:srgbClr val="CFC3AA"/>
            </a:solidFill>
            <a:tailEnd type="triangle" w="med" len="med"/>
          </a:ln>
        </p:spPr>
      </p:cxnSp>
      <p:grpSp>
        <p:nvGrpSpPr>
          <p:cNvPr id="23" name="Group 22"/>
          <p:cNvGrpSpPr/>
          <p:nvPr/>
        </p:nvGrpSpPr>
        <p:grpSpPr>
          <a:xfrm>
            <a:off x="2258568" y="1828800"/>
            <a:ext cx="1385316" cy="2148840"/>
            <a:chOff x="2258568" y="1828800"/>
            <a:chExt cx="1385316" cy="2148840"/>
          </a:xfrm>
        </p:grpSpPr>
        <p:sp>
          <p:nvSpPr>
            <p:cNvPr id="24" name="Rounded Rectangle 23"/>
            <p:cNvSpPr/>
            <p:nvPr/>
          </p:nvSpPr>
          <p:spPr>
            <a:xfrm>
              <a:off x="225856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25" name="TextBox 24"/>
            <p:cNvSpPr txBox="1"/>
            <p:nvPr/>
          </p:nvSpPr>
          <p:spPr>
            <a:xfrm>
              <a:off x="240487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2</a:t>
              </a:r>
            </a:p>
          </p:txBody>
        </p:sp>
        <p:sp>
          <p:nvSpPr>
            <p:cNvPr id="26" name="TextBox 25"/>
            <p:cNvSpPr txBox="1"/>
            <p:nvPr/>
          </p:nvSpPr>
          <p:spPr>
            <a:xfrm>
              <a:off x="240487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Paddles go up</a:t>
              </a:r>
            </a:p>
          </p:txBody>
        </p:sp>
        <p:sp>
          <p:nvSpPr>
            <p:cNvPr id="27" name="TextBox 26"/>
            <p:cNvSpPr txBox="1"/>
            <p:nvPr/>
          </p:nvSpPr>
          <p:spPr>
            <a:xfrm>
              <a:off x="240487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A 12-second live auction. Bots, people on phones and merchant agents bid.</a:t>
              </a:r>
            </a:p>
          </p:txBody>
        </p:sp>
      </p:grpSp>
      <p:cxnSp>
        <p:nvCxnSpPr>
          <p:cNvPr id="28" name="Connector 27"/>
          <p:cNvCxnSpPr/>
          <p:nvPr/>
        </p:nvCxnSpPr>
        <p:spPr>
          <a:xfrm>
            <a:off x="3671316" y="2903220"/>
            <a:ext cx="137160" cy="0"/>
          </a:xfrm>
          <a:prstGeom prst="line">
            <a:avLst/>
          </a:prstGeom>
          <a:ln w="19050">
            <a:solidFill>
              <a:srgbClr val="CFC3AA"/>
            </a:solidFill>
            <a:tailEnd type="triangle" w="med" len="med"/>
          </a:ln>
        </p:spPr>
      </p:cxnSp>
      <p:grpSp>
        <p:nvGrpSpPr>
          <p:cNvPr id="29" name="Group 28"/>
          <p:cNvGrpSpPr/>
          <p:nvPr/>
        </p:nvGrpSpPr>
        <p:grpSpPr>
          <a:xfrm>
            <a:off x="3831336" y="1828800"/>
            <a:ext cx="1385316" cy="2148840"/>
            <a:chOff x="3831336" y="1828800"/>
            <a:chExt cx="1385316" cy="2148840"/>
          </a:xfrm>
        </p:grpSpPr>
        <p:sp>
          <p:nvSpPr>
            <p:cNvPr id="30" name="Rounded Rectangle 29"/>
            <p:cNvSpPr/>
            <p:nvPr/>
          </p:nvSpPr>
          <p:spPr>
            <a:xfrm>
              <a:off x="3831336"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31" name="TextBox 30"/>
            <p:cNvSpPr txBox="1"/>
            <p:nvPr/>
          </p:nvSpPr>
          <p:spPr>
            <a:xfrm>
              <a:off x="3977640"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3</a:t>
              </a:r>
            </a:p>
          </p:txBody>
        </p:sp>
        <p:sp>
          <p:nvSpPr>
            <p:cNvPr id="32" name="TextBox 31"/>
            <p:cNvSpPr txBox="1"/>
            <p:nvPr/>
          </p:nvSpPr>
          <p:spPr>
            <a:xfrm>
              <a:off x="3977640"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Verify</a:t>
              </a:r>
            </a:p>
          </p:txBody>
        </p:sp>
        <p:sp>
          <p:nvSpPr>
            <p:cNvPr id="33" name="TextBox 32"/>
            <p:cNvSpPr txBox="1"/>
            <p:nvPr/>
          </p:nvSpPr>
          <p:spPr>
            <a:xfrm>
              <a:off x="3977640"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Fetch the product page JSON-LD and the checkout quote. 6 checks.</a:t>
              </a:r>
            </a:p>
          </p:txBody>
        </p:sp>
      </p:grpSp>
      <p:cxnSp>
        <p:nvCxnSpPr>
          <p:cNvPr id="34" name="Connector 33"/>
          <p:cNvCxnSpPr/>
          <p:nvPr/>
        </p:nvCxnSpPr>
        <p:spPr>
          <a:xfrm>
            <a:off x="5244084" y="2903220"/>
            <a:ext cx="137160" cy="0"/>
          </a:xfrm>
          <a:prstGeom prst="line">
            <a:avLst/>
          </a:prstGeom>
          <a:ln w="19050">
            <a:solidFill>
              <a:srgbClr val="CFC3AA"/>
            </a:solidFill>
            <a:tailEnd type="triangle" w="med" len="med"/>
          </a:ln>
        </p:spPr>
      </p:cxnSp>
      <p:cxnSp>
        <p:nvCxnSpPr>
          <p:cNvPr id="35" name="Connector 34"/>
          <p:cNvCxnSpPr/>
          <p:nvPr/>
        </p:nvCxnSpPr>
        <p:spPr>
          <a:xfrm>
            <a:off x="4523994" y="4005072"/>
            <a:ext cx="0" cy="256032"/>
          </a:xfrm>
          <a:prstGeom prst="line">
            <a:avLst/>
          </a:prstGeom>
          <a:ln w="12700">
            <a:solidFill>
              <a:srgbClr val="CFC3AA"/>
            </a:solidFill>
            <a:prstDash val="dash"/>
          </a:ln>
        </p:spPr>
      </p:cxnSp>
      <p:grpSp>
        <p:nvGrpSpPr>
          <p:cNvPr id="36" name="Group 35"/>
          <p:cNvGrpSpPr/>
          <p:nvPr/>
        </p:nvGrpSpPr>
        <p:grpSpPr>
          <a:xfrm>
            <a:off x="3831336" y="4279392"/>
            <a:ext cx="1385316" cy="1024128"/>
            <a:chOff x="3831336" y="4279392"/>
            <a:chExt cx="1385316" cy="1024128"/>
          </a:xfrm>
        </p:grpSpPr>
        <p:sp>
          <p:nvSpPr>
            <p:cNvPr id="37" name="Rounded Rectangle 36"/>
            <p:cNvSpPr/>
            <p:nvPr/>
          </p:nvSpPr>
          <p:spPr>
            <a:xfrm>
              <a:off x="3831336" y="4279392"/>
              <a:ext cx="1385316" cy="1024128"/>
            </a:xfrm>
            <a:prstGeom prst="roundRect">
              <a:avLst>
                <a:gd name="adj" fmla="val 5357"/>
              </a:avLst>
            </a:prstGeom>
            <a:solidFill>
              <a:srgbClr val="F6E3DF"/>
            </a:solidFill>
            <a:ln>
              <a:noFill/>
            </a:ln>
          </p:spPr>
          <p:txBody>
            <a:bodyPr rtlCol="0" anchor="ctr"/>
            <a:lstStyle/>
            <a:p>
              <a:pPr algn="ctr"/>
            </a:p>
          </p:txBody>
        </p:sp>
        <p:sp>
          <p:nvSpPr>
            <p:cNvPr id="38" name="TextBox 37"/>
            <p:cNvSpPr txBox="1"/>
            <p:nvPr/>
          </p:nvSpPr>
          <p:spPr>
            <a:xfrm>
              <a:off x="3959352" y="4370832"/>
              <a:ext cx="1184148" cy="237744"/>
            </a:xfrm>
            <a:prstGeom prst="rect">
              <a:avLst/>
            </a:prstGeom>
            <a:noFill/>
          </p:spPr>
          <p:txBody>
            <a:bodyPr wrap="square" lIns="0" rIns="0" tIns="0" bIns="0" anchor="ctr">
              <a:noAutofit/>
            </a:bodyPr>
            <a:lstStyle/>
            <a:p>
              <a:pPr algn="l"/>
              <a:r>
                <a:rPr sz="1000" b="1" i="0">
                  <a:solidFill>
                    <a:srgbClr val="8E2A22"/>
                  </a:solidFill>
                  <a:latin typeface="Inter" panose="020B0502030000000004" pitchFamily="34" charset="0"/>
                </a:rPr>
                <a:t>Withdrawn</a:t>
              </a:r>
            </a:p>
          </p:txBody>
        </p:sp>
        <p:sp>
          <p:nvSpPr>
            <p:cNvPr id="39" name="TextBox 38"/>
            <p:cNvSpPr txBox="1"/>
            <p:nvPr/>
          </p:nvSpPr>
          <p:spPr>
            <a:xfrm>
              <a:off x="3959352"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Misrepresentation or prompt injection. Trust −12 for every agent.</a:t>
              </a:r>
            </a:p>
          </p:txBody>
        </p:sp>
      </p:grpSp>
      <p:grpSp>
        <p:nvGrpSpPr>
          <p:cNvPr id="40" name="Group 39"/>
          <p:cNvGrpSpPr/>
          <p:nvPr/>
        </p:nvGrpSpPr>
        <p:grpSpPr>
          <a:xfrm>
            <a:off x="5404104" y="1828800"/>
            <a:ext cx="1385316" cy="2148840"/>
            <a:chOff x="5404104" y="1828800"/>
            <a:chExt cx="1385316" cy="2148840"/>
          </a:xfrm>
        </p:grpSpPr>
        <p:sp>
          <p:nvSpPr>
            <p:cNvPr id="41" name="Rounded Rectangle 40"/>
            <p:cNvSpPr/>
            <p:nvPr/>
          </p:nvSpPr>
          <p:spPr>
            <a:xfrm>
              <a:off x="5404104"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5550408"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4</a:t>
              </a:r>
            </a:p>
          </p:txBody>
        </p:sp>
        <p:sp>
          <p:nvSpPr>
            <p:cNvPr id="43" name="TextBox 42"/>
            <p:cNvSpPr txBox="1"/>
            <p:nvPr/>
          </p:nvSpPr>
          <p:spPr>
            <a:xfrm>
              <a:off x="5550408"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Rank on merit</a:t>
              </a:r>
            </a:p>
          </p:txBody>
        </p:sp>
        <p:sp>
          <p:nvSpPr>
            <p:cNvPr id="44" name="TextBox 43"/>
            <p:cNvSpPr txBox="1"/>
            <p:nvPr/>
          </p:nvSpPr>
          <p:spPr>
            <a:xfrm>
              <a:off x="5550408"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Price 40, must-haves 25, delivery 15, trust 15, returns 5.</a:t>
              </a:r>
            </a:p>
          </p:txBody>
        </p:sp>
      </p:grpSp>
      <p:cxnSp>
        <p:nvCxnSpPr>
          <p:cNvPr id="45" name="Connector 44"/>
          <p:cNvCxnSpPr/>
          <p:nvPr/>
        </p:nvCxnSpPr>
        <p:spPr>
          <a:xfrm>
            <a:off x="6816852" y="2903220"/>
            <a:ext cx="137160" cy="0"/>
          </a:xfrm>
          <a:prstGeom prst="line">
            <a:avLst/>
          </a:prstGeom>
          <a:ln w="19050">
            <a:solidFill>
              <a:srgbClr val="CFC3AA"/>
            </a:solidFill>
            <a:tailEnd type="triangle" w="med" len="med"/>
          </a:ln>
        </p:spPr>
      </p:cxnSp>
      <p:cxnSp>
        <p:nvCxnSpPr>
          <p:cNvPr id="46" name="Connector 45"/>
          <p:cNvCxnSpPr/>
          <p:nvPr/>
        </p:nvCxnSpPr>
        <p:spPr>
          <a:xfrm>
            <a:off x="6096762" y="4005072"/>
            <a:ext cx="0" cy="256032"/>
          </a:xfrm>
          <a:prstGeom prst="line">
            <a:avLst/>
          </a:prstGeom>
          <a:ln w="12700">
            <a:solidFill>
              <a:srgbClr val="CFC3AA"/>
            </a:solidFill>
            <a:prstDash val="dash"/>
          </a:ln>
        </p:spPr>
      </p:cxnSp>
      <p:grpSp>
        <p:nvGrpSpPr>
          <p:cNvPr id="47" name="Group 46"/>
          <p:cNvGrpSpPr/>
          <p:nvPr/>
        </p:nvGrpSpPr>
        <p:grpSpPr>
          <a:xfrm>
            <a:off x="5404104" y="4279392"/>
            <a:ext cx="1385316" cy="1024128"/>
            <a:chOff x="5404104" y="4279392"/>
            <a:chExt cx="1385316" cy="1024128"/>
          </a:xfrm>
        </p:grpSpPr>
        <p:sp>
          <p:nvSpPr>
            <p:cNvPr id="48" name="Rounded Rectangle 47"/>
            <p:cNvSpPr/>
            <p:nvPr/>
          </p:nvSpPr>
          <p:spPr>
            <a:xfrm>
              <a:off x="5404104" y="4279392"/>
              <a:ext cx="1385316" cy="1024128"/>
            </a:xfrm>
            <a:prstGeom prst="roundRect">
              <a:avLst>
                <a:gd name="adj" fmla="val 5357"/>
              </a:avLst>
            </a:prstGeom>
            <a:solidFill>
              <a:srgbClr val="F6EBD6"/>
            </a:solidFill>
            <a:ln>
              <a:noFill/>
            </a:ln>
          </p:spPr>
          <p:txBody>
            <a:bodyPr rtlCol="0" anchor="ctr"/>
            <a:lstStyle/>
            <a:p>
              <a:pPr algn="ctr"/>
            </a:p>
          </p:txBody>
        </p:sp>
        <p:sp>
          <p:nvSpPr>
            <p:cNvPr id="49" name="TextBox 48"/>
            <p:cNvSpPr txBox="1"/>
            <p:nvPr/>
          </p:nvSpPr>
          <p:spPr>
            <a:xfrm>
              <a:off x="5532120" y="4370832"/>
              <a:ext cx="1184148" cy="237744"/>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Bribe ignored</a:t>
              </a:r>
            </a:p>
          </p:txBody>
        </p:sp>
        <p:sp>
          <p:nvSpPr>
            <p:cNvPr id="50" name="TextBox 49"/>
            <p:cNvSpPr txBox="1"/>
            <p:nvPr/>
          </p:nvSpPr>
          <p:spPr>
            <a:xfrm>
              <a:off x="5532120"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Commission only breaks near-ties.</a:t>
              </a:r>
            </a:p>
          </p:txBody>
        </p:sp>
      </p:grpSp>
      <p:grpSp>
        <p:nvGrpSpPr>
          <p:cNvPr id="51" name="Group 50"/>
          <p:cNvGrpSpPr/>
          <p:nvPr/>
        </p:nvGrpSpPr>
        <p:grpSpPr>
          <a:xfrm>
            <a:off x="6976872" y="1828800"/>
            <a:ext cx="1385316" cy="2148840"/>
            <a:chOff x="6976872" y="1828800"/>
            <a:chExt cx="1385316" cy="2148840"/>
          </a:xfrm>
        </p:grpSpPr>
        <p:sp>
          <p:nvSpPr>
            <p:cNvPr id="52" name="Rounded Rectangle 51"/>
            <p:cNvSpPr/>
            <p:nvPr/>
          </p:nvSpPr>
          <p:spPr>
            <a:xfrm>
              <a:off x="6976872"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7123176"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5</a:t>
              </a:r>
            </a:p>
          </p:txBody>
        </p:sp>
        <p:sp>
          <p:nvSpPr>
            <p:cNvPr id="54" name="TextBox 53"/>
            <p:cNvSpPr txBox="1"/>
            <p:nvPr/>
          </p:nvSpPr>
          <p:spPr>
            <a:xfrm>
              <a:off x="7123176"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buy_offer</a:t>
              </a:r>
            </a:p>
          </p:txBody>
        </p:sp>
        <p:sp>
          <p:nvSpPr>
            <p:cNvPr id="55" name="TextBox 54"/>
            <p:cNvSpPr txBox="1"/>
            <p:nvPr/>
          </p:nvSpPr>
          <p:spPr>
            <a:xfrm>
              <a:off x="7123176"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Going once, going twice, sold: paid from the agent's prepaid wallet.</a:t>
              </a:r>
            </a:p>
          </p:txBody>
        </p:sp>
      </p:grpSp>
      <p:cxnSp>
        <p:nvCxnSpPr>
          <p:cNvPr id="56" name="Connector 55"/>
          <p:cNvCxnSpPr/>
          <p:nvPr/>
        </p:nvCxnSpPr>
        <p:spPr>
          <a:xfrm>
            <a:off x="8389620" y="2903220"/>
            <a:ext cx="137160" cy="0"/>
          </a:xfrm>
          <a:prstGeom prst="line">
            <a:avLst/>
          </a:prstGeom>
          <a:ln w="19050">
            <a:solidFill>
              <a:srgbClr val="CFC3AA"/>
            </a:solidFill>
            <a:tailEnd type="triangle" w="med" len="med"/>
          </a:ln>
        </p:spPr>
      </p:cxnSp>
      <p:cxnSp>
        <p:nvCxnSpPr>
          <p:cNvPr id="57" name="Connector 56"/>
          <p:cNvCxnSpPr/>
          <p:nvPr/>
        </p:nvCxnSpPr>
        <p:spPr>
          <a:xfrm>
            <a:off x="7669530" y="4005072"/>
            <a:ext cx="0" cy="256032"/>
          </a:xfrm>
          <a:prstGeom prst="line">
            <a:avLst/>
          </a:prstGeom>
          <a:ln w="12700">
            <a:solidFill>
              <a:srgbClr val="CFC3AA"/>
            </a:solidFill>
            <a:prstDash val="dash"/>
          </a:ln>
        </p:spPr>
      </p:cxnSp>
      <p:grpSp>
        <p:nvGrpSpPr>
          <p:cNvPr id="58" name="Group 57"/>
          <p:cNvGrpSpPr/>
          <p:nvPr/>
        </p:nvGrpSpPr>
        <p:grpSpPr>
          <a:xfrm>
            <a:off x="6976872" y="4279392"/>
            <a:ext cx="1385316" cy="1024128"/>
            <a:chOff x="6976872" y="4279392"/>
            <a:chExt cx="1385316" cy="1024128"/>
          </a:xfrm>
        </p:grpSpPr>
        <p:sp>
          <p:nvSpPr>
            <p:cNvPr id="59" name="Rounded Rectangle 58"/>
            <p:cNvSpPr/>
            <p:nvPr/>
          </p:nvSpPr>
          <p:spPr>
            <a:xfrm>
              <a:off x="6976872" y="4279392"/>
              <a:ext cx="1385316" cy="1024128"/>
            </a:xfrm>
            <a:prstGeom prst="roundRect">
              <a:avLst>
                <a:gd name="adj" fmla="val 5357"/>
              </a:avLst>
            </a:prstGeom>
            <a:solidFill>
              <a:srgbClr val="E6ECF6"/>
            </a:solidFill>
            <a:ln>
              <a:noFill/>
            </a:ln>
          </p:spPr>
          <p:txBody>
            <a:bodyPr rtlCol="0" anchor="ctr"/>
            <a:lstStyle/>
            <a:p>
              <a:pPr algn="ctr"/>
            </a:p>
          </p:txBody>
        </p:sp>
        <p:sp>
          <p:nvSpPr>
            <p:cNvPr id="60" name="TextBox 59"/>
            <p:cNvSpPr txBox="1"/>
            <p:nvPr/>
          </p:nvSpPr>
          <p:spPr>
            <a:xfrm>
              <a:off x="7104888" y="4370832"/>
              <a:ext cx="1184148" cy="237744"/>
            </a:xfrm>
            <a:prstGeom prst="rect">
              <a:avLst/>
            </a:prstGeom>
            <a:noFill/>
          </p:spPr>
          <p:txBody>
            <a:bodyPr wrap="square" lIns="0" rIns="0" tIns="0" bIns="0" anchor="ctr">
              <a:noAutofit/>
            </a:bodyPr>
            <a:lstStyle/>
            <a:p>
              <a:pPr algn="l"/>
              <a:r>
                <a:rPr sz="1000" b="1" i="0">
                  <a:solidFill>
                    <a:srgbClr val="233F6E"/>
                  </a:solidFill>
                  <a:latin typeface="Inter" panose="020B0502030000000004" pitchFamily="34" charset="0"/>
                </a:rPr>
                <a:t>Sold out</a:t>
              </a:r>
            </a:p>
          </p:txBody>
        </p:sp>
        <p:sp>
          <p:nvSpPr>
            <p:cNvPr id="61" name="TextBox 60"/>
            <p:cNvSpPr txBox="1"/>
            <p:nvPr/>
          </p:nvSpPr>
          <p:spPr>
            <a:xfrm>
              <a:off x="7104888"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out_of_stock + next best offer. The agent recovers.</a:t>
              </a:r>
            </a:p>
          </p:txBody>
        </p:sp>
      </p:grpSp>
      <p:grpSp>
        <p:nvGrpSpPr>
          <p:cNvPr id="62" name="Group 61"/>
          <p:cNvGrpSpPr/>
          <p:nvPr/>
        </p:nvGrpSpPr>
        <p:grpSpPr>
          <a:xfrm>
            <a:off x="8549640" y="1828800"/>
            <a:ext cx="1385316" cy="2148840"/>
            <a:chOff x="8549640" y="1828800"/>
            <a:chExt cx="1385316" cy="2148840"/>
          </a:xfrm>
        </p:grpSpPr>
        <p:sp>
          <p:nvSpPr>
            <p:cNvPr id="63" name="Rounded Rectangle 62"/>
            <p:cNvSpPr/>
            <p:nvPr/>
          </p:nvSpPr>
          <p:spPr>
            <a:xfrm>
              <a:off x="854964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64" name="TextBox 63"/>
            <p:cNvSpPr txBox="1"/>
            <p:nvPr/>
          </p:nvSpPr>
          <p:spPr>
            <a:xfrm>
              <a:off x="869594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6</a:t>
              </a:r>
            </a:p>
          </p:txBody>
        </p:sp>
        <p:sp>
          <p:nvSpPr>
            <p:cNvPr id="65" name="TextBox 64"/>
            <p:cNvSpPr txBox="1"/>
            <p:nvPr/>
          </p:nvSpPr>
          <p:spPr>
            <a:xfrm>
              <a:off x="8695944"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Spending policy</a:t>
              </a:r>
            </a:p>
          </p:txBody>
        </p:sp>
        <p:sp>
          <p:nvSpPr>
            <p:cNvPr id="66" name="TextBox 65"/>
            <p:cNvSpPr txBox="1"/>
            <p:nvPr/>
          </p:nvSpPr>
          <p:spPr>
            <a:xfrm>
              <a:off x="869594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Over the limit? Inkbox texts the human: “Reply YES 1234”.</a:t>
              </a:r>
            </a:p>
          </p:txBody>
        </p:sp>
      </p:grpSp>
      <p:cxnSp>
        <p:nvCxnSpPr>
          <p:cNvPr id="67" name="Connector 66"/>
          <p:cNvCxnSpPr/>
          <p:nvPr/>
        </p:nvCxnSpPr>
        <p:spPr>
          <a:xfrm>
            <a:off x="9962388" y="2903220"/>
            <a:ext cx="137160" cy="0"/>
          </a:xfrm>
          <a:prstGeom prst="line">
            <a:avLst/>
          </a:prstGeom>
          <a:ln w="19050">
            <a:solidFill>
              <a:srgbClr val="CFC3AA"/>
            </a:solidFill>
            <a:tailEnd type="triangle" w="med" len="med"/>
          </a:ln>
        </p:spPr>
      </p:cxnSp>
      <p:cxnSp>
        <p:nvCxnSpPr>
          <p:cNvPr id="68" name="Connector 67"/>
          <p:cNvCxnSpPr/>
          <p:nvPr/>
        </p:nvCxnSpPr>
        <p:spPr>
          <a:xfrm>
            <a:off x="9242298" y="4005072"/>
            <a:ext cx="0" cy="256032"/>
          </a:xfrm>
          <a:prstGeom prst="line">
            <a:avLst/>
          </a:prstGeom>
          <a:ln w="12700">
            <a:solidFill>
              <a:srgbClr val="CFC3AA"/>
            </a:solidFill>
            <a:prstDash val="dash"/>
          </a:ln>
        </p:spPr>
      </p:cxnSp>
      <p:grpSp>
        <p:nvGrpSpPr>
          <p:cNvPr id="69" name="Group 68"/>
          <p:cNvGrpSpPr/>
          <p:nvPr/>
        </p:nvGrpSpPr>
        <p:grpSpPr>
          <a:xfrm>
            <a:off x="8549640" y="4279392"/>
            <a:ext cx="1385316" cy="1024128"/>
            <a:chOff x="8549640" y="4279392"/>
            <a:chExt cx="1385316" cy="1024128"/>
          </a:xfrm>
        </p:grpSpPr>
        <p:sp>
          <p:nvSpPr>
            <p:cNvPr id="70" name="Rounded Rectangle 69"/>
            <p:cNvSpPr/>
            <p:nvPr/>
          </p:nvSpPr>
          <p:spPr>
            <a:xfrm>
              <a:off x="8549640" y="4279392"/>
              <a:ext cx="1385316" cy="1024128"/>
            </a:xfrm>
            <a:prstGeom prst="roundRect">
              <a:avLst>
                <a:gd name="adj" fmla="val 5357"/>
              </a:avLst>
            </a:prstGeom>
            <a:solidFill>
              <a:srgbClr val="E5F0E8"/>
            </a:solidFill>
            <a:ln>
              <a:noFill/>
            </a:ln>
          </p:spPr>
          <p:txBody>
            <a:bodyPr rtlCol="0" anchor="ctr"/>
            <a:lstStyle/>
            <a:p>
              <a:pPr algn="ctr"/>
            </a:p>
          </p:txBody>
        </p:sp>
        <p:sp>
          <p:nvSpPr>
            <p:cNvPr id="71" name="TextBox 70"/>
            <p:cNvSpPr txBox="1"/>
            <p:nvPr/>
          </p:nvSpPr>
          <p:spPr>
            <a:xfrm>
              <a:off x="8677656" y="4370832"/>
              <a:ext cx="1184148" cy="237744"/>
            </a:xfrm>
            <a:prstGeom prst="rect">
              <a:avLst/>
            </a:prstGeom>
            <a:noFill/>
          </p:spPr>
          <p:txBody>
            <a:bodyPr wrap="square" lIns="0" rIns="0" tIns="0" bIns="0" anchor="ctr">
              <a:noAutofit/>
            </a:bodyPr>
            <a:lstStyle/>
            <a:p>
              <a:pPr algn="l"/>
              <a:r>
                <a:rPr sz="1000" b="1" i="0">
                  <a:solidFill>
                    <a:srgbClr val="2D6A48"/>
                  </a:solidFill>
                  <a:latin typeface="Inter" panose="020B0502030000000004" pitchFamily="34" charset="0"/>
                </a:rPr>
                <a:t>Approved</a:t>
              </a:r>
            </a:p>
          </p:txBody>
        </p:sp>
        <p:sp>
          <p:nvSpPr>
            <p:cNvPr id="72" name="TextBox 71"/>
            <p:cNvSpPr txBox="1"/>
            <p:nvPr/>
          </p:nvSpPr>
          <p:spPr>
            <a:xfrm>
              <a:off x="8677656"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The human replies YES 1234.</a:t>
              </a:r>
            </a:p>
          </p:txBody>
        </p:sp>
      </p:grpSp>
      <p:grpSp>
        <p:nvGrpSpPr>
          <p:cNvPr id="73" name="Group 72"/>
          <p:cNvGrpSpPr/>
          <p:nvPr/>
        </p:nvGrpSpPr>
        <p:grpSpPr>
          <a:xfrm>
            <a:off x="10122408" y="1828800"/>
            <a:ext cx="1385316" cy="2148840"/>
            <a:chOff x="10122408" y="1828800"/>
            <a:chExt cx="1385316" cy="2148840"/>
          </a:xfrm>
        </p:grpSpPr>
        <p:sp>
          <p:nvSpPr>
            <p:cNvPr id="74" name="Rounded Rectangle 73"/>
            <p:cNvSpPr/>
            <p:nvPr/>
          </p:nvSpPr>
          <p:spPr>
            <a:xfrm>
              <a:off x="1012240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75" name="TextBox 74"/>
            <p:cNvSpPr txBox="1"/>
            <p:nvPr/>
          </p:nvSpPr>
          <p:spPr>
            <a:xfrm>
              <a:off x="1026871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7</a:t>
              </a:r>
            </a:p>
          </p:txBody>
        </p:sp>
        <p:sp>
          <p:nvSpPr>
            <p:cNvPr id="76" name="TextBox 75"/>
            <p:cNvSpPr txBox="1"/>
            <p:nvPr/>
          </p:nvSpPr>
          <p:spPr>
            <a:xfrm>
              <a:off x="1026871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Settlement ledger</a:t>
              </a:r>
            </a:p>
          </p:txBody>
        </p:sp>
        <p:sp>
          <p:nvSpPr>
            <p:cNvPr id="77" name="TextBox 76"/>
            <p:cNvSpPr txBox="1"/>
            <p:nvPr/>
          </p:nvSpPr>
          <p:spPr>
            <a:xfrm>
              <a:off x="1026871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Double-entry. Every transaction sums to $0. Receipt sent.</a:t>
              </a:r>
            </a:p>
          </p:txBody>
        </p:sp>
      </p:grpSp>
      <p:grpSp>
        <p:nvGrpSpPr>
          <p:cNvPr id="78" name="Group 77"/>
          <p:cNvGrpSpPr/>
          <p:nvPr/>
        </p:nvGrpSpPr>
        <p:grpSpPr>
          <a:xfrm>
            <a:off x="685800" y="5641848"/>
            <a:ext cx="10817352" cy="585216"/>
            <a:chOff x="685800" y="5641848"/>
            <a:chExt cx="10817352" cy="585216"/>
          </a:xfrm>
        </p:grpSpPr>
        <p:sp>
          <p:nvSpPr>
            <p:cNvPr id="79" name="Rounded Rectangle 78"/>
            <p:cNvSpPr/>
            <p:nvPr/>
          </p:nvSpPr>
          <p:spPr>
            <a:xfrm>
              <a:off x="685800" y="5641848"/>
              <a:ext cx="10817352" cy="585216"/>
            </a:xfrm>
            <a:prstGeom prst="roundRect">
              <a:avLst>
                <a:gd name="adj" fmla="val 9375"/>
              </a:avLst>
            </a:prstGeom>
            <a:solidFill>
              <a:srgbClr val="FFFDF7"/>
            </a:solidFill>
            <a:ln w="9525">
              <a:solidFill>
                <a:srgbClr val="E2D9C6"/>
              </a:solidFill>
            </a:ln>
          </p:spPr>
          <p:txBody>
            <a:bodyPr rtlCol="0" anchor="ctr"/>
            <a:lstStyle/>
            <a:p>
              <a:pPr algn="ctr"/>
            </a:p>
          </p:txBody>
        </p:sp>
      </p:grpSp>
      <p:grpSp>
        <p:nvGrpSpPr>
          <p:cNvPr id="80" name="Group 79"/>
          <p:cNvGrpSpPr/>
          <p:nvPr/>
        </p:nvGrpSpPr>
        <p:grpSpPr>
          <a:xfrm>
            <a:off x="914400" y="5641848"/>
            <a:ext cx="2430018" cy="585216"/>
            <a:chOff x="914400" y="5641848"/>
            <a:chExt cx="2430018" cy="585216"/>
          </a:xfrm>
        </p:grpSpPr>
        <p:sp>
          <p:nvSpPr>
            <p:cNvPr id="81" name="TextBox 80"/>
            <p:cNvSpPr txBox="1"/>
            <p:nvPr/>
          </p:nvSpPr>
          <p:spPr>
            <a:xfrm>
              <a:off x="914400"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2</a:t>
              </a:r>
              <a:r>
                <a:rPr sz="1100" b="0" i="0">
                  <a:solidFill>
                    <a:srgbClr val="6E6658"/>
                  </a:solidFill>
                  <a:latin typeface="Inter" panose="020B0502030000000004" pitchFamily="34" charset="0"/>
                </a:rPr>
                <a:t>   calls for the agent</a:t>
              </a:r>
            </a:p>
          </p:txBody>
        </p:sp>
      </p:grpSp>
      <p:sp>
        <p:nvSpPr>
          <p:cNvPr id="82" name="Rectangle 81"/>
          <p:cNvSpPr/>
          <p:nvPr/>
        </p:nvSpPr>
        <p:spPr>
          <a:xfrm>
            <a:off x="3390138" y="5769864"/>
            <a:ext cx="7315" cy="329184"/>
          </a:xfrm>
          <a:prstGeom prst="rect">
            <a:avLst/>
          </a:prstGeom>
          <a:solidFill>
            <a:srgbClr val="E2D9C6"/>
          </a:solidFill>
          <a:ln>
            <a:noFill/>
          </a:ln>
        </p:spPr>
        <p:txBody>
          <a:bodyPr rtlCol="0" anchor="ctr"/>
          <a:lstStyle/>
          <a:p>
            <a:pPr algn="ctr"/>
          </a:p>
        </p:txBody>
      </p:sp>
      <p:grpSp>
        <p:nvGrpSpPr>
          <p:cNvPr id="83" name="Group 82"/>
          <p:cNvGrpSpPr/>
          <p:nvPr/>
        </p:nvGrpSpPr>
        <p:grpSpPr>
          <a:xfrm>
            <a:off x="3618738" y="5641848"/>
            <a:ext cx="2430018" cy="585216"/>
            <a:chOff x="3618738" y="5641848"/>
            <a:chExt cx="2430018" cy="585216"/>
          </a:xfrm>
        </p:grpSpPr>
        <p:sp>
          <p:nvSpPr>
            <p:cNvPr id="84" name="TextBox 83"/>
            <p:cNvSpPr txBox="1"/>
            <p:nvPr/>
          </p:nvSpPr>
          <p:spPr>
            <a:xfrm>
              <a:off x="3618738"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~12 s</a:t>
              </a:r>
              <a:r>
                <a:rPr sz="1100" b="0" i="0">
                  <a:solidFill>
                    <a:srgbClr val="6E6658"/>
                  </a:solidFill>
                  <a:latin typeface="Inter" panose="020B0502030000000004" pitchFamily="34" charset="0"/>
                </a:rPr>
                <a:t>   per lot</a:t>
              </a:r>
            </a:p>
          </p:txBody>
        </p:sp>
      </p:grpSp>
      <p:sp>
        <p:nvSpPr>
          <p:cNvPr id="85" name="Rectangle 84"/>
          <p:cNvSpPr/>
          <p:nvPr/>
        </p:nvSpPr>
        <p:spPr>
          <a:xfrm>
            <a:off x="6094476" y="5769864"/>
            <a:ext cx="7315" cy="329184"/>
          </a:xfrm>
          <a:prstGeom prst="rect">
            <a:avLst/>
          </a:prstGeom>
          <a:solidFill>
            <a:srgbClr val="E2D9C6"/>
          </a:solidFill>
          <a:ln>
            <a:noFill/>
          </a:ln>
        </p:spPr>
        <p:txBody>
          <a:bodyPr rtlCol="0" anchor="ctr"/>
          <a:lstStyle/>
          <a:p>
            <a:pPr algn="ctr"/>
          </a:p>
        </p:txBody>
      </p:sp>
      <p:grpSp>
        <p:nvGrpSpPr>
          <p:cNvPr id="86" name="Group 85"/>
          <p:cNvGrpSpPr/>
          <p:nvPr/>
        </p:nvGrpSpPr>
        <p:grpSpPr>
          <a:xfrm>
            <a:off x="6323076" y="5641848"/>
            <a:ext cx="2430018" cy="585216"/>
            <a:chOff x="6323076" y="5641848"/>
            <a:chExt cx="2430018" cy="585216"/>
          </a:xfrm>
        </p:grpSpPr>
        <p:sp>
          <p:nvSpPr>
            <p:cNvPr id="87" name="TextBox 86"/>
            <p:cNvSpPr txBox="1"/>
            <p:nvPr/>
          </p:nvSpPr>
          <p:spPr>
            <a:xfrm>
              <a:off x="6323076" y="5641848"/>
              <a:ext cx="2430018" cy="585216"/>
            </a:xfrm>
            <a:prstGeom prst="rect">
              <a:avLst/>
            </a:prstGeom>
            <a:noFill/>
          </p:spPr>
          <p:txBody>
            <a:bodyPr wrap="square" lIns="0" rIns="0" tIns="0" bIns="0" anchor="ctr">
              <a:noAutofit/>
            </a:bodyPr>
            <a:lstStyle/>
            <a:p>
              <a:pPr algn="l"/>
              <a:r>
                <a:rPr sz="2100" b="0" i="0">
                  <a:solidFill>
                    <a:srgbClr val="2D6A48"/>
                  </a:solidFill>
                  <a:latin typeface="Georgia" panose="02040502050405020303" pitchFamily="18" charset="0"/>
                </a:rPr>
                <a:t>6</a:t>
              </a:r>
              <a:r>
                <a:rPr sz="1100" b="0" i="0">
                  <a:solidFill>
                    <a:srgbClr val="6E6658"/>
                  </a:solidFill>
                  <a:latin typeface="Inter" panose="020B0502030000000004" pitchFamily="34" charset="0"/>
                </a:rPr>
                <a:t>   checks per paddle</a:t>
              </a:r>
            </a:p>
          </p:txBody>
        </p:sp>
      </p:grpSp>
      <p:sp>
        <p:nvSpPr>
          <p:cNvPr id="88" name="Rectangle 87"/>
          <p:cNvSpPr/>
          <p:nvPr/>
        </p:nvSpPr>
        <p:spPr>
          <a:xfrm>
            <a:off x="8798814" y="5769864"/>
            <a:ext cx="7315" cy="329184"/>
          </a:xfrm>
          <a:prstGeom prst="rect">
            <a:avLst/>
          </a:prstGeom>
          <a:solidFill>
            <a:srgbClr val="E2D9C6"/>
          </a:solidFill>
          <a:ln>
            <a:noFill/>
          </a:ln>
        </p:spPr>
        <p:txBody>
          <a:bodyPr rtlCol="0" anchor="ctr"/>
          <a:lstStyle/>
          <a:p>
            <a:pPr algn="ctr"/>
          </a:p>
        </p:txBody>
      </p:sp>
      <p:grpSp>
        <p:nvGrpSpPr>
          <p:cNvPr id="89" name="Group 88"/>
          <p:cNvGrpSpPr/>
          <p:nvPr/>
        </p:nvGrpSpPr>
        <p:grpSpPr>
          <a:xfrm>
            <a:off x="9027414" y="5641848"/>
            <a:ext cx="2430018" cy="585216"/>
            <a:chOff x="9027414" y="5641848"/>
            <a:chExt cx="2430018" cy="585216"/>
          </a:xfrm>
        </p:grpSpPr>
        <p:sp>
          <p:nvSpPr>
            <p:cNvPr id="90" name="TextBox 89"/>
            <p:cNvSpPr txBox="1"/>
            <p:nvPr/>
          </p:nvSpPr>
          <p:spPr>
            <a:xfrm>
              <a:off x="9027414" y="5641848"/>
              <a:ext cx="2430018" cy="585216"/>
            </a:xfrm>
            <a:prstGeom prst="rect">
              <a:avLst/>
            </a:prstGeom>
            <a:noFill/>
          </p:spPr>
          <p:txBody>
            <a:bodyPr wrap="square" lIns="0" rIns="0" tIns="0" bIns="0" anchor="ctr">
              <a:noAutofit/>
            </a:bodyPr>
            <a:lstStyle/>
            <a:p>
              <a:pPr algn="l"/>
              <a:r>
                <a:rPr sz="2100" b="0" i="0">
                  <a:solidFill>
                    <a:srgbClr val="94641F"/>
                  </a:solidFill>
                  <a:latin typeface="Georgia" panose="02040502050405020303" pitchFamily="18" charset="0"/>
                </a:rPr>
                <a:t>0%</a:t>
              </a:r>
              <a:r>
                <a:rPr sz="1100" b="0" i="0">
                  <a:solidFill>
                    <a:srgbClr val="6E6658"/>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anim calcmode="lin" valueType="num">
                                      <p:cBhvr additive="base">
                                        <p:cTn id="16"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7"/>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220"/>
                                        <p:tgtEl>
                                          <p:spTgt spid="22"/>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50"/>
                                        <p:tgtEl>
                                          <p:spTgt spid="23"/>
                                        </p:tgtEl>
                                      </p:cBhvr>
                                    </p:animEffect>
                                    <p:anim calcmode="lin" valueType="num">
                                      <p:cBhvr additive="base">
                                        <p:cTn id="24" dur="450" fill="hold" decel="100000"/>
                                        <p:tgtEl>
                                          <p:spTgt spid="23"/>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3"/>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220"/>
                                        <p:tgtEl>
                                          <p:spTgt spid="28"/>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anim calcmode="lin" valueType="num">
                                      <p:cBhvr additive="base">
                                        <p:cTn id="32" dur="450" fill="hold" decel="100000"/>
                                        <p:tgtEl>
                                          <p:spTgt spid="2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9"/>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4"/>
                                        </p:tgtEl>
                                        <p:attrNameLst>
                                          <p:attrName>style.visibility</p:attrName>
                                        </p:attrNameLst>
                                      </p:cBhvr>
                                      <p:to>
                                        <p:strVal val="visible"/>
                                      </p:to>
                                    </p:set>
                                    <p:animEffect transition="in" filter="wipe(left)">
                                      <p:cBhvr>
                                        <p:cTn id="36" dur="220"/>
                                        <p:tgtEl>
                                          <p:spTgt spid="34"/>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50"/>
                                        <p:tgtEl>
                                          <p:spTgt spid="35"/>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anim calcmode="lin" valueType="num">
                                      <p:cBhvr additive="base">
                                        <p:cTn id="43"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6"/>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50"/>
                                        <p:tgtEl>
                                          <p:spTgt spid="40"/>
                                        </p:tgtEl>
                                      </p:cBhvr>
                                    </p:animEffect>
                                    <p:anim calcmode="lin" valueType="num">
                                      <p:cBhvr additive="base">
                                        <p:cTn id="48" dur="450" fill="hold" decel="100000"/>
                                        <p:tgtEl>
                                          <p:spTgt spid="40"/>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40"/>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6"/>
                                        </p:tgtEl>
                                        <p:attrNameLst>
                                          <p:attrName>style.visibility</p:attrName>
                                        </p:attrNameLst>
                                      </p:cBhvr>
                                      <p:to>
                                        <p:strVal val="visible"/>
                                      </p:to>
                                    </p:set>
                                    <p:animEffect transition="in" filter="wipe(left)">
                                      <p:cBhvr>
                                        <p:cTn id="68" dur="220"/>
                                        <p:tgtEl>
                                          <p:spTgt spid="56"/>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7"/>
                                        </p:tgtEl>
                                        <p:attrNameLst>
                                          <p:attrName>style.visibility</p:attrName>
                                        </p:attrNameLst>
                                      </p:cBhvr>
                                      <p:to>
                                        <p:strVal val="visible"/>
                                      </p:to>
                                    </p:set>
                                    <p:animEffect transition="in" filter="fade">
                                      <p:cBhvr>
                                        <p:cTn id="71" dur="250"/>
                                        <p:tgtEl>
                                          <p:spTgt spid="57"/>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8"/>
                                        </p:tgtEl>
                                        <p:attrNameLst>
                                          <p:attrName>style.visibility</p:attrName>
                                        </p:attrNameLst>
                                      </p:cBhvr>
                                      <p:to>
                                        <p:strVal val="visible"/>
                                      </p:to>
                                    </p:set>
                                    <p:animEffect transition="in" filter="fade">
                                      <p:cBhvr>
                                        <p:cTn id="74" dur="400"/>
                                        <p:tgtEl>
                                          <p:spTgt spid="58"/>
                                        </p:tgtEl>
                                      </p:cBhvr>
                                    </p:animEffect>
                                    <p:anim calcmode="lin" valueType="num">
                                      <p:cBhvr additive="base">
                                        <p:cTn id="75" dur="400" fill="hold" decel="100000"/>
                                        <p:tgtEl>
                                          <p:spTgt spid="58"/>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8"/>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50"/>
                                        <p:tgtEl>
                                          <p:spTgt spid="62"/>
                                        </p:tgtEl>
                                      </p:cBhvr>
                                    </p:animEffect>
                                    <p:anim calcmode="lin" valueType="num">
                                      <p:cBhvr additive="base">
                                        <p:cTn id="80"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2"/>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7"/>
                                        </p:tgtEl>
                                        <p:attrNameLst>
                                          <p:attrName>style.visibility</p:attrName>
                                        </p:attrNameLst>
                                      </p:cBhvr>
                                      <p:to>
                                        <p:strVal val="visible"/>
                                      </p:to>
                                    </p:set>
                                    <p:animEffect transition="in" filter="wipe(left)">
                                      <p:cBhvr>
                                        <p:cTn id="84" dur="220"/>
                                        <p:tgtEl>
                                          <p:spTgt spid="67"/>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68"/>
                                        </p:tgtEl>
                                        <p:attrNameLst>
                                          <p:attrName>style.visibility</p:attrName>
                                        </p:attrNameLst>
                                      </p:cBhvr>
                                      <p:to>
                                        <p:strVal val="visible"/>
                                      </p:to>
                                    </p:set>
                                    <p:animEffect transition="in" filter="fade">
                                      <p:cBhvr>
                                        <p:cTn id="87" dur="250"/>
                                        <p:tgtEl>
                                          <p:spTgt spid="68"/>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69"/>
                                        </p:tgtEl>
                                        <p:attrNameLst>
                                          <p:attrName>style.visibility</p:attrName>
                                        </p:attrNameLst>
                                      </p:cBhvr>
                                      <p:to>
                                        <p:strVal val="visible"/>
                                      </p:to>
                                    </p:set>
                                    <p:animEffect transition="in" filter="fade">
                                      <p:cBhvr>
                                        <p:cTn id="90" dur="400"/>
                                        <p:tgtEl>
                                          <p:spTgt spid="69"/>
                                        </p:tgtEl>
                                      </p:cBhvr>
                                    </p:animEffect>
                                    <p:anim calcmode="lin" valueType="num">
                                      <p:cBhvr additive="base">
                                        <p:cTn id="91" dur="400" fill="hold" decel="100000"/>
                                        <p:tgtEl>
                                          <p:spTgt spid="69"/>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9"/>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450"/>
                                        <p:tgtEl>
                                          <p:spTgt spid="73"/>
                                        </p:tgtEl>
                                      </p:cBhvr>
                                    </p:animEffect>
                                    <p:anim calcmode="lin" valueType="num">
                                      <p:cBhvr additive="base">
                                        <p:cTn id="96"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3"/>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78"/>
                                        </p:tgtEl>
                                        <p:attrNameLst>
                                          <p:attrName>style.visibility</p:attrName>
                                        </p:attrNameLst>
                                      </p:cBhvr>
                                      <p:to>
                                        <p:strVal val="visible"/>
                                      </p:to>
                                    </p:set>
                                    <p:animEffect transition="in" filter="fade">
                                      <p:cBhvr>
                                        <p:cTn id="100" dur="500"/>
                                        <p:tgtEl>
                                          <p:spTgt spid="78"/>
                                        </p:tgtEl>
                                      </p:cBhvr>
                                    </p:animEffect>
                                    <p:anim calcmode="lin" valueType="num">
                                      <p:cBhvr additive="base">
                                        <p:cTn id="101" dur="500" fill="hold" decel="100000"/>
                                        <p:tgtEl>
                                          <p:spTgt spid="78"/>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78"/>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0"/>
                                        </p:tgtEl>
                                        <p:attrNameLst>
                                          <p:attrName>style.visibility</p:attrName>
                                        </p:attrNameLst>
                                      </p:cBhvr>
                                      <p:to>
                                        <p:strVal val="visible"/>
                                      </p:to>
                                    </p:set>
                                    <p:animEffect transition="in" filter="fade">
                                      <p:cBhvr>
                                        <p:cTn id="105" dur="450"/>
                                        <p:tgtEl>
                                          <p:spTgt spid="80"/>
                                        </p:tgtEl>
                                      </p:cBhvr>
                                    </p:animEffect>
                                    <p:anim calcmode="lin" valueType="num">
                                      <p:cBhvr additive="base">
                                        <p:cTn id="106" dur="450" fill="hold" decel="100000"/>
                                        <p:tgtEl>
                                          <p:spTgt spid="80"/>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0"/>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50"/>
                                        <p:tgtEl>
                                          <p:spTgt spid="83"/>
                                        </p:tgtEl>
                                      </p:cBhvr>
                                    </p:animEffect>
                                    <p:anim calcmode="lin" valueType="num">
                                      <p:cBhvr additive="base">
                                        <p:cTn id="111"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3"/>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50"/>
                                        <p:tgtEl>
                                          <p:spTgt spid="86"/>
                                        </p:tgtEl>
                                      </p:cBhvr>
                                    </p:animEffect>
                                    <p:anim calcmode="lin" valueType="num">
                                      <p:cBhvr additive="base">
                                        <p:cTn id="116"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6"/>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89"/>
                                        </p:tgtEl>
                                        <p:attrNameLst>
                                          <p:attrName>style.visibility</p:attrName>
                                        </p:attrNameLst>
                                      </p:cBhvr>
                                      <p:to>
                                        <p:strVal val="visible"/>
                                      </p:to>
                                    </p:set>
                                    <p:animEffect transition="in" filter="fade">
                                      <p:cBhvr>
                                        <p:cTn id="120" dur="450"/>
                                        <p:tgtEl>
                                          <p:spTgt spid="89"/>
                                        </p:tgtEl>
                                      </p:cBhvr>
                                    </p:animEffect>
                                    <p:anim calcmode="lin" valueType="num">
                                      <p:cBhvr additive="base">
                                        <p:cTn id="121"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8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05  ·  LIVE DEMO HIGHLIGHTS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609584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48640"/>
          </a:xfrm>
          <a:prstGeom prst="rect">
            <a:avLst/>
          </a:prstGeom>
          <a:noFill/>
        </p:spPr>
        <p:txBody>
          <a:bodyPr wrap="square" lIns="0" rIns="0" tIns="0" bIns="0" anchor="t">
            <a:noAutofit/>
          </a:bodyPr>
          <a:lstStyle/>
          <a:p>
            <a:pPr algn="l">
              <a:lnSpc>
                <a:spcPct val="98000"/>
              </a:lnSpc>
            </a:pPr>
            <a:r>
              <a:rPr sz="3400" b="0" i="0" spc="-40">
                <a:solidFill>
                  <a:srgbClr val="16130E"/>
                </a:solidFill>
                <a:latin typeface="Georgia" panose="02040502050405020303" pitchFamily="18" charset="0"/>
              </a:rPr>
              <a:t>Live today: </a:t>
            </a:r>
            <a:r>
              <a:rPr sz="3400" b="0" i="1" spc="-40">
                <a:solidFill>
                  <a:srgbClr val="6E6658"/>
                </a:solidFill>
                <a:latin typeface="Georgia" panose="02040502050405020303" pitchFamily="18" charset="0"/>
              </a:rPr>
              <a:t>liars withdrawn, bribes ignored.</a:t>
            </a:r>
          </a:p>
        </p:txBody>
      </p:sp>
      <p:sp>
        <p:nvSpPr>
          <p:cNvPr id="17" name="TextBox 16"/>
          <p:cNvSpPr txBox="1"/>
          <p:nvPr/>
        </p:nvSpPr>
        <p:spPr>
          <a:xfrm>
            <a:off x="685800" y="1572768"/>
            <a:ext cx="60350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SALEROOM · AFTER THE HAMMER</a:t>
            </a:r>
          </a:p>
        </p:txBody>
      </p:sp>
      <p:grpSp>
        <p:nvGrpSpPr>
          <p:cNvPr id="18" name="Group 17"/>
          <p:cNvGrpSpPr/>
          <p:nvPr/>
        </p:nvGrpSpPr>
        <p:grpSpPr>
          <a:xfrm>
            <a:off x="685800" y="1828800"/>
            <a:ext cx="6035040" cy="3667887"/>
            <a:chOff x="685800" y="1828800"/>
            <a:chExt cx="6035040" cy="3667887"/>
          </a:xfrm>
        </p:grpSpPr>
        <p:sp>
          <p:nvSpPr>
            <p:cNvPr id="19" name="Rounded Rectangle 18"/>
            <p:cNvSpPr/>
            <p:nvPr/>
          </p:nvSpPr>
          <p:spPr>
            <a:xfrm>
              <a:off x="685800" y="1828800"/>
              <a:ext cx="6035040" cy="3667887"/>
            </a:xfrm>
            <a:prstGeom prst="roundRect">
              <a:avLst>
                <a:gd name="adj" fmla="val 199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20" name="Oval 19"/>
            <p:cNvSpPr/>
            <p:nvPr/>
          </p:nvSpPr>
          <p:spPr>
            <a:xfrm>
              <a:off x="832104" y="1929384"/>
              <a:ext cx="73152" cy="73152"/>
            </a:xfrm>
            <a:prstGeom prst="ellipse">
              <a:avLst/>
            </a:prstGeom>
            <a:solidFill>
              <a:srgbClr val="CFC3AA"/>
            </a:solidFill>
            <a:ln>
              <a:noFill/>
            </a:ln>
          </p:spPr>
          <p:txBody>
            <a:bodyPr rtlCol="0" anchor="ctr"/>
            <a:lstStyle/>
            <a:p>
              <a:pPr algn="ctr"/>
            </a:p>
          </p:txBody>
        </p:sp>
        <p:sp>
          <p:nvSpPr>
            <p:cNvPr id="21" name="Oval 20"/>
            <p:cNvSpPr/>
            <p:nvPr/>
          </p:nvSpPr>
          <p:spPr>
            <a:xfrm>
              <a:off x="969264" y="1929384"/>
              <a:ext cx="73152" cy="73152"/>
            </a:xfrm>
            <a:prstGeom prst="ellipse">
              <a:avLst/>
            </a:prstGeom>
            <a:solidFill>
              <a:srgbClr val="CFC3AA"/>
            </a:solidFill>
            <a:ln>
              <a:noFill/>
            </a:ln>
          </p:spPr>
          <p:txBody>
            <a:bodyPr rtlCol="0" anchor="ctr"/>
            <a:lstStyle/>
            <a:p>
              <a:pPr algn="ctr"/>
            </a:p>
          </p:txBody>
        </p:sp>
        <p:sp>
          <p:nvSpPr>
            <p:cNvPr id="22" name="Oval 21"/>
            <p:cNvSpPr/>
            <p:nvPr/>
          </p:nvSpPr>
          <p:spPr>
            <a:xfrm>
              <a:off x="1106424" y="1929384"/>
              <a:ext cx="73152" cy="73152"/>
            </a:xfrm>
            <a:prstGeom prst="ellipse">
              <a:avLst/>
            </a:prstGeom>
            <a:solidFill>
              <a:srgbClr val="CFC3AA"/>
            </a:solidFill>
            <a:ln>
              <a:noFill/>
            </a:ln>
          </p:spPr>
          <p:txBody>
            <a:bodyPr rtlCol="0" anchor="ctr"/>
            <a:lstStyle/>
            <a:p>
              <a:pPr algn="ctr"/>
            </a:p>
          </p:txBody>
        </p:sp>
        <p:sp>
          <p:nvSpPr>
            <p:cNvPr id="23" name="Rounded Rectangle 22"/>
            <p:cNvSpPr/>
            <p:nvPr/>
          </p:nvSpPr>
          <p:spPr>
            <a:xfrm>
              <a:off x="2496312" y="1888236"/>
              <a:ext cx="2414016" cy="155448"/>
            </a:xfrm>
            <a:prstGeom prst="roundRect">
              <a:avLst>
                <a:gd name="adj" fmla="val 50000"/>
              </a:avLst>
            </a:prstGeom>
            <a:solidFill>
              <a:srgbClr val="EFE8D9"/>
            </a:solidFill>
            <a:ln>
              <a:noFill/>
            </a:ln>
          </p:spPr>
          <p:txBody>
            <a:bodyPr rtlCol="0" anchor="ctr"/>
            <a:lstStyle/>
            <a:p>
              <a:pPr algn="ctr"/>
            </a:p>
          </p:txBody>
        </p:sp>
        <p:sp>
          <p:nvSpPr>
            <p:cNvPr id="24" name="TextBox 23"/>
            <p:cNvSpPr txBox="1"/>
            <p:nvPr/>
          </p:nvSpPr>
          <p:spPr>
            <a:xfrm>
              <a:off x="2496312" y="1888236"/>
              <a:ext cx="2414016"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25" name="Rectangle 24"/>
            <p:cNvSpPr/>
            <p:nvPr/>
          </p:nvSpPr>
          <p:spPr>
            <a:xfrm>
              <a:off x="694944" y="2093976"/>
              <a:ext cx="6016752" cy="7315"/>
            </a:xfrm>
            <a:prstGeom prst="rect">
              <a:avLst/>
            </a:prstGeom>
            <a:solidFill>
              <a:srgbClr val="E2D9C6"/>
            </a:solidFill>
            <a:ln>
              <a:noFill/>
            </a:ln>
          </p:spPr>
          <p:txBody>
            <a:bodyPr rtlCol="0" anchor="ctr"/>
            <a:lstStyle/>
            <a:p>
              <a:pPr algn="ctr"/>
            </a:p>
          </p:txBody>
        </p:sp>
        <p:pic>
          <p:nvPicPr>
            <p:cNvPr id="26" name="Picture 25" descr="exchange-ranked.png"/>
            <p:cNvPicPr>
              <a:picLocks noChangeAspect="1"/>
            </p:cNvPicPr>
            <p:nvPr/>
          </p:nvPicPr>
          <p:blipFill>
            <a:blip r:embed="rId2"/>
            <a:srcRect r="34000" b="34000"/>
            <a:stretch>
              <a:fillRect/>
            </a:stretch>
          </p:blipFill>
          <p:spPr>
            <a:xfrm>
              <a:off x="694944" y="2103120"/>
              <a:ext cx="6016752" cy="3384423"/>
            </a:xfrm>
            <a:prstGeom prst="roundRect">
              <a:avLst>
                <a:gd name="adj" fmla="val 1350"/>
              </a:avLst>
            </a:prstGeom>
          </p:spPr>
        </p:pic>
      </p:grpSp>
      <p:grpSp>
        <p:nvGrpSpPr>
          <p:cNvPr id="27" name="Group 26"/>
          <p:cNvGrpSpPr/>
          <p:nvPr/>
        </p:nvGrpSpPr>
        <p:grpSpPr>
          <a:xfrm>
            <a:off x="685800" y="5577840"/>
            <a:ext cx="1938528" cy="749808"/>
            <a:chOff x="685800" y="5577840"/>
            <a:chExt cx="1938528" cy="749808"/>
          </a:xfrm>
        </p:grpSpPr>
        <p:sp>
          <p:nvSpPr>
            <p:cNvPr id="28" name="Rounded Rectangle 27"/>
            <p:cNvSpPr/>
            <p:nvPr/>
          </p:nvSpPr>
          <p:spPr>
            <a:xfrm>
              <a:off x="685800"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29" name="Rounded Rectangle 28"/>
            <p:cNvSpPr/>
            <p:nvPr/>
          </p:nvSpPr>
          <p:spPr>
            <a:xfrm>
              <a:off x="795528" y="5660136"/>
              <a:ext cx="922528" cy="210312"/>
            </a:xfrm>
            <a:prstGeom prst="roundRect">
              <a:avLst>
                <a:gd name="adj" fmla="val 50000"/>
              </a:avLst>
            </a:prstGeom>
            <a:solidFill>
              <a:srgbClr val="F6EBD6"/>
            </a:solidFill>
            <a:ln>
              <a:noFill/>
            </a:ln>
          </p:spPr>
          <p:txBody>
            <a:bodyPr rtlCol="0" anchor="ctr"/>
            <a:lstStyle/>
            <a:p>
              <a:pPr algn="ctr"/>
            </a:p>
          </p:txBody>
        </p:sp>
        <p:sp>
          <p:nvSpPr>
            <p:cNvPr id="30" name="TextBox 29"/>
            <p:cNvSpPr txBox="1"/>
            <p:nvPr/>
          </p:nvSpPr>
          <p:spPr>
            <a:xfrm>
              <a:off x="795528" y="5660136"/>
              <a:ext cx="922528" cy="210312"/>
            </a:xfrm>
            <a:prstGeom prst="rect">
              <a:avLst/>
            </a:prstGeom>
            <a:noFill/>
          </p:spPr>
          <p:txBody>
            <a:bodyPr wrap="square" lIns="0" rIns="0" tIns="0" bIns="0" anchor="ctr">
              <a:noAutofit/>
            </a:bodyPr>
            <a:lstStyle/>
            <a:p>
              <a:pPr algn="ctr"/>
              <a:r>
                <a:rPr sz="800" b="1" i="0">
                  <a:solidFill>
                    <a:srgbClr val="94641F"/>
                  </a:solidFill>
                  <a:latin typeface="Inter" panose="020B0502030000000004" pitchFamily="34" charset="0"/>
                </a:rPr>
                <a:t>Bribe ignored</a:t>
              </a:r>
            </a:p>
          </p:txBody>
        </p:sp>
        <p:sp>
          <p:nvSpPr>
            <p:cNvPr id="31" name="TextBox 30"/>
            <p:cNvSpPr txBox="1"/>
            <p:nvPr/>
          </p:nvSpPr>
          <p:spPr>
            <a:xfrm>
              <a:off x="795528"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MegaMart Ads Co.:</a:t>
              </a:r>
              <a:r>
                <a:rPr sz="850" b="0" i="0">
                  <a:solidFill>
                    <a:srgbClr val="16130E"/>
                  </a:solidFill>
                  <a:latin typeface="Inter" panose="020B0502030000000004" pitchFamily="34" charset="0"/>
                </a:rPr>
                <a:t> Offered $35 commission · still No. 5.</a:t>
              </a:r>
            </a:p>
          </p:txBody>
        </p:sp>
      </p:grpSp>
      <p:grpSp>
        <p:nvGrpSpPr>
          <p:cNvPr id="32" name="Group 31"/>
          <p:cNvGrpSpPr/>
          <p:nvPr/>
        </p:nvGrpSpPr>
        <p:grpSpPr>
          <a:xfrm>
            <a:off x="2734056" y="5577840"/>
            <a:ext cx="1938528" cy="749808"/>
            <a:chOff x="2734056" y="5577840"/>
            <a:chExt cx="1938528" cy="749808"/>
          </a:xfrm>
        </p:grpSpPr>
        <p:sp>
          <p:nvSpPr>
            <p:cNvPr id="33" name="Rounded Rectangle 32"/>
            <p:cNvSpPr/>
            <p:nvPr/>
          </p:nvSpPr>
          <p:spPr>
            <a:xfrm>
              <a:off x="2734056"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34" name="Rounded Rectangle 33"/>
            <p:cNvSpPr/>
            <p:nvPr/>
          </p:nvSpPr>
          <p:spPr>
            <a:xfrm>
              <a:off x="2843784" y="5660136"/>
              <a:ext cx="1263904" cy="210312"/>
            </a:xfrm>
            <a:prstGeom prst="roundRect">
              <a:avLst>
                <a:gd name="adj" fmla="val 50000"/>
              </a:avLst>
            </a:prstGeom>
            <a:solidFill>
              <a:srgbClr val="F6E3DF"/>
            </a:solidFill>
            <a:ln>
              <a:noFill/>
            </a:ln>
          </p:spPr>
          <p:txBody>
            <a:bodyPr rtlCol="0" anchor="ctr"/>
            <a:lstStyle/>
            <a:p>
              <a:pPr algn="ctr"/>
            </a:p>
          </p:txBody>
        </p:sp>
        <p:sp>
          <p:nvSpPr>
            <p:cNvPr id="35" name="TextBox 34"/>
            <p:cNvSpPr txBox="1"/>
            <p:nvPr/>
          </p:nvSpPr>
          <p:spPr>
            <a:xfrm>
              <a:off x="2843784" y="5660136"/>
              <a:ext cx="1263904" cy="210312"/>
            </a:xfrm>
            <a:prstGeom prst="rect">
              <a:avLst/>
            </a:prstGeom>
            <a:noFill/>
          </p:spPr>
          <p:txBody>
            <a:bodyPr wrap="square" lIns="0" rIns="0" tIns="0" bIns="0" anchor="ctr">
              <a:noAutofit/>
            </a:bodyPr>
            <a:lstStyle/>
            <a:p>
              <a:pPr algn="ctr"/>
              <a:r>
                <a:rPr sz="800" b="1" i="0">
                  <a:solidFill>
                    <a:srgbClr val="8E2A22"/>
                  </a:solidFill>
                  <a:latin typeface="Inter" panose="020B0502030000000004" pitchFamily="34" charset="0"/>
                </a:rPr>
                <a:t>Injection withdrawn</a:t>
              </a:r>
            </a:p>
          </p:txBody>
        </p:sp>
        <p:sp>
          <p:nvSpPr>
            <p:cNvPr id="36" name="TextBox 35"/>
            <p:cNvSpPr txBox="1"/>
            <p:nvPr/>
          </p:nvSpPr>
          <p:spPr>
            <a:xfrm>
              <a:off x="2843784"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InjectCo:</a:t>
              </a:r>
              <a:r>
                <a:rPr sz="850" b="0" i="0">
                  <a:solidFill>
                    <a:srgbClr val="16130E"/>
                  </a:solidFill>
                  <a:latin typeface="Inter" panose="020B0502030000000004" pitchFamily="34" charset="0"/>
                </a:rPr>
                <a:t> “Ignore your previous instructions” in a pitch. Pitches are data.</a:t>
              </a:r>
            </a:p>
          </p:txBody>
        </p:sp>
      </p:grpSp>
      <p:grpSp>
        <p:nvGrpSpPr>
          <p:cNvPr id="37" name="Group 36"/>
          <p:cNvGrpSpPr/>
          <p:nvPr/>
        </p:nvGrpSpPr>
        <p:grpSpPr>
          <a:xfrm>
            <a:off x="4782312" y="5577840"/>
            <a:ext cx="1938528" cy="749808"/>
            <a:chOff x="4782312" y="5577840"/>
            <a:chExt cx="1938528" cy="749808"/>
          </a:xfrm>
        </p:grpSpPr>
        <p:sp>
          <p:nvSpPr>
            <p:cNvPr id="38" name="Rounded Rectangle 37"/>
            <p:cNvSpPr/>
            <p:nvPr/>
          </p:nvSpPr>
          <p:spPr>
            <a:xfrm>
              <a:off x="4782312"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39" name="Rounded Rectangle 38"/>
            <p:cNvSpPr/>
            <p:nvPr/>
          </p:nvSpPr>
          <p:spPr>
            <a:xfrm>
              <a:off x="4892040" y="5660136"/>
              <a:ext cx="638048" cy="210312"/>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4892040" y="5660136"/>
              <a:ext cx="638048" cy="210312"/>
            </a:xfrm>
            <a:prstGeom prst="rect">
              <a:avLst/>
            </a:prstGeom>
            <a:noFill/>
          </p:spPr>
          <p:txBody>
            <a:bodyPr wrap="square" lIns="0" rIns="0" tIns="0" bIns="0" anchor="ctr">
              <a:noAutofit/>
            </a:bodyPr>
            <a:lstStyle/>
            <a:p>
              <a:pPr algn="ctr"/>
              <a:r>
                <a:rPr sz="800" b="1" i="0">
                  <a:solidFill>
                    <a:srgbClr val="233F6E"/>
                  </a:solidFill>
                  <a:latin typeface="Inter" panose="020B0502030000000004" pitchFamily="34" charset="0"/>
                </a:rPr>
                <a:t>Sold out</a:t>
              </a:r>
            </a:p>
          </p:txBody>
        </p:sp>
        <p:sp>
          <p:nvSpPr>
            <p:cNvPr id="41" name="TextBox 40"/>
            <p:cNvSpPr txBox="1"/>
            <p:nvPr/>
          </p:nvSpPr>
          <p:spPr>
            <a:xfrm>
              <a:off x="4892040"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JetBrains Mono" panose="02000009000000000000" pitchFamily="49" charset="0"/>
                </a:rPr>
                <a:t>buy_offer:</a:t>
              </a:r>
              <a:r>
                <a:rPr sz="850" b="0" i="0">
                  <a:solidFill>
                    <a:srgbClr val="16130E"/>
                  </a:solidFill>
                  <a:latin typeface="Inter" panose="020B0502030000000004" pitchFamily="34" charset="0"/>
                </a:rPr>
                <a:t> out_of_stock + next_offer: the agent recovers on its own.</a:t>
              </a:r>
            </a:p>
          </p:txBody>
        </p:sp>
      </p:grpSp>
      <p:sp>
        <p:nvSpPr>
          <p:cNvPr id="42" name="TextBox 41"/>
          <p:cNvSpPr txBox="1"/>
          <p:nvPr/>
        </p:nvSpPr>
        <p:spPr>
          <a:xfrm>
            <a:off x="6967728" y="1572768"/>
            <a:ext cx="23774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APPROVER PHONE · SMS</a:t>
            </a:r>
          </a:p>
        </p:txBody>
      </p:sp>
      <p:grpSp>
        <p:nvGrpSpPr>
          <p:cNvPr id="43" name="Group 42"/>
          <p:cNvGrpSpPr/>
          <p:nvPr/>
        </p:nvGrpSpPr>
        <p:grpSpPr>
          <a:xfrm>
            <a:off x="6967728" y="1828800"/>
            <a:ext cx="2157551" cy="4498848"/>
            <a:chOff x="6967728" y="1828800"/>
            <a:chExt cx="2157551" cy="4498848"/>
          </a:xfrm>
        </p:grpSpPr>
        <p:sp>
          <p:nvSpPr>
            <p:cNvPr id="44" name="Rounded Rectangle 43"/>
            <p:cNvSpPr/>
            <p:nvPr/>
          </p:nvSpPr>
          <p:spPr>
            <a:xfrm>
              <a:off x="6967728" y="1828800"/>
              <a:ext cx="2157551" cy="4498848"/>
            </a:xfrm>
            <a:prstGeom prst="roundRect">
              <a:avLst>
                <a:gd name="adj" fmla="val 15257"/>
              </a:avLst>
            </a:prstGeom>
            <a:solidFill>
              <a:srgbClr val="16130E"/>
            </a:solidFill>
            <a:ln>
              <a:noFill/>
            </a:ln>
            <a:effectLst>
              <a:outerShdw blurRad="384048" dist="109728" dir="5400000" algn="t" rotWithShape="0">
                <a:srgbClr val="16130E">
                  <a:alpha val="12000"/>
                </a:srgbClr>
              </a:outerShdw>
            </a:effectLst>
          </p:spPr>
          <p:txBody>
            <a:bodyPr rtlCol="0" anchor="ctr"/>
            <a:lstStyle/>
            <a:p>
              <a:pPr algn="ctr"/>
            </a:p>
          </p:txBody>
        </p:sp>
        <p:pic>
          <p:nvPicPr>
            <p:cNvPr id="45" name="Picture 44" descr="phone-approval.png"/>
            <p:cNvPicPr>
              <a:picLocks noChangeAspect="1"/>
            </p:cNvPicPr>
            <p:nvPr/>
          </p:nvPicPr>
          <p:blipFill>
            <a:blip r:embed="rId3"/>
            <a:srcRect/>
            <a:stretch>
              <a:fillRect/>
            </a:stretch>
          </p:blipFill>
          <p:spPr>
            <a:xfrm>
              <a:off x="7040880" y="1901952"/>
              <a:ext cx="2011247" cy="4352544"/>
            </a:xfrm>
            <a:prstGeom prst="roundRect">
              <a:avLst>
                <a:gd name="adj" fmla="val 13184"/>
              </a:avLst>
            </a:prstGeom>
          </p:spPr>
        </p:pic>
      </p:grpSp>
      <p:grpSp>
        <p:nvGrpSpPr>
          <p:cNvPr id="46" name="Group 45"/>
          <p:cNvGrpSpPr/>
          <p:nvPr/>
        </p:nvGrpSpPr>
        <p:grpSpPr>
          <a:xfrm>
            <a:off x="9381311" y="1828800"/>
            <a:ext cx="2124585" cy="4498848"/>
            <a:chOff x="9381311" y="1828800"/>
            <a:chExt cx="2124585" cy="4498848"/>
          </a:xfrm>
        </p:grpSpPr>
        <p:sp>
          <p:nvSpPr>
            <p:cNvPr id="47" name="Rounded Rectangle 46"/>
            <p:cNvSpPr/>
            <p:nvPr/>
          </p:nvSpPr>
          <p:spPr>
            <a:xfrm>
              <a:off x="9381311" y="1828800"/>
              <a:ext cx="2124585" cy="4498848"/>
            </a:xfrm>
            <a:prstGeom prst="roundRect">
              <a:avLst>
                <a:gd name="adj" fmla="val 4303"/>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48" name="Rounded Rectangle 47"/>
            <p:cNvSpPr/>
            <p:nvPr/>
          </p:nvSpPr>
          <p:spPr>
            <a:xfrm>
              <a:off x="9445319" y="1892808"/>
              <a:ext cx="1996569" cy="4370832"/>
            </a:xfrm>
            <a:prstGeom prst="roundRect">
              <a:avLst>
                <a:gd name="adj" fmla="val 2747"/>
              </a:avLst>
            </a:prstGeom>
            <a:noFill/>
            <a:ln w="9525">
              <a:solidFill>
                <a:srgbClr val="B0894F">
                  <a:alpha val="60000"/>
                </a:srgbClr>
              </a:solidFill>
            </a:ln>
          </p:spPr>
          <p:txBody>
            <a:bodyPr rtlCol="0" anchor="ctr"/>
            <a:lstStyle/>
            <a:p>
              <a:pPr algn="ctr"/>
            </a:p>
          </p:txBody>
        </p:sp>
      </p:grpSp>
      <p:grpSp>
        <p:nvGrpSpPr>
          <p:cNvPr id="49" name="Group 48"/>
          <p:cNvGrpSpPr/>
          <p:nvPr/>
        </p:nvGrpSpPr>
        <p:grpSpPr>
          <a:xfrm>
            <a:off x="9655631" y="1938528"/>
            <a:ext cx="1667385" cy="960120"/>
            <a:chOff x="9655631" y="1938528"/>
            <a:chExt cx="1667385" cy="960120"/>
          </a:xfrm>
        </p:grpSpPr>
        <p:sp>
          <p:nvSpPr>
            <p:cNvPr id="50" name="TextBox 49"/>
            <p:cNvSpPr txBox="1"/>
            <p:nvPr/>
          </p:nvSpPr>
          <p:spPr>
            <a:xfrm>
              <a:off x="9655631" y="1938528"/>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8 → 5</a:t>
              </a:r>
            </a:p>
          </p:txBody>
        </p:sp>
        <p:sp>
          <p:nvSpPr>
            <p:cNvPr id="51" name="TextBox 50"/>
            <p:cNvSpPr txBox="1"/>
            <p:nvPr/>
          </p:nvSpPr>
          <p:spPr>
            <a:xfrm>
              <a:off x="9655631" y="2468880"/>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paddles raised → verified</a:t>
              </a:r>
            </a:p>
          </p:txBody>
        </p:sp>
      </p:grpSp>
      <p:sp>
        <p:nvSpPr>
          <p:cNvPr id="52" name="Rectangle 51"/>
          <p:cNvSpPr/>
          <p:nvPr/>
        </p:nvSpPr>
        <p:spPr>
          <a:xfrm>
            <a:off x="9609911" y="2953512"/>
            <a:ext cx="1667385" cy="7315"/>
          </a:xfrm>
          <a:prstGeom prst="rect">
            <a:avLst/>
          </a:prstGeom>
          <a:solidFill>
            <a:srgbClr val="2A2620"/>
          </a:solidFill>
          <a:ln>
            <a:noFill/>
          </a:ln>
        </p:spPr>
        <p:txBody>
          <a:bodyPr rtlCol="0" anchor="ctr"/>
          <a:lstStyle/>
          <a:p>
            <a:pPr algn="ctr"/>
          </a:p>
        </p:txBody>
      </p:sp>
      <p:grpSp>
        <p:nvGrpSpPr>
          <p:cNvPr id="53" name="Group 52"/>
          <p:cNvGrpSpPr/>
          <p:nvPr/>
        </p:nvGrpSpPr>
        <p:grpSpPr>
          <a:xfrm>
            <a:off x="9655631" y="3063240"/>
            <a:ext cx="1667385" cy="960120"/>
            <a:chOff x="9655631" y="3063240"/>
            <a:chExt cx="1667385" cy="960120"/>
          </a:xfrm>
        </p:grpSpPr>
        <p:sp>
          <p:nvSpPr>
            <p:cNvPr id="54" name="TextBox 53"/>
            <p:cNvSpPr txBox="1"/>
            <p:nvPr/>
          </p:nvSpPr>
          <p:spPr>
            <a:xfrm>
              <a:off x="9655631" y="3063240"/>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a:t>
              </a:r>
            </a:p>
          </p:txBody>
        </p:sp>
        <p:sp>
          <p:nvSpPr>
            <p:cNvPr id="55" name="TextBox 54"/>
            <p:cNvSpPr txBox="1"/>
            <p:nvPr/>
          </p:nvSpPr>
          <p:spPr>
            <a:xfrm>
              <a:off x="9655631" y="3593592"/>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withdrawn: a prompt injection, a hidden checkout fee and a fake ANC claim</a:t>
              </a:r>
            </a:p>
          </p:txBody>
        </p:sp>
      </p:grpSp>
      <p:sp>
        <p:nvSpPr>
          <p:cNvPr id="56" name="Rectangle 55"/>
          <p:cNvSpPr/>
          <p:nvPr/>
        </p:nvSpPr>
        <p:spPr>
          <a:xfrm>
            <a:off x="9609911" y="4078224"/>
            <a:ext cx="1667385" cy="7315"/>
          </a:xfrm>
          <a:prstGeom prst="rect">
            <a:avLst/>
          </a:prstGeom>
          <a:solidFill>
            <a:srgbClr val="2A2620"/>
          </a:solidFill>
          <a:ln>
            <a:noFill/>
          </a:ln>
        </p:spPr>
        <p:txBody>
          <a:bodyPr rtlCol="0" anchor="ctr"/>
          <a:lstStyle/>
          <a:p>
            <a:pPr algn="ctr"/>
          </a:p>
        </p:txBody>
      </p:sp>
      <p:grpSp>
        <p:nvGrpSpPr>
          <p:cNvPr id="57" name="Group 56"/>
          <p:cNvGrpSpPr/>
          <p:nvPr/>
        </p:nvGrpSpPr>
        <p:grpSpPr>
          <a:xfrm>
            <a:off x="9655631" y="4187952"/>
            <a:ext cx="1667385" cy="960120"/>
            <a:chOff x="9655631" y="4187952"/>
            <a:chExt cx="1667385" cy="960120"/>
          </a:xfrm>
        </p:grpSpPr>
        <p:sp>
          <p:nvSpPr>
            <p:cNvPr id="58" name="TextBox 57"/>
            <p:cNvSpPr txBox="1"/>
            <p:nvPr/>
          </p:nvSpPr>
          <p:spPr>
            <a:xfrm>
              <a:off x="9655631" y="4187952"/>
              <a:ext cx="1667385" cy="530352"/>
            </a:xfrm>
            <a:prstGeom prst="rect">
              <a:avLst/>
            </a:prstGeom>
            <a:noFill/>
          </p:spPr>
          <p:txBody>
            <a:bodyPr wrap="square" lIns="0" rIns="0" tIns="0" bIns="0" anchor="ctr">
              <a:noAutofit/>
            </a:bodyPr>
            <a:lstStyle/>
            <a:p>
              <a:pPr algn="l"/>
              <a:r>
                <a:rPr sz="2600" b="0" i="0">
                  <a:solidFill>
                    <a:srgbClr val="E9B44C"/>
                  </a:solidFill>
                  <a:latin typeface="Georgia" panose="02040502050405020303" pitchFamily="18" charset="0"/>
                </a:rPr>
                <a:t>No. 5</a:t>
              </a:r>
            </a:p>
          </p:txBody>
        </p:sp>
        <p:sp>
          <p:nvSpPr>
            <p:cNvPr id="59" name="TextBox 58"/>
            <p:cNvSpPr txBox="1"/>
            <p:nvPr/>
          </p:nvSpPr>
          <p:spPr>
            <a:xfrm>
              <a:off x="9655631" y="4718304"/>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where the $35 commission bribe stayed</a:t>
              </a:r>
            </a:p>
          </p:txBody>
        </p:sp>
      </p:grpSp>
      <p:sp>
        <p:nvSpPr>
          <p:cNvPr id="60" name="Rectangle 59"/>
          <p:cNvSpPr/>
          <p:nvPr/>
        </p:nvSpPr>
        <p:spPr>
          <a:xfrm>
            <a:off x="9609911" y="5202936"/>
            <a:ext cx="1667385" cy="7315"/>
          </a:xfrm>
          <a:prstGeom prst="rect">
            <a:avLst/>
          </a:prstGeom>
          <a:solidFill>
            <a:srgbClr val="2A2620"/>
          </a:solidFill>
          <a:ln>
            <a:noFill/>
          </a:ln>
        </p:spPr>
        <p:txBody>
          <a:bodyPr rtlCol="0" anchor="ctr"/>
          <a:lstStyle/>
          <a:p>
            <a:pPr algn="ctr"/>
          </a:p>
        </p:txBody>
      </p:sp>
      <p:grpSp>
        <p:nvGrpSpPr>
          <p:cNvPr id="61" name="Group 60"/>
          <p:cNvGrpSpPr/>
          <p:nvPr/>
        </p:nvGrpSpPr>
        <p:grpSpPr>
          <a:xfrm>
            <a:off x="9655631" y="5312664"/>
            <a:ext cx="1667385" cy="960120"/>
            <a:chOff x="9655631" y="5312664"/>
            <a:chExt cx="1667385" cy="960120"/>
          </a:xfrm>
        </p:grpSpPr>
        <p:sp>
          <p:nvSpPr>
            <p:cNvPr id="62" name="TextBox 61"/>
            <p:cNvSpPr txBox="1"/>
            <p:nvPr/>
          </p:nvSpPr>
          <p:spPr>
            <a:xfrm>
              <a:off x="9655631" y="5312664"/>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$368.99</a:t>
              </a:r>
            </a:p>
          </p:txBody>
        </p:sp>
        <p:sp>
          <p:nvSpPr>
            <p:cNvPr id="63" name="TextBox 62"/>
            <p:cNvSpPr txBox="1"/>
            <p:nvPr/>
          </p:nvSpPr>
          <p:spPr>
            <a:xfrm>
              <a:off x="9655631" y="5843016"/>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over the $300 limit: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700"/>
                                        <p:tgtEl>
                                          <p:spTgt spid="18"/>
                                        </p:tgtEl>
                                      </p:cBhvr>
                                    </p:animEffect>
                                    <p:anim calcmode="lin" valueType="num">
                                      <p:cBhvr additive="base">
                                        <p:cTn id="19" dur="7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50"/>
                                        <p:tgtEl>
                                          <p:spTgt spid="27"/>
                                        </p:tgtEl>
                                      </p:cBhvr>
                                    </p:animEffect>
                                    <p:anim calcmode="lin" valueType="num">
                                      <p:cBhvr additive="base">
                                        <p:cTn id="24" dur="450" fill="hold" decel="100000"/>
                                        <p:tgtEl>
                                          <p:spTgt spid="27"/>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7"/>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50"/>
                                        <p:tgtEl>
                                          <p:spTgt spid="32"/>
                                        </p:tgtEl>
                                      </p:cBhvr>
                                    </p:animEffect>
                                    <p:anim calcmode="lin" valueType="num">
                                      <p:cBhvr additive="base">
                                        <p:cTn id="29" dur="450" fill="hold" decel="100000"/>
                                        <p:tgtEl>
                                          <p:spTgt spid="32"/>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32"/>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10"/>
                                  </p:stCondLst>
                                  <p:childTnLst>
                                    <p:set>
                                      <p:cBhvr>
                                        <p:cTn id="32" dur="1" fill="hold">
                                          <p:stCondLst>
                                            <p:cond delay="0"/>
                                          </p:stCondLst>
                                        </p:cTn>
                                        <p:tgtEl>
                                          <p:spTgt spid="37"/>
                                        </p:tgtEl>
                                        <p:attrNameLst>
                                          <p:attrName>style.visibility</p:attrName>
                                        </p:attrNameLst>
                                      </p:cBhvr>
                                      <p:to>
                                        <p:strVal val="visible"/>
                                      </p:to>
                                    </p:set>
                                    <p:animEffect transition="in" filter="fade">
                                      <p:cBhvr>
                                        <p:cTn id="33" dur="450"/>
                                        <p:tgtEl>
                                          <p:spTgt spid="37"/>
                                        </p:tgtEl>
                                      </p:cBhvr>
                                    </p:animEffect>
                                    <p:anim calcmode="lin" valueType="num">
                                      <p:cBhvr additive="base">
                                        <p:cTn id="34" dur="450" fill="hold" decel="100000"/>
                                        <p:tgtEl>
                                          <p:spTgt spid="37"/>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37"/>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3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42" presetClass="entr" presetSubtype="0" fill="hold" grpId="0" nodeType="withEffect">
                                  <p:stCondLst>
                                    <p:cond delay="35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700"/>
                                        <p:tgtEl>
                                          <p:spTgt spid="43"/>
                                        </p:tgtEl>
                                      </p:cBhvr>
                                    </p:animEffect>
                                    <p:anim calcmode="lin" valueType="num">
                                      <p:cBhvr additive="base">
                                        <p:cTn id="42" dur="700" fill="hold" decel="100000"/>
                                        <p:tgtEl>
                                          <p:spTgt spid="43"/>
                                        </p:tgtEl>
                                        <p:attrNameLst>
                                          <p:attrName>ppt_x</p:attrName>
                                        </p:attrNameLst>
                                      </p:cBhvr>
                                      <p:tavLst>
                                        <p:tav tm="0">
                                          <p:val>
                                            <p:strVal val="#ppt_x"/>
                                          </p:val>
                                        </p:tav>
                                        <p:tav tm="100000">
                                          <p:val>
                                            <p:strVal val="#ppt_x"/>
                                          </p:val>
                                        </p:tav>
                                      </p:tavLst>
                                    </p:anim>
                                    <p:anim calcmode="lin" valueType="num">
                                      <p:cBhvr additive="base">
                                        <p:cTn id="43" dur="700" fill="hold" decel="100000"/>
                                        <p:tgtEl>
                                          <p:spTgt spid="43"/>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10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250"/>
                                  </p:stCondLst>
                                  <p:childTnLst>
                                    <p:set>
                                      <p:cBhvr>
                                        <p:cTn id="50" dur="1" fill="hold">
                                          <p:stCondLst>
                                            <p:cond delay="0"/>
                                          </p:stCondLst>
                                        </p:cTn>
                                        <p:tgtEl>
                                          <p:spTgt spid="49"/>
                                        </p:tgtEl>
                                        <p:attrNameLst>
                                          <p:attrName>style.visibility</p:attrName>
                                        </p:attrNameLst>
                                      </p:cBhvr>
                                      <p:to>
                                        <p:strVal val="visible"/>
                                      </p:to>
                                    </p:set>
                                    <p:animEffect transition="in" filter="fade">
                                      <p:cBhvr>
                                        <p:cTn id="51" dur="450"/>
                                        <p:tgtEl>
                                          <p:spTgt spid="49"/>
                                        </p:tgtEl>
                                      </p:cBhvr>
                                    </p:animEffect>
                                    <p:anim calcmode="lin" valueType="num">
                                      <p:cBhvr additive="base">
                                        <p:cTn id="52" dur="450" fill="hold" decel="100000"/>
                                        <p:tgtEl>
                                          <p:spTgt spid="49"/>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49"/>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6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50"/>
                                        <p:tgtEl>
                                          <p:spTgt spid="53"/>
                                        </p:tgtEl>
                                      </p:cBhvr>
                                    </p:animEffect>
                                    <p:anim calcmode="lin" valueType="num">
                                      <p:cBhvr additive="base">
                                        <p:cTn id="57" dur="450" fill="hold" decel="100000"/>
                                        <p:tgtEl>
                                          <p:spTgt spid="53"/>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53"/>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470"/>
                                  </p:stCondLst>
                                  <p:childTnLst>
                                    <p:set>
                                      <p:cBhvr>
                                        <p:cTn id="60" dur="1" fill="hold">
                                          <p:stCondLst>
                                            <p:cond delay="0"/>
                                          </p:stCondLst>
                                        </p:cTn>
                                        <p:tgtEl>
                                          <p:spTgt spid="57"/>
                                        </p:tgtEl>
                                        <p:attrNameLst>
                                          <p:attrName>style.visibility</p:attrName>
                                        </p:attrNameLst>
                                      </p:cBhvr>
                                      <p:to>
                                        <p:strVal val="visible"/>
                                      </p:to>
                                    </p:set>
                                    <p:animEffect transition="in" filter="fade">
                                      <p:cBhvr>
                                        <p:cTn id="61" dur="450"/>
                                        <p:tgtEl>
                                          <p:spTgt spid="57"/>
                                        </p:tgtEl>
                                      </p:cBhvr>
                                    </p:animEffect>
                                    <p:anim calcmode="lin" valueType="num">
                                      <p:cBhvr additive="base">
                                        <p:cTn id="62" dur="450" fill="hold" decel="100000"/>
                                        <p:tgtEl>
                                          <p:spTgt spid="57"/>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57"/>
                                        </p:tgtEl>
                                        <p:attrNameLst>
                                          <p:attrName>ppt_y</p:attrName>
                                        </p:attrNameLst>
                                      </p:cBhvr>
                                      <p:tavLst>
                                        <p:tav tm="0">
                                          <p:val>
                                            <p:strVal val="#ppt_y+0.025"/>
                                          </p:val>
                                        </p:tav>
                                        <p:tav tm="100000">
                                          <p:val>
                                            <p:strVal val="#ppt_y"/>
                                          </p:val>
                                        </p:tav>
                                      </p:tavLst>
                                    </p:anim>
                                  </p:childTnLst>
                                </p:cTn>
                              </p:par>
                              <p:par>
                                <p:cTn id="64" presetID="42" presetClass="entr" presetSubtype="0" fill="hold" grpId="0" nodeType="withEffect">
                                  <p:stCondLst>
                                    <p:cond delay="1580"/>
                                  </p:stCondLst>
                                  <p:childTnLst>
                                    <p:set>
                                      <p:cBhvr>
                                        <p:cTn id="65" dur="1" fill="hold">
                                          <p:stCondLst>
                                            <p:cond delay="0"/>
                                          </p:stCondLst>
                                        </p:cTn>
                                        <p:tgtEl>
                                          <p:spTgt spid="61"/>
                                        </p:tgtEl>
                                        <p:attrNameLst>
                                          <p:attrName>style.visibility</p:attrName>
                                        </p:attrNameLst>
                                      </p:cBhvr>
                                      <p:to>
                                        <p:strVal val="visible"/>
                                      </p:to>
                                    </p:set>
                                    <p:animEffect transition="in" filter="fade">
                                      <p:cBhvr>
                                        <p:cTn id="66" dur="450"/>
                                        <p:tgtEl>
                                          <p:spTgt spid="61"/>
                                        </p:tgtEl>
                                      </p:cBhvr>
                                    </p:animEffect>
                                    <p:anim calcmode="lin" valueType="num">
                                      <p:cBhvr additive="base">
                                        <p:cTn id="67" dur="450" fill="hold" decel="100000"/>
                                        <p:tgtEl>
                                          <p:spTgt spid="61"/>
                                        </p:tgtEl>
                                        <p:attrNameLst>
                                          <p:attrName>ppt_x</p:attrName>
                                        </p:attrNameLst>
                                      </p:cBhvr>
                                      <p:tavLst>
                                        <p:tav tm="0">
                                          <p:val>
                                            <p:strVal val="#ppt_x"/>
                                          </p:val>
                                        </p:tav>
                                        <p:tav tm="100000">
                                          <p:val>
                                            <p:strVal val="#ppt_x"/>
                                          </p:val>
                                        </p:tav>
                                      </p:tavLst>
                                    </p:anim>
                                    <p:anim calcmode="lin" valueType="num">
                                      <p:cBhvr additive="base">
                                        <p:cTn id="68" dur="450" fill="hold" decel="100000"/>
                                        <p:tgtEl>
                                          <p:spTgt spid="61"/>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06  ·  BUILT FOR AGENTS · MANUFACT TRACK</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731501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66928"/>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One MCP server. Two calls. </a:t>
            </a:r>
            <a:r>
              <a:rPr sz="3600" b="0" i="1" spc="-40">
                <a:solidFill>
                  <a:srgbClr val="6E6658"/>
                </a:solidFill>
                <a:latin typeface="Georgia" panose="02040502050405020303" pitchFamily="18" charset="0"/>
              </a:rPr>
              <a:t>Every client.</a:t>
            </a:r>
          </a:p>
        </p:txBody>
      </p:sp>
      <p:grpSp>
        <p:nvGrpSpPr>
          <p:cNvPr id="17" name="Group 16"/>
          <p:cNvGrpSpPr/>
          <p:nvPr/>
        </p:nvGrpSpPr>
        <p:grpSpPr>
          <a:xfrm>
            <a:off x="685800" y="1691640"/>
            <a:ext cx="4846320" cy="4553712"/>
            <a:chOff x="685800" y="1691640"/>
            <a:chExt cx="4846320" cy="4553712"/>
          </a:xfrm>
        </p:grpSpPr>
        <p:sp>
          <p:nvSpPr>
            <p:cNvPr id="18" name="Rounded Rectangle 17"/>
            <p:cNvSpPr/>
            <p:nvPr/>
          </p:nvSpPr>
          <p:spPr>
            <a:xfrm>
              <a:off x="685800" y="1691640"/>
              <a:ext cx="4846320" cy="4553712"/>
            </a:xfrm>
            <a:prstGeom prst="roundRect">
              <a:avLst>
                <a:gd name="adj" fmla="val 120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10512"/>
              <a:ext cx="43891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MCP SURFACE</a:t>
              </a:r>
            </a:p>
          </p:txBody>
        </p:sp>
        <p:sp>
          <p:nvSpPr>
            <p:cNvPr id="20" name="TextBox 19"/>
            <p:cNvSpPr txBox="1"/>
            <p:nvPr/>
          </p:nvSpPr>
          <p:spPr>
            <a:xfrm>
              <a:off x="91440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12</a:t>
              </a:r>
              <a:r>
                <a:rPr sz="1100" b="0" i="0">
                  <a:solidFill>
                    <a:srgbClr val="6E6658"/>
                  </a:solidFill>
                  <a:latin typeface="Inter" panose="020B0502030000000004" pitchFamily="34" charset="0"/>
                </a:rPr>
                <a:t>  tools</a:t>
              </a:r>
            </a:p>
          </p:txBody>
        </p:sp>
        <p:sp>
          <p:nvSpPr>
            <p:cNvPr id="21" name="Rectangle 20"/>
            <p:cNvSpPr/>
            <p:nvPr/>
          </p:nvSpPr>
          <p:spPr>
            <a:xfrm>
              <a:off x="2240280" y="2176272"/>
              <a:ext cx="7315" cy="502920"/>
            </a:xfrm>
            <a:prstGeom prst="rect">
              <a:avLst/>
            </a:prstGeom>
            <a:solidFill>
              <a:srgbClr val="E2D9C6"/>
            </a:solidFill>
            <a:ln>
              <a:noFill/>
            </a:ln>
          </p:spPr>
          <p:txBody>
            <a:bodyPr rtlCol="0" anchor="ctr"/>
            <a:lstStyle/>
            <a:p>
              <a:pPr algn="ctr"/>
            </a:p>
          </p:txBody>
        </p:sp>
        <p:sp>
          <p:nvSpPr>
            <p:cNvPr id="22" name="TextBox 21"/>
            <p:cNvSpPr txBox="1"/>
            <p:nvPr/>
          </p:nvSpPr>
          <p:spPr>
            <a:xfrm>
              <a:off x="242316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3</a:t>
              </a:r>
              <a:r>
                <a:rPr sz="1100" b="0" i="0">
                  <a:solidFill>
                    <a:srgbClr val="6E6658"/>
                  </a:solidFill>
                  <a:latin typeface="Inter" panose="020B0502030000000004" pitchFamily="34" charset="0"/>
                </a:rPr>
                <a:t>  resources</a:t>
              </a:r>
            </a:p>
          </p:txBody>
        </p:sp>
        <p:sp>
          <p:nvSpPr>
            <p:cNvPr id="23" name="Rectangle 22"/>
            <p:cNvSpPr/>
            <p:nvPr/>
          </p:nvSpPr>
          <p:spPr>
            <a:xfrm>
              <a:off x="3749040" y="2176272"/>
              <a:ext cx="7315" cy="502920"/>
            </a:xfrm>
            <a:prstGeom prst="rect">
              <a:avLst/>
            </a:prstGeom>
            <a:solidFill>
              <a:srgbClr val="E2D9C6"/>
            </a:solidFill>
            <a:ln>
              <a:noFill/>
            </a:ln>
          </p:spPr>
          <p:txBody>
            <a:bodyPr rtlCol="0" anchor="ctr"/>
            <a:lstStyle/>
            <a:p>
              <a:pPr algn="ctr"/>
            </a:p>
          </p:txBody>
        </p:sp>
        <p:sp>
          <p:nvSpPr>
            <p:cNvPr id="24" name="TextBox 23"/>
            <p:cNvSpPr txBox="1"/>
            <p:nvPr/>
          </p:nvSpPr>
          <p:spPr>
            <a:xfrm>
              <a:off x="393192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2</a:t>
              </a:r>
              <a:r>
                <a:rPr sz="1100" b="0" i="0">
                  <a:solidFill>
                    <a:srgbClr val="6E6658"/>
                  </a:solidFill>
                  <a:latin typeface="Inter" panose="020B0502030000000004" pitchFamily="34" charset="0"/>
                </a:rPr>
                <a:t>  prompts</a:t>
              </a:r>
            </a:p>
          </p:txBody>
        </p:sp>
      </p:grpSp>
      <p:sp>
        <p:nvSpPr>
          <p:cNvPr id="25" name="TextBox 24"/>
          <p:cNvSpPr txBox="1"/>
          <p:nvPr/>
        </p:nvSpPr>
        <p:spPr>
          <a:xfrm>
            <a:off x="914400" y="288036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Buyer agents · 8</a:t>
            </a:r>
          </a:p>
        </p:txBody>
      </p:sp>
      <p:grpSp>
        <p:nvGrpSpPr>
          <p:cNvPr id="26" name="Group 25"/>
          <p:cNvGrpSpPr/>
          <p:nvPr/>
        </p:nvGrpSpPr>
        <p:grpSpPr>
          <a:xfrm>
            <a:off x="914400" y="3154680"/>
            <a:ext cx="1015746" cy="265176"/>
            <a:chOff x="914400" y="3154680"/>
            <a:chExt cx="1015746" cy="265176"/>
          </a:xfrm>
        </p:grpSpPr>
        <p:sp>
          <p:nvSpPr>
            <p:cNvPr id="27" name="Rounded Rectangle 26"/>
            <p:cNvSpPr/>
            <p:nvPr/>
          </p:nvSpPr>
          <p:spPr>
            <a:xfrm>
              <a:off x="914400" y="3154680"/>
              <a:ext cx="1015746" cy="265176"/>
            </a:xfrm>
            <a:prstGeom prst="roundRect">
              <a:avLst>
                <a:gd name="adj" fmla="val 50000"/>
              </a:avLst>
            </a:prstGeom>
            <a:solidFill>
              <a:srgbClr val="E6ECF6"/>
            </a:solidFill>
            <a:ln>
              <a:noFill/>
            </a:ln>
          </p:spPr>
          <p:txBody>
            <a:bodyPr rtlCol="0" anchor="ctr"/>
            <a:lstStyle/>
            <a:p>
              <a:pPr algn="ctr"/>
            </a:p>
          </p:txBody>
        </p:sp>
        <p:sp>
          <p:nvSpPr>
            <p:cNvPr id="28" name="TextBox 27"/>
            <p:cNvSpPr txBox="1"/>
            <p:nvPr/>
          </p:nvSpPr>
          <p:spPr>
            <a:xfrm>
              <a:off x="914400" y="3154680"/>
              <a:ext cx="101574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find_offers</a:t>
              </a:r>
            </a:p>
          </p:txBody>
        </p:sp>
      </p:grpSp>
      <p:grpSp>
        <p:nvGrpSpPr>
          <p:cNvPr id="29" name="Group 28"/>
          <p:cNvGrpSpPr/>
          <p:nvPr/>
        </p:nvGrpSpPr>
        <p:grpSpPr>
          <a:xfrm>
            <a:off x="2003298" y="3154680"/>
            <a:ext cx="943356" cy="265176"/>
            <a:chOff x="2003298" y="3154680"/>
            <a:chExt cx="943356" cy="265176"/>
          </a:xfrm>
        </p:grpSpPr>
        <p:sp>
          <p:nvSpPr>
            <p:cNvPr id="30" name="Rounded Rectangle 29"/>
            <p:cNvSpPr/>
            <p:nvPr/>
          </p:nvSpPr>
          <p:spPr>
            <a:xfrm>
              <a:off x="2003298" y="3154680"/>
              <a:ext cx="943356" cy="265176"/>
            </a:xfrm>
            <a:prstGeom prst="roundRect">
              <a:avLst>
                <a:gd name="adj" fmla="val 50000"/>
              </a:avLst>
            </a:prstGeom>
            <a:solidFill>
              <a:srgbClr val="E6ECF6"/>
            </a:solidFill>
            <a:ln>
              <a:noFill/>
            </a:ln>
          </p:spPr>
          <p:txBody>
            <a:bodyPr rtlCol="0" anchor="ctr"/>
            <a:lstStyle/>
            <a:p>
              <a:pPr algn="ctr"/>
            </a:p>
          </p:txBody>
        </p:sp>
        <p:sp>
          <p:nvSpPr>
            <p:cNvPr id="31" name="TextBox 30"/>
            <p:cNvSpPr txBox="1"/>
            <p:nvPr/>
          </p:nvSpPr>
          <p:spPr>
            <a:xfrm>
              <a:off x="2003298" y="3154680"/>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get_offers</a:t>
              </a:r>
            </a:p>
          </p:txBody>
        </p:sp>
      </p:grpSp>
      <p:grpSp>
        <p:nvGrpSpPr>
          <p:cNvPr id="32" name="Group 31"/>
          <p:cNvGrpSpPr/>
          <p:nvPr/>
        </p:nvGrpSpPr>
        <p:grpSpPr>
          <a:xfrm>
            <a:off x="3019806" y="3154680"/>
            <a:ext cx="870966" cy="265176"/>
            <a:chOff x="3019806" y="3154680"/>
            <a:chExt cx="870966" cy="265176"/>
          </a:xfrm>
        </p:grpSpPr>
        <p:sp>
          <p:nvSpPr>
            <p:cNvPr id="33" name="Rounded Rectangle 32"/>
            <p:cNvSpPr/>
            <p:nvPr/>
          </p:nvSpPr>
          <p:spPr>
            <a:xfrm>
              <a:off x="3019806" y="3154680"/>
              <a:ext cx="870966" cy="265176"/>
            </a:xfrm>
            <a:prstGeom prst="roundRect">
              <a:avLst>
                <a:gd name="adj" fmla="val 50000"/>
              </a:avLst>
            </a:prstGeom>
            <a:solidFill>
              <a:srgbClr val="E6ECF6"/>
            </a:solidFill>
            <a:ln>
              <a:noFill/>
            </a:ln>
          </p:spPr>
          <p:txBody>
            <a:bodyPr rtlCol="0" anchor="ctr"/>
            <a:lstStyle/>
            <a:p>
              <a:pPr algn="ctr"/>
            </a:p>
          </p:txBody>
        </p:sp>
        <p:sp>
          <p:nvSpPr>
            <p:cNvPr id="34" name="TextBox 33"/>
            <p:cNvSpPr txBox="1"/>
            <p:nvPr/>
          </p:nvSpPr>
          <p:spPr>
            <a:xfrm>
              <a:off x="3019806" y="3154680"/>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buy_offer</a:t>
              </a:r>
            </a:p>
          </p:txBody>
        </p:sp>
      </p:grpSp>
      <p:grpSp>
        <p:nvGrpSpPr>
          <p:cNvPr id="35" name="Group 34"/>
          <p:cNvGrpSpPr/>
          <p:nvPr/>
        </p:nvGrpSpPr>
        <p:grpSpPr>
          <a:xfrm>
            <a:off x="3963924" y="3154680"/>
            <a:ext cx="1232916" cy="265176"/>
            <a:chOff x="3963924" y="3154680"/>
            <a:chExt cx="1232916" cy="265176"/>
          </a:xfrm>
        </p:grpSpPr>
        <p:sp>
          <p:nvSpPr>
            <p:cNvPr id="36" name="Rounded Rectangle 35"/>
            <p:cNvSpPr/>
            <p:nvPr/>
          </p:nvSpPr>
          <p:spPr>
            <a:xfrm>
              <a:off x="3963924" y="3154680"/>
              <a:ext cx="1232916" cy="265176"/>
            </a:xfrm>
            <a:prstGeom prst="roundRect">
              <a:avLst>
                <a:gd name="adj" fmla="val 50000"/>
              </a:avLst>
            </a:prstGeom>
            <a:solidFill>
              <a:srgbClr val="E6ECF6"/>
            </a:solidFill>
            <a:ln>
              <a:noFill/>
            </a:ln>
          </p:spPr>
          <p:txBody>
            <a:bodyPr rtlCol="0" anchor="ctr"/>
            <a:lstStyle/>
            <a:p>
              <a:pPr algn="ctr"/>
            </a:p>
          </p:txBody>
        </p:sp>
        <p:sp>
          <p:nvSpPr>
            <p:cNvPr id="37" name="TextBox 36"/>
            <p:cNvSpPr txBox="1"/>
            <p:nvPr/>
          </p:nvSpPr>
          <p:spPr>
            <a:xfrm>
              <a:off x="3963924" y="3154680"/>
              <a:ext cx="123291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check_approval</a:t>
              </a:r>
            </a:p>
          </p:txBody>
        </p:sp>
      </p:grpSp>
      <p:grpSp>
        <p:nvGrpSpPr>
          <p:cNvPr id="38" name="Group 37"/>
          <p:cNvGrpSpPr/>
          <p:nvPr/>
        </p:nvGrpSpPr>
        <p:grpSpPr>
          <a:xfrm>
            <a:off x="914400" y="3493008"/>
            <a:ext cx="870966" cy="265176"/>
            <a:chOff x="914400" y="3493008"/>
            <a:chExt cx="870966" cy="265176"/>
          </a:xfrm>
        </p:grpSpPr>
        <p:sp>
          <p:nvSpPr>
            <p:cNvPr id="39" name="Rounded Rectangle 38"/>
            <p:cNvSpPr/>
            <p:nvPr/>
          </p:nvSpPr>
          <p:spPr>
            <a:xfrm>
              <a:off x="914400" y="3493008"/>
              <a:ext cx="870966" cy="265176"/>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914400" y="3493008"/>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get_order</a:t>
              </a:r>
            </a:p>
          </p:txBody>
        </p:sp>
      </p:grpSp>
      <p:grpSp>
        <p:nvGrpSpPr>
          <p:cNvPr id="41" name="Group 40"/>
          <p:cNvGrpSpPr/>
          <p:nvPr/>
        </p:nvGrpSpPr>
        <p:grpSpPr>
          <a:xfrm>
            <a:off x="1858518" y="3493008"/>
            <a:ext cx="943356" cy="265176"/>
            <a:chOff x="1858518" y="3493008"/>
            <a:chExt cx="943356" cy="265176"/>
          </a:xfrm>
        </p:grpSpPr>
        <p:sp>
          <p:nvSpPr>
            <p:cNvPr id="42" name="Rounded Rectangle 41"/>
            <p:cNvSpPr/>
            <p:nvPr/>
          </p:nvSpPr>
          <p:spPr>
            <a:xfrm>
              <a:off x="1858518" y="3493008"/>
              <a:ext cx="943356" cy="265176"/>
            </a:xfrm>
            <a:prstGeom prst="roundRect">
              <a:avLst>
                <a:gd name="adj" fmla="val 50000"/>
              </a:avLst>
            </a:prstGeom>
            <a:solidFill>
              <a:srgbClr val="E6ECF6"/>
            </a:solidFill>
            <a:ln>
              <a:noFill/>
            </a:ln>
          </p:spPr>
          <p:txBody>
            <a:bodyPr rtlCol="0" anchor="ctr"/>
            <a:lstStyle/>
            <a:p>
              <a:pPr algn="ctr"/>
            </a:p>
          </p:txBody>
        </p:sp>
        <p:sp>
          <p:nvSpPr>
            <p:cNvPr id="43" name="TextBox 42"/>
            <p:cNvSpPr txBox="1"/>
            <p:nvPr/>
          </p:nvSpPr>
          <p:spPr>
            <a:xfrm>
              <a:off x="1858518" y="3493008"/>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get_wallet</a:t>
              </a:r>
            </a:p>
          </p:txBody>
        </p:sp>
      </p:grpSp>
      <p:grpSp>
        <p:nvGrpSpPr>
          <p:cNvPr id="44" name="Group 43"/>
          <p:cNvGrpSpPr/>
          <p:nvPr/>
        </p:nvGrpSpPr>
        <p:grpSpPr>
          <a:xfrm>
            <a:off x="2875026" y="3493008"/>
            <a:ext cx="1088136" cy="265176"/>
            <a:chOff x="2875026" y="3493008"/>
            <a:chExt cx="1088136" cy="265176"/>
          </a:xfrm>
        </p:grpSpPr>
        <p:sp>
          <p:nvSpPr>
            <p:cNvPr id="45" name="Rounded Rectangle 44"/>
            <p:cNvSpPr/>
            <p:nvPr/>
          </p:nvSpPr>
          <p:spPr>
            <a:xfrm>
              <a:off x="2875026" y="3493008"/>
              <a:ext cx="1088136" cy="265176"/>
            </a:xfrm>
            <a:prstGeom prst="roundRect">
              <a:avLst>
                <a:gd name="adj" fmla="val 50000"/>
              </a:avLst>
            </a:prstGeom>
            <a:solidFill>
              <a:srgbClr val="E6ECF6"/>
            </a:solidFill>
            <a:ln>
              <a:noFill/>
            </a:ln>
          </p:spPr>
          <p:txBody>
            <a:bodyPr rtlCol="0" anchor="ctr"/>
            <a:lstStyle/>
            <a:p>
              <a:pPr algn="ctr"/>
            </a:p>
          </p:txBody>
        </p:sp>
        <p:sp>
          <p:nvSpPr>
            <p:cNvPr id="46" name="TextBox 45"/>
            <p:cNvSpPr txBox="1"/>
            <p:nvPr/>
          </p:nvSpPr>
          <p:spPr>
            <a:xfrm>
              <a:off x="2875026" y="3493008"/>
              <a:ext cx="108813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report_offer</a:t>
              </a:r>
            </a:p>
          </p:txBody>
        </p:sp>
      </p:grpSp>
      <p:grpSp>
        <p:nvGrpSpPr>
          <p:cNvPr id="47" name="Group 46"/>
          <p:cNvGrpSpPr/>
          <p:nvPr/>
        </p:nvGrpSpPr>
        <p:grpSpPr>
          <a:xfrm>
            <a:off x="4036314" y="3493008"/>
            <a:ext cx="1160526" cy="265176"/>
            <a:chOff x="4036314" y="3493008"/>
            <a:chExt cx="1160526" cy="265176"/>
          </a:xfrm>
        </p:grpSpPr>
        <p:sp>
          <p:nvSpPr>
            <p:cNvPr id="48" name="Rounded Rectangle 47"/>
            <p:cNvSpPr/>
            <p:nvPr/>
          </p:nvSpPr>
          <p:spPr>
            <a:xfrm>
              <a:off x="4036314" y="3493008"/>
              <a:ext cx="1160526" cy="265176"/>
            </a:xfrm>
            <a:prstGeom prst="roundRect">
              <a:avLst>
                <a:gd name="adj" fmla="val 50000"/>
              </a:avLst>
            </a:prstGeom>
            <a:solidFill>
              <a:srgbClr val="E6ECF6"/>
            </a:solidFill>
            <a:ln>
              <a:noFill/>
            </a:ln>
          </p:spPr>
          <p:txBody>
            <a:bodyPr rtlCol="0" anchor="ctr"/>
            <a:lstStyle/>
            <a:p>
              <a:pPr algn="ctr"/>
            </a:p>
          </p:txBody>
        </p:sp>
        <p:sp>
          <p:nvSpPr>
            <p:cNvPr id="49" name="TextBox 48"/>
            <p:cNvSpPr txBox="1"/>
            <p:nvPr/>
          </p:nvSpPr>
          <p:spPr>
            <a:xfrm>
              <a:off x="4036314" y="3493008"/>
              <a:ext cx="116052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explain_offer</a:t>
              </a:r>
            </a:p>
          </p:txBody>
        </p:sp>
      </p:grpSp>
      <p:sp>
        <p:nvSpPr>
          <p:cNvPr id="50" name="TextBox 49"/>
          <p:cNvSpPr txBox="1"/>
          <p:nvPr/>
        </p:nvSpPr>
        <p:spPr>
          <a:xfrm>
            <a:off x="914400" y="388620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Merchant agents · 4</a:t>
            </a:r>
          </a:p>
        </p:txBody>
      </p:sp>
      <p:grpSp>
        <p:nvGrpSpPr>
          <p:cNvPr id="51" name="Group 50"/>
          <p:cNvGrpSpPr/>
          <p:nvPr/>
        </p:nvGrpSpPr>
        <p:grpSpPr>
          <a:xfrm>
            <a:off x="914400" y="4160520"/>
            <a:ext cx="1450086" cy="265176"/>
            <a:chOff x="914400" y="4160520"/>
            <a:chExt cx="1450086" cy="265176"/>
          </a:xfrm>
        </p:grpSpPr>
        <p:sp>
          <p:nvSpPr>
            <p:cNvPr id="52" name="Rounded Rectangle 51"/>
            <p:cNvSpPr/>
            <p:nvPr/>
          </p:nvSpPr>
          <p:spPr>
            <a:xfrm>
              <a:off x="914400" y="4160520"/>
              <a:ext cx="1450086" cy="265176"/>
            </a:xfrm>
            <a:prstGeom prst="roundRect">
              <a:avLst>
                <a:gd name="adj" fmla="val 50000"/>
              </a:avLst>
            </a:prstGeom>
            <a:solidFill>
              <a:srgbClr val="EFE8D9"/>
            </a:solidFill>
            <a:ln>
              <a:noFill/>
            </a:ln>
          </p:spPr>
          <p:txBody>
            <a:bodyPr rtlCol="0" anchor="ctr"/>
            <a:lstStyle/>
            <a:p>
              <a:pPr algn="ctr"/>
            </a:p>
          </p:txBody>
        </p:sp>
        <p:sp>
          <p:nvSpPr>
            <p:cNvPr id="53" name="TextBox 52"/>
            <p:cNvSpPr txBox="1"/>
            <p:nvPr/>
          </p:nvSpPr>
          <p:spPr>
            <a:xfrm>
              <a:off x="914400" y="4160520"/>
              <a:ext cx="145008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register_merchant</a:t>
              </a:r>
            </a:p>
          </p:txBody>
        </p:sp>
      </p:grpSp>
      <p:grpSp>
        <p:nvGrpSpPr>
          <p:cNvPr id="54" name="Group 53"/>
          <p:cNvGrpSpPr/>
          <p:nvPr/>
        </p:nvGrpSpPr>
        <p:grpSpPr>
          <a:xfrm>
            <a:off x="2437638" y="4160520"/>
            <a:ext cx="1522476" cy="265176"/>
            <a:chOff x="2437638" y="4160520"/>
            <a:chExt cx="1522476" cy="265176"/>
          </a:xfrm>
        </p:grpSpPr>
        <p:sp>
          <p:nvSpPr>
            <p:cNvPr id="55" name="Rounded Rectangle 54"/>
            <p:cNvSpPr/>
            <p:nvPr/>
          </p:nvSpPr>
          <p:spPr>
            <a:xfrm>
              <a:off x="2437638" y="4160520"/>
              <a:ext cx="1522476" cy="265176"/>
            </a:xfrm>
            <a:prstGeom prst="roundRect">
              <a:avLst>
                <a:gd name="adj" fmla="val 50000"/>
              </a:avLst>
            </a:prstGeom>
            <a:solidFill>
              <a:srgbClr val="EFE8D9"/>
            </a:solidFill>
            <a:ln>
              <a:noFill/>
            </a:ln>
          </p:spPr>
          <p:txBody>
            <a:bodyPr rtlCol="0" anchor="ctr"/>
            <a:lstStyle/>
            <a:p>
              <a:pPr algn="ctr"/>
            </a:p>
          </p:txBody>
        </p:sp>
        <p:sp>
          <p:nvSpPr>
            <p:cNvPr id="56" name="TextBox 55"/>
            <p:cNvSpPr txBox="1"/>
            <p:nvPr/>
          </p:nvSpPr>
          <p:spPr>
            <a:xfrm>
              <a:off x="2437638" y="4160520"/>
              <a:ext cx="152247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list_open_requests</a:t>
              </a:r>
            </a:p>
          </p:txBody>
        </p:sp>
      </p:grpSp>
      <p:grpSp>
        <p:nvGrpSpPr>
          <p:cNvPr id="57" name="Group 56"/>
          <p:cNvGrpSpPr/>
          <p:nvPr/>
        </p:nvGrpSpPr>
        <p:grpSpPr>
          <a:xfrm>
            <a:off x="4033266" y="4160520"/>
            <a:ext cx="870966" cy="265176"/>
            <a:chOff x="4033266" y="4160520"/>
            <a:chExt cx="870966" cy="265176"/>
          </a:xfrm>
        </p:grpSpPr>
        <p:sp>
          <p:nvSpPr>
            <p:cNvPr id="58" name="Rounded Rectangle 57"/>
            <p:cNvSpPr/>
            <p:nvPr/>
          </p:nvSpPr>
          <p:spPr>
            <a:xfrm>
              <a:off x="4033266" y="4160520"/>
              <a:ext cx="870966" cy="265176"/>
            </a:xfrm>
            <a:prstGeom prst="roundRect">
              <a:avLst>
                <a:gd name="adj" fmla="val 50000"/>
              </a:avLst>
            </a:prstGeom>
            <a:solidFill>
              <a:srgbClr val="EFE8D9"/>
            </a:solidFill>
            <a:ln>
              <a:noFill/>
            </a:ln>
          </p:spPr>
          <p:txBody>
            <a:bodyPr rtlCol="0" anchor="ctr"/>
            <a:lstStyle/>
            <a:p>
              <a:pPr algn="ctr"/>
            </a:p>
          </p:txBody>
        </p:sp>
        <p:sp>
          <p:nvSpPr>
            <p:cNvPr id="59" name="TextBox 58"/>
            <p:cNvSpPr txBox="1"/>
            <p:nvPr/>
          </p:nvSpPr>
          <p:spPr>
            <a:xfrm>
              <a:off x="4033266" y="4160520"/>
              <a:ext cx="87096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place_bid</a:t>
              </a:r>
            </a:p>
          </p:txBody>
        </p:sp>
      </p:grpSp>
      <p:grpSp>
        <p:nvGrpSpPr>
          <p:cNvPr id="60" name="Group 59"/>
          <p:cNvGrpSpPr/>
          <p:nvPr/>
        </p:nvGrpSpPr>
        <p:grpSpPr>
          <a:xfrm>
            <a:off x="914400" y="4498848"/>
            <a:ext cx="1232916" cy="265176"/>
            <a:chOff x="914400" y="4498848"/>
            <a:chExt cx="1232916" cy="265176"/>
          </a:xfrm>
        </p:grpSpPr>
        <p:sp>
          <p:nvSpPr>
            <p:cNvPr id="61" name="Rounded Rectangle 60"/>
            <p:cNvSpPr/>
            <p:nvPr/>
          </p:nvSpPr>
          <p:spPr>
            <a:xfrm>
              <a:off x="914400" y="4498848"/>
              <a:ext cx="1232916" cy="265176"/>
            </a:xfrm>
            <a:prstGeom prst="roundRect">
              <a:avLst>
                <a:gd name="adj" fmla="val 50000"/>
              </a:avLst>
            </a:prstGeom>
            <a:solidFill>
              <a:srgbClr val="EFE8D9"/>
            </a:solidFill>
            <a:ln>
              <a:noFill/>
            </a:ln>
          </p:spPr>
          <p:txBody>
            <a:bodyPr rtlCol="0" anchor="ctr"/>
            <a:lstStyle/>
            <a:p>
              <a:pPr algn="ctr"/>
            </a:p>
          </p:txBody>
        </p:sp>
        <p:sp>
          <p:nvSpPr>
            <p:cNvPr id="62" name="TextBox 61"/>
            <p:cNvSpPr txBox="1"/>
            <p:nvPr/>
          </p:nvSpPr>
          <p:spPr>
            <a:xfrm>
              <a:off x="914400" y="4498848"/>
              <a:ext cx="12329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get_my_results</a:t>
              </a:r>
            </a:p>
          </p:txBody>
        </p:sp>
      </p:grpSp>
      <p:sp>
        <p:nvSpPr>
          <p:cNvPr id="63" name="TextBox 62"/>
          <p:cNvSpPr txBox="1"/>
          <p:nvPr/>
        </p:nvSpPr>
        <p:spPr>
          <a:xfrm>
            <a:off x="914400" y="489204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Resources and prompts</a:t>
            </a:r>
          </a:p>
        </p:txBody>
      </p:sp>
      <p:grpSp>
        <p:nvGrpSpPr>
          <p:cNvPr id="64" name="Group 63"/>
          <p:cNvGrpSpPr/>
          <p:nvPr/>
        </p:nvGrpSpPr>
        <p:grpSpPr>
          <a:xfrm>
            <a:off x="914400" y="5166360"/>
            <a:ext cx="1956816" cy="265176"/>
            <a:chOff x="914400" y="5166360"/>
            <a:chExt cx="1956816" cy="265176"/>
          </a:xfrm>
        </p:grpSpPr>
        <p:sp>
          <p:nvSpPr>
            <p:cNvPr id="65" name="Rounded Rectangle 64"/>
            <p:cNvSpPr/>
            <p:nvPr/>
          </p:nvSpPr>
          <p:spPr>
            <a:xfrm>
              <a:off x="914400" y="5166360"/>
              <a:ext cx="195681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6" name="TextBox 65"/>
            <p:cNvSpPr txBox="1"/>
            <p:nvPr/>
          </p:nvSpPr>
          <p:spPr>
            <a:xfrm>
              <a:off x="914400" y="5166360"/>
              <a:ext cx="19568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bidwire://ranking-policy</a:t>
              </a:r>
            </a:p>
          </p:txBody>
        </p:sp>
      </p:grpSp>
      <p:grpSp>
        <p:nvGrpSpPr>
          <p:cNvPr id="67" name="Group 66"/>
          <p:cNvGrpSpPr/>
          <p:nvPr/>
        </p:nvGrpSpPr>
        <p:grpSpPr>
          <a:xfrm>
            <a:off x="2944368" y="5166360"/>
            <a:ext cx="1667256" cy="265176"/>
            <a:chOff x="2944368" y="5166360"/>
            <a:chExt cx="1667256" cy="265176"/>
          </a:xfrm>
        </p:grpSpPr>
        <p:sp>
          <p:nvSpPr>
            <p:cNvPr id="68" name="Rounded Rectangle 67"/>
            <p:cNvSpPr/>
            <p:nvPr/>
          </p:nvSpPr>
          <p:spPr>
            <a:xfrm>
              <a:off x="2944368" y="5166360"/>
              <a:ext cx="166725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9" name="TextBox 68"/>
            <p:cNvSpPr txBox="1"/>
            <p:nvPr/>
          </p:nvSpPr>
          <p:spPr>
            <a:xfrm>
              <a:off x="2944368" y="5166360"/>
              <a:ext cx="166725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bidwire://categories</a:t>
              </a:r>
            </a:p>
          </p:txBody>
        </p:sp>
      </p:grpSp>
      <p:grpSp>
        <p:nvGrpSpPr>
          <p:cNvPr id="70" name="Group 69"/>
          <p:cNvGrpSpPr/>
          <p:nvPr/>
        </p:nvGrpSpPr>
        <p:grpSpPr>
          <a:xfrm>
            <a:off x="914400" y="5504688"/>
            <a:ext cx="1739646" cy="265176"/>
            <a:chOff x="914400" y="5504688"/>
            <a:chExt cx="1739646" cy="265176"/>
          </a:xfrm>
        </p:grpSpPr>
        <p:sp>
          <p:nvSpPr>
            <p:cNvPr id="71" name="Rounded Rectangle 70"/>
            <p:cNvSpPr/>
            <p:nvPr/>
          </p:nvSpPr>
          <p:spPr>
            <a:xfrm>
              <a:off x="914400" y="5504688"/>
              <a:ext cx="17396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2" name="TextBox 71"/>
            <p:cNvSpPr txBox="1"/>
            <p:nvPr/>
          </p:nvSpPr>
          <p:spPr>
            <a:xfrm>
              <a:off x="914400" y="5504688"/>
              <a:ext cx="17396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bidwire://agent-guide</a:t>
              </a:r>
            </a:p>
          </p:txBody>
        </p:sp>
      </p:grpSp>
      <p:grpSp>
        <p:nvGrpSpPr>
          <p:cNvPr id="73" name="Group 72"/>
          <p:cNvGrpSpPr/>
          <p:nvPr/>
        </p:nvGrpSpPr>
        <p:grpSpPr>
          <a:xfrm>
            <a:off x="2727198" y="5504688"/>
            <a:ext cx="1015746" cy="265176"/>
            <a:chOff x="2727198" y="5504688"/>
            <a:chExt cx="1015746" cy="265176"/>
          </a:xfrm>
        </p:grpSpPr>
        <p:sp>
          <p:nvSpPr>
            <p:cNvPr id="74" name="Rounded Rectangle 73"/>
            <p:cNvSpPr/>
            <p:nvPr/>
          </p:nvSpPr>
          <p:spPr>
            <a:xfrm>
              <a:off x="2727198" y="5504688"/>
              <a:ext cx="10157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5" name="TextBox 74"/>
            <p:cNvSpPr txBox="1"/>
            <p:nvPr/>
          </p:nvSpPr>
          <p:spPr>
            <a:xfrm>
              <a:off x="2727198" y="5504688"/>
              <a:ext cx="10157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shop_for_me</a:t>
              </a:r>
            </a:p>
          </p:txBody>
        </p:sp>
      </p:grpSp>
      <p:grpSp>
        <p:nvGrpSpPr>
          <p:cNvPr id="76" name="Group 75"/>
          <p:cNvGrpSpPr/>
          <p:nvPr/>
        </p:nvGrpSpPr>
        <p:grpSpPr>
          <a:xfrm>
            <a:off x="3816096" y="5504688"/>
            <a:ext cx="1305306" cy="265176"/>
            <a:chOff x="3816096" y="5504688"/>
            <a:chExt cx="1305306" cy="265176"/>
          </a:xfrm>
        </p:grpSpPr>
        <p:sp>
          <p:nvSpPr>
            <p:cNvPr id="77" name="Rounded Rectangle 76"/>
            <p:cNvSpPr/>
            <p:nvPr/>
          </p:nvSpPr>
          <p:spPr>
            <a:xfrm>
              <a:off x="3816096" y="5504688"/>
              <a:ext cx="130530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8" name="TextBox 77"/>
            <p:cNvSpPr txBox="1"/>
            <p:nvPr/>
          </p:nvSpPr>
          <p:spPr>
            <a:xfrm>
              <a:off x="3816096" y="5504688"/>
              <a:ext cx="130530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sell_on_bidwire</a:t>
              </a:r>
            </a:p>
          </p:txBody>
        </p:sp>
      </p:grpSp>
      <p:sp>
        <p:nvSpPr>
          <p:cNvPr id="79" name="TextBox 78"/>
          <p:cNvSpPr txBox="1"/>
          <p:nvPr/>
        </p:nvSpPr>
        <p:spPr>
          <a:xfrm>
            <a:off x="914400" y="5852160"/>
            <a:ext cx="4389120" cy="274320"/>
          </a:xfrm>
          <a:prstGeom prst="rect">
            <a:avLst/>
          </a:prstGeom>
          <a:noFill/>
        </p:spPr>
        <p:txBody>
          <a:bodyPr wrap="square" lIns="0" rIns="0" tIns="0" bIns="0" anchor="ctr">
            <a:noAutofit/>
          </a:bodyPr>
          <a:lstStyle/>
          <a:p>
            <a:pPr algn="l"/>
            <a:r>
              <a:rPr sz="900" b="0" i="0">
                <a:solidFill>
                  <a:srgbClr val="9C937F"/>
                </a:solidFill>
                <a:latin typeface="Inter" panose="020B0502030000000004" pitchFamily="34" charset="0"/>
              </a:rPr>
              <a:t>Built on mcp-use (Manufact) · TypeScript · streamable HTTP at /mcp</a:t>
            </a:r>
          </a:p>
        </p:txBody>
      </p:sp>
      <p:grpSp>
        <p:nvGrpSpPr>
          <p:cNvPr id="80" name="Group 79"/>
          <p:cNvGrpSpPr/>
          <p:nvPr/>
        </p:nvGrpSpPr>
        <p:grpSpPr>
          <a:xfrm>
            <a:off x="5760720" y="1691640"/>
            <a:ext cx="5745175" cy="2331720"/>
            <a:chOff x="5760720" y="1691640"/>
            <a:chExt cx="5745175" cy="2331720"/>
          </a:xfrm>
        </p:grpSpPr>
        <p:sp>
          <p:nvSpPr>
            <p:cNvPr id="81" name="Rounded Rectangle 80"/>
            <p:cNvSpPr/>
            <p:nvPr/>
          </p:nvSpPr>
          <p:spPr>
            <a:xfrm>
              <a:off x="5760720" y="1691640"/>
              <a:ext cx="5745175" cy="2331720"/>
            </a:xfrm>
            <a:prstGeom prst="roundRect">
              <a:avLst>
                <a:gd name="adj" fmla="val 3921"/>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5824728" y="1755648"/>
              <a:ext cx="5617159" cy="2203704"/>
            </a:xfrm>
            <a:prstGeom prst="roundRect">
              <a:avLst>
                <a:gd name="adj" fmla="val 2489"/>
              </a:avLst>
            </a:prstGeom>
            <a:noFill/>
            <a:ln w="9525">
              <a:solidFill>
                <a:srgbClr val="B0894F">
                  <a:alpha val="60000"/>
                </a:srgbClr>
              </a:solidFill>
            </a:ln>
          </p:spPr>
          <p:txBody>
            <a:bodyPr rtlCol="0" anchor="ctr"/>
            <a:lstStyle/>
            <a:p>
              <a:pPr algn="ctr"/>
            </a:p>
          </p:txBody>
        </p:sp>
        <p:sp>
          <p:nvSpPr>
            <p:cNvPr id="83" name="TextBox 82"/>
            <p:cNvSpPr txBox="1"/>
            <p:nvPr/>
          </p:nvSpPr>
          <p:spPr>
            <a:xfrm>
              <a:off x="6035040" y="1828800"/>
              <a:ext cx="5196535" cy="219456"/>
            </a:xfrm>
            <a:prstGeom prst="rect">
              <a:avLst/>
            </a:prstGeom>
            <a:noFill/>
          </p:spPr>
          <p:txBody>
            <a:bodyPr wrap="square" lIns="0" rIns="0" tIns="0" bIns="0" anchor="ctr">
              <a:noAutofit/>
            </a:bodyPr>
            <a:lstStyle/>
            <a:p>
              <a:pPr algn="l"/>
              <a:r>
                <a:rPr sz="800" b="1" i="0" spc="110">
                  <a:solidFill>
                    <a:srgbClr val="B0894F"/>
                  </a:solidFill>
                  <a:latin typeface="Inter" panose="020B0502030000000004" pitchFamily="34" charset="0"/>
                </a:rPr>
                <a:t>TWO CALLS FROM ANY MCP CLIENT</a:t>
              </a:r>
            </a:p>
          </p:txBody>
        </p:sp>
      </p:grpSp>
      <p:sp>
        <p:nvSpPr>
          <p:cNvPr id="84" name="TextBox 83"/>
          <p:cNvSpPr txBox="1"/>
          <p:nvPr/>
        </p:nvSpPr>
        <p:spPr>
          <a:xfrm>
            <a:off x="6035040" y="2148840"/>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find_offers</a:t>
            </a:r>
            <a:r>
              <a:rPr sz="1050" b="0" i="0">
                <a:solidFill>
                  <a:srgbClr val="F3E9D2"/>
                </a:solidFill>
                <a:latin typeface="JetBrains Mono" panose="02000009000000000000" pitchFamily="49" charset="0"/>
              </a:rPr>
              <a:t>({ need: </a:t>
            </a:r>
            <a:r>
              <a:rPr sz="1050" b="0" i="0">
                <a:solidFill>
                  <a:srgbClr val="B9D8A8"/>
                </a:solidFill>
                <a:latin typeface="JetBrains Mono" panose="02000009000000000000" pitchFamily="49" charset="0"/>
              </a:rPr>
              <a:t>"noise cancelling headphones"</a:t>
            </a:r>
            <a:r>
              <a:rPr sz="1050" b="0" i="0">
                <a:solidFill>
                  <a:srgbClr val="F3E9D2"/>
                </a:solidFill>
                <a:latin typeface="JetBrains Mono" panose="02000009000000000000" pitchFamily="49" charset="0"/>
              </a:rPr>
              <a:t>,</a:t>
            </a:r>
          </a:p>
        </p:txBody>
      </p:sp>
      <p:sp>
        <p:nvSpPr>
          <p:cNvPr id="85" name="TextBox 84"/>
          <p:cNvSpPr txBox="1"/>
          <p:nvPr/>
        </p:nvSpPr>
        <p:spPr>
          <a:xfrm>
            <a:off x="6035040" y="2496312"/>
            <a:ext cx="5333695" cy="310896"/>
          </a:xfrm>
          <a:prstGeom prst="rect">
            <a:avLst/>
          </a:prstGeom>
          <a:noFill/>
        </p:spPr>
        <p:txBody>
          <a:bodyPr wrap="none" lIns="0" rIns="0" tIns="0" bIns="0" anchor="ctr">
            <a:noAutofit/>
          </a:bodyPr>
          <a:lstStyle/>
          <a:p>
            <a:pPr algn="l"/>
            <a:r>
              <a:rPr sz="1050" b="0" i="0">
                <a:solidFill>
                  <a:srgbClr val="F3E9D2"/>
                </a:solidFill>
                <a:latin typeface="JetBrains Mono" panose="02000009000000000000" pitchFamily="49" charset="0"/>
              </a:rPr>
              <a:t>                budget_usd: </a:t>
            </a:r>
            <a:r>
              <a:rPr sz="1050" b="0" i="0">
                <a:solidFill>
                  <a:srgbClr val="E9B44C"/>
                </a:solidFill>
                <a:latin typeface="JetBrains Mono" panose="02000009000000000000" pitchFamily="49" charset="0"/>
              </a:rPr>
              <a:t>400</a:t>
            </a:r>
            <a:r>
              <a:rPr sz="1050" b="0" i="0">
                <a:solidFill>
                  <a:srgbClr val="F3E9D2"/>
                </a:solidFill>
                <a:latin typeface="JetBrains Mono" panose="02000009000000000000" pitchFamily="49" charset="0"/>
              </a:rPr>
              <a:t>, deliver_within_days: </a:t>
            </a:r>
            <a:r>
              <a:rPr sz="1050" b="0" i="0">
                <a:solidFill>
                  <a:srgbClr val="E9B44C"/>
                </a:solidFill>
                <a:latin typeface="JetBrains Mono" panose="02000009000000000000" pitchFamily="49" charset="0"/>
              </a:rPr>
              <a:t>5</a:t>
            </a:r>
            <a:r>
              <a:rPr sz="1050" b="0" i="0">
                <a:solidFill>
                  <a:srgbClr val="F3E9D2"/>
                </a:solidFill>
                <a:latin typeface="JetBrains Mono" panose="02000009000000000000" pitchFamily="49" charset="0"/>
              </a:rPr>
              <a:t> })</a:t>
            </a:r>
          </a:p>
        </p:txBody>
      </p:sp>
      <p:sp>
        <p:nvSpPr>
          <p:cNvPr id="86" name="TextBox 85"/>
          <p:cNvSpPr txBox="1"/>
          <p:nvPr/>
        </p:nvSpPr>
        <p:spPr>
          <a:xfrm>
            <a:off x="6035040" y="2843784"/>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8 paddles → 5 verified · 3 withdrawn · ranked</a:t>
            </a:r>
          </a:p>
        </p:txBody>
      </p:sp>
      <p:sp>
        <p:nvSpPr>
          <p:cNvPr id="87" name="TextBox 86"/>
          <p:cNvSpPr txBox="1"/>
          <p:nvPr/>
        </p:nvSpPr>
        <p:spPr>
          <a:xfrm>
            <a:off x="6035040" y="3191256"/>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buy_offer</a:t>
            </a:r>
            <a:r>
              <a:rPr sz="1050" b="0" i="0">
                <a:solidFill>
                  <a:srgbClr val="F3E9D2"/>
                </a:solidFill>
                <a:latin typeface="JetBrains Mono" panose="02000009000000000000" pitchFamily="49" charset="0"/>
              </a:rPr>
              <a:t>({ offer_id: </a:t>
            </a:r>
            <a:r>
              <a:rPr sz="1050" b="0" i="0">
                <a:solidFill>
                  <a:srgbClr val="B9D8A8"/>
                </a:solidFill>
                <a:latin typeface="JetBrains Mono" panose="02000009000000000000" pitchFamily="49" charset="0"/>
              </a:rPr>
              <a:t>"bid_…"</a:t>
            </a:r>
            <a:r>
              <a:rPr sz="1050" b="0" i="0">
                <a:solidFill>
                  <a:srgbClr val="F3E9D2"/>
                </a:solidFill>
                <a:latin typeface="JetBrains Mono" panose="02000009000000000000" pitchFamily="49" charset="0"/>
              </a:rPr>
              <a:t> })</a:t>
            </a:r>
          </a:p>
        </p:txBody>
      </p:sp>
      <p:sp>
        <p:nvSpPr>
          <p:cNvPr id="88" name="TextBox 87"/>
          <p:cNvSpPr txBox="1"/>
          <p:nvPr/>
        </p:nvSpPr>
        <p:spPr>
          <a:xfrm>
            <a:off x="6035040" y="3538728"/>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approval_required → human texts YES →</a:t>
            </a:r>
            <a:r>
              <a:rPr sz="1050" b="0" i="0">
                <a:solidFill>
                  <a:srgbClr val="F3E9D2"/>
                </a:solidFill>
                <a:latin typeface="JetBrains Mono" panose="02000009000000000000" pitchFamily="49" charset="0"/>
              </a:rPr>
              <a:t> </a:t>
            </a:r>
            <a:r>
              <a:rPr sz="1050" b="1" i="0">
                <a:solidFill>
                  <a:srgbClr val="E9B44C"/>
                </a:solidFill>
                <a:latin typeface="JetBrains Mono" panose="02000009000000000000" pitchFamily="49" charset="0"/>
              </a:rPr>
              <a:t>sold ✓</a:t>
            </a:r>
          </a:p>
        </p:txBody>
      </p:sp>
      <p:grpSp>
        <p:nvGrpSpPr>
          <p:cNvPr id="89" name="Group 88"/>
          <p:cNvGrpSpPr/>
          <p:nvPr/>
        </p:nvGrpSpPr>
        <p:grpSpPr>
          <a:xfrm>
            <a:off x="5760720" y="4206240"/>
            <a:ext cx="1841906" cy="960120"/>
            <a:chOff x="5760720" y="4206240"/>
            <a:chExt cx="1841906" cy="960120"/>
          </a:xfrm>
        </p:grpSpPr>
        <p:sp>
          <p:nvSpPr>
            <p:cNvPr id="90" name="Rounded Rectangle 89"/>
            <p:cNvSpPr/>
            <p:nvPr/>
          </p:nvSpPr>
          <p:spPr>
            <a:xfrm>
              <a:off x="5760720"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1" name="TextBox 90"/>
            <p:cNvSpPr txBox="1"/>
            <p:nvPr/>
          </p:nvSpPr>
          <p:spPr>
            <a:xfrm>
              <a:off x="5907024"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Zero-config first call</a:t>
              </a:r>
            </a:p>
          </p:txBody>
        </p:sp>
        <p:sp>
          <p:nvSpPr>
            <p:cNvPr id="92" name="TextBox 91"/>
            <p:cNvSpPr txBox="1"/>
            <p:nvPr/>
          </p:nvSpPr>
          <p:spPr>
            <a:xfrm>
              <a:off x="5907024"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No key = guest agent. Claude, ChatGPT and Codex auto-map to demo agents.</a:t>
              </a:r>
            </a:p>
          </p:txBody>
        </p:sp>
      </p:grpSp>
      <p:grpSp>
        <p:nvGrpSpPr>
          <p:cNvPr id="93" name="Group 92"/>
          <p:cNvGrpSpPr/>
          <p:nvPr/>
        </p:nvGrpSpPr>
        <p:grpSpPr>
          <a:xfrm>
            <a:off x="7712354" y="4206240"/>
            <a:ext cx="1841906" cy="960120"/>
            <a:chOff x="7712354" y="4206240"/>
            <a:chExt cx="1841906" cy="960120"/>
          </a:xfrm>
        </p:grpSpPr>
        <p:sp>
          <p:nvSpPr>
            <p:cNvPr id="94" name="Rounded Rectangle 93"/>
            <p:cNvSpPr/>
            <p:nvPr/>
          </p:nvSpPr>
          <p:spPr>
            <a:xfrm>
              <a:off x="7712354"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5" name="TextBox 94"/>
            <p:cNvSpPr txBox="1"/>
            <p:nvPr/>
          </p:nvSpPr>
          <p:spPr>
            <a:xfrm>
              <a:off x="7858658"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Errors with hints</a:t>
              </a:r>
            </a:p>
          </p:txBody>
        </p:sp>
        <p:sp>
          <p:nvSpPr>
            <p:cNvPr id="96" name="TextBox 95"/>
            <p:cNvSpPr txBox="1"/>
            <p:nvPr/>
          </p:nvSpPr>
          <p:spPr>
            <a:xfrm>
              <a:off x="7858658"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 error, message, hint } tells the agent what to call next.</a:t>
              </a:r>
            </a:p>
          </p:txBody>
        </p:sp>
      </p:grpSp>
      <p:grpSp>
        <p:nvGrpSpPr>
          <p:cNvPr id="97" name="Group 96"/>
          <p:cNvGrpSpPr/>
          <p:nvPr/>
        </p:nvGrpSpPr>
        <p:grpSpPr>
          <a:xfrm>
            <a:off x="9663989" y="4206240"/>
            <a:ext cx="1841906" cy="960120"/>
            <a:chOff x="9663989" y="4206240"/>
            <a:chExt cx="1841906" cy="960120"/>
          </a:xfrm>
        </p:grpSpPr>
        <p:sp>
          <p:nvSpPr>
            <p:cNvPr id="98" name="Rounded Rectangle 97"/>
            <p:cNvSpPr/>
            <p:nvPr/>
          </p:nvSpPr>
          <p:spPr>
            <a:xfrm>
              <a:off x="9663989"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9" name="TextBox 98"/>
            <p:cNvSpPr txBox="1"/>
            <p:nvPr/>
          </p:nvSpPr>
          <p:spPr>
            <a:xfrm>
              <a:off x="9810293"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Idempotency keys</a:t>
              </a:r>
            </a:p>
          </p:txBody>
        </p:sp>
        <p:sp>
          <p:nvSpPr>
            <p:cNvPr id="100" name="TextBox 99"/>
            <p:cNvSpPr txBox="1"/>
            <p:nvPr/>
          </p:nvSpPr>
          <p:spPr>
            <a:xfrm>
              <a:off x="9810293"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Retries never double-buy. Same offer twice returns the same order.</a:t>
              </a:r>
            </a:p>
          </p:txBody>
        </p:sp>
      </p:grpSp>
      <p:grpSp>
        <p:nvGrpSpPr>
          <p:cNvPr id="101" name="Group 100"/>
          <p:cNvGrpSpPr/>
          <p:nvPr/>
        </p:nvGrpSpPr>
        <p:grpSpPr>
          <a:xfrm>
            <a:off x="5760720" y="5257800"/>
            <a:ext cx="1841906" cy="960120"/>
            <a:chOff x="5760720" y="5257800"/>
            <a:chExt cx="1841906" cy="960120"/>
          </a:xfrm>
        </p:grpSpPr>
        <p:sp>
          <p:nvSpPr>
            <p:cNvPr id="102" name="Rounded Rectangle 101"/>
            <p:cNvSpPr/>
            <p:nvPr/>
          </p:nvSpPr>
          <p:spPr>
            <a:xfrm>
              <a:off x="5760720"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3" name="TextBox 102"/>
            <p:cNvSpPr txBox="1"/>
            <p:nvPr/>
          </p:nvSpPr>
          <p:spPr>
            <a:xfrm>
              <a:off x="5907024"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Pitches are data</a:t>
              </a:r>
            </a:p>
          </p:txBody>
        </p:sp>
        <p:sp>
          <p:nvSpPr>
            <p:cNvPr id="104" name="TextBox 103"/>
            <p:cNvSpPr txBox="1"/>
            <p:nvPr/>
          </p:nvSpPr>
          <p:spPr>
            <a:xfrm>
              <a:off x="5907024"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Merchant pitches never reach the agent as instructions. Injections are withdrawn.</a:t>
              </a:r>
            </a:p>
          </p:txBody>
        </p:sp>
      </p:grpSp>
      <p:grpSp>
        <p:nvGrpSpPr>
          <p:cNvPr id="105" name="Group 104"/>
          <p:cNvGrpSpPr/>
          <p:nvPr/>
        </p:nvGrpSpPr>
        <p:grpSpPr>
          <a:xfrm>
            <a:off x="7712354" y="5257800"/>
            <a:ext cx="1841906" cy="960120"/>
            <a:chOff x="7712354" y="5257800"/>
            <a:chExt cx="1841906" cy="960120"/>
          </a:xfrm>
        </p:grpSpPr>
        <p:sp>
          <p:nvSpPr>
            <p:cNvPr id="106" name="Rounded Rectangle 105"/>
            <p:cNvSpPr/>
            <p:nvPr/>
          </p:nvSpPr>
          <p:spPr>
            <a:xfrm>
              <a:off x="7712354"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7" name="TextBox 106"/>
            <p:cNvSpPr txBox="1"/>
            <p:nvPr/>
          </p:nvSpPr>
          <p:spPr>
            <a:xfrm>
              <a:off x="7858658"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Waits, doesn't poll</a:t>
              </a:r>
            </a:p>
          </p:txBody>
        </p:sp>
        <p:sp>
          <p:nvSpPr>
            <p:cNvPr id="108" name="TextBox 107"/>
            <p:cNvSpPr txBox="1"/>
            <p:nvPr/>
          </p:nvSpPr>
          <p:spPr>
            <a:xfrm>
              <a:off x="7858658"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find_offers waits for the lot; buy_offer waits for the human's YES.</a:t>
              </a:r>
            </a:p>
          </p:txBody>
        </p:sp>
      </p:grpSp>
      <p:grpSp>
        <p:nvGrpSpPr>
          <p:cNvPr id="109" name="Group 108"/>
          <p:cNvGrpSpPr/>
          <p:nvPr/>
        </p:nvGrpSpPr>
        <p:grpSpPr>
          <a:xfrm>
            <a:off x="9663989" y="5257800"/>
            <a:ext cx="1841906" cy="960120"/>
            <a:chOff x="9663989" y="5257800"/>
            <a:chExt cx="1841906" cy="960120"/>
          </a:xfrm>
        </p:grpSpPr>
        <p:sp>
          <p:nvSpPr>
            <p:cNvPr id="110" name="Rounded Rectangle 109"/>
            <p:cNvSpPr/>
            <p:nvPr/>
          </p:nvSpPr>
          <p:spPr>
            <a:xfrm>
              <a:off x="9663989"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11" name="TextBox 110"/>
            <p:cNvSpPr txBox="1"/>
            <p:nvPr/>
          </p:nvSpPr>
          <p:spPr>
            <a:xfrm>
              <a:off x="9810293"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Every client</a:t>
              </a:r>
            </a:p>
          </p:txBody>
        </p:sp>
        <p:sp>
          <p:nvSpPr>
            <p:cNvPr id="112" name="TextBox 111"/>
            <p:cNvSpPr txBox="1"/>
            <p:nvPr/>
          </p:nvSpPr>
          <p:spPr>
            <a:xfrm>
              <a:off x="9810293"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300"/>
                                        <p:tgtEl>
                                          <p:spTgt spid="25"/>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250"/>
                                        <p:tgtEl>
                                          <p:spTgt spid="26"/>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250"/>
                                        <p:tgtEl>
                                          <p:spTgt spid="2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250"/>
                                        <p:tgtEl>
                                          <p:spTgt spid="32"/>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250"/>
                                        <p:tgtEl>
                                          <p:spTgt spid="35"/>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250"/>
                                        <p:tgtEl>
                                          <p:spTgt spid="38"/>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250"/>
                                        <p:tgtEl>
                                          <p:spTgt spid="41"/>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250"/>
                                        <p:tgtEl>
                                          <p:spTgt spid="44"/>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250"/>
                                        <p:tgtEl>
                                          <p:spTgt spid="47"/>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00"/>
                                        <p:tgtEl>
                                          <p:spTgt spid="50"/>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250"/>
                                        <p:tgtEl>
                                          <p:spTgt spid="51"/>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4"/>
                                        </p:tgtEl>
                                        <p:attrNameLst>
                                          <p:attrName>style.visibility</p:attrName>
                                        </p:attrNameLst>
                                      </p:cBhvr>
                                      <p:to>
                                        <p:strVal val="visible"/>
                                      </p:to>
                                    </p:set>
                                    <p:animEffect transition="in" filter="fade">
                                      <p:cBhvr>
                                        <p:cTn id="53" dur="250"/>
                                        <p:tgtEl>
                                          <p:spTgt spid="54"/>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7"/>
                                        </p:tgtEl>
                                        <p:attrNameLst>
                                          <p:attrName>style.visibility</p:attrName>
                                        </p:attrNameLst>
                                      </p:cBhvr>
                                      <p:to>
                                        <p:strVal val="visible"/>
                                      </p:to>
                                    </p:set>
                                    <p:animEffect transition="in" filter="fade">
                                      <p:cBhvr>
                                        <p:cTn id="56" dur="250"/>
                                        <p:tgtEl>
                                          <p:spTgt spid="57"/>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60"/>
                                        </p:tgtEl>
                                        <p:attrNameLst>
                                          <p:attrName>style.visibility</p:attrName>
                                        </p:attrNameLst>
                                      </p:cBhvr>
                                      <p:to>
                                        <p:strVal val="visible"/>
                                      </p:to>
                                    </p:set>
                                    <p:animEffect transition="in" filter="fade">
                                      <p:cBhvr>
                                        <p:cTn id="59" dur="250"/>
                                        <p:tgtEl>
                                          <p:spTgt spid="60"/>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300"/>
                                        <p:tgtEl>
                                          <p:spTgt spid="63"/>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250"/>
                                        <p:tgtEl>
                                          <p:spTgt spid="64"/>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250"/>
                                        <p:tgtEl>
                                          <p:spTgt spid="67"/>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250"/>
                                        <p:tgtEl>
                                          <p:spTgt spid="70"/>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73"/>
                                        </p:tgtEl>
                                        <p:attrNameLst>
                                          <p:attrName>style.visibility</p:attrName>
                                        </p:attrNameLst>
                                      </p:cBhvr>
                                      <p:to>
                                        <p:strVal val="visible"/>
                                      </p:to>
                                    </p:set>
                                    <p:animEffect transition="in" filter="fade">
                                      <p:cBhvr>
                                        <p:cTn id="74" dur="250"/>
                                        <p:tgtEl>
                                          <p:spTgt spid="73"/>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6"/>
                                        </p:tgtEl>
                                        <p:attrNameLst>
                                          <p:attrName>style.visibility</p:attrName>
                                        </p:attrNameLst>
                                      </p:cBhvr>
                                      <p:to>
                                        <p:strVal val="visible"/>
                                      </p:to>
                                    </p:set>
                                    <p:animEffect transition="in" filter="fade">
                                      <p:cBhvr>
                                        <p:cTn id="77" dur="250"/>
                                        <p:tgtEl>
                                          <p:spTgt spid="76"/>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9"/>
                                        </p:tgtEl>
                                        <p:attrNameLst>
                                          <p:attrName>style.visibility</p:attrName>
                                        </p:attrNameLst>
                                      </p:cBhvr>
                                      <p:to>
                                        <p:strVal val="visible"/>
                                      </p:to>
                                    </p:set>
                                    <p:animEffect transition="in" filter="fade">
                                      <p:cBhvr>
                                        <p:cTn id="80" dur="400"/>
                                        <p:tgtEl>
                                          <p:spTgt spid="79"/>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80"/>
                                        </p:tgtEl>
                                        <p:attrNameLst>
                                          <p:attrName>style.visibility</p:attrName>
                                        </p:attrNameLst>
                                      </p:cBhvr>
                                      <p:to>
                                        <p:strVal val="visible"/>
                                      </p:to>
                                    </p:set>
                                    <p:animEffect transition="in" filter="fade">
                                      <p:cBhvr>
                                        <p:cTn id="83" dur="500"/>
                                        <p:tgtEl>
                                          <p:spTgt spid="80"/>
                                        </p:tgtEl>
                                      </p:cBhvr>
                                    </p:animEffect>
                                    <p:anim calcmode="lin" valueType="num">
                                      <p:cBhvr additive="base">
                                        <p:cTn id="84" dur="500" fill="hold" decel="100000"/>
                                        <p:tgtEl>
                                          <p:spTgt spid="80"/>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80"/>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4"/>
                                        </p:tgtEl>
                                        <p:attrNameLst>
                                          <p:attrName>style.visibility</p:attrName>
                                        </p:attrNameLst>
                                      </p:cBhvr>
                                      <p:to>
                                        <p:strVal val="visible"/>
                                      </p:to>
                                    </p:set>
                                    <p:animEffect transition="in" filter="wipe(left)">
                                      <p:cBhvr>
                                        <p:cTn id="88" dur="380"/>
                                        <p:tgtEl>
                                          <p:spTgt spid="84"/>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5"/>
                                        </p:tgtEl>
                                        <p:attrNameLst>
                                          <p:attrName>style.visibility</p:attrName>
                                        </p:attrNameLst>
                                      </p:cBhvr>
                                      <p:to>
                                        <p:strVal val="visible"/>
                                      </p:to>
                                    </p:set>
                                    <p:animEffect transition="in" filter="wipe(left)">
                                      <p:cBhvr>
                                        <p:cTn id="91" dur="380"/>
                                        <p:tgtEl>
                                          <p:spTgt spid="85"/>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6"/>
                                        </p:tgtEl>
                                        <p:attrNameLst>
                                          <p:attrName>style.visibility</p:attrName>
                                        </p:attrNameLst>
                                      </p:cBhvr>
                                      <p:to>
                                        <p:strVal val="visible"/>
                                      </p:to>
                                    </p:set>
                                    <p:animEffect transition="in" filter="wipe(left)">
                                      <p:cBhvr>
                                        <p:cTn id="94" dur="380"/>
                                        <p:tgtEl>
                                          <p:spTgt spid="86"/>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7"/>
                                        </p:tgtEl>
                                        <p:attrNameLst>
                                          <p:attrName>style.visibility</p:attrName>
                                        </p:attrNameLst>
                                      </p:cBhvr>
                                      <p:to>
                                        <p:strVal val="visible"/>
                                      </p:to>
                                    </p:set>
                                    <p:animEffect transition="in" filter="wipe(left)">
                                      <p:cBhvr>
                                        <p:cTn id="97" dur="380"/>
                                        <p:tgtEl>
                                          <p:spTgt spid="87"/>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8"/>
                                        </p:tgtEl>
                                        <p:attrNameLst>
                                          <p:attrName>style.visibility</p:attrName>
                                        </p:attrNameLst>
                                      </p:cBhvr>
                                      <p:to>
                                        <p:strVal val="visible"/>
                                      </p:to>
                                    </p:set>
                                    <p:animEffect transition="in" filter="wipe(left)">
                                      <p:cBhvr>
                                        <p:cTn id="100" dur="380"/>
                                        <p:tgtEl>
                                          <p:spTgt spid="88"/>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9"/>
                                        </p:tgtEl>
                                        <p:attrNameLst>
                                          <p:attrName>style.visibility</p:attrName>
                                        </p:attrNameLst>
                                      </p:cBhvr>
                                      <p:to>
                                        <p:strVal val="visible"/>
                                      </p:to>
                                    </p:set>
                                    <p:animEffect transition="in" filter="fade">
                                      <p:cBhvr>
                                        <p:cTn id="103" dur="400"/>
                                        <p:tgtEl>
                                          <p:spTgt spid="89"/>
                                        </p:tgtEl>
                                      </p:cBhvr>
                                    </p:animEffect>
                                    <p:anim calcmode="lin" valueType="num">
                                      <p:cBhvr additive="base">
                                        <p:cTn id="104"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9"/>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93"/>
                                        </p:tgtEl>
                                        <p:attrNameLst>
                                          <p:attrName>style.visibility</p:attrName>
                                        </p:attrNameLst>
                                      </p:cBhvr>
                                      <p:to>
                                        <p:strVal val="visible"/>
                                      </p:to>
                                    </p:set>
                                    <p:animEffect transition="in" filter="fade">
                                      <p:cBhvr>
                                        <p:cTn id="108" dur="400"/>
                                        <p:tgtEl>
                                          <p:spTgt spid="93"/>
                                        </p:tgtEl>
                                      </p:cBhvr>
                                    </p:animEffect>
                                    <p:anim calcmode="lin" valueType="num">
                                      <p:cBhvr additive="base">
                                        <p:cTn id="109"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93"/>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7"/>
                                        </p:tgtEl>
                                        <p:attrNameLst>
                                          <p:attrName>style.visibility</p:attrName>
                                        </p:attrNameLst>
                                      </p:cBhvr>
                                      <p:to>
                                        <p:strVal val="visible"/>
                                      </p:to>
                                    </p:set>
                                    <p:animEffect transition="in" filter="fade">
                                      <p:cBhvr>
                                        <p:cTn id="113" dur="400"/>
                                        <p:tgtEl>
                                          <p:spTgt spid="97"/>
                                        </p:tgtEl>
                                      </p:cBhvr>
                                    </p:animEffect>
                                    <p:anim calcmode="lin" valueType="num">
                                      <p:cBhvr additive="base">
                                        <p:cTn id="114"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7"/>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101"/>
                                        </p:tgtEl>
                                        <p:attrNameLst>
                                          <p:attrName>style.visibility</p:attrName>
                                        </p:attrNameLst>
                                      </p:cBhvr>
                                      <p:to>
                                        <p:strVal val="visible"/>
                                      </p:to>
                                    </p:set>
                                    <p:animEffect transition="in" filter="fade">
                                      <p:cBhvr>
                                        <p:cTn id="118" dur="400"/>
                                        <p:tgtEl>
                                          <p:spTgt spid="101"/>
                                        </p:tgtEl>
                                      </p:cBhvr>
                                    </p:animEffect>
                                    <p:anim calcmode="lin" valueType="num">
                                      <p:cBhvr additive="base">
                                        <p:cTn id="119"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101"/>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5"/>
                                        </p:tgtEl>
                                        <p:attrNameLst>
                                          <p:attrName>style.visibility</p:attrName>
                                        </p:attrNameLst>
                                      </p:cBhvr>
                                      <p:to>
                                        <p:strVal val="visible"/>
                                      </p:to>
                                    </p:set>
                                    <p:animEffect transition="in" filter="fade">
                                      <p:cBhvr>
                                        <p:cTn id="123" dur="400"/>
                                        <p:tgtEl>
                                          <p:spTgt spid="105"/>
                                        </p:tgtEl>
                                      </p:cBhvr>
                                    </p:animEffect>
                                    <p:anim calcmode="lin" valueType="num">
                                      <p:cBhvr additive="base">
                                        <p:cTn id="124"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5"/>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9"/>
                                        </p:tgtEl>
                                        <p:attrNameLst>
                                          <p:attrName>style.visibility</p:attrName>
                                        </p:attrNameLst>
                                      </p:cBhvr>
                                      <p:to>
                                        <p:strVal val="visible"/>
                                      </p:to>
                                    </p:set>
                                    <p:animEffect transition="in" filter="fade">
                                      <p:cBhvr>
                                        <p:cTn id="128" dur="400"/>
                                        <p:tgtEl>
                                          <p:spTgt spid="109"/>
                                        </p:tgtEl>
                                      </p:cBhvr>
                                    </p:animEffect>
                                    <p:anim calcmode="lin" valueType="num">
                                      <p:cBhvr additive="base">
                                        <p:cTn id="129" dur="400" fill="hold" decel="100000"/>
                                        <p:tgtEl>
                                          <p:spTgt spid="109"/>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5" grpId="0" animBg="1"/>
      <p:bldP spid="50" grpId="0" animBg="1"/>
      <p:bldP spid="63" grpId="0" animBg="1"/>
      <p:bldP spid="79" grpId="0" animBg="1"/>
      <p:bldP spid="84" grpId="0" animBg="1"/>
      <p:bldP spid="85" grpId="0" animBg="1"/>
      <p:bldP spid="86" grpId="0" animBg="1"/>
      <p:bldP spid="87" grpId="0" animBg="1"/>
      <p:bldP spid="8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07  ·  TRUST &amp; SAFETY</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853418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Trust is enforced in code.</a:t>
            </a:r>
          </a:p>
        </p:txBody>
      </p:sp>
      <p:sp>
        <p:nvSpPr>
          <p:cNvPr id="17" name="TextBox 16"/>
          <p:cNvSpPr txBox="1"/>
          <p:nvPr/>
        </p:nvSpPr>
        <p:spPr>
          <a:xfrm>
            <a:off x="685800" y="1591056"/>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Every claim checked. Every cent balanced. Every call logged.</a:t>
            </a:r>
          </a:p>
        </p:txBody>
      </p:sp>
      <p:grpSp>
        <p:nvGrpSpPr>
          <p:cNvPr id="18" name="Group 17"/>
          <p:cNvGrpSpPr/>
          <p:nvPr/>
        </p:nvGrpSpPr>
        <p:grpSpPr>
          <a:xfrm>
            <a:off x="685800" y="2103120"/>
            <a:ext cx="5120640" cy="4169664"/>
            <a:chOff x="685800" y="2103120"/>
            <a:chExt cx="5120640" cy="4169664"/>
          </a:xfrm>
        </p:grpSpPr>
        <p:sp>
          <p:nvSpPr>
            <p:cNvPr id="19" name="Rounded Rectangle 18"/>
            <p:cNvSpPr/>
            <p:nvPr/>
          </p:nvSpPr>
          <p:spPr>
            <a:xfrm>
              <a:off x="685800" y="2103120"/>
              <a:ext cx="5120640" cy="4169664"/>
            </a:xfrm>
            <a:prstGeom prst="roundRect">
              <a:avLst>
                <a:gd name="adj" fmla="val 1315"/>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14400" y="2221992"/>
              <a:ext cx="45720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6 CHECKS ON EVERY PADDLE</a:t>
              </a:r>
            </a:p>
          </p:txBody>
        </p:sp>
      </p:grpSp>
      <p:grpSp>
        <p:nvGrpSpPr>
          <p:cNvPr id="21" name="Group 20"/>
          <p:cNvGrpSpPr/>
          <p:nvPr/>
        </p:nvGrpSpPr>
        <p:grpSpPr>
          <a:xfrm>
            <a:off x="914400" y="2551176"/>
            <a:ext cx="4736592" cy="493776"/>
            <a:chOff x="914400" y="2551176"/>
            <a:chExt cx="4736592" cy="493776"/>
          </a:xfrm>
        </p:grpSpPr>
        <p:sp>
          <p:nvSpPr>
            <p:cNvPr id="22" name="Oval 21"/>
            <p:cNvSpPr/>
            <p:nvPr/>
          </p:nvSpPr>
          <p:spPr>
            <a:xfrm>
              <a:off x="914400" y="2596896"/>
              <a:ext cx="365760" cy="365760"/>
            </a:xfrm>
            <a:prstGeom prst="ellipse">
              <a:avLst/>
            </a:prstGeom>
            <a:solidFill>
              <a:srgbClr val="E5F0E8"/>
            </a:solidFill>
            <a:ln>
              <a:noFill/>
            </a:ln>
          </p:spPr>
          <p:txBody>
            <a:bodyPr rtlCol="0" anchor="ctr"/>
            <a:lstStyle/>
            <a:p>
              <a:pPr algn="ctr"/>
            </a:p>
          </p:txBody>
        </p:sp>
        <p:sp>
          <p:nvSpPr>
            <p:cNvPr id="23" name="TextBox 22"/>
            <p:cNvSpPr txBox="1"/>
            <p:nvPr/>
          </p:nvSpPr>
          <p:spPr>
            <a:xfrm>
              <a:off x="914400" y="259689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4" name="TextBox 23"/>
            <p:cNvSpPr txBox="1"/>
            <p:nvPr/>
          </p:nvSpPr>
          <p:spPr>
            <a:xfrm>
              <a:off x="1444752" y="255117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 Product page</a:t>
              </a:r>
            </a:p>
          </p:txBody>
        </p:sp>
        <p:sp>
          <p:nvSpPr>
            <p:cNvPr id="25" name="TextBox 24"/>
            <p:cNvSpPr txBox="1"/>
            <p:nvPr/>
          </p:nvSpPr>
          <p:spPr>
            <a:xfrm>
              <a:off x="1444752" y="280720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schema.org Offer found on the merchant's own page</a:t>
              </a:r>
            </a:p>
          </p:txBody>
        </p:sp>
      </p:grpSp>
      <p:grpSp>
        <p:nvGrpSpPr>
          <p:cNvPr id="26" name="Group 25"/>
          <p:cNvGrpSpPr/>
          <p:nvPr/>
        </p:nvGrpSpPr>
        <p:grpSpPr>
          <a:xfrm>
            <a:off x="914400" y="3044952"/>
            <a:ext cx="4736592" cy="493776"/>
            <a:chOff x="914400" y="3044952"/>
            <a:chExt cx="4736592" cy="493776"/>
          </a:xfrm>
        </p:grpSpPr>
        <p:sp>
          <p:nvSpPr>
            <p:cNvPr id="27" name="Oval 26"/>
            <p:cNvSpPr/>
            <p:nvPr/>
          </p:nvSpPr>
          <p:spPr>
            <a:xfrm>
              <a:off x="914400" y="3090672"/>
              <a:ext cx="365760" cy="365760"/>
            </a:xfrm>
            <a:prstGeom prst="ellipse">
              <a:avLst/>
            </a:prstGeom>
            <a:solidFill>
              <a:srgbClr val="E5F0E8"/>
            </a:solidFill>
            <a:ln>
              <a:noFill/>
            </a:ln>
          </p:spPr>
          <p:txBody>
            <a:bodyPr rtlCol="0" anchor="ctr"/>
            <a:lstStyle/>
            <a:p>
              <a:pPr algn="ctr"/>
            </a:p>
          </p:txBody>
        </p:sp>
        <p:sp>
          <p:nvSpPr>
            <p:cNvPr id="28" name="TextBox 27"/>
            <p:cNvSpPr txBox="1"/>
            <p:nvPr/>
          </p:nvSpPr>
          <p:spPr>
            <a:xfrm>
              <a:off x="914400" y="3090672"/>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9" name="TextBox 28"/>
            <p:cNvSpPr txBox="1"/>
            <p:nvPr/>
          </p:nvSpPr>
          <p:spPr>
            <a:xfrm>
              <a:off x="1444752" y="3044952"/>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2. Checkout total</a:t>
              </a:r>
            </a:p>
          </p:txBody>
        </p:sp>
        <p:sp>
          <p:nvSpPr>
            <p:cNvPr id="30" name="TextBox 29"/>
            <p:cNvSpPr txBox="1"/>
            <p:nvPr/>
          </p:nvSpPr>
          <p:spPr>
            <a:xfrm>
              <a:off x="1444752" y="3300984"/>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delivered price ≥ the real checkout total</a:t>
              </a:r>
            </a:p>
          </p:txBody>
        </p:sp>
      </p:grpSp>
      <p:grpSp>
        <p:nvGrpSpPr>
          <p:cNvPr id="31" name="Group 30"/>
          <p:cNvGrpSpPr/>
          <p:nvPr/>
        </p:nvGrpSpPr>
        <p:grpSpPr>
          <a:xfrm>
            <a:off x="914400" y="3538728"/>
            <a:ext cx="4736592" cy="493776"/>
            <a:chOff x="914400" y="3538728"/>
            <a:chExt cx="4736592" cy="493776"/>
          </a:xfrm>
        </p:grpSpPr>
        <p:sp>
          <p:nvSpPr>
            <p:cNvPr id="32" name="Oval 31"/>
            <p:cNvSpPr/>
            <p:nvPr/>
          </p:nvSpPr>
          <p:spPr>
            <a:xfrm>
              <a:off x="914400" y="3584448"/>
              <a:ext cx="365760" cy="365760"/>
            </a:xfrm>
            <a:prstGeom prst="ellipse">
              <a:avLst/>
            </a:prstGeom>
            <a:solidFill>
              <a:srgbClr val="E5F0E8"/>
            </a:solidFill>
            <a:ln>
              <a:noFill/>
            </a:ln>
          </p:spPr>
          <p:txBody>
            <a:bodyPr rtlCol="0" anchor="ctr"/>
            <a:lstStyle/>
            <a:p>
              <a:pPr algn="ctr"/>
            </a:p>
          </p:txBody>
        </p:sp>
        <p:sp>
          <p:nvSpPr>
            <p:cNvPr id="33" name="TextBox 32"/>
            <p:cNvSpPr txBox="1"/>
            <p:nvPr/>
          </p:nvSpPr>
          <p:spPr>
            <a:xfrm>
              <a:off x="914400" y="3584448"/>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4" name="TextBox 33"/>
            <p:cNvSpPr txBox="1"/>
            <p:nvPr/>
          </p:nvSpPr>
          <p:spPr>
            <a:xfrm>
              <a:off x="1444752" y="3538728"/>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3. Delivery time</a:t>
              </a:r>
            </a:p>
          </p:txBody>
        </p:sp>
        <p:sp>
          <p:nvSpPr>
            <p:cNvPr id="35" name="TextBox 34"/>
            <p:cNvSpPr txBox="1"/>
            <p:nvPr/>
          </p:nvSpPr>
          <p:spPr>
            <a:xfrm>
              <a:off x="1444752" y="3794760"/>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days ≥ the store's real ship days</a:t>
              </a:r>
            </a:p>
          </p:txBody>
        </p:sp>
      </p:grpSp>
      <p:grpSp>
        <p:nvGrpSpPr>
          <p:cNvPr id="36" name="Group 35"/>
          <p:cNvGrpSpPr/>
          <p:nvPr/>
        </p:nvGrpSpPr>
        <p:grpSpPr>
          <a:xfrm>
            <a:off x="914400" y="4032504"/>
            <a:ext cx="4736592" cy="493776"/>
            <a:chOff x="914400" y="4032504"/>
            <a:chExt cx="4736592" cy="493776"/>
          </a:xfrm>
        </p:grpSpPr>
        <p:sp>
          <p:nvSpPr>
            <p:cNvPr id="37" name="Oval 36"/>
            <p:cNvSpPr/>
            <p:nvPr/>
          </p:nvSpPr>
          <p:spPr>
            <a:xfrm>
              <a:off x="914400" y="4078224"/>
              <a:ext cx="365760" cy="365760"/>
            </a:xfrm>
            <a:prstGeom prst="ellipse">
              <a:avLst/>
            </a:prstGeom>
            <a:solidFill>
              <a:srgbClr val="E5F0E8"/>
            </a:solidFill>
            <a:ln>
              <a:noFill/>
            </a:ln>
          </p:spPr>
          <p:txBody>
            <a:bodyPr rtlCol="0" anchor="ctr"/>
            <a:lstStyle/>
            <a:p>
              <a:pPr algn="ctr"/>
            </a:p>
          </p:txBody>
        </p:sp>
        <p:sp>
          <p:nvSpPr>
            <p:cNvPr id="38" name="TextBox 37"/>
            <p:cNvSpPr txBox="1"/>
            <p:nvPr/>
          </p:nvSpPr>
          <p:spPr>
            <a:xfrm>
              <a:off x="914400" y="4078224"/>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9" name="TextBox 38"/>
            <p:cNvSpPr txBox="1"/>
            <p:nvPr/>
          </p:nvSpPr>
          <p:spPr>
            <a:xfrm>
              <a:off x="1444752" y="4032504"/>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4. Features</a:t>
              </a:r>
            </a:p>
          </p:txBody>
        </p:sp>
        <p:sp>
          <p:nvSpPr>
            <p:cNvPr id="40" name="TextBox 39"/>
            <p:cNvSpPr txBox="1"/>
            <p:nvPr/>
          </p:nvSpPr>
          <p:spPr>
            <a:xfrm>
              <a:off x="1444752" y="4288536"/>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every claimed feature is listed on the page</a:t>
              </a:r>
            </a:p>
          </p:txBody>
        </p:sp>
      </p:grpSp>
      <p:grpSp>
        <p:nvGrpSpPr>
          <p:cNvPr id="41" name="Group 40"/>
          <p:cNvGrpSpPr/>
          <p:nvPr/>
        </p:nvGrpSpPr>
        <p:grpSpPr>
          <a:xfrm>
            <a:off x="914400" y="4526280"/>
            <a:ext cx="4736592" cy="493776"/>
            <a:chOff x="914400" y="4526280"/>
            <a:chExt cx="4736592" cy="493776"/>
          </a:xfrm>
        </p:grpSpPr>
        <p:sp>
          <p:nvSpPr>
            <p:cNvPr id="42" name="Oval 41"/>
            <p:cNvSpPr/>
            <p:nvPr/>
          </p:nvSpPr>
          <p:spPr>
            <a:xfrm>
              <a:off x="914400" y="4572000"/>
              <a:ext cx="365760" cy="365760"/>
            </a:xfrm>
            <a:prstGeom prst="ellipse">
              <a:avLst/>
            </a:prstGeom>
            <a:solidFill>
              <a:srgbClr val="E5F0E8"/>
            </a:solidFill>
            <a:ln>
              <a:noFill/>
            </a:ln>
          </p:spPr>
          <p:txBody>
            <a:bodyPr rtlCol="0" anchor="ctr"/>
            <a:lstStyle/>
            <a:p>
              <a:pPr algn="ctr"/>
            </a:p>
          </p:txBody>
        </p:sp>
        <p:sp>
          <p:nvSpPr>
            <p:cNvPr id="43" name="TextBox 42"/>
            <p:cNvSpPr txBox="1"/>
            <p:nvPr/>
          </p:nvSpPr>
          <p:spPr>
            <a:xfrm>
              <a:off x="914400" y="4572000"/>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4" name="TextBox 43"/>
            <p:cNvSpPr txBox="1"/>
            <p:nvPr/>
          </p:nvSpPr>
          <p:spPr>
            <a:xfrm>
              <a:off x="1444752" y="4526280"/>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5. In stock</a:t>
              </a:r>
            </a:p>
          </p:txBody>
        </p:sp>
        <p:sp>
          <p:nvSpPr>
            <p:cNvPr id="45" name="TextBox 44"/>
            <p:cNvSpPr txBox="1"/>
            <p:nvPr/>
          </p:nvSpPr>
          <p:spPr>
            <a:xfrm>
              <a:off x="1444752" y="4782312"/>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available on the page and at checkout</a:t>
              </a:r>
            </a:p>
          </p:txBody>
        </p:sp>
      </p:grpSp>
      <p:grpSp>
        <p:nvGrpSpPr>
          <p:cNvPr id="46" name="Group 45"/>
          <p:cNvGrpSpPr/>
          <p:nvPr/>
        </p:nvGrpSpPr>
        <p:grpSpPr>
          <a:xfrm>
            <a:off x="914400" y="5020056"/>
            <a:ext cx="4736592" cy="493776"/>
            <a:chOff x="914400" y="5020056"/>
            <a:chExt cx="4736592" cy="493776"/>
          </a:xfrm>
        </p:grpSpPr>
        <p:sp>
          <p:nvSpPr>
            <p:cNvPr id="47" name="Oval 46"/>
            <p:cNvSpPr/>
            <p:nvPr/>
          </p:nvSpPr>
          <p:spPr>
            <a:xfrm>
              <a:off x="914400" y="5065776"/>
              <a:ext cx="365760" cy="365760"/>
            </a:xfrm>
            <a:prstGeom prst="ellipse">
              <a:avLst/>
            </a:prstGeom>
            <a:solidFill>
              <a:srgbClr val="E5F0E8"/>
            </a:solidFill>
            <a:ln>
              <a:noFill/>
            </a:ln>
          </p:spPr>
          <p:txBody>
            <a:bodyPr rtlCol="0" anchor="ctr"/>
            <a:lstStyle/>
            <a:p>
              <a:pPr algn="ctr"/>
            </a:p>
          </p:txBody>
        </p:sp>
        <p:sp>
          <p:nvSpPr>
            <p:cNvPr id="48" name="TextBox 47"/>
            <p:cNvSpPr txBox="1"/>
            <p:nvPr/>
          </p:nvSpPr>
          <p:spPr>
            <a:xfrm>
              <a:off x="914400" y="506577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9" name="TextBox 48"/>
            <p:cNvSpPr txBox="1"/>
            <p:nvPr/>
          </p:nvSpPr>
          <p:spPr>
            <a:xfrm>
              <a:off x="1444752" y="502005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6. Pitch safety</a:t>
              </a:r>
            </a:p>
          </p:txBody>
        </p:sp>
        <p:sp>
          <p:nvSpPr>
            <p:cNvPr id="50" name="TextBox 49"/>
            <p:cNvSpPr txBox="1"/>
            <p:nvPr/>
          </p:nvSpPr>
          <p:spPr>
            <a:xfrm>
              <a:off x="1444752" y="527608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the pitch is data: instructions aimed at the agent are withdrawn</a:t>
              </a:r>
            </a:p>
          </p:txBody>
        </p:sp>
      </p:grpSp>
      <p:grpSp>
        <p:nvGrpSpPr>
          <p:cNvPr id="51" name="Group 50"/>
          <p:cNvGrpSpPr/>
          <p:nvPr/>
        </p:nvGrpSpPr>
        <p:grpSpPr>
          <a:xfrm>
            <a:off x="914400" y="5614416"/>
            <a:ext cx="4663440" cy="493776"/>
            <a:chOff x="914400" y="5614416"/>
            <a:chExt cx="4663440" cy="493776"/>
          </a:xfrm>
        </p:grpSpPr>
        <p:sp>
          <p:nvSpPr>
            <p:cNvPr id="52" name="Rounded Rectangle 51"/>
            <p:cNvSpPr/>
            <p:nvPr/>
          </p:nvSpPr>
          <p:spPr>
            <a:xfrm>
              <a:off x="914400" y="5614416"/>
              <a:ext cx="4663440" cy="493776"/>
            </a:xfrm>
            <a:prstGeom prst="roundRect">
              <a:avLst>
                <a:gd name="adj" fmla="val 11111"/>
              </a:avLst>
            </a:prstGeom>
            <a:solidFill>
              <a:srgbClr val="F6E3DF"/>
            </a:solidFill>
            <a:ln>
              <a:noFill/>
            </a:ln>
          </p:spPr>
          <p:txBody>
            <a:bodyPr rtlCol="0" anchor="ctr"/>
            <a:lstStyle/>
            <a:p>
              <a:pPr algn="ctr"/>
            </a:p>
          </p:txBody>
        </p:sp>
        <p:sp>
          <p:nvSpPr>
            <p:cNvPr id="53" name="Rectangle 52"/>
            <p:cNvSpPr/>
            <p:nvPr/>
          </p:nvSpPr>
          <p:spPr>
            <a:xfrm>
              <a:off x="914400" y="5614416"/>
              <a:ext cx="45720" cy="493776"/>
            </a:xfrm>
            <a:prstGeom prst="rect">
              <a:avLst/>
            </a:prstGeom>
            <a:solidFill>
              <a:srgbClr val="8E2A22"/>
            </a:solidFill>
            <a:ln>
              <a:noFill/>
            </a:ln>
          </p:spPr>
          <p:txBody>
            <a:bodyPr rtlCol="0" anchor="ctr"/>
            <a:lstStyle/>
            <a:p>
              <a:pPr algn="ctr"/>
            </a:p>
          </p:txBody>
        </p:sp>
        <p:sp>
          <p:nvSpPr>
            <p:cNvPr id="54" name="TextBox 53"/>
            <p:cNvSpPr txBox="1"/>
            <p:nvPr/>
          </p:nvSpPr>
          <p:spPr>
            <a:xfrm>
              <a:off x="1097280" y="5614416"/>
              <a:ext cx="4434840" cy="493776"/>
            </a:xfrm>
            <a:prstGeom prst="rect">
              <a:avLst/>
            </a:prstGeom>
            <a:noFill/>
          </p:spPr>
          <p:txBody>
            <a:bodyPr wrap="square" lIns="0" rIns="0" tIns="0" bIns="0" anchor="ctr">
              <a:noAutofit/>
            </a:bodyPr>
            <a:lstStyle/>
            <a:p>
              <a:pPr algn="l"/>
              <a:r>
                <a:rPr sz="1050" b="1" i="0">
                  <a:solidFill>
                    <a:srgbClr val="8E2A22"/>
                  </a:solidFill>
                  <a:latin typeface="Inter" panose="020B0502030000000004" pitchFamily="34" charset="0"/>
                </a:rPr>
                <a:t>Fail any check but stock: withdrawn.</a:t>
              </a:r>
              <a:r>
                <a:rPr sz="1050" b="0" i="0">
                  <a:solidFill>
                    <a:srgbClr val="16130E"/>
                  </a:solidFill>
                  <a:latin typeface="Inter" panose="020B0502030000000004" pitchFamily="34" charset="0"/>
                </a:rPr>
                <a:t> Trust −12, visible to every agent.</a:t>
              </a:r>
            </a:p>
          </p:txBody>
        </p:sp>
      </p:grpSp>
      <p:grpSp>
        <p:nvGrpSpPr>
          <p:cNvPr id="55" name="Group 54"/>
          <p:cNvGrpSpPr/>
          <p:nvPr/>
        </p:nvGrpSpPr>
        <p:grpSpPr>
          <a:xfrm>
            <a:off x="6035040" y="2103120"/>
            <a:ext cx="5468112" cy="1554480"/>
            <a:chOff x="6035040" y="2103120"/>
            <a:chExt cx="5468112" cy="1554480"/>
          </a:xfrm>
        </p:grpSpPr>
        <p:sp>
          <p:nvSpPr>
            <p:cNvPr id="56" name="Rounded Rectangle 55"/>
            <p:cNvSpPr/>
            <p:nvPr/>
          </p:nvSpPr>
          <p:spPr>
            <a:xfrm>
              <a:off x="6035040" y="2103120"/>
              <a:ext cx="5468112" cy="1554480"/>
            </a:xfrm>
            <a:prstGeom prst="roundRect">
              <a:avLst>
                <a:gd name="adj" fmla="val 3529"/>
              </a:avLst>
            </a:prstGeom>
            <a:solidFill>
              <a:srgbClr val="FFFDF7"/>
            </a:solidFill>
            <a:ln w="9525">
              <a:solidFill>
                <a:srgbClr val="E2D9C6"/>
              </a:solidFill>
            </a:ln>
          </p:spPr>
          <p:txBody>
            <a:bodyPr rtlCol="0" anchor="ctr"/>
            <a:lstStyle/>
            <a:p>
              <a:pPr algn="ctr"/>
            </a:p>
          </p:txBody>
        </p:sp>
        <p:sp>
          <p:nvSpPr>
            <p:cNvPr id="57" name="TextBox 56"/>
            <p:cNvSpPr txBox="1"/>
            <p:nvPr/>
          </p:nvSpPr>
          <p:spPr>
            <a:xfrm>
              <a:off x="6263640" y="2221992"/>
              <a:ext cx="50292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MERIT, NOT MONEY · PUBLIC WEIGHTS</a:t>
              </a:r>
            </a:p>
          </p:txBody>
        </p:sp>
      </p:grpSp>
      <p:grpSp>
        <p:nvGrpSpPr>
          <p:cNvPr id="58" name="Group 57"/>
          <p:cNvGrpSpPr/>
          <p:nvPr/>
        </p:nvGrpSpPr>
        <p:grpSpPr>
          <a:xfrm>
            <a:off x="6263640" y="2578608"/>
            <a:ext cx="1981505" cy="384048"/>
            <a:chOff x="6263640" y="2578608"/>
            <a:chExt cx="1981505" cy="384048"/>
          </a:xfrm>
        </p:grpSpPr>
        <p:sp>
          <p:nvSpPr>
            <p:cNvPr id="59" name="Rounded Rectangle 58"/>
            <p:cNvSpPr/>
            <p:nvPr/>
          </p:nvSpPr>
          <p:spPr>
            <a:xfrm>
              <a:off x="6263640" y="2578608"/>
              <a:ext cx="1981505" cy="384048"/>
            </a:xfrm>
            <a:prstGeom prst="roundRect">
              <a:avLst>
                <a:gd name="adj" fmla="val 4761"/>
              </a:avLst>
            </a:prstGeom>
            <a:solidFill>
              <a:srgbClr val="16130E"/>
            </a:solidFill>
            <a:ln>
              <a:noFill/>
            </a:ln>
          </p:spPr>
          <p:txBody>
            <a:bodyPr rtlCol="0" anchor="ctr"/>
            <a:lstStyle/>
            <a:p>
              <a:pPr algn="ctr"/>
            </a:p>
          </p:txBody>
        </p:sp>
        <p:sp>
          <p:nvSpPr>
            <p:cNvPr id="60" name="TextBox 59"/>
            <p:cNvSpPr txBox="1"/>
            <p:nvPr/>
          </p:nvSpPr>
          <p:spPr>
            <a:xfrm>
              <a:off x="6263640" y="2578608"/>
              <a:ext cx="1981505"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Price 40</a:t>
              </a:r>
            </a:p>
          </p:txBody>
        </p:sp>
      </p:grpSp>
      <p:grpSp>
        <p:nvGrpSpPr>
          <p:cNvPr id="61" name="Group 60"/>
          <p:cNvGrpSpPr/>
          <p:nvPr/>
        </p:nvGrpSpPr>
        <p:grpSpPr>
          <a:xfrm>
            <a:off x="8268005" y="2578608"/>
            <a:ext cx="1229868" cy="384048"/>
            <a:chOff x="8268005" y="2578608"/>
            <a:chExt cx="1229868" cy="384048"/>
          </a:xfrm>
        </p:grpSpPr>
        <p:sp>
          <p:nvSpPr>
            <p:cNvPr id="62" name="Rounded Rectangle 61"/>
            <p:cNvSpPr/>
            <p:nvPr/>
          </p:nvSpPr>
          <p:spPr>
            <a:xfrm>
              <a:off x="8268005" y="2578608"/>
              <a:ext cx="1229868" cy="384048"/>
            </a:xfrm>
            <a:prstGeom prst="roundRect">
              <a:avLst>
                <a:gd name="adj" fmla="val 4761"/>
              </a:avLst>
            </a:prstGeom>
            <a:solidFill>
              <a:srgbClr val="3B352B"/>
            </a:solidFill>
            <a:ln>
              <a:noFill/>
            </a:ln>
          </p:spPr>
          <p:txBody>
            <a:bodyPr rtlCol="0" anchor="ctr"/>
            <a:lstStyle/>
            <a:p>
              <a:pPr algn="ctr"/>
            </a:p>
          </p:txBody>
        </p:sp>
        <p:sp>
          <p:nvSpPr>
            <p:cNvPr id="63" name="TextBox 62"/>
            <p:cNvSpPr txBox="1"/>
            <p:nvPr/>
          </p:nvSpPr>
          <p:spPr>
            <a:xfrm>
              <a:off x="8268005" y="2578608"/>
              <a:ext cx="1229868"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Must-haves 25</a:t>
              </a:r>
            </a:p>
          </p:txBody>
        </p:sp>
      </p:grpSp>
      <p:grpSp>
        <p:nvGrpSpPr>
          <p:cNvPr id="64" name="Group 63"/>
          <p:cNvGrpSpPr/>
          <p:nvPr/>
        </p:nvGrpSpPr>
        <p:grpSpPr>
          <a:xfrm>
            <a:off x="9520733" y="2578608"/>
            <a:ext cx="728777" cy="384048"/>
            <a:chOff x="9520733" y="2578608"/>
            <a:chExt cx="728777" cy="384048"/>
          </a:xfrm>
        </p:grpSpPr>
        <p:sp>
          <p:nvSpPr>
            <p:cNvPr id="65" name="Rounded Rectangle 64"/>
            <p:cNvSpPr/>
            <p:nvPr/>
          </p:nvSpPr>
          <p:spPr>
            <a:xfrm>
              <a:off x="9520733" y="2578608"/>
              <a:ext cx="728777" cy="384048"/>
            </a:xfrm>
            <a:prstGeom prst="roundRect">
              <a:avLst>
                <a:gd name="adj" fmla="val 4761"/>
              </a:avLst>
            </a:prstGeom>
            <a:solidFill>
              <a:srgbClr val="6E6658"/>
            </a:solidFill>
            <a:ln>
              <a:noFill/>
            </a:ln>
          </p:spPr>
          <p:txBody>
            <a:bodyPr rtlCol="0" anchor="ctr"/>
            <a:lstStyle/>
            <a:p>
              <a:pPr algn="ctr"/>
            </a:p>
          </p:txBody>
        </p:sp>
        <p:sp>
          <p:nvSpPr>
            <p:cNvPr id="66" name="TextBox 65"/>
            <p:cNvSpPr txBox="1"/>
            <p:nvPr/>
          </p:nvSpPr>
          <p:spPr>
            <a:xfrm>
              <a:off x="9520733" y="2578608"/>
              <a:ext cx="728777"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15</a:t>
              </a:r>
            </a:p>
          </p:txBody>
        </p:sp>
      </p:grpSp>
      <p:grpSp>
        <p:nvGrpSpPr>
          <p:cNvPr id="67" name="Group 66"/>
          <p:cNvGrpSpPr/>
          <p:nvPr/>
        </p:nvGrpSpPr>
        <p:grpSpPr>
          <a:xfrm>
            <a:off x="10272370" y="2578608"/>
            <a:ext cx="728777" cy="384048"/>
            <a:chOff x="10272370" y="2578608"/>
            <a:chExt cx="728777" cy="384048"/>
          </a:xfrm>
        </p:grpSpPr>
        <p:sp>
          <p:nvSpPr>
            <p:cNvPr id="68" name="Rounded Rectangle 67"/>
            <p:cNvSpPr/>
            <p:nvPr/>
          </p:nvSpPr>
          <p:spPr>
            <a:xfrm>
              <a:off x="10272370" y="2578608"/>
              <a:ext cx="728777" cy="384048"/>
            </a:xfrm>
            <a:prstGeom prst="roundRect">
              <a:avLst>
                <a:gd name="adj" fmla="val 4761"/>
              </a:avLst>
            </a:prstGeom>
            <a:solidFill>
              <a:srgbClr val="A89E89"/>
            </a:solidFill>
            <a:ln>
              <a:noFill/>
            </a:ln>
          </p:spPr>
          <p:txBody>
            <a:bodyPr rtlCol="0" anchor="ctr"/>
            <a:lstStyle/>
            <a:p>
              <a:pPr algn="ctr"/>
            </a:p>
          </p:txBody>
        </p:sp>
        <p:sp>
          <p:nvSpPr>
            <p:cNvPr id="69" name="TextBox 68"/>
            <p:cNvSpPr txBox="1"/>
            <p:nvPr/>
          </p:nvSpPr>
          <p:spPr>
            <a:xfrm>
              <a:off x="10272370" y="2578608"/>
              <a:ext cx="728777"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15</a:t>
              </a:r>
            </a:p>
          </p:txBody>
        </p:sp>
      </p:grpSp>
      <p:grpSp>
        <p:nvGrpSpPr>
          <p:cNvPr id="70" name="Group 69"/>
          <p:cNvGrpSpPr/>
          <p:nvPr/>
        </p:nvGrpSpPr>
        <p:grpSpPr>
          <a:xfrm>
            <a:off x="11024006" y="2578608"/>
            <a:ext cx="227686" cy="384048"/>
            <a:chOff x="11024006" y="2578608"/>
            <a:chExt cx="227686" cy="384048"/>
          </a:xfrm>
        </p:grpSpPr>
        <p:sp>
          <p:nvSpPr>
            <p:cNvPr id="71" name="Rounded Rectangle 70"/>
            <p:cNvSpPr/>
            <p:nvPr/>
          </p:nvSpPr>
          <p:spPr>
            <a:xfrm>
              <a:off x="11024006" y="2578608"/>
              <a:ext cx="227686" cy="384048"/>
            </a:xfrm>
            <a:prstGeom prst="roundRect">
              <a:avLst>
                <a:gd name="adj" fmla="val 8032"/>
              </a:avLst>
            </a:prstGeom>
            <a:solidFill>
              <a:srgbClr val="D8CDB6"/>
            </a:solidFill>
            <a:ln>
              <a:noFill/>
            </a:ln>
          </p:spPr>
          <p:txBody>
            <a:bodyPr rtlCol="0" anchor="ctr"/>
            <a:lstStyle/>
            <a:p>
              <a:pPr algn="ctr"/>
            </a:p>
          </p:txBody>
        </p:sp>
        <p:sp>
          <p:nvSpPr>
            <p:cNvPr id="72" name="TextBox 71"/>
            <p:cNvSpPr txBox="1"/>
            <p:nvPr/>
          </p:nvSpPr>
          <p:spPr>
            <a:xfrm>
              <a:off x="11024006" y="2578608"/>
              <a:ext cx="227686"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5</a:t>
              </a:r>
            </a:p>
          </p:txBody>
        </p:sp>
      </p:grpSp>
      <p:grpSp>
        <p:nvGrpSpPr>
          <p:cNvPr id="73" name="Group 72"/>
          <p:cNvGrpSpPr/>
          <p:nvPr/>
        </p:nvGrpSpPr>
        <p:grpSpPr>
          <a:xfrm>
            <a:off x="6263640" y="3081528"/>
            <a:ext cx="5056632" cy="274320"/>
            <a:chOff x="6263640" y="3081528"/>
            <a:chExt cx="5056632" cy="274320"/>
          </a:xfrm>
        </p:grpSpPr>
        <p:sp>
          <p:nvSpPr>
            <p:cNvPr id="74" name="Rounded Rectangle 73"/>
            <p:cNvSpPr/>
            <p:nvPr/>
          </p:nvSpPr>
          <p:spPr>
            <a:xfrm>
              <a:off x="6263640" y="3127248"/>
              <a:ext cx="457200" cy="182880"/>
            </a:xfrm>
            <a:prstGeom prst="roundRect">
              <a:avLst>
                <a:gd name="adj" fmla="val 15000"/>
              </a:avLst>
            </a:prstGeom>
            <a:solidFill>
              <a:srgbClr val="FFFDF7"/>
            </a:solidFill>
            <a:ln w="12700">
              <a:solidFill>
                <a:srgbClr val="94641F"/>
              </a:solidFill>
              <a:prstDash val="dash"/>
            </a:ln>
          </p:spPr>
          <p:txBody>
            <a:bodyPr rtlCol="0" anchor="ctr"/>
            <a:lstStyle/>
            <a:p>
              <a:pPr algn="ctr"/>
            </a:p>
          </p:txBody>
        </p:sp>
        <p:sp>
          <p:nvSpPr>
            <p:cNvPr id="75" name="TextBox 74"/>
            <p:cNvSpPr txBox="1"/>
            <p:nvPr/>
          </p:nvSpPr>
          <p:spPr>
            <a:xfrm>
              <a:off x="6839712" y="3081528"/>
              <a:ext cx="4480560" cy="274320"/>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Commission: 0.</a:t>
              </a:r>
              <a:r>
                <a:rPr sz="1000" b="0" i="0">
                  <a:solidFill>
                    <a:srgbClr val="6E6658"/>
                  </a:solidFill>
                  <a:latin typeface="Inter" panose="020B0502030000000004" pitchFamily="34" charset="0"/>
                </a:rPr>
                <a:t> Paid only at the hammer; only breaks ties under 0.5 points.</a:t>
              </a:r>
            </a:p>
          </p:txBody>
        </p:sp>
      </p:grpSp>
      <p:grpSp>
        <p:nvGrpSpPr>
          <p:cNvPr id="76" name="Group 75"/>
          <p:cNvGrpSpPr/>
          <p:nvPr/>
        </p:nvGrpSpPr>
        <p:grpSpPr>
          <a:xfrm>
            <a:off x="6035040" y="3840480"/>
            <a:ext cx="3401568" cy="2186559"/>
            <a:chOff x="6035040" y="3840480"/>
            <a:chExt cx="3401568" cy="2186559"/>
          </a:xfrm>
        </p:grpSpPr>
        <p:sp>
          <p:nvSpPr>
            <p:cNvPr id="77" name="Rounded Rectangle 76"/>
            <p:cNvSpPr/>
            <p:nvPr/>
          </p:nvSpPr>
          <p:spPr>
            <a:xfrm>
              <a:off x="6035040" y="3840480"/>
              <a:ext cx="3401568" cy="2186559"/>
            </a:xfrm>
            <a:prstGeom prst="roundRect">
              <a:avLst>
                <a:gd name="adj" fmla="val 3345"/>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78" name="Oval 77"/>
            <p:cNvSpPr/>
            <p:nvPr/>
          </p:nvSpPr>
          <p:spPr>
            <a:xfrm>
              <a:off x="6181344" y="3941064"/>
              <a:ext cx="73152" cy="73152"/>
            </a:xfrm>
            <a:prstGeom prst="ellipse">
              <a:avLst/>
            </a:prstGeom>
            <a:solidFill>
              <a:srgbClr val="CFC3AA"/>
            </a:solidFill>
            <a:ln>
              <a:noFill/>
            </a:ln>
          </p:spPr>
          <p:txBody>
            <a:bodyPr rtlCol="0" anchor="ctr"/>
            <a:lstStyle/>
            <a:p>
              <a:pPr algn="ctr"/>
            </a:p>
          </p:txBody>
        </p:sp>
        <p:sp>
          <p:nvSpPr>
            <p:cNvPr id="79" name="Oval 78"/>
            <p:cNvSpPr/>
            <p:nvPr/>
          </p:nvSpPr>
          <p:spPr>
            <a:xfrm>
              <a:off x="6318504" y="3941064"/>
              <a:ext cx="73152" cy="73152"/>
            </a:xfrm>
            <a:prstGeom prst="ellipse">
              <a:avLst/>
            </a:prstGeom>
            <a:solidFill>
              <a:srgbClr val="CFC3AA"/>
            </a:solidFill>
            <a:ln>
              <a:noFill/>
            </a:ln>
          </p:spPr>
          <p:txBody>
            <a:bodyPr rtlCol="0" anchor="ctr"/>
            <a:lstStyle/>
            <a:p>
              <a:pPr algn="ctr"/>
            </a:p>
          </p:txBody>
        </p:sp>
        <p:sp>
          <p:nvSpPr>
            <p:cNvPr id="80" name="Oval 79"/>
            <p:cNvSpPr/>
            <p:nvPr/>
          </p:nvSpPr>
          <p:spPr>
            <a:xfrm>
              <a:off x="6455664" y="3941064"/>
              <a:ext cx="73152" cy="73152"/>
            </a:xfrm>
            <a:prstGeom prst="ellipse">
              <a:avLst/>
            </a:prstGeom>
            <a:solidFill>
              <a:srgbClr val="CFC3AA"/>
            </a:solidFill>
            <a:ln>
              <a:noFill/>
            </a:ln>
          </p:spPr>
          <p:txBody>
            <a:bodyPr rtlCol="0" anchor="ctr"/>
            <a:lstStyle/>
            <a:p>
              <a:pPr algn="ctr"/>
            </a:p>
          </p:txBody>
        </p:sp>
        <p:sp>
          <p:nvSpPr>
            <p:cNvPr id="81" name="Rounded Rectangle 80"/>
            <p:cNvSpPr/>
            <p:nvPr/>
          </p:nvSpPr>
          <p:spPr>
            <a:xfrm>
              <a:off x="7055510" y="3899916"/>
              <a:ext cx="1360627" cy="155448"/>
            </a:xfrm>
            <a:prstGeom prst="roundRect">
              <a:avLst>
                <a:gd name="adj" fmla="val 50000"/>
              </a:avLst>
            </a:prstGeom>
            <a:solidFill>
              <a:srgbClr val="EFE8D9"/>
            </a:solidFill>
            <a:ln>
              <a:noFill/>
            </a:ln>
          </p:spPr>
          <p:txBody>
            <a:bodyPr rtlCol="0" anchor="ctr"/>
            <a:lstStyle/>
            <a:p>
              <a:pPr algn="ctr"/>
            </a:p>
          </p:txBody>
        </p:sp>
        <p:sp>
          <p:nvSpPr>
            <p:cNvPr id="82" name="TextBox 81"/>
            <p:cNvSpPr txBox="1"/>
            <p:nvPr/>
          </p:nvSpPr>
          <p:spPr>
            <a:xfrm>
              <a:off x="7055510" y="3899916"/>
              <a:ext cx="1360627"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localhost:8787/ledger</a:t>
              </a:r>
            </a:p>
          </p:txBody>
        </p:sp>
        <p:sp>
          <p:nvSpPr>
            <p:cNvPr id="83" name="Rectangle 82"/>
            <p:cNvSpPr/>
            <p:nvPr/>
          </p:nvSpPr>
          <p:spPr>
            <a:xfrm>
              <a:off x="6044184" y="4105656"/>
              <a:ext cx="3383280" cy="7315"/>
            </a:xfrm>
            <a:prstGeom prst="rect">
              <a:avLst/>
            </a:prstGeom>
            <a:solidFill>
              <a:srgbClr val="E2D9C6"/>
            </a:solidFill>
            <a:ln>
              <a:noFill/>
            </a:ln>
          </p:spPr>
          <p:txBody>
            <a:bodyPr rtlCol="0" anchor="ctr"/>
            <a:lstStyle/>
            <a:p>
              <a:pPr algn="ctr"/>
            </a:p>
          </p:txBody>
        </p:sp>
        <p:pic>
          <p:nvPicPr>
            <p:cNvPr id="84" name="Picture 83" descr="ledger.png"/>
            <p:cNvPicPr>
              <a:picLocks noChangeAspect="1"/>
            </p:cNvPicPr>
            <p:nvPr/>
          </p:nvPicPr>
          <p:blipFill>
            <a:blip r:embed="rId2"/>
            <a:srcRect r="40000" b="40000"/>
            <a:stretch>
              <a:fillRect/>
            </a:stretch>
          </p:blipFill>
          <p:spPr>
            <a:xfrm>
              <a:off x="6044184" y="4114800"/>
              <a:ext cx="3383280" cy="1903095"/>
            </a:xfrm>
            <a:prstGeom prst="roundRect">
              <a:avLst>
                <a:gd name="adj" fmla="val 2402"/>
              </a:avLst>
            </a:prstGeom>
          </p:spPr>
        </p:pic>
      </p:grpSp>
      <p:sp>
        <p:nvSpPr>
          <p:cNvPr id="85" name="TextBox 84"/>
          <p:cNvSpPr txBox="1"/>
          <p:nvPr/>
        </p:nvSpPr>
        <p:spPr>
          <a:xfrm>
            <a:off x="6035040" y="6007608"/>
            <a:ext cx="3401568" cy="274320"/>
          </a:xfrm>
          <a:prstGeom prst="rect">
            <a:avLst/>
          </a:prstGeom>
          <a:noFill/>
        </p:spPr>
        <p:txBody>
          <a:bodyPr wrap="square" lIns="0" rIns="0" tIns="0" bIns="0" anchor="ctr">
            <a:noAutofit/>
          </a:bodyPr>
          <a:lstStyle/>
          <a:p>
            <a:pPr algn="l"/>
            <a:r>
              <a:rPr sz="950" b="1" i="0">
                <a:solidFill>
                  <a:srgbClr val="2D6A48"/>
                </a:solidFill>
                <a:latin typeface="Inter" panose="020B0502030000000004" pitchFamily="34" charset="0"/>
              </a:rPr>
              <a:t>Settlement ledger:</a:t>
            </a:r>
            <a:r>
              <a:rPr sz="950" b="0" i="0">
                <a:solidFill>
                  <a:srgbClr val="6E6658"/>
                </a:solidFill>
                <a:latin typeface="Inter" panose="020B0502030000000004" pitchFamily="34" charset="0"/>
              </a:rPr>
              <a:t> every transaction sums to $0</a:t>
            </a:r>
          </a:p>
        </p:txBody>
      </p:sp>
      <p:grpSp>
        <p:nvGrpSpPr>
          <p:cNvPr id="86" name="Group 85"/>
          <p:cNvGrpSpPr/>
          <p:nvPr/>
        </p:nvGrpSpPr>
        <p:grpSpPr>
          <a:xfrm>
            <a:off x="9601200" y="3840480"/>
            <a:ext cx="1901952" cy="1133856"/>
            <a:chOff x="9601200" y="3840480"/>
            <a:chExt cx="1901952" cy="1133856"/>
          </a:xfrm>
        </p:grpSpPr>
        <p:sp>
          <p:nvSpPr>
            <p:cNvPr id="87" name="Rounded Rectangle 86"/>
            <p:cNvSpPr/>
            <p:nvPr/>
          </p:nvSpPr>
          <p:spPr>
            <a:xfrm>
              <a:off x="9601200" y="384048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88" name="Rectangle 87"/>
            <p:cNvSpPr/>
            <p:nvPr/>
          </p:nvSpPr>
          <p:spPr>
            <a:xfrm>
              <a:off x="9601200" y="3840480"/>
              <a:ext cx="41148" cy="1133856"/>
            </a:xfrm>
            <a:prstGeom prst="rect">
              <a:avLst/>
            </a:prstGeom>
            <a:solidFill>
              <a:srgbClr val="94641F"/>
            </a:solidFill>
            <a:ln>
              <a:noFill/>
            </a:ln>
          </p:spPr>
          <p:txBody>
            <a:bodyPr rtlCol="0" anchor="ctr"/>
            <a:lstStyle/>
            <a:p>
              <a:pPr algn="ctr"/>
            </a:p>
          </p:txBody>
        </p:sp>
        <p:sp>
          <p:nvSpPr>
            <p:cNvPr id="89" name="TextBox 88"/>
            <p:cNvSpPr txBox="1"/>
            <p:nvPr/>
          </p:nvSpPr>
          <p:spPr>
            <a:xfrm>
              <a:off x="9784080" y="395020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Spending policy</a:t>
              </a:r>
            </a:p>
          </p:txBody>
        </p:sp>
        <p:sp>
          <p:nvSpPr>
            <p:cNvPr id="90" name="TextBox 89"/>
            <p:cNvSpPr txBox="1"/>
            <p:nvPr/>
          </p:nvSpPr>
          <p:spPr>
            <a:xfrm>
              <a:off x="9784080" y="424281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Per-purchase and daily limits from the human. Above them: SMS “Reply YES 1234”.</a:t>
              </a:r>
            </a:p>
          </p:txBody>
        </p:sp>
      </p:grpSp>
      <p:grpSp>
        <p:nvGrpSpPr>
          <p:cNvPr id="91" name="Group 90"/>
          <p:cNvGrpSpPr/>
          <p:nvPr/>
        </p:nvGrpSpPr>
        <p:grpSpPr>
          <a:xfrm>
            <a:off x="9601200" y="5074920"/>
            <a:ext cx="1901952" cy="1133856"/>
            <a:chOff x="9601200" y="5074920"/>
            <a:chExt cx="1901952" cy="1133856"/>
          </a:xfrm>
        </p:grpSpPr>
        <p:sp>
          <p:nvSpPr>
            <p:cNvPr id="92" name="Rounded Rectangle 91"/>
            <p:cNvSpPr/>
            <p:nvPr/>
          </p:nvSpPr>
          <p:spPr>
            <a:xfrm>
              <a:off x="9601200" y="507492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93" name="Rectangle 92"/>
            <p:cNvSpPr/>
            <p:nvPr/>
          </p:nvSpPr>
          <p:spPr>
            <a:xfrm>
              <a:off x="9601200" y="5074920"/>
              <a:ext cx="41148" cy="1133856"/>
            </a:xfrm>
            <a:prstGeom prst="rect">
              <a:avLst/>
            </a:prstGeom>
            <a:solidFill>
              <a:srgbClr val="233F6E"/>
            </a:solidFill>
            <a:ln>
              <a:noFill/>
            </a:ln>
          </p:spPr>
          <p:txBody>
            <a:bodyPr rtlCol="0" anchor="ctr"/>
            <a:lstStyle/>
            <a:p>
              <a:pPr algn="ctr"/>
            </a:p>
          </p:txBody>
        </p:sp>
        <p:sp>
          <p:nvSpPr>
            <p:cNvPr id="94" name="TextBox 93"/>
            <p:cNvSpPr txBox="1"/>
            <p:nvPr/>
          </p:nvSpPr>
          <p:spPr>
            <a:xfrm>
              <a:off x="9784080" y="518464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Keys + audit trail</a:t>
              </a:r>
            </a:p>
          </p:txBody>
        </p:sp>
        <p:sp>
          <p:nvSpPr>
            <p:cNvPr id="95" name="TextBox 94"/>
            <p:cNvSpPr txBox="1"/>
            <p:nvPr/>
          </p:nvSpPr>
          <p:spPr>
            <a:xfrm>
              <a:off x="9784080" y="547725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anim calcmode="lin" valueType="num">
                                      <p:cBhvr additive="base">
                                        <p:cTn id="24" dur="4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anim calcmode="lin" valueType="num">
                                      <p:cBhvr additive="base">
                                        <p:cTn id="29" dur="400" fill="hold" decel="100000"/>
                                        <p:tgtEl>
                                          <p:spTgt spid="26"/>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anim calcmode="lin" valueType="num">
                                      <p:cBhvr additive="base">
                                        <p:cTn id="34" dur="400" fill="hold" decel="100000"/>
                                        <p:tgtEl>
                                          <p:spTgt spid="31"/>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31"/>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anim calcmode="lin" valueType="num">
                                      <p:cBhvr additive="base">
                                        <p:cTn id="39" dur="400" fill="hold" decel="100000"/>
                                        <p:tgtEl>
                                          <p:spTgt spid="36"/>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6"/>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anim calcmode="lin" valueType="num">
                                      <p:cBhvr additive="base">
                                        <p:cTn id="44" dur="400" fill="hold" decel="100000"/>
                                        <p:tgtEl>
                                          <p:spTgt spid="41"/>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41"/>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05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anim calcmode="lin" valueType="num">
                                      <p:cBhvr additive="base">
                                        <p:cTn id="49" dur="400" fill="hold" decel="100000"/>
                                        <p:tgtEl>
                                          <p:spTgt spid="46"/>
                                        </p:tgtEl>
                                        <p:attrNameLst>
                                          <p:attrName>ppt_x</p:attrName>
                                        </p:attrNameLst>
                                      </p:cBhvr>
                                      <p:tavLst>
                                        <p:tav tm="0">
                                          <p:val>
                                            <p:strVal val="#ppt_x-0.02"/>
                                          </p:val>
                                        </p:tav>
                                        <p:tav tm="100000">
                                          <p:val>
                                            <p:strVal val="#ppt_x"/>
                                          </p:val>
                                        </p:tav>
                                      </p:tavLst>
                                    </p:anim>
                                    <p:anim calcmode="lin" valueType="num">
                                      <p:cBhvr additive="base">
                                        <p:cTn id="50" dur="400" fill="hold" decel="100000"/>
                                        <p:tgtEl>
                                          <p:spTgt spid="46"/>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15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anim calcmode="lin" valueType="num">
                                      <p:cBhvr additive="base">
                                        <p:cTn id="54" dur="400" fill="hold" decel="100000"/>
                                        <p:tgtEl>
                                          <p:spTgt spid="51"/>
                                        </p:tgtEl>
                                        <p:attrNameLst>
                                          <p:attrName>ppt_x</p:attrName>
                                        </p:attrNameLst>
                                      </p:cBhvr>
                                      <p:tavLst>
                                        <p:tav tm="0">
                                          <p:val>
                                            <p:strVal val="#ppt_x"/>
                                          </p:val>
                                        </p:tav>
                                        <p:tav tm="100000">
                                          <p:val>
                                            <p:strVal val="#ppt_x"/>
                                          </p:val>
                                        </p:tav>
                                      </p:tavLst>
                                    </p:anim>
                                    <p:anim calcmode="lin" valueType="num">
                                      <p:cBhvr additive="base">
                                        <p:cTn id="55" dur="400" fill="hold" decel="100000"/>
                                        <p:tgtEl>
                                          <p:spTgt spid="51"/>
                                        </p:tgtEl>
                                        <p:attrNameLst>
                                          <p:attrName>ppt_y</p:attrName>
                                        </p:attrNameLst>
                                      </p:cBhvr>
                                      <p:tavLst>
                                        <p:tav tm="0">
                                          <p:val>
                                            <p:strVal val="#ppt_y+0.025"/>
                                          </p:val>
                                        </p:tav>
                                        <p:tav tm="100000">
                                          <p:val>
                                            <p:strVal val="#ppt_y"/>
                                          </p:val>
                                        </p:tav>
                                      </p:tavLst>
                                    </p:anim>
                                  </p:childTnLst>
                                </p:cTn>
                              </p:par>
                              <p:par>
                                <p:cTn id="56" presetID="42" presetClass="entr" presetSubtype="0" fill="hold" grpId="0" nodeType="withEffect">
                                  <p:stCondLst>
                                    <p:cond delay="40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additive="base">
                                        <p:cTn id="59" dur="500" fill="hold" decel="100000"/>
                                        <p:tgtEl>
                                          <p:spTgt spid="55"/>
                                        </p:tgtEl>
                                        <p:attrNameLst>
                                          <p:attrName>ppt_x</p:attrName>
                                        </p:attrNameLst>
                                      </p:cBhvr>
                                      <p:tavLst>
                                        <p:tav tm="0">
                                          <p:val>
                                            <p:strVal val="#ppt_x"/>
                                          </p:val>
                                        </p:tav>
                                        <p:tav tm="100000">
                                          <p:val>
                                            <p:strVal val="#ppt_x"/>
                                          </p:val>
                                        </p:tav>
                                      </p:tavLst>
                                    </p:anim>
                                    <p:anim calcmode="lin" valueType="num">
                                      <p:cBhvr additive="base">
                                        <p:cTn id="60" dur="500" fill="hold" decel="100000"/>
                                        <p:tgtEl>
                                          <p:spTgt spid="55"/>
                                        </p:tgtEl>
                                        <p:attrNameLst>
                                          <p:attrName>ppt_y</p:attrName>
                                        </p:attrNameLst>
                                      </p:cBhvr>
                                      <p:tavLst>
                                        <p:tav tm="0">
                                          <p:val>
                                            <p:strVal val="#ppt_y+0.025"/>
                                          </p:val>
                                        </p:tav>
                                        <p:tav tm="100000">
                                          <p:val>
                                            <p:strVal val="#ppt_y"/>
                                          </p:val>
                                        </p:tav>
                                      </p:tavLst>
                                    </p:anim>
                                  </p:childTnLst>
                                </p:cTn>
                              </p:par>
                              <p:par>
                                <p:cTn id="61" presetID="22" presetClass="entr" presetSubtype="8" fill="hold" grpId="0" nodeType="withEffect">
                                  <p:stCondLst>
                                    <p:cond delay="800"/>
                                  </p:stCondLst>
                                  <p:childTnLst>
                                    <p:set>
                                      <p:cBhvr>
                                        <p:cTn id="62" dur="1" fill="hold">
                                          <p:stCondLst>
                                            <p:cond delay="0"/>
                                          </p:stCondLst>
                                        </p:cTn>
                                        <p:tgtEl>
                                          <p:spTgt spid="58"/>
                                        </p:tgtEl>
                                        <p:attrNameLst>
                                          <p:attrName>style.visibility</p:attrName>
                                        </p:attrNameLst>
                                      </p:cBhvr>
                                      <p:to>
                                        <p:strVal val="visible"/>
                                      </p:to>
                                    </p:set>
                                    <p:animEffect transition="in" filter="wipe(left)">
                                      <p:cBhvr>
                                        <p:cTn id="63" dur="400"/>
                                        <p:tgtEl>
                                          <p:spTgt spid="58"/>
                                        </p:tgtEl>
                                      </p:cBhvr>
                                    </p:animEffect>
                                  </p:childTnLst>
                                </p:cTn>
                              </p:par>
                              <p:par>
                                <p:cTn id="64" presetID="22" presetClass="entr" presetSubtype="8" fill="hold" grpId="0" nodeType="withEffect">
                                  <p:stCondLst>
                                    <p:cond delay="920"/>
                                  </p:stCondLst>
                                  <p:childTnLst>
                                    <p:set>
                                      <p:cBhvr>
                                        <p:cTn id="65" dur="1" fill="hold">
                                          <p:stCondLst>
                                            <p:cond delay="0"/>
                                          </p:stCondLst>
                                        </p:cTn>
                                        <p:tgtEl>
                                          <p:spTgt spid="61"/>
                                        </p:tgtEl>
                                        <p:attrNameLst>
                                          <p:attrName>style.visibility</p:attrName>
                                        </p:attrNameLst>
                                      </p:cBhvr>
                                      <p:to>
                                        <p:strVal val="visible"/>
                                      </p:to>
                                    </p:set>
                                    <p:animEffect transition="in" filter="wipe(left)">
                                      <p:cBhvr>
                                        <p:cTn id="66" dur="400"/>
                                        <p:tgtEl>
                                          <p:spTgt spid="61"/>
                                        </p:tgtEl>
                                      </p:cBhvr>
                                    </p:animEffect>
                                  </p:childTnLst>
                                </p:cTn>
                              </p:par>
                              <p:par>
                                <p:cTn id="67" presetID="22" presetClass="entr" presetSubtype="8" fill="hold" grpId="0" nodeType="withEffect">
                                  <p:stCondLst>
                                    <p:cond delay="1040"/>
                                  </p:stCondLst>
                                  <p:childTnLst>
                                    <p:set>
                                      <p:cBhvr>
                                        <p:cTn id="68" dur="1" fill="hold">
                                          <p:stCondLst>
                                            <p:cond delay="0"/>
                                          </p:stCondLst>
                                        </p:cTn>
                                        <p:tgtEl>
                                          <p:spTgt spid="64"/>
                                        </p:tgtEl>
                                        <p:attrNameLst>
                                          <p:attrName>style.visibility</p:attrName>
                                        </p:attrNameLst>
                                      </p:cBhvr>
                                      <p:to>
                                        <p:strVal val="visible"/>
                                      </p:to>
                                    </p:set>
                                    <p:animEffect transition="in" filter="wipe(left)">
                                      <p:cBhvr>
                                        <p:cTn id="69" dur="400"/>
                                        <p:tgtEl>
                                          <p:spTgt spid="64"/>
                                        </p:tgtEl>
                                      </p:cBhvr>
                                    </p:animEffect>
                                  </p:childTnLst>
                                </p:cTn>
                              </p:par>
                              <p:par>
                                <p:cTn id="70" presetID="22" presetClass="entr" presetSubtype="8" fill="hold" grpId="0" nodeType="withEffect">
                                  <p:stCondLst>
                                    <p:cond delay="1160"/>
                                  </p:stCondLst>
                                  <p:childTnLst>
                                    <p:set>
                                      <p:cBhvr>
                                        <p:cTn id="71" dur="1" fill="hold">
                                          <p:stCondLst>
                                            <p:cond delay="0"/>
                                          </p:stCondLst>
                                        </p:cTn>
                                        <p:tgtEl>
                                          <p:spTgt spid="67"/>
                                        </p:tgtEl>
                                        <p:attrNameLst>
                                          <p:attrName>style.visibility</p:attrName>
                                        </p:attrNameLst>
                                      </p:cBhvr>
                                      <p:to>
                                        <p:strVal val="visible"/>
                                      </p:to>
                                    </p:set>
                                    <p:animEffect transition="in" filter="wipe(left)">
                                      <p:cBhvr>
                                        <p:cTn id="72" dur="400"/>
                                        <p:tgtEl>
                                          <p:spTgt spid="67"/>
                                        </p:tgtEl>
                                      </p:cBhvr>
                                    </p:animEffect>
                                  </p:childTnLst>
                                </p:cTn>
                              </p:par>
                              <p:par>
                                <p:cTn id="73" presetID="22" presetClass="entr" presetSubtype="8" fill="hold" grpId="0" nodeType="withEffect">
                                  <p:stCondLst>
                                    <p:cond delay="1280"/>
                                  </p:stCondLst>
                                  <p:childTnLst>
                                    <p:set>
                                      <p:cBhvr>
                                        <p:cTn id="74" dur="1" fill="hold">
                                          <p:stCondLst>
                                            <p:cond delay="0"/>
                                          </p:stCondLst>
                                        </p:cTn>
                                        <p:tgtEl>
                                          <p:spTgt spid="70"/>
                                        </p:tgtEl>
                                        <p:attrNameLst>
                                          <p:attrName>style.visibility</p:attrName>
                                        </p:attrNameLst>
                                      </p:cBhvr>
                                      <p:to>
                                        <p:strVal val="visible"/>
                                      </p:to>
                                    </p:set>
                                    <p:animEffect transition="in" filter="wipe(left)">
                                      <p:cBhvr>
                                        <p:cTn id="75" dur="400"/>
                                        <p:tgtEl>
                                          <p:spTgt spid="70"/>
                                        </p:tgtEl>
                                      </p:cBhvr>
                                    </p:animEffect>
                                  </p:childTnLst>
                                </p:cTn>
                              </p:par>
                              <p:par>
                                <p:cTn id="76" presetID="10" presetClass="entr" presetSubtype="0" fill="hold" grpId="0" nodeType="withEffect">
                                  <p:stCondLst>
                                    <p:cond delay="1450"/>
                                  </p:stCondLst>
                                  <p:childTnLst>
                                    <p:set>
                                      <p:cBhvr>
                                        <p:cTn id="77" dur="1" fill="hold">
                                          <p:stCondLst>
                                            <p:cond delay="0"/>
                                          </p:stCondLst>
                                        </p:cTn>
                                        <p:tgtEl>
                                          <p:spTgt spid="73"/>
                                        </p:tgtEl>
                                        <p:attrNameLst>
                                          <p:attrName>style.visibility</p:attrName>
                                        </p:attrNameLst>
                                      </p:cBhvr>
                                      <p:to>
                                        <p:strVal val="visible"/>
                                      </p:to>
                                    </p:set>
                                    <p:animEffect transition="in" filter="fade">
                                      <p:cBhvr>
                                        <p:cTn id="78" dur="400"/>
                                        <p:tgtEl>
                                          <p:spTgt spid="73"/>
                                        </p:tgtEl>
                                      </p:cBhvr>
                                    </p:animEffect>
                                  </p:childTnLst>
                                </p:cTn>
                              </p:par>
                              <p:par>
                                <p:cTn id="79" presetID="42" presetClass="entr" presetSubtype="0" fill="hold" grpId="0" nodeType="withEffect">
                                  <p:stCondLst>
                                    <p:cond delay="900"/>
                                  </p:stCondLst>
                                  <p:childTnLst>
                                    <p:set>
                                      <p:cBhvr>
                                        <p:cTn id="80" dur="1" fill="hold">
                                          <p:stCondLst>
                                            <p:cond delay="0"/>
                                          </p:stCondLst>
                                        </p:cTn>
                                        <p:tgtEl>
                                          <p:spTgt spid="76"/>
                                        </p:tgtEl>
                                        <p:attrNameLst>
                                          <p:attrName>style.visibility</p:attrName>
                                        </p:attrNameLst>
                                      </p:cBhvr>
                                      <p:to>
                                        <p:strVal val="visible"/>
                                      </p:to>
                                    </p:set>
                                    <p:animEffect transition="in" filter="fade">
                                      <p:cBhvr>
                                        <p:cTn id="81" dur="550"/>
                                        <p:tgtEl>
                                          <p:spTgt spid="76"/>
                                        </p:tgtEl>
                                      </p:cBhvr>
                                    </p:animEffect>
                                    <p:anim calcmode="lin" valueType="num">
                                      <p:cBhvr additive="base">
                                        <p:cTn id="82" dur="550" fill="hold" decel="100000"/>
                                        <p:tgtEl>
                                          <p:spTgt spid="76"/>
                                        </p:tgtEl>
                                        <p:attrNameLst>
                                          <p:attrName>ppt_x</p:attrName>
                                        </p:attrNameLst>
                                      </p:cBhvr>
                                      <p:tavLst>
                                        <p:tav tm="0">
                                          <p:val>
                                            <p:strVal val="#ppt_x"/>
                                          </p:val>
                                        </p:tav>
                                        <p:tav tm="100000">
                                          <p:val>
                                            <p:strVal val="#ppt_x"/>
                                          </p:val>
                                        </p:tav>
                                      </p:tavLst>
                                    </p:anim>
                                    <p:anim calcmode="lin" valueType="num">
                                      <p:cBhvr additive="base">
                                        <p:cTn id="83" dur="550" fill="hold" decel="100000"/>
                                        <p:tgtEl>
                                          <p:spTgt spid="76"/>
                                        </p:tgtEl>
                                        <p:attrNameLst>
                                          <p:attrName>ppt_y</p:attrName>
                                        </p:attrNameLst>
                                      </p:cBhvr>
                                      <p:tavLst>
                                        <p:tav tm="0">
                                          <p:val>
                                            <p:strVal val="#ppt_y+0.025"/>
                                          </p:val>
                                        </p:tav>
                                        <p:tav tm="100000">
                                          <p:val>
                                            <p:strVal val="#ppt_y"/>
                                          </p:val>
                                        </p:tav>
                                      </p:tavLst>
                                    </p:anim>
                                  </p:childTnLst>
                                </p:cTn>
                              </p:par>
                              <p:par>
                                <p:cTn id="84" presetID="10" presetClass="entr" presetSubtype="0" fill="hold" grpId="0" nodeType="withEffect">
                                  <p:stCondLst>
                                    <p:cond delay="1350"/>
                                  </p:stCondLst>
                                  <p:childTnLst>
                                    <p:set>
                                      <p:cBhvr>
                                        <p:cTn id="85" dur="1" fill="hold">
                                          <p:stCondLst>
                                            <p:cond delay="0"/>
                                          </p:stCondLst>
                                        </p:cTn>
                                        <p:tgtEl>
                                          <p:spTgt spid="85"/>
                                        </p:tgtEl>
                                        <p:attrNameLst>
                                          <p:attrName>style.visibility</p:attrName>
                                        </p:attrNameLst>
                                      </p:cBhvr>
                                      <p:to>
                                        <p:strVal val="visible"/>
                                      </p:to>
                                    </p:set>
                                    <p:animEffect transition="in" filter="fade">
                                      <p:cBhvr>
                                        <p:cTn id="86" dur="400"/>
                                        <p:tgtEl>
                                          <p:spTgt spid="85"/>
                                        </p:tgtEl>
                                      </p:cBhvr>
                                    </p:animEffect>
                                  </p:childTnLst>
                                </p:cTn>
                              </p:par>
                              <p:par>
                                <p:cTn id="87" presetID="42" presetClass="entr" presetSubtype="0" fill="hold" grpId="0" nodeType="withEffect">
                                  <p:stCondLst>
                                    <p:cond delay="1100"/>
                                  </p:stCondLst>
                                  <p:childTnLst>
                                    <p:set>
                                      <p:cBhvr>
                                        <p:cTn id="88" dur="1" fill="hold">
                                          <p:stCondLst>
                                            <p:cond delay="0"/>
                                          </p:stCondLst>
                                        </p:cTn>
                                        <p:tgtEl>
                                          <p:spTgt spid="86"/>
                                        </p:tgtEl>
                                        <p:attrNameLst>
                                          <p:attrName>style.visibility</p:attrName>
                                        </p:attrNameLst>
                                      </p:cBhvr>
                                      <p:to>
                                        <p:strVal val="visible"/>
                                      </p:to>
                                    </p:set>
                                    <p:animEffect transition="in" filter="fade">
                                      <p:cBhvr>
                                        <p:cTn id="89" dur="400"/>
                                        <p:tgtEl>
                                          <p:spTgt spid="86"/>
                                        </p:tgtEl>
                                      </p:cBhvr>
                                    </p:animEffect>
                                    <p:anim calcmode="lin" valueType="num">
                                      <p:cBhvr additive="base">
                                        <p:cTn id="90" dur="400" fill="hold" decel="100000"/>
                                        <p:tgtEl>
                                          <p:spTgt spid="86"/>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86"/>
                                        </p:tgtEl>
                                        <p:attrNameLst>
                                          <p:attrName>ppt_y</p:attrName>
                                        </p:attrNameLst>
                                      </p:cBhvr>
                                      <p:tavLst>
                                        <p:tav tm="0">
                                          <p:val>
                                            <p:strVal val="#ppt_y+0.025"/>
                                          </p:val>
                                        </p:tav>
                                        <p:tav tm="100000">
                                          <p:val>
                                            <p:strVal val="#ppt_y"/>
                                          </p:val>
                                        </p:tav>
                                      </p:tavLst>
                                    </p:anim>
                                  </p:childTnLst>
                                </p:cTn>
                              </p:par>
                              <p:par>
                                <p:cTn id="92" presetID="42" presetClass="entr" presetSubtype="0" fill="hold" grpId="0" nodeType="withEffect">
                                  <p:stCondLst>
                                    <p:cond delay="1230"/>
                                  </p:stCondLst>
                                  <p:childTnLst>
                                    <p:set>
                                      <p:cBhvr>
                                        <p:cTn id="93" dur="1" fill="hold">
                                          <p:stCondLst>
                                            <p:cond delay="0"/>
                                          </p:stCondLst>
                                        </p:cTn>
                                        <p:tgtEl>
                                          <p:spTgt spid="91"/>
                                        </p:tgtEl>
                                        <p:attrNameLst>
                                          <p:attrName>style.visibility</p:attrName>
                                        </p:attrNameLst>
                                      </p:cBhvr>
                                      <p:to>
                                        <p:strVal val="visible"/>
                                      </p:to>
                                    </p:set>
                                    <p:animEffect transition="in" filter="fade">
                                      <p:cBhvr>
                                        <p:cTn id="94" dur="400"/>
                                        <p:tgtEl>
                                          <p:spTgt spid="91"/>
                                        </p:tgtEl>
                                      </p:cBhvr>
                                    </p:animEffect>
                                    <p:anim calcmode="lin" valueType="num">
                                      <p:cBhvr additive="base">
                                        <p:cTn id="95" dur="400" fill="hold" decel="100000"/>
                                        <p:tgtEl>
                                          <p:spTgt spid="91"/>
                                        </p:tgtEl>
                                        <p:attrNameLst>
                                          <p:attrName>ppt_x</p:attrName>
                                        </p:attrNameLst>
                                      </p:cBhvr>
                                      <p:tavLst>
                                        <p:tav tm="0">
                                          <p:val>
                                            <p:strVal val="#ppt_x"/>
                                          </p:val>
                                        </p:tav>
                                        <p:tav tm="100000">
                                          <p:val>
                                            <p:strVal val="#ppt_x"/>
                                          </p:val>
                                        </p:tav>
                                      </p:tavLst>
                                    </p:anim>
                                    <p:anim calcmode="lin" valueType="num">
                                      <p:cBhvr additive="base">
                                        <p:cTn id="96" dur="400" fill="hold" decel="100000"/>
                                        <p:tgtEl>
                                          <p:spTgt spid="91"/>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8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08  ·  BUSINESS MODEL · WHY NOW</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975335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Merchants pay </a:t>
            </a:r>
            <a:r>
              <a:rPr sz="4000" b="0" i="1" spc="-40">
                <a:solidFill>
                  <a:srgbClr val="6E6658"/>
                </a:solidFill>
                <a:latin typeface="Georgia" panose="02040502050405020303" pitchFamily="18" charset="0"/>
              </a:rPr>
              <a:t>only at the hammer.</a:t>
            </a:r>
          </a:p>
        </p:txBody>
      </p:sp>
      <p:grpSp>
        <p:nvGrpSpPr>
          <p:cNvPr id="17" name="Group 16"/>
          <p:cNvGrpSpPr/>
          <p:nvPr/>
        </p:nvGrpSpPr>
        <p:grpSpPr>
          <a:xfrm>
            <a:off x="685800" y="1755648"/>
            <a:ext cx="5440680" cy="4517136"/>
            <a:chOff x="685800" y="1755648"/>
            <a:chExt cx="5440680" cy="4517136"/>
          </a:xfrm>
        </p:grpSpPr>
        <p:sp>
          <p:nvSpPr>
            <p:cNvPr id="18" name="Rounded Rectangle 17"/>
            <p:cNvSpPr/>
            <p:nvPr/>
          </p:nvSpPr>
          <p:spPr>
            <a:xfrm>
              <a:off x="685800" y="1755648"/>
              <a:ext cx="5440680"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74520"/>
              <a:ext cx="493776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BUSINESS MODEL</a:t>
              </a:r>
            </a:p>
          </p:txBody>
        </p:sp>
      </p:grpSp>
      <p:grpSp>
        <p:nvGrpSpPr>
          <p:cNvPr id="20" name="Group 19"/>
          <p:cNvGrpSpPr/>
          <p:nvPr/>
        </p:nvGrpSpPr>
        <p:grpSpPr>
          <a:xfrm>
            <a:off x="914400" y="2286000"/>
            <a:ext cx="1371600" cy="530352"/>
            <a:chOff x="914400" y="2286000"/>
            <a:chExt cx="1371600" cy="530352"/>
          </a:xfrm>
        </p:grpSpPr>
        <p:sp>
          <p:nvSpPr>
            <p:cNvPr id="21" name="Rounded Rectangle 20"/>
            <p:cNvSpPr/>
            <p:nvPr/>
          </p:nvSpPr>
          <p:spPr>
            <a:xfrm>
              <a:off x="914400" y="2286000"/>
              <a:ext cx="1371600" cy="530352"/>
            </a:xfrm>
            <a:prstGeom prst="roundRect">
              <a:avLst>
                <a:gd name="adj" fmla="val 50000"/>
              </a:avLst>
            </a:prstGeom>
            <a:solidFill>
              <a:srgbClr val="E6ECF6"/>
            </a:solidFill>
            <a:ln>
              <a:noFill/>
            </a:ln>
          </p:spPr>
          <p:txBody>
            <a:bodyPr rtlCol="0" anchor="ctr"/>
            <a:lstStyle/>
            <a:p>
              <a:pPr algn="ctr"/>
            </a:p>
          </p:txBody>
        </p:sp>
        <p:sp>
          <p:nvSpPr>
            <p:cNvPr id="22" name="TextBox 21"/>
            <p:cNvSpPr txBox="1"/>
            <p:nvPr/>
          </p:nvSpPr>
          <p:spPr>
            <a:xfrm>
              <a:off x="914400" y="2286000"/>
              <a:ext cx="1371600" cy="530352"/>
            </a:xfrm>
            <a:prstGeom prst="rect">
              <a:avLst/>
            </a:prstGeom>
            <a:noFill/>
          </p:spPr>
          <p:txBody>
            <a:bodyPr wrap="square" lIns="0" rIns="0" tIns="0" bIns="0" anchor="ctr">
              <a:noAutofit/>
            </a:bodyPr>
            <a:lstStyle/>
            <a:p>
              <a:pPr algn="ctr"/>
              <a:r>
                <a:rPr sz="1200" b="1" i="0">
                  <a:solidFill>
                    <a:srgbClr val="233F6E"/>
                  </a:solidFill>
                  <a:latin typeface="Inter" panose="020B0502030000000004" pitchFamily="34" charset="0"/>
                </a:rPr>
                <a:t>Agent wallet</a:t>
              </a:r>
            </a:p>
          </p:txBody>
        </p:sp>
      </p:grpSp>
      <p:cxnSp>
        <p:nvCxnSpPr>
          <p:cNvPr id="23" name="Connector 22"/>
          <p:cNvCxnSpPr/>
          <p:nvPr/>
        </p:nvCxnSpPr>
        <p:spPr>
          <a:xfrm>
            <a:off x="2313432" y="2551176"/>
            <a:ext cx="310896" cy="0"/>
          </a:xfrm>
          <a:prstGeom prst="line">
            <a:avLst/>
          </a:prstGeom>
          <a:ln w="19050">
            <a:solidFill>
              <a:srgbClr val="CFC3AA"/>
            </a:solidFill>
            <a:tailEnd type="triangle" w="med" len="med"/>
          </a:ln>
        </p:spPr>
      </p:cxnSp>
      <p:sp>
        <p:nvSpPr>
          <p:cNvPr id="24" name="TextBox 23"/>
          <p:cNvSpPr txBox="1"/>
          <p:nvPr/>
        </p:nvSpPr>
        <p:spPr>
          <a:xfrm>
            <a:off x="2011680" y="2852928"/>
            <a:ext cx="896112" cy="219456"/>
          </a:xfrm>
          <a:prstGeom prst="rect">
            <a:avLst/>
          </a:prstGeom>
          <a:noFill/>
        </p:spPr>
        <p:txBody>
          <a:bodyPr wrap="square" lIns="0" rIns="0" tIns="0" bIns="0" anchor="ctr">
            <a:noAutofit/>
          </a:bodyPr>
          <a:lstStyle/>
          <a:p>
            <a:pPr algn="ctr"/>
            <a:r>
              <a:rPr sz="850" b="1" i="0">
                <a:solidFill>
                  <a:srgbClr val="6E6658"/>
                </a:solidFill>
                <a:latin typeface="Inter" panose="020B0502030000000004" pitchFamily="34" charset="0"/>
              </a:rPr>
              <a:t>hammer price</a:t>
            </a:r>
          </a:p>
        </p:txBody>
      </p:sp>
      <p:grpSp>
        <p:nvGrpSpPr>
          <p:cNvPr id="25" name="Group 24"/>
          <p:cNvGrpSpPr/>
          <p:nvPr/>
        </p:nvGrpSpPr>
        <p:grpSpPr>
          <a:xfrm>
            <a:off x="2651760" y="2286000"/>
            <a:ext cx="1371600" cy="530352"/>
            <a:chOff x="2651760" y="2286000"/>
            <a:chExt cx="1371600" cy="530352"/>
          </a:xfrm>
        </p:grpSpPr>
        <p:sp>
          <p:nvSpPr>
            <p:cNvPr id="26" name="Rounded Rectangle 25"/>
            <p:cNvSpPr/>
            <p:nvPr/>
          </p:nvSpPr>
          <p:spPr>
            <a:xfrm>
              <a:off x="2651760" y="2286000"/>
              <a:ext cx="1371600" cy="530352"/>
            </a:xfrm>
            <a:prstGeom prst="roundRect">
              <a:avLst>
                <a:gd name="adj" fmla="val 50000"/>
              </a:avLst>
            </a:prstGeom>
            <a:solidFill>
              <a:srgbClr val="EFE8D9"/>
            </a:solidFill>
            <a:ln>
              <a:noFill/>
            </a:ln>
          </p:spPr>
          <p:txBody>
            <a:bodyPr rtlCol="0" anchor="ctr"/>
            <a:lstStyle/>
            <a:p>
              <a:pPr algn="ctr"/>
            </a:p>
          </p:txBody>
        </p:sp>
        <p:sp>
          <p:nvSpPr>
            <p:cNvPr id="27" name="TextBox 26"/>
            <p:cNvSpPr txBox="1"/>
            <p:nvPr/>
          </p:nvSpPr>
          <p:spPr>
            <a:xfrm>
              <a:off x="2651760" y="2286000"/>
              <a:ext cx="1371600" cy="530352"/>
            </a:xfrm>
            <a:prstGeom prst="rect">
              <a:avLst/>
            </a:prstGeom>
            <a:noFill/>
          </p:spPr>
          <p:txBody>
            <a:bodyPr wrap="square" lIns="0" rIns="0" tIns="0" bIns="0" anchor="ctr">
              <a:noAutofit/>
            </a:bodyPr>
            <a:lstStyle/>
            <a:p>
              <a:pPr algn="ctr"/>
              <a:r>
                <a:rPr sz="1200" b="1" i="0">
                  <a:solidFill>
                    <a:srgbClr val="16130E"/>
                  </a:solidFill>
                  <a:latin typeface="Inter" panose="020B0502030000000004" pitchFamily="34" charset="0"/>
                </a:rPr>
                <a:t>Merchant</a:t>
              </a:r>
            </a:p>
          </p:txBody>
        </p:sp>
      </p:grpSp>
      <p:cxnSp>
        <p:nvCxnSpPr>
          <p:cNvPr id="28" name="Connector 27"/>
          <p:cNvCxnSpPr/>
          <p:nvPr/>
        </p:nvCxnSpPr>
        <p:spPr>
          <a:xfrm>
            <a:off x="4050792" y="2551176"/>
            <a:ext cx="310896" cy="0"/>
          </a:xfrm>
          <a:prstGeom prst="line">
            <a:avLst/>
          </a:prstGeom>
          <a:ln w="19050">
            <a:solidFill>
              <a:srgbClr val="CFC3AA"/>
            </a:solidFill>
            <a:tailEnd type="triangle" w="med" len="med"/>
          </a:ln>
        </p:spPr>
      </p:cxnSp>
      <p:sp>
        <p:nvSpPr>
          <p:cNvPr id="29" name="TextBox 28"/>
          <p:cNvSpPr txBox="1"/>
          <p:nvPr/>
        </p:nvSpPr>
        <p:spPr>
          <a:xfrm>
            <a:off x="3749040" y="2852928"/>
            <a:ext cx="89611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commission</a:t>
            </a:r>
          </a:p>
        </p:txBody>
      </p:sp>
      <p:grpSp>
        <p:nvGrpSpPr>
          <p:cNvPr id="30" name="Group 29"/>
          <p:cNvGrpSpPr/>
          <p:nvPr/>
        </p:nvGrpSpPr>
        <p:grpSpPr>
          <a:xfrm>
            <a:off x="4389120" y="2286000"/>
            <a:ext cx="1371600" cy="530352"/>
            <a:chOff x="4389120" y="2286000"/>
            <a:chExt cx="1371600" cy="530352"/>
          </a:xfrm>
        </p:grpSpPr>
        <p:sp>
          <p:nvSpPr>
            <p:cNvPr id="31" name="Rounded Rectangle 30"/>
            <p:cNvSpPr/>
            <p:nvPr/>
          </p:nvSpPr>
          <p:spPr>
            <a:xfrm>
              <a:off x="4389120" y="2286000"/>
              <a:ext cx="1371600" cy="530352"/>
            </a:xfrm>
            <a:prstGeom prst="roundRect">
              <a:avLst>
                <a:gd name="adj" fmla="val 50000"/>
              </a:avLst>
            </a:prstGeom>
            <a:solidFill>
              <a:srgbClr val="16130E"/>
            </a:solidFill>
            <a:ln>
              <a:noFill/>
            </a:ln>
          </p:spPr>
          <p:txBody>
            <a:bodyPr rtlCol="0" anchor="ctr"/>
            <a:lstStyle/>
            <a:p>
              <a:pPr algn="ctr"/>
            </a:p>
          </p:txBody>
        </p:sp>
        <p:sp>
          <p:nvSpPr>
            <p:cNvPr id="32" name="TextBox 31"/>
            <p:cNvSpPr txBox="1"/>
            <p:nvPr/>
          </p:nvSpPr>
          <p:spPr>
            <a:xfrm>
              <a:off x="4389120" y="2286000"/>
              <a:ext cx="1371600" cy="530352"/>
            </a:xfrm>
            <a:prstGeom prst="rect">
              <a:avLst/>
            </a:prstGeom>
            <a:noFill/>
          </p:spPr>
          <p:txBody>
            <a:bodyPr wrap="square" lIns="0" rIns="0" tIns="0" bIns="0" anchor="ctr">
              <a:noAutofit/>
            </a:bodyPr>
            <a:lstStyle/>
            <a:p>
              <a:pPr algn="ctr"/>
              <a:r>
                <a:rPr sz="1200" b="1" i="0">
                  <a:solidFill>
                    <a:srgbClr val="FFFDF7"/>
                  </a:solidFill>
                  <a:latin typeface="Inter" panose="020B0502030000000004" pitchFamily="34" charset="0"/>
                </a:rPr>
                <a:t>Bidwire</a:t>
              </a:r>
            </a:p>
          </p:txBody>
        </p:sp>
      </p:grpSp>
      <p:sp>
        <p:nvSpPr>
          <p:cNvPr id="33" name="TextBox 32"/>
          <p:cNvSpPr txBox="1"/>
          <p:nvPr/>
        </p:nvSpPr>
        <p:spPr>
          <a:xfrm>
            <a:off x="914400" y="3090672"/>
            <a:ext cx="4983480" cy="237744"/>
          </a:xfrm>
          <a:prstGeom prst="rect">
            <a:avLst/>
          </a:prstGeom>
          <a:noFill/>
        </p:spPr>
        <p:txBody>
          <a:bodyPr wrap="square" lIns="0" rIns="0" tIns="0" bIns="0" anchor="ctr">
            <a:noAutofit/>
          </a:bodyPr>
          <a:lstStyle/>
          <a:p>
            <a:pPr algn="r"/>
            <a:r>
              <a:rPr sz="950" b="0" i="0">
                <a:solidFill>
                  <a:srgbClr val="94641F"/>
                </a:solidFill>
                <a:latin typeface="Inter" panose="020B0502030000000004" pitchFamily="34" charset="0"/>
              </a:rPr>
              <a:t>Commission is charged only on a verified sale.</a:t>
            </a:r>
          </a:p>
        </p:txBody>
      </p:sp>
      <p:grpSp>
        <p:nvGrpSpPr>
          <p:cNvPr id="34" name="Group 33"/>
          <p:cNvGrpSpPr/>
          <p:nvPr/>
        </p:nvGrpSpPr>
        <p:grpSpPr>
          <a:xfrm>
            <a:off x="914400" y="3493008"/>
            <a:ext cx="4983480" cy="640080"/>
            <a:chOff x="914400" y="3493008"/>
            <a:chExt cx="4983480" cy="640080"/>
          </a:xfrm>
        </p:grpSpPr>
        <p:sp>
          <p:nvSpPr>
            <p:cNvPr id="35" name="Oval 34"/>
            <p:cNvSpPr/>
            <p:nvPr/>
          </p:nvSpPr>
          <p:spPr>
            <a:xfrm>
              <a:off x="914400" y="3584448"/>
              <a:ext cx="91440" cy="91440"/>
            </a:xfrm>
            <a:prstGeom prst="ellipse">
              <a:avLst/>
            </a:prstGeom>
            <a:solidFill>
              <a:srgbClr val="2D6A48"/>
            </a:solidFill>
            <a:ln>
              <a:noFill/>
            </a:ln>
          </p:spPr>
          <p:txBody>
            <a:bodyPr rtlCol="0" anchor="ctr"/>
            <a:lstStyle/>
            <a:p>
              <a:pPr algn="ctr"/>
            </a:p>
          </p:txBody>
        </p:sp>
        <p:sp>
          <p:nvSpPr>
            <p:cNvPr id="36" name="TextBox 35"/>
            <p:cNvSpPr txBox="1"/>
            <p:nvPr/>
          </p:nvSpPr>
          <p:spPr>
            <a:xfrm>
              <a:off x="1143000" y="3493008"/>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CPA, not CPM.</a:t>
              </a:r>
              <a:r>
                <a:rPr sz="1250" b="0" i="0">
                  <a:solidFill>
                    <a:srgbClr val="6E6658"/>
                  </a:solidFill>
                  <a:latin typeface="Inter" panose="020B0502030000000004" pitchFamily="34" charset="0"/>
                </a:rPr>
                <a:t> The commission a merchant bids is charged only when an agent buys a verified offer.</a:t>
              </a:r>
            </a:p>
          </p:txBody>
        </p:sp>
      </p:grpSp>
      <p:grpSp>
        <p:nvGrpSpPr>
          <p:cNvPr id="37" name="Group 36"/>
          <p:cNvGrpSpPr/>
          <p:nvPr/>
        </p:nvGrpSpPr>
        <p:grpSpPr>
          <a:xfrm>
            <a:off x="914400" y="4160520"/>
            <a:ext cx="4983480" cy="640080"/>
            <a:chOff x="914400" y="4160520"/>
            <a:chExt cx="4983480" cy="640080"/>
          </a:xfrm>
        </p:grpSpPr>
        <p:sp>
          <p:nvSpPr>
            <p:cNvPr id="38" name="Oval 37"/>
            <p:cNvSpPr/>
            <p:nvPr/>
          </p:nvSpPr>
          <p:spPr>
            <a:xfrm>
              <a:off x="914400" y="4251960"/>
              <a:ext cx="91440" cy="91440"/>
            </a:xfrm>
            <a:prstGeom prst="ellipse">
              <a:avLst/>
            </a:prstGeom>
            <a:solidFill>
              <a:srgbClr val="94641F"/>
            </a:solidFill>
            <a:ln>
              <a:noFill/>
            </a:ln>
          </p:spPr>
          <p:txBody>
            <a:bodyPr rtlCol="0" anchor="ctr"/>
            <a:lstStyle/>
            <a:p>
              <a:pPr algn="ctr"/>
            </a:p>
          </p:txBody>
        </p:sp>
        <p:sp>
          <p:nvSpPr>
            <p:cNvPr id="39" name="TextBox 38"/>
            <p:cNvSpPr txBox="1"/>
            <p:nvPr/>
          </p:nvSpPr>
          <p:spPr>
            <a:xfrm>
              <a:off x="1143000" y="4160520"/>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That commission is our take rate.</a:t>
              </a:r>
              <a:r>
                <a:rPr sz="1250" b="0" i="0">
                  <a:solidFill>
                    <a:srgbClr val="6E6658"/>
                  </a:solidFill>
                  <a:latin typeface="Inter" panose="020B0502030000000004" pitchFamily="34" charset="0"/>
                </a:rPr>
                <a:t> No impressions. No clicks. No pay-to-rank.</a:t>
              </a:r>
            </a:p>
          </p:txBody>
        </p:sp>
      </p:grpSp>
      <p:grpSp>
        <p:nvGrpSpPr>
          <p:cNvPr id="40" name="Group 39"/>
          <p:cNvGrpSpPr/>
          <p:nvPr/>
        </p:nvGrpSpPr>
        <p:grpSpPr>
          <a:xfrm>
            <a:off x="914400" y="4828032"/>
            <a:ext cx="4983480" cy="640080"/>
            <a:chOff x="914400" y="4828032"/>
            <a:chExt cx="4983480" cy="640080"/>
          </a:xfrm>
        </p:grpSpPr>
        <p:sp>
          <p:nvSpPr>
            <p:cNvPr id="41" name="Oval 40"/>
            <p:cNvSpPr/>
            <p:nvPr/>
          </p:nvSpPr>
          <p:spPr>
            <a:xfrm>
              <a:off x="914400" y="4919472"/>
              <a:ext cx="91440" cy="91440"/>
            </a:xfrm>
            <a:prstGeom prst="ellipse">
              <a:avLst/>
            </a:prstGeom>
            <a:solidFill>
              <a:srgbClr val="233F6E"/>
            </a:solidFill>
            <a:ln>
              <a:noFill/>
            </a:ln>
          </p:spPr>
          <p:txBody>
            <a:bodyPr rtlCol="0" anchor="ctr"/>
            <a:lstStyle/>
            <a:p>
              <a:pPr algn="ctr"/>
            </a:p>
          </p:txBody>
        </p:sp>
        <p:sp>
          <p:nvSpPr>
            <p:cNvPr id="42" name="TextBox 41"/>
            <p:cNvSpPr txBox="1"/>
            <p:nvPr/>
          </p:nvSpPr>
          <p:spPr>
            <a:xfrm>
              <a:off x="1143000" y="4828032"/>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Wedge:</a:t>
              </a:r>
              <a:r>
                <a:rPr sz="1250" b="0" i="0">
                  <a:solidFill>
                    <a:srgbClr val="6E6658"/>
                  </a:solidFill>
                  <a:latin typeface="Inter" panose="020B0502030000000004" pitchFamily="34" charset="0"/>
                </a:rPr>
                <a:t> DTC merchants and agent shopping apps.</a:t>
              </a:r>
            </a:p>
          </p:txBody>
        </p:sp>
      </p:grpSp>
      <p:grpSp>
        <p:nvGrpSpPr>
          <p:cNvPr id="43" name="Group 42"/>
          <p:cNvGrpSpPr/>
          <p:nvPr/>
        </p:nvGrpSpPr>
        <p:grpSpPr>
          <a:xfrm>
            <a:off x="914400" y="5495544"/>
            <a:ext cx="4983480" cy="640080"/>
            <a:chOff x="914400" y="5495544"/>
            <a:chExt cx="4983480" cy="640080"/>
          </a:xfrm>
        </p:grpSpPr>
        <p:sp>
          <p:nvSpPr>
            <p:cNvPr id="44" name="Oval 43"/>
            <p:cNvSpPr/>
            <p:nvPr/>
          </p:nvSpPr>
          <p:spPr>
            <a:xfrm>
              <a:off x="914400" y="5586984"/>
              <a:ext cx="91440" cy="91440"/>
            </a:xfrm>
            <a:prstGeom prst="ellipse">
              <a:avLst/>
            </a:prstGeom>
            <a:solidFill>
              <a:srgbClr val="B0894F"/>
            </a:solidFill>
            <a:ln>
              <a:noFill/>
            </a:ln>
          </p:spPr>
          <p:txBody>
            <a:bodyPr rtlCol="0" anchor="ctr"/>
            <a:lstStyle/>
            <a:p>
              <a:pPr algn="ctr"/>
            </a:p>
          </p:txBody>
        </p:sp>
        <p:sp>
          <p:nvSpPr>
            <p:cNvPr id="45" name="TextBox 44"/>
            <p:cNvSpPr txBox="1"/>
            <p:nvPr/>
          </p:nvSpPr>
          <p:spPr>
            <a:xfrm>
              <a:off x="1143000" y="5495544"/>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Long game:</a:t>
              </a:r>
              <a:r>
                <a:rPr sz="1250" b="0" i="0">
                  <a:solidFill>
                    <a:srgbClr val="6E6658"/>
                  </a:solidFill>
                  <a:latin typeface="Inter" panose="020B0502030000000004" pitchFamily="34" charset="0"/>
                </a:rPr>
                <a:t> the trust and reputation layer for agent commerce.</a:t>
              </a:r>
            </a:p>
          </p:txBody>
        </p:sp>
      </p:grpSp>
      <p:grpSp>
        <p:nvGrpSpPr>
          <p:cNvPr id="46" name="Group 45"/>
          <p:cNvGrpSpPr/>
          <p:nvPr/>
        </p:nvGrpSpPr>
        <p:grpSpPr>
          <a:xfrm>
            <a:off x="6355080" y="1755648"/>
            <a:ext cx="5148072" cy="4517136"/>
            <a:chOff x="6355080" y="1755648"/>
            <a:chExt cx="5148072" cy="4517136"/>
          </a:xfrm>
        </p:grpSpPr>
        <p:sp>
          <p:nvSpPr>
            <p:cNvPr id="47" name="Rounded Rectangle 46"/>
            <p:cNvSpPr/>
            <p:nvPr/>
          </p:nvSpPr>
          <p:spPr>
            <a:xfrm>
              <a:off x="6355080" y="1755648"/>
              <a:ext cx="5148072"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6583680" y="1874520"/>
              <a:ext cx="47548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WHY NOW</a:t>
              </a:r>
            </a:p>
          </p:txBody>
        </p:sp>
      </p:grpSp>
      <p:sp>
        <p:nvSpPr>
          <p:cNvPr id="49" name="Rectangle 48"/>
          <p:cNvSpPr/>
          <p:nvPr/>
        </p:nvSpPr>
        <p:spPr>
          <a:xfrm>
            <a:off x="6688836" y="2377440"/>
            <a:ext cx="13716" cy="1965960"/>
          </a:xfrm>
          <a:prstGeom prst="rect">
            <a:avLst/>
          </a:prstGeom>
          <a:solidFill>
            <a:srgbClr val="E2D9C6"/>
          </a:solidFill>
          <a:ln>
            <a:noFill/>
          </a:ln>
        </p:spPr>
        <p:txBody>
          <a:bodyPr rtlCol="0" anchor="ctr"/>
          <a:lstStyle/>
          <a:p>
            <a:pPr algn="ctr"/>
          </a:p>
        </p:txBody>
      </p:sp>
      <p:grpSp>
        <p:nvGrpSpPr>
          <p:cNvPr id="50" name="Group 49"/>
          <p:cNvGrpSpPr/>
          <p:nvPr/>
        </p:nvGrpSpPr>
        <p:grpSpPr>
          <a:xfrm>
            <a:off x="6611112" y="2240280"/>
            <a:ext cx="4700016" cy="896112"/>
            <a:chOff x="6611112" y="2240280"/>
            <a:chExt cx="4700016" cy="896112"/>
          </a:xfrm>
        </p:grpSpPr>
        <p:sp>
          <p:nvSpPr>
            <p:cNvPr id="51" name="Oval 50"/>
            <p:cNvSpPr/>
            <p:nvPr/>
          </p:nvSpPr>
          <p:spPr>
            <a:xfrm>
              <a:off x="6611112" y="2295144"/>
              <a:ext cx="173736" cy="173736"/>
            </a:xfrm>
            <a:prstGeom prst="ellipse">
              <a:avLst/>
            </a:prstGeom>
            <a:solidFill>
              <a:srgbClr val="CFC3AA"/>
            </a:solidFill>
            <a:ln w="25400">
              <a:solidFill>
                <a:srgbClr val="FFFDF7"/>
              </a:solidFill>
            </a:ln>
          </p:spPr>
          <p:txBody>
            <a:bodyPr rtlCol="0" anchor="ctr"/>
            <a:lstStyle/>
            <a:p>
              <a:pPr algn="ctr"/>
            </a:p>
          </p:txBody>
        </p:sp>
        <p:sp>
          <p:nvSpPr>
            <p:cNvPr id="52" name="TextBox 51"/>
            <p:cNvSpPr txBox="1"/>
            <p:nvPr/>
          </p:nvSpPr>
          <p:spPr>
            <a:xfrm>
              <a:off x="6967728" y="22402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18 months ago   </a:t>
              </a:r>
              <a:r>
                <a:rPr sz="900" b="0" i="0">
                  <a:solidFill>
                    <a:srgbClr val="9C937F"/>
                  </a:solidFill>
                  <a:latin typeface="Inter" panose="020B0502030000000004" pitchFamily="34" charset="0"/>
                </a:rPr>
                <a:t>YC kickoff</a:t>
              </a:r>
            </a:p>
          </p:txBody>
        </p:sp>
        <p:sp>
          <p:nvSpPr>
            <p:cNvPr id="53" name="TextBox 52"/>
            <p:cNvSpPr txBox="1"/>
            <p:nvPr/>
          </p:nvSpPr>
          <p:spPr>
            <a:xfrm>
              <a:off x="6967728" y="25328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No MCP. No ACP. No agent had a credit card or a login.</a:t>
              </a:r>
            </a:p>
          </p:txBody>
        </p:sp>
      </p:grpSp>
      <p:grpSp>
        <p:nvGrpSpPr>
          <p:cNvPr id="54" name="Group 53"/>
          <p:cNvGrpSpPr/>
          <p:nvPr/>
        </p:nvGrpSpPr>
        <p:grpSpPr>
          <a:xfrm>
            <a:off x="6611112" y="3154680"/>
            <a:ext cx="4700016" cy="896112"/>
            <a:chOff x="6611112" y="3154680"/>
            <a:chExt cx="4700016" cy="896112"/>
          </a:xfrm>
        </p:grpSpPr>
        <p:sp>
          <p:nvSpPr>
            <p:cNvPr id="55" name="Oval 54"/>
            <p:cNvSpPr/>
            <p:nvPr/>
          </p:nvSpPr>
          <p:spPr>
            <a:xfrm>
              <a:off x="6611112" y="3209544"/>
              <a:ext cx="173736" cy="173736"/>
            </a:xfrm>
            <a:prstGeom prst="ellipse">
              <a:avLst/>
            </a:prstGeom>
            <a:solidFill>
              <a:srgbClr val="233F6E"/>
            </a:solidFill>
            <a:ln w="25400">
              <a:solidFill>
                <a:srgbClr val="FFFDF7"/>
              </a:solidFill>
            </a:ln>
          </p:spPr>
          <p:txBody>
            <a:bodyPr rtlCol="0" anchor="ctr"/>
            <a:lstStyle/>
            <a:p>
              <a:pPr algn="ctr"/>
            </a:p>
          </p:txBody>
        </p:sp>
        <p:sp>
          <p:nvSpPr>
            <p:cNvPr id="56" name="TextBox 55"/>
            <p:cNvSpPr txBox="1"/>
            <p:nvPr/>
          </p:nvSpPr>
          <p:spPr>
            <a:xfrm>
              <a:off x="6967728" y="31546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This year</a:t>
              </a:r>
            </a:p>
          </p:txBody>
        </p:sp>
        <p:sp>
          <p:nvSpPr>
            <p:cNvPr id="57" name="TextBox 56"/>
            <p:cNvSpPr txBox="1"/>
            <p:nvPr/>
          </p:nvSpPr>
          <p:spPr>
            <a:xfrm>
              <a:off x="6967728" y="34472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Agents got wallets and protocols: MCP and ACP.</a:t>
              </a:r>
            </a:p>
          </p:txBody>
        </p:sp>
      </p:grpSp>
      <p:grpSp>
        <p:nvGrpSpPr>
          <p:cNvPr id="58" name="Group 57"/>
          <p:cNvGrpSpPr/>
          <p:nvPr/>
        </p:nvGrpSpPr>
        <p:grpSpPr>
          <a:xfrm>
            <a:off x="6611112" y="4069080"/>
            <a:ext cx="4700016" cy="896112"/>
            <a:chOff x="6611112" y="4069080"/>
            <a:chExt cx="4700016" cy="896112"/>
          </a:xfrm>
        </p:grpSpPr>
        <p:sp>
          <p:nvSpPr>
            <p:cNvPr id="59" name="Oval 58"/>
            <p:cNvSpPr/>
            <p:nvPr/>
          </p:nvSpPr>
          <p:spPr>
            <a:xfrm>
              <a:off x="6611112" y="4123944"/>
              <a:ext cx="173736" cy="173736"/>
            </a:xfrm>
            <a:prstGeom prst="ellipse">
              <a:avLst/>
            </a:prstGeom>
            <a:solidFill>
              <a:srgbClr val="B0894F"/>
            </a:solidFill>
            <a:ln w="25400">
              <a:solidFill>
                <a:srgbClr val="FFFDF7"/>
              </a:solidFill>
            </a:ln>
          </p:spPr>
          <p:txBody>
            <a:bodyPr rtlCol="0" anchor="ctr"/>
            <a:lstStyle/>
            <a:p>
              <a:pPr algn="ctr"/>
            </a:p>
          </p:txBody>
        </p:sp>
        <p:sp>
          <p:nvSpPr>
            <p:cNvPr id="60" name="TextBox 59"/>
            <p:cNvSpPr txBox="1"/>
            <p:nvPr/>
          </p:nvSpPr>
          <p:spPr>
            <a:xfrm>
              <a:off x="6967728" y="40690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Now   </a:t>
              </a:r>
              <a:r>
                <a:rPr sz="900" b="0" i="0">
                  <a:solidFill>
                    <a:srgbClr val="9C937F"/>
                  </a:solidFill>
                  <a:latin typeface="Inter" panose="020B0502030000000004" pitchFamily="34" charset="0"/>
                </a:rPr>
                <a:t>paraphrased</a:t>
              </a:r>
            </a:p>
          </p:txBody>
        </p:sp>
        <p:sp>
          <p:nvSpPr>
            <p:cNvPr id="61" name="TextBox 60"/>
            <p:cNvSpPr txBox="1"/>
            <p:nvPr/>
          </p:nvSpPr>
          <p:spPr>
            <a:xfrm>
              <a:off x="6967728" y="43616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Paul Graham: Amazon banning agents is the biggest opening since Amazon. People will want agents to buy things for them.</a:t>
              </a:r>
            </a:p>
          </p:txBody>
        </p:sp>
      </p:grpSp>
      <p:grpSp>
        <p:nvGrpSpPr>
          <p:cNvPr id="62" name="Group 61"/>
          <p:cNvGrpSpPr/>
          <p:nvPr/>
        </p:nvGrpSpPr>
        <p:grpSpPr>
          <a:xfrm>
            <a:off x="6583680" y="5102352"/>
            <a:ext cx="4690872" cy="969264"/>
            <a:chOff x="6583680" y="5102352"/>
            <a:chExt cx="4690872" cy="969264"/>
          </a:xfrm>
        </p:grpSpPr>
        <p:sp>
          <p:nvSpPr>
            <p:cNvPr id="63" name="Rounded Rectangle 62"/>
            <p:cNvSpPr/>
            <p:nvPr/>
          </p:nvSpPr>
          <p:spPr>
            <a:xfrm>
              <a:off x="6583680" y="5102352"/>
              <a:ext cx="4690872" cy="969264"/>
            </a:xfrm>
            <a:prstGeom prst="roundRect">
              <a:avLst>
                <a:gd name="adj" fmla="val 5660"/>
              </a:avLst>
            </a:prstGeom>
            <a:solidFill>
              <a:srgbClr val="F6EBD6"/>
            </a:solidFill>
            <a:ln>
              <a:noFill/>
            </a:ln>
          </p:spPr>
          <p:txBody>
            <a:bodyPr rtlCol="0" anchor="ctr"/>
            <a:lstStyle/>
            <a:p>
              <a:pPr algn="ctr"/>
            </a:p>
          </p:txBody>
        </p:sp>
        <p:sp>
          <p:nvSpPr>
            <p:cNvPr id="64" name="TextBox 63"/>
            <p:cNvSpPr txBox="1"/>
            <p:nvPr/>
          </p:nvSpPr>
          <p:spPr>
            <a:xfrm>
              <a:off x="6784848" y="5138928"/>
              <a:ext cx="4343400" cy="896112"/>
            </a:xfrm>
            <a:prstGeom prst="rect">
              <a:avLst/>
            </a:prstGeom>
            <a:noFill/>
          </p:spPr>
          <p:txBody>
            <a:bodyPr wrap="square" lIns="0" rIns="0" tIns="0" bIns="0" anchor="ctr">
              <a:noAutofit/>
            </a:bodyPr>
            <a:lstStyle/>
            <a:p>
              <a:pPr algn="l">
                <a:lnSpc>
                  <a:spcPct val="108000"/>
                </a:lnSpc>
              </a:pPr>
              <a:r>
                <a:rPr sz="1100" b="1" i="0">
                  <a:solidFill>
                    <a:srgbClr val="94641F"/>
                  </a:solidFill>
                  <a:latin typeface="Inter" panose="020B0502030000000004" pitchFamily="34" charset="0"/>
                </a:rPr>
                <a:t>Search ads are a ~$200B+/yr business</a:t>
              </a:r>
              <a:r>
                <a:rPr sz="1100" b="0" i="0">
                  <a:solidFill>
                    <a:srgbClr val="16130E"/>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10"/>
                                        <p:tgtEl>
                                          <p:spTgt spid="20"/>
                                        </p:tgtEl>
                                      </p:cBhvr>
                                    </p:animEffect>
                                    <p:anim calcmode="lin" valueType="num">
                                      <p:cBhvr additive="base">
                                        <p:cTn id="21" dur="350" fill="hold" decel="100000"/>
                                        <p:tgtEl>
                                          <p:spTgt spid="20"/>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20"/>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220"/>
                                        <p:tgtEl>
                                          <p:spTgt spid="23"/>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210"/>
                                        <p:tgtEl>
                                          <p:spTgt spid="25"/>
                                        </p:tgtEl>
                                      </p:cBhvr>
                                    </p:animEffect>
                                    <p:anim calcmode="lin" valueType="num">
                                      <p:cBhvr additive="base">
                                        <p:cTn id="29" dur="350" fill="hold" decel="100000"/>
                                        <p:tgtEl>
                                          <p:spTgt spid="25"/>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5"/>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3" dur="220"/>
                                        <p:tgtEl>
                                          <p:spTgt spid="28"/>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210"/>
                                        <p:tgtEl>
                                          <p:spTgt spid="30"/>
                                        </p:tgtEl>
                                      </p:cBhvr>
                                    </p:animEffect>
                                    <p:anim calcmode="lin" valueType="num">
                                      <p:cBhvr additive="base">
                                        <p:cTn id="37" dur="350" fill="hold" decel="100000"/>
                                        <p:tgtEl>
                                          <p:spTgt spid="30"/>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30"/>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anim calcmode="lin" valueType="num">
                                      <p:cBhvr additive="base">
                                        <p:cTn id="45" dur="400" fill="hold" decel="100000"/>
                                        <p:tgtEl>
                                          <p:spTgt spid="34"/>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4"/>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anim calcmode="lin" valueType="num">
                                      <p:cBhvr additive="base">
                                        <p:cTn id="50" dur="400" fill="hold" decel="100000"/>
                                        <p:tgtEl>
                                          <p:spTgt spid="37"/>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7"/>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400"/>
                                        <p:tgtEl>
                                          <p:spTgt spid="40"/>
                                        </p:tgtEl>
                                      </p:cBhvr>
                                    </p:animEffect>
                                    <p:anim calcmode="lin" valueType="num">
                                      <p:cBhvr additive="base">
                                        <p:cTn id="55" dur="400" fill="hold" decel="100000"/>
                                        <p:tgtEl>
                                          <p:spTgt spid="40"/>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40"/>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anim calcmode="lin" valueType="num">
                                      <p:cBhvr additive="base">
                                        <p:cTn id="60" dur="400" fill="hold" decel="100000"/>
                                        <p:tgtEl>
                                          <p:spTgt spid="43"/>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43"/>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500"/>
                                        <p:tgtEl>
                                          <p:spTgt spid="46"/>
                                        </p:tgtEl>
                                      </p:cBhvr>
                                    </p:animEffect>
                                    <p:anim calcmode="lin" valueType="num">
                                      <p:cBhvr additive="base">
                                        <p:cTn id="65"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6"/>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9"/>
                                        </p:tgtEl>
                                        <p:attrNameLst>
                                          <p:attrName>style.visibility</p:attrName>
                                        </p:attrNameLst>
                                      </p:cBhvr>
                                      <p:to>
                                        <p:strVal val="visible"/>
                                      </p:to>
                                    </p:set>
                                    <p:animEffect transition="in" filter="fade">
                                      <p:cBhvr>
                                        <p:cTn id="69" dur="300"/>
                                        <p:tgtEl>
                                          <p:spTgt spid="49"/>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450"/>
                                        <p:tgtEl>
                                          <p:spTgt spid="50"/>
                                        </p:tgtEl>
                                      </p:cBhvr>
                                    </p:animEffect>
                                    <p:anim calcmode="lin" valueType="num">
                                      <p:cBhvr additive="base">
                                        <p:cTn id="73"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50"/>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4"/>
                                        </p:tgtEl>
                                        <p:attrNameLst>
                                          <p:attrName>style.visibility</p:attrName>
                                        </p:attrNameLst>
                                      </p:cBhvr>
                                      <p:to>
                                        <p:strVal val="visible"/>
                                      </p:to>
                                    </p:set>
                                    <p:animEffect transition="in" filter="fade">
                                      <p:cBhvr>
                                        <p:cTn id="77" dur="450"/>
                                        <p:tgtEl>
                                          <p:spTgt spid="54"/>
                                        </p:tgtEl>
                                      </p:cBhvr>
                                    </p:animEffect>
                                    <p:anim calcmode="lin" valueType="num">
                                      <p:cBhvr additive="base">
                                        <p:cTn id="78"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4"/>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50"/>
                                        <p:tgtEl>
                                          <p:spTgt spid="58"/>
                                        </p:tgtEl>
                                      </p:cBhvr>
                                    </p:animEffect>
                                    <p:anim calcmode="lin" valueType="num">
                                      <p:cBhvr additive="base">
                                        <p:cTn id="83"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8"/>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62"/>
                                        </p:tgtEl>
                                        <p:attrNameLst>
                                          <p:attrName>style.visibility</p:attrName>
                                        </p:attrNameLst>
                                      </p:cBhvr>
                                      <p:to>
                                        <p:strVal val="visible"/>
                                      </p:to>
                                    </p:set>
                                    <p:animEffect transition="in" filter="fade">
                                      <p:cBhvr>
                                        <p:cTn id="87" dur="450"/>
                                        <p:tgtEl>
                                          <p:spTgt spid="62"/>
                                        </p:tgtEl>
                                      </p:cBhvr>
                                    </p:animEffect>
                                    <p:anim calcmode="lin" valueType="num">
                                      <p:cBhvr additive="base">
                                        <p:cTn id="88"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6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33" grpId="0" animBg="1"/>
      <p:bldP spid="4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09  ·  WHAT WE BUILT IN 24 HOURS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1097252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Built in 24 hours. </a:t>
            </a:r>
            <a:r>
              <a:rPr sz="4000" b="0" i="1" spc="-40">
                <a:solidFill>
                  <a:srgbClr val="6E6658"/>
                </a:solidFill>
                <a:latin typeface="Georgia" panose="02040502050405020303" pitchFamily="18" charset="0"/>
              </a:rPr>
              <a:t>Running live.</a:t>
            </a:r>
          </a:p>
        </p:txBody>
      </p:sp>
      <p:sp>
        <p:nvSpPr>
          <p:cNvPr id="17" name="TextBox 16"/>
          <p:cNvSpPr txBox="1"/>
          <p:nvPr/>
        </p:nvSpPr>
        <p:spPr>
          <a:xfrm>
            <a:off x="685800" y="173736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AGENTS · MCP</a:t>
            </a:r>
          </a:p>
        </p:txBody>
      </p:sp>
      <p:grpSp>
        <p:nvGrpSpPr>
          <p:cNvPr id="18" name="Group 17"/>
          <p:cNvGrpSpPr/>
          <p:nvPr/>
        </p:nvGrpSpPr>
        <p:grpSpPr>
          <a:xfrm>
            <a:off x="685800" y="2011680"/>
            <a:ext cx="1783080" cy="292608"/>
            <a:chOff x="685800" y="2011680"/>
            <a:chExt cx="1783080" cy="292608"/>
          </a:xfrm>
        </p:grpSpPr>
        <p:sp>
          <p:nvSpPr>
            <p:cNvPr id="19" name="Rounded Rectangle 18"/>
            <p:cNvSpPr/>
            <p:nvPr/>
          </p:nvSpPr>
          <p:spPr>
            <a:xfrm>
              <a:off x="685800" y="2011680"/>
              <a:ext cx="1783080" cy="292608"/>
            </a:xfrm>
            <a:prstGeom prst="roundRect">
              <a:avLst>
                <a:gd name="adj" fmla="val 50000"/>
              </a:avLst>
            </a:prstGeom>
            <a:solidFill>
              <a:srgbClr val="E6ECF6"/>
            </a:solidFill>
            <a:ln>
              <a:noFill/>
            </a:ln>
          </p:spPr>
          <p:txBody>
            <a:bodyPr rtlCol="0" anchor="ctr"/>
            <a:lstStyle/>
            <a:p>
              <a:pPr algn="ctr"/>
            </a:p>
          </p:txBody>
        </p:sp>
        <p:sp>
          <p:nvSpPr>
            <p:cNvPr id="20" name="TextBox 19"/>
            <p:cNvSpPr txBox="1"/>
            <p:nvPr/>
          </p:nvSpPr>
          <p:spPr>
            <a:xfrm>
              <a:off x="685800" y="201168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Code</a:t>
              </a:r>
            </a:p>
          </p:txBody>
        </p:sp>
      </p:grpSp>
      <p:grpSp>
        <p:nvGrpSpPr>
          <p:cNvPr id="21" name="Group 20"/>
          <p:cNvGrpSpPr/>
          <p:nvPr/>
        </p:nvGrpSpPr>
        <p:grpSpPr>
          <a:xfrm>
            <a:off x="685800" y="2377440"/>
            <a:ext cx="1783080" cy="292608"/>
            <a:chOff x="685800" y="2377440"/>
            <a:chExt cx="1783080" cy="292608"/>
          </a:xfrm>
        </p:grpSpPr>
        <p:sp>
          <p:nvSpPr>
            <p:cNvPr id="22" name="Rounded Rectangle 21"/>
            <p:cNvSpPr/>
            <p:nvPr/>
          </p:nvSpPr>
          <p:spPr>
            <a:xfrm>
              <a:off x="685800" y="2377440"/>
              <a:ext cx="1783080" cy="292608"/>
            </a:xfrm>
            <a:prstGeom prst="roundRect">
              <a:avLst>
                <a:gd name="adj" fmla="val 50000"/>
              </a:avLst>
            </a:prstGeom>
            <a:solidFill>
              <a:srgbClr val="E6ECF6"/>
            </a:solidFill>
            <a:ln>
              <a:noFill/>
            </a:ln>
          </p:spPr>
          <p:txBody>
            <a:bodyPr rtlCol="0" anchor="ctr"/>
            <a:lstStyle/>
            <a:p>
              <a:pPr algn="ctr"/>
            </a:p>
          </p:txBody>
        </p:sp>
        <p:sp>
          <p:nvSpPr>
            <p:cNvPr id="23" name="TextBox 22"/>
            <p:cNvSpPr txBox="1"/>
            <p:nvPr/>
          </p:nvSpPr>
          <p:spPr>
            <a:xfrm>
              <a:off x="685800" y="237744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Desktop</a:t>
              </a:r>
            </a:p>
          </p:txBody>
        </p:sp>
      </p:grpSp>
      <p:grpSp>
        <p:nvGrpSpPr>
          <p:cNvPr id="24" name="Group 23"/>
          <p:cNvGrpSpPr/>
          <p:nvPr/>
        </p:nvGrpSpPr>
        <p:grpSpPr>
          <a:xfrm>
            <a:off x="685800" y="2743200"/>
            <a:ext cx="1783080" cy="292608"/>
            <a:chOff x="685800" y="2743200"/>
            <a:chExt cx="1783080" cy="292608"/>
          </a:xfrm>
        </p:grpSpPr>
        <p:sp>
          <p:nvSpPr>
            <p:cNvPr id="25" name="Rounded Rectangle 24"/>
            <p:cNvSpPr/>
            <p:nvPr/>
          </p:nvSpPr>
          <p:spPr>
            <a:xfrm>
              <a:off x="685800" y="2743200"/>
              <a:ext cx="1783080" cy="292608"/>
            </a:xfrm>
            <a:prstGeom prst="roundRect">
              <a:avLst>
                <a:gd name="adj" fmla="val 50000"/>
              </a:avLst>
            </a:prstGeom>
            <a:solidFill>
              <a:srgbClr val="E6ECF6"/>
            </a:solidFill>
            <a:ln>
              <a:noFill/>
            </a:ln>
          </p:spPr>
          <p:txBody>
            <a:bodyPr rtlCol="0" anchor="ctr"/>
            <a:lstStyle/>
            <a:p>
              <a:pPr algn="ctr"/>
            </a:p>
          </p:txBody>
        </p:sp>
        <p:sp>
          <p:nvSpPr>
            <p:cNvPr id="26" name="TextBox 25"/>
            <p:cNvSpPr txBox="1"/>
            <p:nvPr/>
          </p:nvSpPr>
          <p:spPr>
            <a:xfrm>
              <a:off x="685800" y="274320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ChatGPT</a:t>
              </a:r>
            </a:p>
          </p:txBody>
        </p:sp>
      </p:grpSp>
      <p:grpSp>
        <p:nvGrpSpPr>
          <p:cNvPr id="27" name="Group 26"/>
          <p:cNvGrpSpPr/>
          <p:nvPr/>
        </p:nvGrpSpPr>
        <p:grpSpPr>
          <a:xfrm>
            <a:off x="685800" y="3108960"/>
            <a:ext cx="1783080" cy="292608"/>
            <a:chOff x="685800" y="3108960"/>
            <a:chExt cx="1783080" cy="292608"/>
          </a:xfrm>
        </p:grpSpPr>
        <p:sp>
          <p:nvSpPr>
            <p:cNvPr id="28" name="Rounded Rectangle 27"/>
            <p:cNvSpPr/>
            <p:nvPr/>
          </p:nvSpPr>
          <p:spPr>
            <a:xfrm>
              <a:off x="685800" y="3108960"/>
              <a:ext cx="1783080" cy="292608"/>
            </a:xfrm>
            <a:prstGeom prst="roundRect">
              <a:avLst>
                <a:gd name="adj" fmla="val 50000"/>
              </a:avLst>
            </a:prstGeom>
            <a:solidFill>
              <a:srgbClr val="E6ECF6"/>
            </a:solidFill>
            <a:ln>
              <a:noFill/>
            </a:ln>
          </p:spPr>
          <p:txBody>
            <a:bodyPr rtlCol="0" anchor="ctr"/>
            <a:lstStyle/>
            <a:p>
              <a:pPr algn="ctr"/>
            </a:p>
          </p:txBody>
        </p:sp>
        <p:sp>
          <p:nvSpPr>
            <p:cNvPr id="29" name="TextBox 28"/>
            <p:cNvSpPr txBox="1"/>
            <p:nvPr/>
          </p:nvSpPr>
          <p:spPr>
            <a:xfrm>
              <a:off x="685800" y="310896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Codex</a:t>
              </a:r>
            </a:p>
          </p:txBody>
        </p:sp>
      </p:grpSp>
      <p:grpSp>
        <p:nvGrpSpPr>
          <p:cNvPr id="30" name="Group 29"/>
          <p:cNvGrpSpPr/>
          <p:nvPr/>
        </p:nvGrpSpPr>
        <p:grpSpPr>
          <a:xfrm>
            <a:off x="685800" y="3474720"/>
            <a:ext cx="1783080" cy="292608"/>
            <a:chOff x="685800" y="3474720"/>
            <a:chExt cx="1783080" cy="292608"/>
          </a:xfrm>
        </p:grpSpPr>
        <p:sp>
          <p:nvSpPr>
            <p:cNvPr id="31" name="Rounded Rectangle 30"/>
            <p:cNvSpPr/>
            <p:nvPr/>
          </p:nvSpPr>
          <p:spPr>
            <a:xfrm>
              <a:off x="685800" y="3474720"/>
              <a:ext cx="1783080" cy="292608"/>
            </a:xfrm>
            <a:prstGeom prst="roundRect">
              <a:avLst>
                <a:gd name="adj" fmla="val 50000"/>
              </a:avLst>
            </a:prstGeom>
            <a:solidFill>
              <a:srgbClr val="E6ECF6"/>
            </a:solidFill>
            <a:ln>
              <a:noFill/>
            </a:ln>
          </p:spPr>
          <p:txBody>
            <a:bodyPr rtlCol="0" anchor="ctr"/>
            <a:lstStyle/>
            <a:p>
              <a:pPr algn="ctr"/>
            </a:p>
          </p:txBody>
        </p:sp>
        <p:sp>
          <p:nvSpPr>
            <p:cNvPr id="32" name="TextBox 31"/>
            <p:cNvSpPr txBox="1"/>
            <p:nvPr/>
          </p:nvSpPr>
          <p:spPr>
            <a:xfrm>
              <a:off x="685800" y="347472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Cursor</a:t>
              </a:r>
            </a:p>
          </p:txBody>
        </p:sp>
      </p:grpSp>
      <p:sp>
        <p:nvSpPr>
          <p:cNvPr id="33" name="TextBox 32"/>
          <p:cNvSpPr txBox="1"/>
          <p:nvPr/>
        </p:nvSpPr>
        <p:spPr>
          <a:xfrm>
            <a:off x="685800" y="397764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MERCHANTS · PADDLES</a:t>
            </a:r>
          </a:p>
        </p:txBody>
      </p:sp>
      <p:grpSp>
        <p:nvGrpSpPr>
          <p:cNvPr id="34" name="Group 33"/>
          <p:cNvGrpSpPr/>
          <p:nvPr/>
        </p:nvGrpSpPr>
        <p:grpSpPr>
          <a:xfrm>
            <a:off x="685800" y="4251960"/>
            <a:ext cx="1783080" cy="292608"/>
            <a:chOff x="685800" y="4251960"/>
            <a:chExt cx="1783080" cy="292608"/>
          </a:xfrm>
        </p:grpSpPr>
        <p:sp>
          <p:nvSpPr>
            <p:cNvPr id="35" name="Rounded Rectangle 34"/>
            <p:cNvSpPr/>
            <p:nvPr/>
          </p:nvSpPr>
          <p:spPr>
            <a:xfrm>
              <a:off x="685800" y="4251960"/>
              <a:ext cx="1783080" cy="292608"/>
            </a:xfrm>
            <a:prstGeom prst="roundRect">
              <a:avLst>
                <a:gd name="adj" fmla="val 50000"/>
              </a:avLst>
            </a:prstGeom>
            <a:solidFill>
              <a:srgbClr val="EFE8D9"/>
            </a:solidFill>
            <a:ln>
              <a:noFill/>
            </a:ln>
          </p:spPr>
          <p:txBody>
            <a:bodyPr rtlCol="0" anchor="ctr"/>
            <a:lstStyle/>
            <a:p>
              <a:pPr algn="ctr"/>
            </a:p>
          </p:txBody>
        </p:sp>
        <p:sp>
          <p:nvSpPr>
            <p:cNvPr id="36" name="TextBox 35"/>
            <p:cNvSpPr txBox="1"/>
            <p:nvPr/>
          </p:nvSpPr>
          <p:spPr>
            <a:xfrm>
              <a:off x="685800" y="425196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9 bot personas</a:t>
              </a:r>
            </a:p>
          </p:txBody>
        </p:sp>
      </p:grpSp>
      <p:grpSp>
        <p:nvGrpSpPr>
          <p:cNvPr id="37" name="Group 36"/>
          <p:cNvGrpSpPr/>
          <p:nvPr/>
        </p:nvGrpSpPr>
        <p:grpSpPr>
          <a:xfrm>
            <a:off x="685800" y="4617720"/>
            <a:ext cx="1783080" cy="292608"/>
            <a:chOff x="685800" y="4617720"/>
            <a:chExt cx="1783080" cy="292608"/>
          </a:xfrm>
        </p:grpSpPr>
        <p:sp>
          <p:nvSpPr>
            <p:cNvPr id="38" name="Rounded Rectangle 37"/>
            <p:cNvSpPr/>
            <p:nvPr/>
          </p:nvSpPr>
          <p:spPr>
            <a:xfrm>
              <a:off x="685800" y="4617720"/>
              <a:ext cx="1783080" cy="292608"/>
            </a:xfrm>
            <a:prstGeom prst="roundRect">
              <a:avLst>
                <a:gd name="adj" fmla="val 50000"/>
              </a:avLst>
            </a:prstGeom>
            <a:solidFill>
              <a:srgbClr val="EFE8D9"/>
            </a:solidFill>
            <a:ln>
              <a:noFill/>
            </a:ln>
          </p:spPr>
          <p:txBody>
            <a:bodyPr rtlCol="0" anchor="ctr"/>
            <a:lstStyle/>
            <a:p>
              <a:pPr algn="ctr"/>
            </a:p>
          </p:txBody>
        </p:sp>
        <p:sp>
          <p:nvSpPr>
            <p:cNvPr id="39" name="TextBox 38"/>
            <p:cNvSpPr txBox="1"/>
            <p:nvPr/>
          </p:nvSpPr>
          <p:spPr>
            <a:xfrm>
              <a:off x="685800" y="461772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People on phones</a:t>
              </a:r>
            </a:p>
          </p:txBody>
        </p:sp>
      </p:grpSp>
      <p:grpSp>
        <p:nvGrpSpPr>
          <p:cNvPr id="40" name="Group 39"/>
          <p:cNvGrpSpPr/>
          <p:nvPr/>
        </p:nvGrpSpPr>
        <p:grpSpPr>
          <a:xfrm>
            <a:off x="685800" y="4983480"/>
            <a:ext cx="1783080" cy="292608"/>
            <a:chOff x="685800" y="4983480"/>
            <a:chExt cx="1783080" cy="292608"/>
          </a:xfrm>
        </p:grpSpPr>
        <p:sp>
          <p:nvSpPr>
            <p:cNvPr id="41" name="Rounded Rectangle 40"/>
            <p:cNvSpPr/>
            <p:nvPr/>
          </p:nvSpPr>
          <p:spPr>
            <a:xfrm>
              <a:off x="685800" y="4983480"/>
              <a:ext cx="1783080" cy="292608"/>
            </a:xfrm>
            <a:prstGeom prst="roundRect">
              <a:avLst>
                <a:gd name="adj" fmla="val 50000"/>
              </a:avLst>
            </a:prstGeom>
            <a:solidFill>
              <a:srgbClr val="EFE8D9"/>
            </a:solidFill>
            <a:ln>
              <a:noFill/>
            </a:ln>
          </p:spPr>
          <p:txBody>
            <a:bodyPr rtlCol="0" anchor="ctr"/>
            <a:lstStyle/>
            <a:p>
              <a:pPr algn="ctr"/>
            </a:p>
          </p:txBody>
        </p:sp>
        <p:sp>
          <p:nvSpPr>
            <p:cNvPr id="42" name="TextBox 41"/>
            <p:cNvSpPr txBox="1"/>
            <p:nvPr/>
          </p:nvSpPr>
          <p:spPr>
            <a:xfrm>
              <a:off x="685800" y="498348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Merchant agents</a:t>
              </a:r>
            </a:p>
          </p:txBody>
        </p:sp>
      </p:grpSp>
      <p:cxnSp>
        <p:nvCxnSpPr>
          <p:cNvPr id="43" name="Connector 42"/>
          <p:cNvCxnSpPr/>
          <p:nvPr/>
        </p:nvCxnSpPr>
        <p:spPr>
          <a:xfrm>
            <a:off x="2542032" y="2889504"/>
            <a:ext cx="310896" cy="0"/>
          </a:xfrm>
          <a:prstGeom prst="line">
            <a:avLst/>
          </a:prstGeom>
          <a:ln w="19050">
            <a:solidFill>
              <a:srgbClr val="CFC3AA"/>
            </a:solidFill>
            <a:tailEnd type="triangle" w="med" len="med"/>
          </a:ln>
        </p:spPr>
      </p:cxnSp>
      <p:cxnSp>
        <p:nvCxnSpPr>
          <p:cNvPr id="44" name="Connector 43"/>
          <p:cNvCxnSpPr/>
          <p:nvPr/>
        </p:nvCxnSpPr>
        <p:spPr>
          <a:xfrm>
            <a:off x="2542032" y="4617720"/>
            <a:ext cx="310896" cy="0"/>
          </a:xfrm>
          <a:prstGeom prst="line">
            <a:avLst/>
          </a:prstGeom>
          <a:ln w="19050">
            <a:solidFill>
              <a:srgbClr val="CFC3AA"/>
            </a:solidFill>
            <a:tailEnd type="triangle" w="med" len="med"/>
          </a:ln>
        </p:spPr>
      </p:cxnSp>
      <p:grpSp>
        <p:nvGrpSpPr>
          <p:cNvPr id="45" name="Group 44"/>
          <p:cNvGrpSpPr/>
          <p:nvPr/>
        </p:nvGrpSpPr>
        <p:grpSpPr>
          <a:xfrm>
            <a:off x="2880360" y="1737360"/>
            <a:ext cx="2788920" cy="4526280"/>
            <a:chOff x="2880360" y="1737360"/>
            <a:chExt cx="2788920" cy="4526280"/>
          </a:xfrm>
        </p:grpSpPr>
        <p:sp>
          <p:nvSpPr>
            <p:cNvPr id="46" name="Rounded Rectangle 45"/>
            <p:cNvSpPr/>
            <p:nvPr/>
          </p:nvSpPr>
          <p:spPr>
            <a:xfrm>
              <a:off x="2880360" y="1737360"/>
              <a:ext cx="2788920" cy="4526280"/>
            </a:xfrm>
            <a:prstGeom prst="roundRect">
              <a:avLst>
                <a:gd name="adj" fmla="val 1967"/>
              </a:avLst>
            </a:prstGeom>
            <a:solidFill>
              <a:srgbClr val="FFFDF7"/>
            </a:solidFill>
            <a:ln w="9525">
              <a:solidFill>
                <a:srgbClr val="E2D9C6"/>
              </a:solidFill>
            </a:ln>
          </p:spPr>
          <p:txBody>
            <a:bodyPr rtlCol="0" anchor="ctr"/>
            <a:lstStyle/>
            <a:p>
              <a:pPr algn="ctr"/>
            </a:p>
          </p:txBody>
        </p:sp>
        <p:sp>
          <p:nvSpPr>
            <p:cNvPr id="47" name="Rectangle 46"/>
            <p:cNvSpPr/>
            <p:nvPr/>
          </p:nvSpPr>
          <p:spPr>
            <a:xfrm>
              <a:off x="2880360" y="1737360"/>
              <a:ext cx="2788920" cy="41148"/>
            </a:xfrm>
            <a:prstGeom prst="rect">
              <a:avLst/>
            </a:prstGeom>
            <a:solidFill>
              <a:srgbClr val="16130E"/>
            </a:solidFill>
            <a:ln>
              <a:noFill/>
            </a:ln>
          </p:spPr>
          <p:txBody>
            <a:bodyPr rtlCol="0" anchor="ctr"/>
            <a:lstStyle/>
            <a:p>
              <a:pPr algn="ctr"/>
            </a:p>
          </p:txBody>
        </p:sp>
        <p:sp>
          <p:nvSpPr>
            <p:cNvPr id="48" name="TextBox 47"/>
            <p:cNvSpPr txBox="1"/>
            <p:nvPr/>
          </p:nvSpPr>
          <p:spPr>
            <a:xfrm>
              <a:off x="3063240" y="1865376"/>
              <a:ext cx="2468880" cy="310896"/>
            </a:xfrm>
            <a:prstGeom prst="rect">
              <a:avLst/>
            </a:prstGeom>
            <a:noFill/>
          </p:spPr>
          <p:txBody>
            <a:bodyPr wrap="square" lIns="0" rIns="0" tIns="0" bIns="0" anchor="ctr">
              <a:noAutofit/>
            </a:bodyPr>
            <a:lstStyle/>
            <a:p>
              <a:pPr algn="l"/>
              <a:r>
                <a:rPr sz="1600" b="0" i="0">
                  <a:solidFill>
                    <a:srgbClr val="16130E"/>
                  </a:solidFill>
                  <a:latin typeface="Georgia" panose="02040502050405020303" pitchFamily="18" charset="0"/>
                </a:rPr>
                <a:t>Bidwire server</a:t>
              </a:r>
            </a:p>
          </p:txBody>
        </p:sp>
        <p:sp>
          <p:nvSpPr>
            <p:cNvPr id="49" name="TextBox 48"/>
            <p:cNvSpPr txBox="1"/>
            <p:nvPr/>
          </p:nvSpPr>
          <p:spPr>
            <a:xfrm>
              <a:off x="3063240" y="2157984"/>
              <a:ext cx="2468880" cy="256032"/>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mcp-use v2 · Hono · TypeScript</a:t>
              </a:r>
            </a:p>
          </p:txBody>
        </p:sp>
      </p:grpSp>
      <p:grpSp>
        <p:nvGrpSpPr>
          <p:cNvPr id="50" name="Group 49"/>
          <p:cNvGrpSpPr/>
          <p:nvPr/>
        </p:nvGrpSpPr>
        <p:grpSpPr>
          <a:xfrm>
            <a:off x="3063240" y="2542032"/>
            <a:ext cx="2423160" cy="621792"/>
            <a:chOff x="3063240" y="2542032"/>
            <a:chExt cx="2423160" cy="621792"/>
          </a:xfrm>
        </p:grpSpPr>
        <p:sp>
          <p:nvSpPr>
            <p:cNvPr id="51" name="Rounded Rectangle 50"/>
            <p:cNvSpPr/>
            <p:nvPr/>
          </p:nvSpPr>
          <p:spPr>
            <a:xfrm>
              <a:off x="3063240" y="2542032"/>
              <a:ext cx="2423160" cy="621792"/>
            </a:xfrm>
            <a:prstGeom prst="roundRect">
              <a:avLst>
                <a:gd name="adj" fmla="val 5882"/>
              </a:avLst>
            </a:prstGeom>
            <a:solidFill>
              <a:srgbClr val="EFE8D9"/>
            </a:solidFill>
            <a:ln>
              <a:noFill/>
            </a:ln>
          </p:spPr>
          <p:txBody>
            <a:bodyPr rtlCol="0" anchor="ctr"/>
            <a:lstStyle/>
            <a:p>
              <a:pPr algn="ctr"/>
            </a:p>
          </p:txBody>
        </p:sp>
        <p:sp>
          <p:nvSpPr>
            <p:cNvPr id="52" name="TextBox 51"/>
            <p:cNvSpPr txBox="1"/>
            <p:nvPr/>
          </p:nvSpPr>
          <p:spPr>
            <a:xfrm>
              <a:off x="3200400" y="2587752"/>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/mcp</a:t>
              </a:r>
            </a:p>
          </p:txBody>
        </p:sp>
        <p:sp>
          <p:nvSpPr>
            <p:cNvPr id="53" name="TextBox 52"/>
            <p:cNvSpPr txBox="1"/>
            <p:nvPr/>
          </p:nvSpPr>
          <p:spPr>
            <a:xfrm>
              <a:off x="3200400" y="2843784"/>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12 tools · 3 resources · 2 prompts</a:t>
              </a:r>
            </a:p>
          </p:txBody>
        </p:sp>
      </p:grpSp>
      <p:grpSp>
        <p:nvGrpSpPr>
          <p:cNvPr id="54" name="Group 53"/>
          <p:cNvGrpSpPr/>
          <p:nvPr/>
        </p:nvGrpSpPr>
        <p:grpSpPr>
          <a:xfrm>
            <a:off x="3063240" y="3264408"/>
            <a:ext cx="2423160" cy="621792"/>
            <a:chOff x="3063240" y="3264408"/>
            <a:chExt cx="2423160" cy="621792"/>
          </a:xfrm>
        </p:grpSpPr>
        <p:sp>
          <p:nvSpPr>
            <p:cNvPr id="55" name="Rounded Rectangle 54"/>
            <p:cNvSpPr/>
            <p:nvPr/>
          </p:nvSpPr>
          <p:spPr>
            <a:xfrm>
              <a:off x="3063240" y="3264408"/>
              <a:ext cx="2423160" cy="621792"/>
            </a:xfrm>
            <a:prstGeom prst="roundRect">
              <a:avLst>
                <a:gd name="adj" fmla="val 5882"/>
              </a:avLst>
            </a:prstGeom>
            <a:solidFill>
              <a:srgbClr val="EFE8D9"/>
            </a:solidFill>
            <a:ln>
              <a:noFill/>
            </a:ln>
          </p:spPr>
          <p:txBody>
            <a:bodyPr rtlCol="0" anchor="ctr"/>
            <a:lstStyle/>
            <a:p>
              <a:pPr algn="ctr"/>
            </a:p>
          </p:txBody>
        </p:sp>
        <p:sp>
          <p:nvSpPr>
            <p:cNvPr id="56" name="TextBox 55"/>
            <p:cNvSpPr txBox="1"/>
            <p:nvPr/>
          </p:nvSpPr>
          <p:spPr>
            <a:xfrm>
              <a:off x="3200400" y="3310128"/>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tools.ts</a:t>
              </a:r>
            </a:p>
          </p:txBody>
        </p:sp>
        <p:sp>
          <p:nvSpPr>
            <p:cNvPr id="57" name="TextBox 56"/>
            <p:cNvSpPr txBox="1"/>
            <p:nvPr/>
          </p:nvSpPr>
          <p:spPr>
            <a:xfrm>
              <a:off x="3200400" y="3566160"/>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one registry: MCP, browser playground, demo agent</a:t>
              </a:r>
            </a:p>
          </p:txBody>
        </p:sp>
      </p:grpSp>
      <p:grpSp>
        <p:nvGrpSpPr>
          <p:cNvPr id="58" name="Group 57"/>
          <p:cNvGrpSpPr/>
          <p:nvPr/>
        </p:nvGrpSpPr>
        <p:grpSpPr>
          <a:xfrm>
            <a:off x="3063240" y="3986784"/>
            <a:ext cx="2423160" cy="621792"/>
            <a:chOff x="3063240" y="3986784"/>
            <a:chExt cx="2423160" cy="621792"/>
          </a:xfrm>
        </p:grpSpPr>
        <p:sp>
          <p:nvSpPr>
            <p:cNvPr id="59" name="Rounded Rectangle 58"/>
            <p:cNvSpPr/>
            <p:nvPr/>
          </p:nvSpPr>
          <p:spPr>
            <a:xfrm>
              <a:off x="3063240" y="3986784"/>
              <a:ext cx="2423160" cy="621792"/>
            </a:xfrm>
            <a:prstGeom prst="roundRect">
              <a:avLst>
                <a:gd name="adj" fmla="val 5882"/>
              </a:avLst>
            </a:prstGeom>
            <a:solidFill>
              <a:srgbClr val="EFE8D9"/>
            </a:solidFill>
            <a:ln>
              <a:noFill/>
            </a:ln>
          </p:spPr>
          <p:txBody>
            <a:bodyPr rtlCol="0" anchor="ctr"/>
            <a:lstStyle/>
            <a:p>
              <a:pPr algn="ctr"/>
            </a:p>
          </p:txBody>
        </p:sp>
        <p:sp>
          <p:nvSpPr>
            <p:cNvPr id="60" name="TextBox 59"/>
            <p:cNvSpPr txBox="1"/>
            <p:nvPr/>
          </p:nvSpPr>
          <p:spPr>
            <a:xfrm>
              <a:off x="3200400" y="4032504"/>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exchange.ts</a:t>
              </a:r>
            </a:p>
          </p:txBody>
        </p:sp>
        <p:sp>
          <p:nvSpPr>
            <p:cNvPr id="61" name="TextBox 60"/>
            <p:cNvSpPr txBox="1"/>
            <p:nvPr/>
          </p:nvSpPr>
          <p:spPr>
            <a:xfrm>
              <a:off x="3200400" y="4288536"/>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lot · verify · rank · policy · ledger</a:t>
              </a:r>
            </a:p>
          </p:txBody>
        </p:sp>
      </p:grpSp>
      <p:grpSp>
        <p:nvGrpSpPr>
          <p:cNvPr id="62" name="Group 61"/>
          <p:cNvGrpSpPr/>
          <p:nvPr/>
        </p:nvGrpSpPr>
        <p:grpSpPr>
          <a:xfrm>
            <a:off x="3063240" y="4709160"/>
            <a:ext cx="2423160" cy="621792"/>
            <a:chOff x="3063240" y="4709160"/>
            <a:chExt cx="2423160" cy="621792"/>
          </a:xfrm>
        </p:grpSpPr>
        <p:sp>
          <p:nvSpPr>
            <p:cNvPr id="63" name="Rounded Rectangle 62"/>
            <p:cNvSpPr/>
            <p:nvPr/>
          </p:nvSpPr>
          <p:spPr>
            <a:xfrm>
              <a:off x="3063240" y="4709160"/>
              <a:ext cx="2423160" cy="621792"/>
            </a:xfrm>
            <a:prstGeom prst="roundRect">
              <a:avLst>
                <a:gd name="adj" fmla="val 5882"/>
              </a:avLst>
            </a:prstGeom>
            <a:solidFill>
              <a:srgbClr val="EFE8D9"/>
            </a:solidFill>
            <a:ln>
              <a:noFill/>
            </a:ln>
          </p:spPr>
          <p:txBody>
            <a:bodyPr rtlCol="0" anchor="ctr"/>
            <a:lstStyle/>
            <a:p>
              <a:pPr algn="ctr"/>
            </a:p>
          </p:txBody>
        </p:sp>
        <p:sp>
          <p:nvSpPr>
            <p:cNvPr id="64" name="TextBox 63"/>
            <p:cNvSpPr txBox="1"/>
            <p:nvPr/>
          </p:nvSpPr>
          <p:spPr>
            <a:xfrm>
              <a:off x="3200400" y="4754880"/>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SQLite</a:t>
              </a:r>
            </a:p>
          </p:txBody>
        </p:sp>
        <p:sp>
          <p:nvSpPr>
            <p:cNvPr id="65" name="TextBox 64"/>
            <p:cNvSpPr txBox="1"/>
            <p:nvPr/>
          </p:nvSpPr>
          <p:spPr>
            <a:xfrm>
              <a:off x="3200400" y="5010912"/>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14 tables, plain rows</a:t>
              </a:r>
            </a:p>
          </p:txBody>
        </p:sp>
      </p:grpSp>
      <p:grpSp>
        <p:nvGrpSpPr>
          <p:cNvPr id="66" name="Group 65"/>
          <p:cNvGrpSpPr/>
          <p:nvPr/>
        </p:nvGrpSpPr>
        <p:grpSpPr>
          <a:xfrm>
            <a:off x="3063240" y="5431536"/>
            <a:ext cx="2423160" cy="621792"/>
            <a:chOff x="3063240" y="5431536"/>
            <a:chExt cx="2423160" cy="621792"/>
          </a:xfrm>
        </p:grpSpPr>
        <p:sp>
          <p:nvSpPr>
            <p:cNvPr id="67" name="Rounded Rectangle 66"/>
            <p:cNvSpPr/>
            <p:nvPr/>
          </p:nvSpPr>
          <p:spPr>
            <a:xfrm>
              <a:off x="3063240" y="5431536"/>
              <a:ext cx="2423160" cy="621792"/>
            </a:xfrm>
            <a:prstGeom prst="roundRect">
              <a:avLst>
                <a:gd name="adj" fmla="val 5882"/>
              </a:avLst>
            </a:prstGeom>
            <a:solidFill>
              <a:srgbClr val="EFE8D9"/>
            </a:solidFill>
            <a:ln>
              <a:noFill/>
            </a:ln>
          </p:spPr>
          <p:txBody>
            <a:bodyPr rtlCol="0" anchor="ctr"/>
            <a:lstStyle/>
            <a:p>
              <a:pPr algn="ctr"/>
            </a:p>
          </p:txBody>
        </p:sp>
        <p:sp>
          <p:nvSpPr>
            <p:cNvPr id="68" name="TextBox 67"/>
            <p:cNvSpPr txBox="1"/>
            <p:nvPr/>
          </p:nvSpPr>
          <p:spPr>
            <a:xfrm>
              <a:off x="3200400" y="5477256"/>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SSE bus</a:t>
              </a:r>
            </a:p>
          </p:txBody>
        </p:sp>
        <p:sp>
          <p:nvSpPr>
            <p:cNvPr id="69" name="TextBox 68"/>
            <p:cNvSpPr txBox="1"/>
            <p:nvPr/>
          </p:nvSpPr>
          <p:spPr>
            <a:xfrm>
              <a:off x="3200400" y="5733288"/>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19 live event types</a:t>
              </a:r>
            </a:p>
          </p:txBody>
        </p:sp>
      </p:grpSp>
      <p:cxnSp>
        <p:nvCxnSpPr>
          <p:cNvPr id="70" name="Connector 69"/>
          <p:cNvCxnSpPr/>
          <p:nvPr/>
        </p:nvCxnSpPr>
        <p:spPr>
          <a:xfrm>
            <a:off x="5696712" y="2414016"/>
            <a:ext cx="246888" cy="0"/>
          </a:xfrm>
          <a:prstGeom prst="line">
            <a:avLst/>
          </a:prstGeom>
          <a:ln w="19050">
            <a:solidFill>
              <a:srgbClr val="CFC3AA"/>
            </a:solidFill>
            <a:tailEnd type="triangle" w="med" len="med"/>
          </a:ln>
        </p:spPr>
      </p:cxnSp>
      <p:grpSp>
        <p:nvGrpSpPr>
          <p:cNvPr id="71" name="Group 70"/>
          <p:cNvGrpSpPr/>
          <p:nvPr/>
        </p:nvGrpSpPr>
        <p:grpSpPr>
          <a:xfrm>
            <a:off x="5961888" y="1737360"/>
            <a:ext cx="1828800" cy="1353312"/>
            <a:chOff x="5961888" y="1737360"/>
            <a:chExt cx="1828800" cy="1353312"/>
          </a:xfrm>
        </p:grpSpPr>
        <p:sp>
          <p:nvSpPr>
            <p:cNvPr id="72" name="Rounded Rectangle 71"/>
            <p:cNvSpPr/>
            <p:nvPr/>
          </p:nvSpPr>
          <p:spPr>
            <a:xfrm>
              <a:off x="5961888" y="1737360"/>
              <a:ext cx="1828800" cy="1353312"/>
            </a:xfrm>
            <a:prstGeom prst="roundRect">
              <a:avLst>
                <a:gd name="adj" fmla="val 4054"/>
              </a:avLst>
            </a:prstGeom>
            <a:solidFill>
              <a:srgbClr val="FFFDF7"/>
            </a:solidFill>
            <a:ln w="9525">
              <a:solidFill>
                <a:srgbClr val="E2D9C6"/>
              </a:solidFill>
            </a:ln>
          </p:spPr>
          <p:txBody>
            <a:bodyPr rtlCol="0" anchor="ctr"/>
            <a:lstStyle/>
            <a:p>
              <a:pPr algn="ctr"/>
            </a:p>
          </p:txBody>
        </p:sp>
        <p:sp>
          <p:nvSpPr>
            <p:cNvPr id="73" name="Rectangle 72"/>
            <p:cNvSpPr/>
            <p:nvPr/>
          </p:nvSpPr>
          <p:spPr>
            <a:xfrm>
              <a:off x="5961888" y="1737360"/>
              <a:ext cx="41148" cy="1353312"/>
            </a:xfrm>
            <a:prstGeom prst="rect">
              <a:avLst/>
            </a:prstGeom>
            <a:solidFill>
              <a:srgbClr val="2D6A48"/>
            </a:solidFill>
            <a:ln>
              <a:noFill/>
            </a:ln>
          </p:spPr>
          <p:txBody>
            <a:bodyPr rtlCol="0" anchor="ctr"/>
            <a:lstStyle/>
            <a:p>
              <a:pPr algn="ctr"/>
            </a:p>
          </p:txBody>
        </p:sp>
        <p:sp>
          <p:nvSpPr>
            <p:cNvPr id="74" name="TextBox 73"/>
            <p:cNvSpPr txBox="1"/>
            <p:nvPr/>
          </p:nvSpPr>
          <p:spPr>
            <a:xfrm>
              <a:off x="6144768" y="184708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Web app</a:t>
              </a:r>
            </a:p>
          </p:txBody>
        </p:sp>
        <p:sp>
          <p:nvSpPr>
            <p:cNvPr id="75" name="TextBox 74"/>
            <p:cNvSpPr txBox="1"/>
            <p:nvPr/>
          </p:nvSpPr>
          <p:spPr>
            <a:xfrm>
              <a:off x="6144768" y="2139696"/>
              <a:ext cx="1572768" cy="914400"/>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Landing · saleroom · paddle app · approver phone · settlement ledger · connect · auctioneer's desk</a:t>
              </a:r>
            </a:p>
          </p:txBody>
        </p:sp>
      </p:grpSp>
      <p:cxnSp>
        <p:nvCxnSpPr>
          <p:cNvPr id="76" name="Connector 75"/>
          <p:cNvCxnSpPr/>
          <p:nvPr/>
        </p:nvCxnSpPr>
        <p:spPr>
          <a:xfrm>
            <a:off x="5696712" y="3858768"/>
            <a:ext cx="246888" cy="0"/>
          </a:xfrm>
          <a:prstGeom prst="line">
            <a:avLst/>
          </a:prstGeom>
          <a:ln w="19050">
            <a:solidFill>
              <a:srgbClr val="CFC3AA"/>
            </a:solidFill>
            <a:tailEnd type="triangle" w="med" len="med"/>
          </a:ln>
        </p:spPr>
      </p:cxnSp>
      <p:cxnSp>
        <p:nvCxnSpPr>
          <p:cNvPr id="77" name="Connector 76"/>
          <p:cNvCxnSpPr/>
          <p:nvPr/>
        </p:nvCxnSpPr>
        <p:spPr>
          <a:xfrm flipH="1">
            <a:off x="5696712" y="4005072"/>
            <a:ext cx="246888" cy="0"/>
          </a:xfrm>
          <a:prstGeom prst="line">
            <a:avLst/>
          </a:prstGeom>
          <a:ln w="15875">
            <a:solidFill>
              <a:srgbClr val="233F6E"/>
            </a:solidFill>
            <a:tailEnd type="triangle" w="med" len="med"/>
          </a:ln>
        </p:spPr>
      </p:cxnSp>
      <p:grpSp>
        <p:nvGrpSpPr>
          <p:cNvPr id="78" name="Group 77"/>
          <p:cNvGrpSpPr/>
          <p:nvPr/>
        </p:nvGrpSpPr>
        <p:grpSpPr>
          <a:xfrm>
            <a:off x="5961888" y="3246120"/>
            <a:ext cx="1828800" cy="1371600"/>
            <a:chOff x="5961888" y="3246120"/>
            <a:chExt cx="1828800" cy="1371600"/>
          </a:xfrm>
        </p:grpSpPr>
        <p:sp>
          <p:nvSpPr>
            <p:cNvPr id="79" name="Rounded Rectangle 78"/>
            <p:cNvSpPr/>
            <p:nvPr/>
          </p:nvSpPr>
          <p:spPr>
            <a:xfrm>
              <a:off x="5961888" y="3246120"/>
              <a:ext cx="1828800" cy="1371600"/>
            </a:xfrm>
            <a:prstGeom prst="roundRect">
              <a:avLst>
                <a:gd name="adj" fmla="val 4000"/>
              </a:avLst>
            </a:prstGeom>
            <a:solidFill>
              <a:srgbClr val="FFFDF7"/>
            </a:solidFill>
            <a:ln w="9525">
              <a:solidFill>
                <a:srgbClr val="E2D9C6"/>
              </a:solidFill>
            </a:ln>
          </p:spPr>
          <p:txBody>
            <a:bodyPr rtlCol="0" anchor="ctr"/>
            <a:lstStyle/>
            <a:p>
              <a:pPr algn="ctr"/>
            </a:p>
          </p:txBody>
        </p:sp>
        <p:sp>
          <p:nvSpPr>
            <p:cNvPr id="80" name="Rectangle 79"/>
            <p:cNvSpPr/>
            <p:nvPr/>
          </p:nvSpPr>
          <p:spPr>
            <a:xfrm>
              <a:off x="5961888" y="3246120"/>
              <a:ext cx="41148" cy="1371600"/>
            </a:xfrm>
            <a:prstGeom prst="rect">
              <a:avLst/>
            </a:prstGeom>
            <a:solidFill>
              <a:srgbClr val="233F6E"/>
            </a:solidFill>
            <a:ln>
              <a:noFill/>
            </a:ln>
          </p:spPr>
          <p:txBody>
            <a:bodyPr rtlCol="0" anchor="ctr"/>
            <a:lstStyle/>
            <a:p>
              <a:pPr algn="ctr"/>
            </a:p>
          </p:txBody>
        </p:sp>
        <p:sp>
          <p:nvSpPr>
            <p:cNvPr id="81" name="TextBox 80"/>
            <p:cNvSpPr txBox="1"/>
            <p:nvPr/>
          </p:nvSpPr>
          <p:spPr>
            <a:xfrm>
              <a:off x="6144768" y="335584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Storefronts</a:t>
              </a:r>
            </a:p>
          </p:txBody>
        </p:sp>
        <p:sp>
          <p:nvSpPr>
            <p:cNvPr id="82" name="TextBox 81"/>
            <p:cNvSpPr txBox="1"/>
            <p:nvPr/>
          </p:nvSpPr>
          <p:spPr>
            <a:xfrm>
              <a:off x="6144768" y="3648456"/>
              <a:ext cx="1572768" cy="932688"/>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/store/:handle/:sku with schema.org JSON-LD + /quote. The verifier fetches them over HTTP.</a:t>
              </a:r>
            </a:p>
          </p:txBody>
        </p:sp>
      </p:grpSp>
      <p:cxnSp>
        <p:nvCxnSpPr>
          <p:cNvPr id="83" name="Connector 82"/>
          <p:cNvCxnSpPr/>
          <p:nvPr/>
        </p:nvCxnSpPr>
        <p:spPr>
          <a:xfrm>
            <a:off x="5696712" y="5353812"/>
            <a:ext cx="246888" cy="0"/>
          </a:xfrm>
          <a:prstGeom prst="line">
            <a:avLst/>
          </a:prstGeom>
          <a:ln w="19050">
            <a:solidFill>
              <a:srgbClr val="CFC3AA"/>
            </a:solidFill>
            <a:tailEnd type="triangle" w="med" len="med"/>
          </a:ln>
        </p:spPr>
      </p:cxnSp>
      <p:grpSp>
        <p:nvGrpSpPr>
          <p:cNvPr id="84" name="Group 83"/>
          <p:cNvGrpSpPr/>
          <p:nvPr/>
        </p:nvGrpSpPr>
        <p:grpSpPr>
          <a:xfrm>
            <a:off x="5961888" y="4773168"/>
            <a:ext cx="1828800" cy="1161288"/>
            <a:chOff x="5961888" y="4773168"/>
            <a:chExt cx="1828800" cy="1161288"/>
          </a:xfrm>
        </p:grpSpPr>
        <p:sp>
          <p:nvSpPr>
            <p:cNvPr id="85" name="Rounded Rectangle 84"/>
            <p:cNvSpPr/>
            <p:nvPr/>
          </p:nvSpPr>
          <p:spPr>
            <a:xfrm>
              <a:off x="5961888" y="4773168"/>
              <a:ext cx="1828800" cy="1161288"/>
            </a:xfrm>
            <a:prstGeom prst="roundRect">
              <a:avLst>
                <a:gd name="adj" fmla="val 4724"/>
              </a:avLst>
            </a:prstGeom>
            <a:solidFill>
              <a:srgbClr val="FFFDF7"/>
            </a:solidFill>
            <a:ln w="9525">
              <a:solidFill>
                <a:srgbClr val="E2D9C6"/>
              </a:solidFill>
            </a:ln>
          </p:spPr>
          <p:txBody>
            <a:bodyPr rtlCol="0" anchor="ctr"/>
            <a:lstStyle/>
            <a:p>
              <a:pPr algn="ctr"/>
            </a:p>
          </p:txBody>
        </p:sp>
        <p:sp>
          <p:nvSpPr>
            <p:cNvPr id="86" name="Rectangle 85"/>
            <p:cNvSpPr/>
            <p:nvPr/>
          </p:nvSpPr>
          <p:spPr>
            <a:xfrm>
              <a:off x="5961888" y="4773168"/>
              <a:ext cx="41148" cy="1161288"/>
            </a:xfrm>
            <a:prstGeom prst="rect">
              <a:avLst/>
            </a:prstGeom>
            <a:solidFill>
              <a:srgbClr val="94641F"/>
            </a:solidFill>
            <a:ln>
              <a:noFill/>
            </a:ln>
          </p:spPr>
          <p:txBody>
            <a:bodyPr rtlCol="0" anchor="ctr"/>
            <a:lstStyle/>
            <a:p>
              <a:pPr algn="ctr"/>
            </a:p>
          </p:txBody>
        </p:sp>
        <p:sp>
          <p:nvSpPr>
            <p:cNvPr id="87" name="TextBox 86"/>
            <p:cNvSpPr txBox="1"/>
            <p:nvPr/>
          </p:nvSpPr>
          <p:spPr>
            <a:xfrm>
              <a:off x="6144768" y="4882896"/>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Inkbox</a:t>
              </a:r>
            </a:p>
          </p:txBody>
        </p:sp>
        <p:sp>
          <p:nvSpPr>
            <p:cNvPr id="88" name="TextBox 87"/>
            <p:cNvSpPr txBox="1"/>
            <p:nvPr/>
          </p:nvSpPr>
          <p:spPr>
            <a:xfrm>
              <a:off x="6144768" y="5175504"/>
              <a:ext cx="1572768" cy="722376"/>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Agent identity: approval SMS (“Reply YES 1234”) and email receipts.</a:t>
              </a:r>
            </a:p>
          </p:txBody>
        </p:sp>
      </p:grpSp>
      <p:sp>
        <p:nvSpPr>
          <p:cNvPr id="89" name="TextBox 88"/>
          <p:cNvSpPr txBox="1"/>
          <p:nvPr/>
        </p:nvSpPr>
        <p:spPr>
          <a:xfrm>
            <a:off x="8092440" y="1737360"/>
            <a:ext cx="33832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COUNTED FROM THE CODE</a:t>
            </a:r>
          </a:p>
        </p:txBody>
      </p:sp>
      <p:grpSp>
        <p:nvGrpSpPr>
          <p:cNvPr id="90" name="Group 89"/>
          <p:cNvGrpSpPr/>
          <p:nvPr/>
        </p:nvGrpSpPr>
        <p:grpSpPr>
          <a:xfrm>
            <a:off x="8092440" y="2011680"/>
            <a:ext cx="3410712" cy="4251960"/>
            <a:chOff x="8092440" y="2011680"/>
            <a:chExt cx="3410712" cy="4251960"/>
          </a:xfrm>
        </p:grpSpPr>
        <p:sp>
          <p:nvSpPr>
            <p:cNvPr id="91" name="Rounded Rectangle 90"/>
            <p:cNvSpPr/>
            <p:nvPr/>
          </p:nvSpPr>
          <p:spPr>
            <a:xfrm>
              <a:off x="8092440" y="2011680"/>
              <a:ext cx="3410712" cy="4251960"/>
            </a:xfrm>
            <a:prstGeom prst="roundRect">
              <a:avLst>
                <a:gd name="adj" fmla="val 1608"/>
              </a:avLst>
            </a:prstGeom>
            <a:solidFill>
              <a:srgbClr val="FFFDF7"/>
            </a:solidFill>
            <a:ln w="9525">
              <a:solidFill>
                <a:srgbClr val="E2D9C6"/>
              </a:solidFill>
            </a:ln>
          </p:spPr>
          <p:txBody>
            <a:bodyPr rtlCol="0" anchor="ctr"/>
            <a:lstStyle/>
            <a:p>
              <a:pPr algn="ctr"/>
            </a:p>
          </p:txBody>
        </p:sp>
      </p:grpSp>
      <p:grpSp>
        <p:nvGrpSpPr>
          <p:cNvPr id="92" name="Group 91"/>
          <p:cNvGrpSpPr/>
          <p:nvPr/>
        </p:nvGrpSpPr>
        <p:grpSpPr>
          <a:xfrm>
            <a:off x="8275320" y="2084832"/>
            <a:ext cx="1463040" cy="731520"/>
            <a:chOff x="8275320" y="2084832"/>
            <a:chExt cx="1463040" cy="731520"/>
          </a:xfrm>
        </p:grpSpPr>
        <p:sp>
          <p:nvSpPr>
            <p:cNvPr id="93" name="TextBox 92"/>
            <p:cNvSpPr txBox="1"/>
            <p:nvPr/>
          </p:nvSpPr>
          <p:spPr>
            <a:xfrm>
              <a:off x="8275320"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12</a:t>
              </a:r>
            </a:p>
          </p:txBody>
        </p:sp>
        <p:sp>
          <p:nvSpPr>
            <p:cNvPr id="94" name="TextBox 93"/>
            <p:cNvSpPr txBox="1"/>
            <p:nvPr/>
          </p:nvSpPr>
          <p:spPr>
            <a:xfrm>
              <a:off x="8275320"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MCP tools</a:t>
              </a:r>
            </a:p>
          </p:txBody>
        </p:sp>
      </p:grpSp>
      <p:sp>
        <p:nvSpPr>
          <p:cNvPr id="95" name="Rectangle 94"/>
          <p:cNvSpPr/>
          <p:nvPr/>
        </p:nvSpPr>
        <p:spPr>
          <a:xfrm>
            <a:off x="9797796" y="2148840"/>
            <a:ext cx="7315" cy="576072"/>
          </a:xfrm>
          <a:prstGeom prst="rect">
            <a:avLst/>
          </a:prstGeom>
          <a:solidFill>
            <a:srgbClr val="E2D9C6"/>
          </a:solidFill>
          <a:ln>
            <a:noFill/>
          </a:ln>
        </p:spPr>
        <p:txBody>
          <a:bodyPr rtlCol="0" anchor="ctr"/>
          <a:lstStyle/>
          <a:p>
            <a:pPr algn="ctr"/>
          </a:p>
        </p:txBody>
      </p:sp>
      <p:grpSp>
        <p:nvGrpSpPr>
          <p:cNvPr id="96" name="Group 95"/>
          <p:cNvGrpSpPr/>
          <p:nvPr/>
        </p:nvGrpSpPr>
        <p:grpSpPr>
          <a:xfrm>
            <a:off x="9980676" y="2084832"/>
            <a:ext cx="1463040" cy="731520"/>
            <a:chOff x="9980676" y="2084832"/>
            <a:chExt cx="1463040" cy="731520"/>
          </a:xfrm>
        </p:grpSpPr>
        <p:sp>
          <p:nvSpPr>
            <p:cNvPr id="97" name="TextBox 96"/>
            <p:cNvSpPr txBox="1"/>
            <p:nvPr/>
          </p:nvSpPr>
          <p:spPr>
            <a:xfrm>
              <a:off x="9980676"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3 + 2</a:t>
              </a:r>
            </a:p>
          </p:txBody>
        </p:sp>
        <p:sp>
          <p:nvSpPr>
            <p:cNvPr id="98" name="TextBox 97"/>
            <p:cNvSpPr txBox="1"/>
            <p:nvPr/>
          </p:nvSpPr>
          <p:spPr>
            <a:xfrm>
              <a:off x="9980676"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resources + prompts</a:t>
              </a:r>
            </a:p>
          </p:txBody>
        </p:sp>
      </p:grpSp>
      <p:sp>
        <p:nvSpPr>
          <p:cNvPr id="99" name="Rectangle 98"/>
          <p:cNvSpPr/>
          <p:nvPr/>
        </p:nvSpPr>
        <p:spPr>
          <a:xfrm>
            <a:off x="8183880" y="2862072"/>
            <a:ext cx="3227832" cy="7315"/>
          </a:xfrm>
          <a:prstGeom prst="rect">
            <a:avLst/>
          </a:prstGeom>
          <a:solidFill>
            <a:srgbClr val="E2D9C6"/>
          </a:solidFill>
          <a:ln>
            <a:noFill/>
          </a:ln>
        </p:spPr>
        <p:txBody>
          <a:bodyPr rtlCol="0" anchor="ctr"/>
          <a:lstStyle/>
          <a:p>
            <a:pPr algn="ctr"/>
          </a:p>
        </p:txBody>
      </p:sp>
      <p:grpSp>
        <p:nvGrpSpPr>
          <p:cNvPr id="100" name="Group 99"/>
          <p:cNvGrpSpPr/>
          <p:nvPr/>
        </p:nvGrpSpPr>
        <p:grpSpPr>
          <a:xfrm>
            <a:off x="8275320" y="2935224"/>
            <a:ext cx="1463040" cy="731520"/>
            <a:chOff x="8275320" y="2935224"/>
            <a:chExt cx="1463040" cy="731520"/>
          </a:xfrm>
        </p:grpSpPr>
        <p:sp>
          <p:nvSpPr>
            <p:cNvPr id="101" name="TextBox 100"/>
            <p:cNvSpPr txBox="1"/>
            <p:nvPr/>
          </p:nvSpPr>
          <p:spPr>
            <a:xfrm>
              <a:off x="8275320"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a:t>
              </a:r>
            </a:p>
          </p:txBody>
        </p:sp>
        <p:sp>
          <p:nvSpPr>
            <p:cNvPr id="102" name="TextBox 101"/>
            <p:cNvSpPr txBox="1"/>
            <p:nvPr/>
          </p:nvSpPr>
          <p:spPr>
            <a:xfrm>
              <a:off x="8275320"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demo scenarios</a:t>
              </a:r>
            </a:p>
          </p:txBody>
        </p:sp>
      </p:grpSp>
      <p:sp>
        <p:nvSpPr>
          <p:cNvPr id="103" name="Rectangle 102"/>
          <p:cNvSpPr/>
          <p:nvPr/>
        </p:nvSpPr>
        <p:spPr>
          <a:xfrm>
            <a:off x="9797796" y="2999232"/>
            <a:ext cx="7315" cy="576072"/>
          </a:xfrm>
          <a:prstGeom prst="rect">
            <a:avLst/>
          </a:prstGeom>
          <a:solidFill>
            <a:srgbClr val="E2D9C6"/>
          </a:solidFill>
          <a:ln>
            <a:noFill/>
          </a:ln>
        </p:spPr>
        <p:txBody>
          <a:bodyPr rtlCol="0" anchor="ctr"/>
          <a:lstStyle/>
          <a:p>
            <a:pPr algn="ctr"/>
          </a:p>
        </p:txBody>
      </p:sp>
      <p:grpSp>
        <p:nvGrpSpPr>
          <p:cNvPr id="104" name="Group 103"/>
          <p:cNvGrpSpPr/>
          <p:nvPr/>
        </p:nvGrpSpPr>
        <p:grpSpPr>
          <a:xfrm>
            <a:off x="9980676" y="2935224"/>
            <a:ext cx="1463040" cy="731520"/>
            <a:chOff x="9980676" y="2935224"/>
            <a:chExt cx="1463040" cy="731520"/>
          </a:xfrm>
        </p:grpSpPr>
        <p:sp>
          <p:nvSpPr>
            <p:cNvPr id="105" name="TextBox 104"/>
            <p:cNvSpPr txBox="1"/>
            <p:nvPr/>
          </p:nvSpPr>
          <p:spPr>
            <a:xfrm>
              <a:off x="9980676"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a:t>
              </a:r>
            </a:p>
          </p:txBody>
        </p:sp>
        <p:sp>
          <p:nvSpPr>
            <p:cNvPr id="106" name="TextBox 105"/>
            <p:cNvSpPr txBox="1"/>
            <p:nvPr/>
          </p:nvSpPr>
          <p:spPr>
            <a:xfrm>
              <a:off x="9980676"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merchant bot personas</a:t>
              </a:r>
            </a:p>
          </p:txBody>
        </p:sp>
      </p:grpSp>
      <p:sp>
        <p:nvSpPr>
          <p:cNvPr id="107" name="Rectangle 106"/>
          <p:cNvSpPr/>
          <p:nvPr/>
        </p:nvSpPr>
        <p:spPr>
          <a:xfrm>
            <a:off x="8183880" y="3712464"/>
            <a:ext cx="3227832" cy="7315"/>
          </a:xfrm>
          <a:prstGeom prst="rect">
            <a:avLst/>
          </a:prstGeom>
          <a:solidFill>
            <a:srgbClr val="E2D9C6"/>
          </a:solidFill>
          <a:ln>
            <a:noFill/>
          </a:ln>
        </p:spPr>
        <p:txBody>
          <a:bodyPr rtlCol="0" anchor="ctr"/>
          <a:lstStyle/>
          <a:p>
            <a:pPr algn="ctr"/>
          </a:p>
        </p:txBody>
      </p:sp>
      <p:grpSp>
        <p:nvGrpSpPr>
          <p:cNvPr id="108" name="Group 107"/>
          <p:cNvGrpSpPr/>
          <p:nvPr/>
        </p:nvGrpSpPr>
        <p:grpSpPr>
          <a:xfrm>
            <a:off x="8275320" y="3785616"/>
            <a:ext cx="1463040" cy="731520"/>
            <a:chOff x="8275320" y="3785616"/>
            <a:chExt cx="1463040" cy="731520"/>
          </a:xfrm>
        </p:grpSpPr>
        <p:sp>
          <p:nvSpPr>
            <p:cNvPr id="109" name="TextBox 108"/>
            <p:cNvSpPr txBox="1"/>
            <p:nvPr/>
          </p:nvSpPr>
          <p:spPr>
            <a:xfrm>
              <a:off x="8275320"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6</a:t>
              </a:r>
            </a:p>
          </p:txBody>
        </p:sp>
        <p:sp>
          <p:nvSpPr>
            <p:cNvPr id="110" name="TextBox 109"/>
            <p:cNvSpPr txBox="1"/>
            <p:nvPr/>
          </p:nvSpPr>
          <p:spPr>
            <a:xfrm>
              <a:off x="8275320"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verification checks</a:t>
              </a:r>
            </a:p>
          </p:txBody>
        </p:sp>
      </p:grpSp>
      <p:sp>
        <p:nvSpPr>
          <p:cNvPr id="111" name="Rectangle 110"/>
          <p:cNvSpPr/>
          <p:nvPr/>
        </p:nvSpPr>
        <p:spPr>
          <a:xfrm>
            <a:off x="9797796" y="3849624"/>
            <a:ext cx="7315" cy="576072"/>
          </a:xfrm>
          <a:prstGeom prst="rect">
            <a:avLst/>
          </a:prstGeom>
          <a:solidFill>
            <a:srgbClr val="E2D9C6"/>
          </a:solidFill>
          <a:ln>
            <a:noFill/>
          </a:ln>
        </p:spPr>
        <p:txBody>
          <a:bodyPr rtlCol="0" anchor="ctr"/>
          <a:lstStyle/>
          <a:p>
            <a:pPr algn="ctr"/>
          </a:p>
        </p:txBody>
      </p:sp>
      <p:grpSp>
        <p:nvGrpSpPr>
          <p:cNvPr id="112" name="Group 111"/>
          <p:cNvGrpSpPr/>
          <p:nvPr/>
        </p:nvGrpSpPr>
        <p:grpSpPr>
          <a:xfrm>
            <a:off x="9980676" y="3785616"/>
            <a:ext cx="1463040" cy="731520"/>
            <a:chOff x="9980676" y="3785616"/>
            <a:chExt cx="1463040" cy="731520"/>
          </a:xfrm>
        </p:grpSpPr>
        <p:sp>
          <p:nvSpPr>
            <p:cNvPr id="113" name="TextBox 112"/>
            <p:cNvSpPr txBox="1"/>
            <p:nvPr/>
          </p:nvSpPr>
          <p:spPr>
            <a:xfrm>
              <a:off x="9980676"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4" name="TextBox 113"/>
            <p:cNvSpPr txBox="1"/>
            <p:nvPr/>
          </p:nvSpPr>
          <p:spPr>
            <a:xfrm>
              <a:off x="9980676"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ranking factors</a:t>
              </a:r>
            </a:p>
          </p:txBody>
        </p:sp>
      </p:grpSp>
      <p:sp>
        <p:nvSpPr>
          <p:cNvPr id="115" name="Rectangle 114"/>
          <p:cNvSpPr/>
          <p:nvPr/>
        </p:nvSpPr>
        <p:spPr>
          <a:xfrm>
            <a:off x="8183880" y="4562856"/>
            <a:ext cx="3227832" cy="7315"/>
          </a:xfrm>
          <a:prstGeom prst="rect">
            <a:avLst/>
          </a:prstGeom>
          <a:solidFill>
            <a:srgbClr val="E2D9C6"/>
          </a:solidFill>
          <a:ln>
            <a:noFill/>
          </a:ln>
        </p:spPr>
        <p:txBody>
          <a:bodyPr rtlCol="0" anchor="ctr"/>
          <a:lstStyle/>
          <a:p>
            <a:pPr algn="ctr"/>
          </a:p>
        </p:txBody>
      </p:sp>
      <p:grpSp>
        <p:nvGrpSpPr>
          <p:cNvPr id="116" name="Group 115"/>
          <p:cNvGrpSpPr/>
          <p:nvPr/>
        </p:nvGrpSpPr>
        <p:grpSpPr>
          <a:xfrm>
            <a:off x="8275320" y="4636008"/>
            <a:ext cx="1463040" cy="731520"/>
            <a:chOff x="8275320" y="4636008"/>
            <a:chExt cx="1463040" cy="731520"/>
          </a:xfrm>
        </p:grpSpPr>
        <p:sp>
          <p:nvSpPr>
            <p:cNvPr id="117" name="TextBox 116"/>
            <p:cNvSpPr txBox="1"/>
            <p:nvPr/>
          </p:nvSpPr>
          <p:spPr>
            <a:xfrm>
              <a:off x="8275320"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26</a:t>
              </a:r>
            </a:p>
          </p:txBody>
        </p:sp>
        <p:sp>
          <p:nvSpPr>
            <p:cNvPr id="118" name="TextBox 117"/>
            <p:cNvSpPr txBox="1"/>
            <p:nvPr/>
          </p:nvSpPr>
          <p:spPr>
            <a:xfrm>
              <a:off x="8275320"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real products in 6 categories</a:t>
              </a:r>
            </a:p>
          </p:txBody>
        </p:sp>
      </p:grpSp>
      <p:sp>
        <p:nvSpPr>
          <p:cNvPr id="119" name="Rectangle 118"/>
          <p:cNvSpPr/>
          <p:nvPr/>
        </p:nvSpPr>
        <p:spPr>
          <a:xfrm>
            <a:off x="9797796" y="4700016"/>
            <a:ext cx="7315" cy="576072"/>
          </a:xfrm>
          <a:prstGeom prst="rect">
            <a:avLst/>
          </a:prstGeom>
          <a:solidFill>
            <a:srgbClr val="E2D9C6"/>
          </a:solidFill>
          <a:ln>
            <a:noFill/>
          </a:ln>
        </p:spPr>
        <p:txBody>
          <a:bodyPr rtlCol="0" anchor="ctr"/>
          <a:lstStyle/>
          <a:p>
            <a:pPr algn="ctr"/>
          </a:p>
        </p:txBody>
      </p:sp>
      <p:grpSp>
        <p:nvGrpSpPr>
          <p:cNvPr id="120" name="Group 119"/>
          <p:cNvGrpSpPr/>
          <p:nvPr/>
        </p:nvGrpSpPr>
        <p:grpSpPr>
          <a:xfrm>
            <a:off x="9980676" y="4636008"/>
            <a:ext cx="1463040" cy="731520"/>
            <a:chOff x="9980676" y="4636008"/>
            <a:chExt cx="1463040" cy="731520"/>
          </a:xfrm>
        </p:grpSpPr>
        <p:sp>
          <p:nvSpPr>
            <p:cNvPr id="121" name="TextBox 120"/>
            <p:cNvSpPr txBox="1"/>
            <p:nvPr/>
          </p:nvSpPr>
          <p:spPr>
            <a:xfrm>
              <a:off x="9980676"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4</a:t>
              </a:r>
            </a:p>
          </p:txBody>
        </p:sp>
        <p:sp>
          <p:nvSpPr>
            <p:cNvPr id="122" name="TextBox 121"/>
            <p:cNvSpPr txBox="1"/>
            <p:nvPr/>
          </p:nvSpPr>
          <p:spPr>
            <a:xfrm>
              <a:off x="9980676"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buyer agents</a:t>
              </a:r>
            </a:p>
          </p:txBody>
        </p:sp>
      </p:grpSp>
      <p:sp>
        <p:nvSpPr>
          <p:cNvPr id="123" name="Rectangle 122"/>
          <p:cNvSpPr/>
          <p:nvPr/>
        </p:nvSpPr>
        <p:spPr>
          <a:xfrm>
            <a:off x="8183880" y="5413248"/>
            <a:ext cx="3227832" cy="7315"/>
          </a:xfrm>
          <a:prstGeom prst="rect">
            <a:avLst/>
          </a:prstGeom>
          <a:solidFill>
            <a:srgbClr val="E2D9C6"/>
          </a:solidFill>
          <a:ln>
            <a:noFill/>
          </a:ln>
        </p:spPr>
        <p:txBody>
          <a:bodyPr rtlCol="0" anchor="ctr"/>
          <a:lstStyle/>
          <a:p>
            <a:pPr algn="ctr"/>
          </a:p>
        </p:txBody>
      </p:sp>
      <p:grpSp>
        <p:nvGrpSpPr>
          <p:cNvPr id="124" name="Group 123"/>
          <p:cNvGrpSpPr/>
          <p:nvPr/>
        </p:nvGrpSpPr>
        <p:grpSpPr>
          <a:xfrm>
            <a:off x="8275320" y="5486400"/>
            <a:ext cx="1463040" cy="731520"/>
            <a:chOff x="8275320" y="5486400"/>
            <a:chExt cx="1463040" cy="731520"/>
          </a:xfrm>
        </p:grpSpPr>
        <p:sp>
          <p:nvSpPr>
            <p:cNvPr id="125" name="TextBox 124"/>
            <p:cNvSpPr txBox="1"/>
            <p:nvPr/>
          </p:nvSpPr>
          <p:spPr>
            <a:xfrm>
              <a:off x="8275320"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14</a:t>
              </a:r>
            </a:p>
          </p:txBody>
        </p:sp>
        <p:sp>
          <p:nvSpPr>
            <p:cNvPr id="126" name="TextBox 125"/>
            <p:cNvSpPr txBox="1"/>
            <p:nvPr/>
          </p:nvSpPr>
          <p:spPr>
            <a:xfrm>
              <a:off x="8275320"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SQLite tables</a:t>
              </a:r>
            </a:p>
          </p:txBody>
        </p:sp>
      </p:grpSp>
      <p:sp>
        <p:nvSpPr>
          <p:cNvPr id="127" name="Rectangle 126"/>
          <p:cNvSpPr/>
          <p:nvPr/>
        </p:nvSpPr>
        <p:spPr>
          <a:xfrm>
            <a:off x="9797796" y="5550408"/>
            <a:ext cx="7315" cy="576072"/>
          </a:xfrm>
          <a:prstGeom prst="rect">
            <a:avLst/>
          </a:prstGeom>
          <a:solidFill>
            <a:srgbClr val="E2D9C6"/>
          </a:solidFill>
          <a:ln>
            <a:noFill/>
          </a:ln>
        </p:spPr>
        <p:txBody>
          <a:bodyPr rtlCol="0" anchor="ctr"/>
          <a:lstStyle/>
          <a:p>
            <a:pPr algn="ctr"/>
          </a:p>
        </p:txBody>
      </p:sp>
      <p:grpSp>
        <p:nvGrpSpPr>
          <p:cNvPr id="128" name="Group 127"/>
          <p:cNvGrpSpPr/>
          <p:nvPr/>
        </p:nvGrpSpPr>
        <p:grpSpPr>
          <a:xfrm>
            <a:off x="9980676" y="5486400"/>
            <a:ext cx="1463040" cy="731520"/>
            <a:chOff x="9980676" y="5486400"/>
            <a:chExt cx="1463040" cy="731520"/>
          </a:xfrm>
        </p:grpSpPr>
        <p:sp>
          <p:nvSpPr>
            <p:cNvPr id="129" name="TextBox 128"/>
            <p:cNvSpPr txBox="1"/>
            <p:nvPr/>
          </p:nvSpPr>
          <p:spPr>
            <a:xfrm>
              <a:off x="9980676"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9,697</a:t>
              </a:r>
            </a:p>
          </p:txBody>
        </p:sp>
        <p:sp>
          <p:nvSpPr>
            <p:cNvPr id="130" name="TextBox 129"/>
            <p:cNvSpPr txBox="1"/>
            <p:nvPr/>
          </p:nvSpPr>
          <p:spPr>
            <a:xfrm>
              <a:off x="9980676"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00"/>
                                        <p:tgtEl>
                                          <p:spTgt spid="18"/>
                                        </p:tgtEl>
                                      </p:cBhvr>
                                    </p:animEffect>
                                    <p:anim calcmode="lin" valueType="num">
                                      <p:cBhvr additive="base">
                                        <p:cTn id="19" dur="300" fill="hold" decel="100000"/>
                                        <p:tgtEl>
                                          <p:spTgt spid="18"/>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00"/>
                                        <p:tgtEl>
                                          <p:spTgt spid="21"/>
                                        </p:tgtEl>
                                      </p:cBhvr>
                                    </p:animEffect>
                                    <p:anim calcmode="lin" valueType="num">
                                      <p:cBhvr additive="base">
                                        <p:cTn id="24" dur="3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300"/>
                                        <p:tgtEl>
                                          <p:spTgt spid="24"/>
                                        </p:tgtEl>
                                      </p:cBhvr>
                                    </p:animEffect>
                                    <p:anim calcmode="lin" valueType="num">
                                      <p:cBhvr additive="base">
                                        <p:cTn id="29" dur="300" fill="hold" decel="100000"/>
                                        <p:tgtEl>
                                          <p:spTgt spid="24"/>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4"/>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anim calcmode="lin" valueType="num">
                                      <p:cBhvr additive="base">
                                        <p:cTn id="34" dur="3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00"/>
                                        <p:tgtEl>
                                          <p:spTgt spid="30"/>
                                        </p:tgtEl>
                                      </p:cBhvr>
                                    </p:animEffect>
                                    <p:anim calcmode="lin" valueType="num">
                                      <p:cBhvr additive="base">
                                        <p:cTn id="39"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30"/>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00"/>
                                        <p:tgtEl>
                                          <p:spTgt spid="34"/>
                                        </p:tgtEl>
                                      </p:cBhvr>
                                    </p:animEffect>
                                    <p:anim calcmode="lin" valueType="num">
                                      <p:cBhvr additive="base">
                                        <p:cTn id="47" dur="300" fill="hold" decel="100000"/>
                                        <p:tgtEl>
                                          <p:spTgt spid="34"/>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300"/>
                                        <p:tgtEl>
                                          <p:spTgt spid="37"/>
                                        </p:tgtEl>
                                      </p:cBhvr>
                                    </p:animEffect>
                                    <p:anim calcmode="lin" valueType="num">
                                      <p:cBhvr additive="base">
                                        <p:cTn id="52" dur="300" fill="hold" decel="100000"/>
                                        <p:tgtEl>
                                          <p:spTgt spid="37"/>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7"/>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00"/>
                                        <p:tgtEl>
                                          <p:spTgt spid="40"/>
                                        </p:tgtEl>
                                      </p:cBhvr>
                                    </p:animEffect>
                                    <p:anim calcmode="lin" valueType="num">
                                      <p:cBhvr additive="base">
                                        <p:cTn id="57" dur="300" fill="hold" decel="100000"/>
                                        <p:tgtEl>
                                          <p:spTgt spid="40"/>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40"/>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43"/>
                                        </p:tgtEl>
                                        <p:attrNameLst>
                                          <p:attrName>style.visibility</p:attrName>
                                        </p:attrNameLst>
                                      </p:cBhvr>
                                      <p:to>
                                        <p:strVal val="visible"/>
                                      </p:to>
                                    </p:set>
                                    <p:animEffect transition="in" filter="wipe(left)">
                                      <p:cBhvr>
                                        <p:cTn id="61" dur="220"/>
                                        <p:tgtEl>
                                          <p:spTgt spid="43"/>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4"/>
                                        </p:tgtEl>
                                        <p:attrNameLst>
                                          <p:attrName>style.visibility</p:attrName>
                                        </p:attrNameLst>
                                      </p:cBhvr>
                                      <p:to>
                                        <p:strVal val="visible"/>
                                      </p:to>
                                    </p:set>
                                    <p:animEffect transition="in" filter="wipe(left)">
                                      <p:cBhvr>
                                        <p:cTn id="64" dur="220"/>
                                        <p:tgtEl>
                                          <p:spTgt spid="44"/>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anim calcmode="lin" valueType="num">
                                      <p:cBhvr additive="base">
                                        <p:cTn id="68"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5"/>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300"/>
                                        <p:tgtEl>
                                          <p:spTgt spid="50"/>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4"/>
                                        </p:tgtEl>
                                        <p:attrNameLst>
                                          <p:attrName>style.visibility</p:attrName>
                                        </p:attrNameLst>
                                      </p:cBhvr>
                                      <p:to>
                                        <p:strVal val="visible"/>
                                      </p:to>
                                    </p:set>
                                    <p:animEffect transition="in" filter="fade">
                                      <p:cBhvr>
                                        <p:cTn id="75" dur="300"/>
                                        <p:tgtEl>
                                          <p:spTgt spid="54"/>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8"/>
                                        </p:tgtEl>
                                        <p:attrNameLst>
                                          <p:attrName>style.visibility</p:attrName>
                                        </p:attrNameLst>
                                      </p:cBhvr>
                                      <p:to>
                                        <p:strVal val="visible"/>
                                      </p:to>
                                    </p:set>
                                    <p:animEffect transition="in" filter="fade">
                                      <p:cBhvr>
                                        <p:cTn id="78" dur="300"/>
                                        <p:tgtEl>
                                          <p:spTgt spid="58"/>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62"/>
                                        </p:tgtEl>
                                        <p:attrNameLst>
                                          <p:attrName>style.visibility</p:attrName>
                                        </p:attrNameLst>
                                      </p:cBhvr>
                                      <p:to>
                                        <p:strVal val="visible"/>
                                      </p:to>
                                    </p:set>
                                    <p:animEffect transition="in" filter="fade">
                                      <p:cBhvr>
                                        <p:cTn id="81" dur="300"/>
                                        <p:tgtEl>
                                          <p:spTgt spid="62"/>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70"/>
                                        </p:tgtEl>
                                        <p:attrNameLst>
                                          <p:attrName>style.visibility</p:attrName>
                                        </p:attrNameLst>
                                      </p:cBhvr>
                                      <p:to>
                                        <p:strVal val="visible"/>
                                      </p:to>
                                    </p:set>
                                    <p:animEffect transition="in" filter="wipe(left)">
                                      <p:cBhvr>
                                        <p:cTn id="87" dur="220"/>
                                        <p:tgtEl>
                                          <p:spTgt spid="70"/>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7"/>
                                        </p:tgtEl>
                                        <p:attrNameLst>
                                          <p:attrName>style.visibility</p:attrName>
                                        </p:attrNameLst>
                                      </p:cBhvr>
                                      <p:to>
                                        <p:strVal val="visible"/>
                                      </p:to>
                                    </p:set>
                                    <p:animEffect transition="in" filter="wipe(left)">
                                      <p:cBhvr>
                                        <p:cTn id="95" dur="220"/>
                                        <p:tgtEl>
                                          <p:spTgt spid="77"/>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6"/>
                                        </p:tgtEl>
                                        <p:attrNameLst>
                                          <p:attrName>style.visibility</p:attrName>
                                        </p:attrNameLst>
                                      </p:cBhvr>
                                      <p:to>
                                        <p:strVal val="visible"/>
                                      </p:to>
                                    </p:set>
                                    <p:animEffect transition="in" filter="wipe(left)">
                                      <p:cBhvr>
                                        <p:cTn id="98" dur="220"/>
                                        <p:tgtEl>
                                          <p:spTgt spid="76"/>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8"/>
                                        </p:tgtEl>
                                        <p:attrNameLst>
                                          <p:attrName>style.visibility</p:attrName>
                                        </p:attrNameLst>
                                      </p:cBhvr>
                                      <p:to>
                                        <p:strVal val="visible"/>
                                      </p:to>
                                    </p:set>
                                    <p:animEffect transition="in" filter="fade">
                                      <p:cBhvr>
                                        <p:cTn id="101" dur="400"/>
                                        <p:tgtEl>
                                          <p:spTgt spid="78"/>
                                        </p:tgtEl>
                                      </p:cBhvr>
                                    </p:animEffect>
                                    <p:anim calcmode="lin" valueType="num">
                                      <p:cBhvr additive="base">
                                        <p:cTn id="102" dur="400" fill="hold" decel="100000"/>
                                        <p:tgtEl>
                                          <p:spTgt spid="78"/>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8"/>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83"/>
                                        </p:tgtEl>
                                        <p:attrNameLst>
                                          <p:attrName>style.visibility</p:attrName>
                                        </p:attrNameLst>
                                      </p:cBhvr>
                                      <p:to>
                                        <p:strVal val="visible"/>
                                      </p:to>
                                    </p:set>
                                    <p:animEffect transition="in" filter="wipe(left)">
                                      <p:cBhvr>
                                        <p:cTn id="106" dur="220"/>
                                        <p:tgtEl>
                                          <p:spTgt spid="83"/>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anim calcmode="lin" valueType="num">
                                      <p:cBhvr additive="base">
                                        <p:cTn id="110" dur="400" fill="hold" decel="100000"/>
                                        <p:tgtEl>
                                          <p:spTgt spid="84"/>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4"/>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9"/>
                                        </p:tgtEl>
                                        <p:attrNameLst>
                                          <p:attrName>style.visibility</p:attrName>
                                        </p:attrNameLst>
                                      </p:cBhvr>
                                      <p:to>
                                        <p:strVal val="visible"/>
                                      </p:to>
                                    </p:set>
                                    <p:animEffect transition="in" filter="fade">
                                      <p:cBhvr>
                                        <p:cTn id="114" dur="300"/>
                                        <p:tgtEl>
                                          <p:spTgt spid="89"/>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90"/>
                                        </p:tgtEl>
                                        <p:attrNameLst>
                                          <p:attrName>style.visibility</p:attrName>
                                        </p:attrNameLst>
                                      </p:cBhvr>
                                      <p:to>
                                        <p:strVal val="visible"/>
                                      </p:to>
                                    </p:set>
                                    <p:animEffect transition="in" filter="fade">
                                      <p:cBhvr>
                                        <p:cTn id="117" dur="450"/>
                                        <p:tgtEl>
                                          <p:spTgt spid="90"/>
                                        </p:tgtEl>
                                      </p:cBhvr>
                                    </p:animEffect>
                                    <p:anim calcmode="lin" valueType="num">
                                      <p:cBhvr additive="base">
                                        <p:cTn id="118" dur="450" fill="hold" decel="100000"/>
                                        <p:tgtEl>
                                          <p:spTgt spid="90"/>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90"/>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92"/>
                                        </p:tgtEl>
                                        <p:attrNameLst>
                                          <p:attrName>style.visibility</p:attrName>
                                        </p:attrNameLst>
                                      </p:cBhvr>
                                      <p:to>
                                        <p:strVal val="visible"/>
                                      </p:to>
                                    </p:set>
                                    <p:animEffect transition="in" filter="fade">
                                      <p:cBhvr>
                                        <p:cTn id="122" dur="350"/>
                                        <p:tgtEl>
                                          <p:spTgt spid="92"/>
                                        </p:tgtEl>
                                      </p:cBhvr>
                                    </p:animEffect>
                                    <p:anim calcmode="lin" valueType="num">
                                      <p:cBhvr additive="base">
                                        <p:cTn id="123"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92"/>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6"/>
                                        </p:tgtEl>
                                        <p:attrNameLst>
                                          <p:attrName>style.visibility</p:attrName>
                                        </p:attrNameLst>
                                      </p:cBhvr>
                                      <p:to>
                                        <p:strVal val="visible"/>
                                      </p:to>
                                    </p:set>
                                    <p:animEffect transition="in" filter="fade">
                                      <p:cBhvr>
                                        <p:cTn id="127" dur="350"/>
                                        <p:tgtEl>
                                          <p:spTgt spid="96"/>
                                        </p:tgtEl>
                                      </p:cBhvr>
                                    </p:animEffect>
                                    <p:anim calcmode="lin" valueType="num">
                                      <p:cBhvr additive="base">
                                        <p:cTn id="128"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6"/>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100"/>
                                        </p:tgtEl>
                                        <p:attrNameLst>
                                          <p:attrName>style.visibility</p:attrName>
                                        </p:attrNameLst>
                                      </p:cBhvr>
                                      <p:to>
                                        <p:strVal val="visible"/>
                                      </p:to>
                                    </p:set>
                                    <p:animEffect transition="in" filter="fade">
                                      <p:cBhvr>
                                        <p:cTn id="132" dur="350"/>
                                        <p:tgtEl>
                                          <p:spTgt spid="100"/>
                                        </p:tgtEl>
                                      </p:cBhvr>
                                    </p:animEffect>
                                    <p:anim calcmode="lin" valueType="num">
                                      <p:cBhvr additive="base">
                                        <p:cTn id="133"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100"/>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4"/>
                                        </p:tgtEl>
                                        <p:attrNameLst>
                                          <p:attrName>style.visibility</p:attrName>
                                        </p:attrNameLst>
                                      </p:cBhvr>
                                      <p:to>
                                        <p:strVal val="visible"/>
                                      </p:to>
                                    </p:set>
                                    <p:animEffect transition="in" filter="fade">
                                      <p:cBhvr>
                                        <p:cTn id="137" dur="350"/>
                                        <p:tgtEl>
                                          <p:spTgt spid="104"/>
                                        </p:tgtEl>
                                      </p:cBhvr>
                                    </p:animEffect>
                                    <p:anim calcmode="lin" valueType="num">
                                      <p:cBhvr additive="base">
                                        <p:cTn id="138"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4"/>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8"/>
                                        </p:tgtEl>
                                        <p:attrNameLst>
                                          <p:attrName>style.visibility</p:attrName>
                                        </p:attrNameLst>
                                      </p:cBhvr>
                                      <p:to>
                                        <p:strVal val="visible"/>
                                      </p:to>
                                    </p:set>
                                    <p:animEffect transition="in" filter="fade">
                                      <p:cBhvr>
                                        <p:cTn id="142" dur="350"/>
                                        <p:tgtEl>
                                          <p:spTgt spid="108"/>
                                        </p:tgtEl>
                                      </p:cBhvr>
                                    </p:animEffect>
                                    <p:anim calcmode="lin" valueType="num">
                                      <p:cBhvr additive="base">
                                        <p:cTn id="143"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8"/>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12"/>
                                        </p:tgtEl>
                                        <p:attrNameLst>
                                          <p:attrName>style.visibility</p:attrName>
                                        </p:attrNameLst>
                                      </p:cBhvr>
                                      <p:to>
                                        <p:strVal val="visible"/>
                                      </p:to>
                                    </p:set>
                                    <p:animEffect transition="in" filter="fade">
                                      <p:cBhvr>
                                        <p:cTn id="147" dur="350"/>
                                        <p:tgtEl>
                                          <p:spTgt spid="112"/>
                                        </p:tgtEl>
                                      </p:cBhvr>
                                    </p:animEffect>
                                    <p:anim calcmode="lin" valueType="num">
                                      <p:cBhvr additive="base">
                                        <p:cTn id="148"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12"/>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6"/>
                                        </p:tgtEl>
                                        <p:attrNameLst>
                                          <p:attrName>style.visibility</p:attrName>
                                        </p:attrNameLst>
                                      </p:cBhvr>
                                      <p:to>
                                        <p:strVal val="visible"/>
                                      </p:to>
                                    </p:set>
                                    <p:animEffect transition="in" filter="fade">
                                      <p:cBhvr>
                                        <p:cTn id="152" dur="350"/>
                                        <p:tgtEl>
                                          <p:spTgt spid="116"/>
                                        </p:tgtEl>
                                      </p:cBhvr>
                                    </p:animEffect>
                                    <p:anim calcmode="lin" valueType="num">
                                      <p:cBhvr additive="base">
                                        <p:cTn id="153"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6"/>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20"/>
                                        </p:tgtEl>
                                        <p:attrNameLst>
                                          <p:attrName>style.visibility</p:attrName>
                                        </p:attrNameLst>
                                      </p:cBhvr>
                                      <p:to>
                                        <p:strVal val="visible"/>
                                      </p:to>
                                    </p:set>
                                    <p:animEffect transition="in" filter="fade">
                                      <p:cBhvr>
                                        <p:cTn id="157" dur="350"/>
                                        <p:tgtEl>
                                          <p:spTgt spid="120"/>
                                        </p:tgtEl>
                                      </p:cBhvr>
                                    </p:animEffect>
                                    <p:anim calcmode="lin" valueType="num">
                                      <p:cBhvr additive="base">
                                        <p:cTn id="158"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20"/>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4"/>
                                        </p:tgtEl>
                                        <p:attrNameLst>
                                          <p:attrName>style.visibility</p:attrName>
                                        </p:attrNameLst>
                                      </p:cBhvr>
                                      <p:to>
                                        <p:strVal val="visible"/>
                                      </p:to>
                                    </p:set>
                                    <p:animEffect transition="in" filter="fade">
                                      <p:cBhvr>
                                        <p:cTn id="162" dur="350"/>
                                        <p:tgtEl>
                                          <p:spTgt spid="124"/>
                                        </p:tgtEl>
                                      </p:cBhvr>
                                    </p:animEffect>
                                    <p:anim calcmode="lin" valueType="num">
                                      <p:cBhvr additive="base">
                                        <p:cTn id="163"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4"/>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8"/>
                                        </p:tgtEl>
                                        <p:attrNameLst>
                                          <p:attrName>style.visibility</p:attrName>
                                        </p:attrNameLst>
                                      </p:cBhvr>
                                      <p:to>
                                        <p:strVal val="visible"/>
                                      </p:to>
                                    </p:set>
                                    <p:animEffect transition="in" filter="fade">
                                      <p:cBhvr>
                                        <p:cTn id="167" dur="350"/>
                                        <p:tgtEl>
                                          <p:spTgt spid="128"/>
                                        </p:tgtEl>
                                      </p:cBhvr>
                                    </p:animEffect>
                                    <p:anim calcmode="lin" valueType="num">
                                      <p:cBhvr additive="base">
                                        <p:cTn id="168" dur="350" fill="hold" decel="100000"/>
                                        <p:tgtEl>
                                          <p:spTgt spid="128"/>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33" grpId="0" animBg="1"/>
      <p:bldP spid="8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77240" y="868680"/>
            <a:ext cx="603504" cy="603504"/>
            <a:chOff x="777240" y="868680"/>
            <a:chExt cx="603504" cy="603504"/>
          </a:xfrm>
        </p:grpSpPr>
        <p:sp>
          <p:nvSpPr>
            <p:cNvPr id="3" name="Oval 2"/>
            <p:cNvSpPr/>
            <p:nvPr/>
          </p:nvSpPr>
          <p:spPr>
            <a:xfrm>
              <a:off x="777240" y="868680"/>
              <a:ext cx="603504" cy="603504"/>
            </a:xfrm>
            <a:prstGeom prst="ellipse">
              <a:avLst/>
            </a:prstGeom>
            <a:solidFill>
              <a:srgbClr val="16130E"/>
            </a:solidFill>
            <a:ln>
              <a:noFill/>
            </a:ln>
          </p:spPr>
          <p:txBody>
            <a:bodyPr rtlCol="0" anchor="ctr"/>
            <a:lstStyle/>
            <a:p>
              <a:pPr algn="ctr"/>
            </a:p>
          </p:txBody>
        </p:sp>
        <p:sp>
          <p:nvSpPr>
            <p:cNvPr id="4" name="Freeform 3"/>
            <p:cNvSpPr/>
            <p:nvPr/>
          </p:nvSpPr>
          <p:spPr>
            <a:xfrm>
              <a:off x="956783" y="1143276"/>
              <a:ext cx="149369" cy="149369"/>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27157" cap="rnd">
              <a:solidFill>
                <a:srgbClr val="F4EFE4"/>
              </a:solidFill>
              <a:round/>
            </a:ln>
          </p:spPr>
          <p:txBody>
            <a:bodyPr rtlCol="0" anchor="ctr"/>
            <a:lstStyle/>
            <a:p>
              <a:pPr algn="ctr"/>
            </a:p>
          </p:txBody>
        </p:sp>
        <p:sp>
          <p:nvSpPr>
            <p:cNvPr id="5" name="Freeform 4"/>
            <p:cNvSpPr/>
            <p:nvPr/>
          </p:nvSpPr>
          <p:spPr>
            <a:xfrm>
              <a:off x="1133310" y="1143276"/>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6" name="Freeform 5"/>
            <p:cNvSpPr/>
            <p:nvPr/>
          </p:nvSpPr>
          <p:spPr>
            <a:xfrm>
              <a:off x="1024678" y="1034644"/>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7" name="Freeform 6"/>
            <p:cNvSpPr/>
            <p:nvPr/>
          </p:nvSpPr>
          <p:spPr>
            <a:xfrm>
              <a:off x="1038257" y="1102539"/>
              <a:ext cx="108632" cy="108632"/>
            </a:xfrm>
            <a:custGeom>
              <a:avLst/>
              <a:gdLst/>
              <a:ahLst/>
              <a:cxnLst/>
              <a:rect l="l" t="t" r="r" b="b"/>
              <a:pathLst>
                <a:path w="8" h="8">
                  <a:moveTo>
                    <a:pt x="0" y="0"/>
                  </a:moveTo>
                  <a:lnTo>
                    <a:pt x="8" y="8"/>
                  </a:lnTo>
                </a:path>
              </a:pathLst>
            </a:custGeom>
            <a:noFill/>
            <a:ln w="27157" cap="rnd">
              <a:solidFill>
                <a:srgbClr val="F4EFE4"/>
              </a:solidFill>
              <a:round/>
            </a:ln>
          </p:spPr>
          <p:txBody>
            <a:bodyPr rtlCol="0" anchor="ctr"/>
            <a:lstStyle/>
            <a:p>
              <a:pPr algn="ctr"/>
            </a:p>
          </p:txBody>
        </p:sp>
        <p:sp>
          <p:nvSpPr>
            <p:cNvPr id="8" name="Freeform 7"/>
            <p:cNvSpPr/>
            <p:nvPr/>
          </p:nvSpPr>
          <p:spPr>
            <a:xfrm>
              <a:off x="1092573" y="1048223"/>
              <a:ext cx="108632" cy="108632"/>
            </a:xfrm>
            <a:custGeom>
              <a:avLst/>
              <a:gdLst/>
              <a:ahLst/>
              <a:cxnLst/>
              <a:rect l="l" t="t" r="r" b="b"/>
              <a:pathLst>
                <a:path w="8" h="8">
                  <a:moveTo>
                    <a:pt x="8" y="8"/>
                  </a:moveTo>
                  <a:lnTo>
                    <a:pt x="0" y="0"/>
                  </a:lnTo>
                </a:path>
              </a:pathLst>
            </a:custGeom>
            <a:noFill/>
            <a:ln w="27157" cap="rnd">
              <a:solidFill>
                <a:srgbClr val="F4EFE4"/>
              </a:solidFill>
              <a:round/>
            </a:ln>
          </p:spPr>
          <p:txBody>
            <a:bodyPr rtlCol="0" anchor="ctr"/>
            <a:lstStyle/>
            <a:p>
              <a:pPr algn="ctr"/>
            </a:p>
          </p:txBody>
        </p:sp>
      </p:grpSp>
      <p:sp>
        <p:nvSpPr>
          <p:cNvPr id="9" name="TextBox 8"/>
          <p:cNvSpPr txBox="1"/>
          <p:nvPr/>
        </p:nvSpPr>
        <p:spPr>
          <a:xfrm>
            <a:off x="1554480" y="850392"/>
            <a:ext cx="3657600" cy="640080"/>
          </a:xfrm>
          <a:prstGeom prst="rect">
            <a:avLst/>
          </a:prstGeom>
          <a:noFill/>
        </p:spPr>
        <p:txBody>
          <a:bodyPr wrap="square" lIns="0" rIns="0" tIns="0" bIns="0" anchor="ctr">
            <a:noAutofit/>
          </a:bodyPr>
          <a:lstStyle/>
          <a:p>
            <a:pPr algn="l"/>
            <a:r>
              <a:rPr sz="3000" b="0" i="0">
                <a:solidFill>
                  <a:srgbClr val="16130E"/>
                </a:solidFill>
                <a:latin typeface="Georgia" panose="02040502050405020303" pitchFamily="18" charset="0"/>
              </a:rPr>
              <a:t>Bidwire</a:t>
            </a:r>
          </a:p>
        </p:txBody>
      </p:sp>
      <p:sp>
        <p:nvSpPr>
          <p:cNvPr id="10" name="TextBox 9"/>
          <p:cNvSpPr txBox="1"/>
          <p:nvPr/>
        </p:nvSpPr>
        <p:spPr>
          <a:xfrm>
            <a:off x="731520" y="1783080"/>
            <a:ext cx="10881360" cy="1325880"/>
          </a:xfrm>
          <a:prstGeom prst="rect">
            <a:avLst/>
          </a:prstGeom>
          <a:noFill/>
        </p:spPr>
        <p:txBody>
          <a:bodyPr wrap="square" lIns="0" rIns="0" tIns="0" bIns="0" anchor="ctr">
            <a:noAutofit/>
          </a:bodyPr>
          <a:lstStyle/>
          <a:p>
            <a:pPr algn="l"/>
            <a:r>
              <a:rPr sz="8000" b="0" i="0" spc="-160">
                <a:solidFill>
                  <a:srgbClr val="16130E"/>
                </a:solidFill>
                <a:latin typeface="Georgia" panose="02040502050405020303" pitchFamily="18" charset="0"/>
              </a:rPr>
              <a:t>You can't bribe </a:t>
            </a:r>
            <a:r>
              <a:rPr sz="8000" b="0" i="1" spc="-160">
                <a:solidFill>
                  <a:srgbClr val="B0894F"/>
                </a:solidFill>
                <a:latin typeface="Georgia" panose="02040502050405020303" pitchFamily="18" charset="0"/>
              </a:rPr>
              <a:t>an agent.</a:t>
            </a:r>
          </a:p>
        </p:txBody>
      </p:sp>
      <p:sp>
        <p:nvSpPr>
          <p:cNvPr id="11" name="TextBox 10"/>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6E6658"/>
                </a:solidFill>
                <a:latin typeface="Inter" panose="020B0502030000000004" pitchFamily="34" charset="0"/>
              </a:rPr>
              <a:t>Verified offers. Merit ranking. Commission only at the hammer.</a:t>
            </a:r>
          </a:p>
        </p:txBody>
      </p:sp>
      <p:grpSp>
        <p:nvGrpSpPr>
          <p:cNvPr id="12" name="Group 11"/>
          <p:cNvGrpSpPr/>
          <p:nvPr/>
        </p:nvGrpSpPr>
        <p:grpSpPr>
          <a:xfrm>
            <a:off x="777240" y="4069080"/>
            <a:ext cx="3447288" cy="1298448"/>
            <a:chOff x="777240" y="4069080"/>
            <a:chExt cx="3447288" cy="1298448"/>
          </a:xfrm>
        </p:grpSpPr>
        <p:sp>
          <p:nvSpPr>
            <p:cNvPr id="13" name="Rounded Rectangle 12"/>
            <p:cNvSpPr/>
            <p:nvPr/>
          </p:nvSpPr>
          <p:spPr>
            <a:xfrm>
              <a:off x="777240" y="4069080"/>
              <a:ext cx="3447288" cy="1298448"/>
            </a:xfrm>
            <a:prstGeom prst="roundRect">
              <a:avLst>
                <a:gd name="adj" fmla="val 7042"/>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14" name="Rounded Rectangle 13"/>
            <p:cNvSpPr/>
            <p:nvPr/>
          </p:nvSpPr>
          <p:spPr>
            <a:xfrm>
              <a:off x="841248" y="4133088"/>
              <a:ext cx="3319272" cy="1170432"/>
            </a:xfrm>
            <a:prstGeom prst="roundRect">
              <a:avLst>
                <a:gd name="adj" fmla="val 4687"/>
              </a:avLst>
            </a:prstGeom>
            <a:noFill/>
            <a:ln w="9525">
              <a:solidFill>
                <a:srgbClr val="B0894F">
                  <a:alpha val="60000"/>
                </a:srgbClr>
              </a:solidFill>
            </a:ln>
          </p:spPr>
          <p:txBody>
            <a:bodyPr rtlCol="0" anchor="ctr"/>
            <a:lstStyle/>
            <a:p>
              <a:pPr algn="ctr"/>
            </a:p>
          </p:txBody>
        </p:sp>
        <p:sp>
          <p:nvSpPr>
            <p:cNvPr id="15" name="TextBox 14"/>
            <p:cNvSpPr txBox="1"/>
            <p:nvPr/>
          </p:nvSpPr>
          <p:spPr>
            <a:xfrm>
              <a:off x="1005840" y="4224528"/>
              <a:ext cx="3017520" cy="219456"/>
            </a:xfrm>
            <a:prstGeom prst="rect">
              <a:avLst/>
            </a:prstGeom>
            <a:noFill/>
          </p:spPr>
          <p:txBody>
            <a:bodyPr wrap="square" lIns="0" rIns="0" tIns="0" bIns="0" anchor="ctr">
              <a:noAutofit/>
            </a:bodyPr>
            <a:lstStyle/>
            <a:p>
              <a:pPr algn="l"/>
              <a:r>
                <a:rPr sz="850" b="1" i="0" spc="110">
                  <a:solidFill>
                    <a:srgbClr val="B0894F"/>
                  </a:solidFill>
                  <a:latin typeface="Inter" panose="020B0502030000000004" pitchFamily="34" charset="0"/>
                </a:rPr>
                <a:t>GITHUB</a:t>
              </a:r>
            </a:p>
          </p:txBody>
        </p:sp>
        <p:sp>
          <p:nvSpPr>
            <p:cNvPr id="16" name="TextBox 15"/>
            <p:cNvSpPr txBox="1"/>
            <p:nvPr/>
          </p:nvSpPr>
          <p:spPr>
            <a:xfrm>
              <a:off x="1005840" y="4526280"/>
              <a:ext cx="3063240" cy="731520"/>
            </a:xfrm>
            <a:prstGeom prst="rect">
              <a:avLst/>
            </a:prstGeom>
            <a:noFill/>
          </p:spPr>
          <p:txBody>
            <a:bodyPr wrap="square" lIns="0" rIns="0" tIns="0" bIns="0" anchor="t">
              <a:noAutofit/>
            </a:bodyPr>
            <a:lstStyle/>
            <a:p>
              <a:pPr algn="l">
                <a:lnSpc>
                  <a:spcPct val="105000"/>
                </a:lnSpc>
              </a:pPr>
              <a:r>
                <a:rPr sz="1300" b="1" i="0">
                  <a:solidFill>
                    <a:srgbClr val="F3E9D2"/>
                  </a:solidFill>
                  <a:latin typeface="JetBrains Mono" panose="02000009000000000000" pitchFamily="49" charset="0"/>
                </a:rPr>
                <a:t>github.com/vnmoorthy/bidwire</a:t>
              </a:r>
            </a:p>
          </p:txBody>
        </p:sp>
      </p:grpSp>
      <p:grpSp>
        <p:nvGrpSpPr>
          <p:cNvPr id="17" name="Group 16"/>
          <p:cNvGrpSpPr/>
          <p:nvPr/>
        </p:nvGrpSpPr>
        <p:grpSpPr>
          <a:xfrm>
            <a:off x="4407408" y="4069080"/>
            <a:ext cx="3447288" cy="1298448"/>
            <a:chOff x="4407408" y="4069080"/>
            <a:chExt cx="3447288" cy="1298448"/>
          </a:xfrm>
        </p:grpSpPr>
        <p:sp>
          <p:nvSpPr>
            <p:cNvPr id="18" name="Rounded Rectangle 17"/>
            <p:cNvSpPr/>
            <p:nvPr/>
          </p:nvSpPr>
          <p:spPr>
            <a:xfrm>
              <a:off x="4407408"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19" name="Oval 18"/>
            <p:cNvSpPr/>
            <p:nvPr/>
          </p:nvSpPr>
          <p:spPr>
            <a:xfrm>
              <a:off x="4636008" y="4274820"/>
              <a:ext cx="82296" cy="82296"/>
            </a:xfrm>
            <a:prstGeom prst="ellipse">
              <a:avLst/>
            </a:prstGeom>
            <a:solidFill>
              <a:srgbClr val="B0894F"/>
            </a:solidFill>
            <a:ln>
              <a:noFill/>
            </a:ln>
          </p:spPr>
          <p:txBody>
            <a:bodyPr rtlCol="0" anchor="ctr"/>
            <a:lstStyle/>
            <a:p>
              <a:pPr algn="ctr"/>
            </a:p>
          </p:txBody>
        </p:sp>
        <p:sp>
          <p:nvSpPr>
            <p:cNvPr id="20" name="TextBox 19"/>
            <p:cNvSpPr txBox="1"/>
            <p:nvPr/>
          </p:nvSpPr>
          <p:spPr>
            <a:xfrm>
              <a:off x="4800600"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TRY IT LIVE</a:t>
              </a:r>
            </a:p>
          </p:txBody>
        </p:sp>
        <p:sp>
          <p:nvSpPr>
            <p:cNvPr id="21" name="TextBox 20"/>
            <p:cNvSpPr txBox="1"/>
            <p:nvPr/>
          </p:nvSpPr>
          <p:spPr>
            <a:xfrm>
              <a:off x="4636008"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Point any MCP client at /mcp. Two calls: </a:t>
              </a:r>
              <a:r>
                <a:rPr sz="1300" b="0" i="0">
                  <a:solidFill>
                    <a:srgbClr val="16130E"/>
                  </a:solidFill>
                  <a:latin typeface="JetBrains Mono" panose="02000009000000000000" pitchFamily="49" charset="0"/>
                </a:rPr>
                <a:t>find_offers</a:t>
              </a:r>
              <a:r>
                <a:rPr sz="1300" b="0" i="0">
                  <a:solidFill>
                    <a:srgbClr val="16130E"/>
                  </a:solidFill>
                  <a:latin typeface="Inter" panose="020B0502030000000004" pitchFamily="34" charset="0"/>
                </a:rPr>
                <a:t> → </a:t>
              </a:r>
              <a:r>
                <a:rPr sz="1300" b="0" i="0">
                  <a:solidFill>
                    <a:srgbClr val="16130E"/>
                  </a:solidFill>
                  <a:latin typeface="JetBrains Mono" panose="02000009000000000000" pitchFamily="49" charset="0"/>
                </a:rPr>
                <a:t>buy_offer</a:t>
              </a:r>
              <a:r>
                <a:rPr sz="1300" b="0" i="0">
                  <a:solidFill>
                    <a:srgbClr val="16130E"/>
                  </a:solidFill>
                  <a:latin typeface="Inter" panose="020B0502030000000004" pitchFamily="34" charset="0"/>
                </a:rPr>
                <a:t>.</a:t>
              </a:r>
            </a:p>
          </p:txBody>
        </p:sp>
      </p:grpSp>
      <p:grpSp>
        <p:nvGrpSpPr>
          <p:cNvPr id="22" name="Group 21"/>
          <p:cNvGrpSpPr/>
          <p:nvPr/>
        </p:nvGrpSpPr>
        <p:grpSpPr>
          <a:xfrm>
            <a:off x="8037576" y="4069080"/>
            <a:ext cx="3447288" cy="1298448"/>
            <a:chOff x="8037576" y="4069080"/>
            <a:chExt cx="3447288" cy="1298448"/>
          </a:xfrm>
        </p:grpSpPr>
        <p:sp>
          <p:nvSpPr>
            <p:cNvPr id="23" name="Rounded Rectangle 22"/>
            <p:cNvSpPr/>
            <p:nvPr/>
          </p:nvSpPr>
          <p:spPr>
            <a:xfrm>
              <a:off x="8037576"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24" name="TextBox 23"/>
            <p:cNvSpPr txBox="1"/>
            <p:nvPr/>
          </p:nvSpPr>
          <p:spPr>
            <a:xfrm>
              <a:off x="8266176"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ASK</a:t>
              </a:r>
            </a:p>
          </p:txBody>
        </p:sp>
        <p:sp>
          <p:nvSpPr>
            <p:cNvPr id="25" name="TextBox 24"/>
            <p:cNvSpPr txBox="1"/>
            <p:nvPr/>
          </p:nvSpPr>
          <p:spPr>
            <a:xfrm>
              <a:off x="8266176"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Merchants: pilot pay-at-the-hammer. Agent builders: plug in find_offers.</a:t>
              </a:r>
            </a:p>
          </p:txBody>
        </p:sp>
      </p:grpSp>
      <p:sp>
        <p:nvSpPr>
          <p:cNvPr id="26" name="TextBox 25"/>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C937F"/>
                </a:solidFill>
                <a:latin typeface="Inter" panose="020B0502030000000004" pitchFamily="34" charset="0"/>
              </a:rPr>
              <a:t>Built at YC “Make Something Agents Want” · with mcp-use (Manufact) and Inkbox · by @vnmoorthy</a:t>
            </a:r>
          </a:p>
        </p:txBody>
      </p:sp>
      <p:sp>
        <p:nvSpPr>
          <p:cNvPr id="27" name="Rectangle 26"/>
          <p:cNvSpPr/>
          <p:nvPr/>
        </p:nvSpPr>
        <p:spPr>
          <a:xfrm>
            <a:off x="0" y="6825996"/>
            <a:ext cx="12191695" cy="32004"/>
          </a:xfrm>
          <a:prstGeom prst="rect">
            <a:avLst/>
          </a:prstGeom>
          <a:solidFill>
            <a:srgbClr val="B0894F"/>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anim calcmode="lin" valueType="num">
                                      <p:cBhvr additive="base">
                                        <p:cTn id="16" dur="70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10"/>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additive="base">
                                        <p:cTn id="24"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12"/>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additive="base">
                                        <p:cTn id="29"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7"/>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anim calcmode="lin" valueType="num">
                                      <p:cBhvr additive="base">
                                        <p:cTn id="34"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22"/>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auction house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